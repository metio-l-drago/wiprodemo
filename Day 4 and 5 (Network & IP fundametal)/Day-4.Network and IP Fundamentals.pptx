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316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317" r:id="rId21"/>
    <p:sldId id="318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319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20" r:id="rId60"/>
    <p:sldId id="315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een Yadav" userId="8caa9bbed8e7a383" providerId="LiveId" clId="{B6195C19-FA41-4D51-A7C3-BC19CAAC1FFA}"/>
    <pc:docChg chg="undo redo custSel addSld delSld modSld">
      <pc:chgData name="Naveen Yadav" userId="8caa9bbed8e7a383" providerId="LiveId" clId="{B6195C19-FA41-4D51-A7C3-BC19CAAC1FFA}" dt="2026-01-17T01:34:12.106" v="150" actId="22"/>
      <pc:docMkLst>
        <pc:docMk/>
      </pc:docMkLst>
      <pc:sldChg chg="modSp mod">
        <pc:chgData name="Naveen Yadav" userId="8caa9bbed8e7a383" providerId="LiveId" clId="{B6195C19-FA41-4D51-A7C3-BC19CAAC1FFA}" dt="2026-01-17T00:01:45.271" v="4" actId="14100"/>
        <pc:sldMkLst>
          <pc:docMk/>
          <pc:sldMk cId="0" sldId="258"/>
        </pc:sldMkLst>
        <pc:spChg chg="mod">
          <ac:chgData name="Naveen Yadav" userId="8caa9bbed8e7a383" providerId="LiveId" clId="{B6195C19-FA41-4D51-A7C3-BC19CAAC1FFA}" dt="2026-01-17T00:01:45.271" v="4" actId="14100"/>
          <ac:spMkLst>
            <pc:docMk/>
            <pc:sldMk cId="0" sldId="258"/>
            <ac:spMk id="15" creationId="{00000000-0000-0000-0000-000000000000}"/>
          </ac:spMkLst>
        </pc:spChg>
      </pc:sldChg>
      <pc:sldChg chg="modSp mod">
        <pc:chgData name="Naveen Yadav" userId="8caa9bbed8e7a383" providerId="LiveId" clId="{B6195C19-FA41-4D51-A7C3-BC19CAAC1FFA}" dt="2026-01-17T00:03:09.148" v="8" actId="14100"/>
        <pc:sldMkLst>
          <pc:docMk/>
          <pc:sldMk cId="0" sldId="259"/>
        </pc:sldMkLst>
        <pc:spChg chg="mod">
          <ac:chgData name="Naveen Yadav" userId="8caa9bbed8e7a383" providerId="LiveId" clId="{B6195C19-FA41-4D51-A7C3-BC19CAAC1FFA}" dt="2026-01-17T00:03:09.148" v="8" actId="14100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2:18.841" v="5" actId="1076"/>
          <ac:spMkLst>
            <pc:docMk/>
            <pc:sldMk cId="0" sldId="259"/>
            <ac:spMk id="60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2:26.819" v="6" actId="1076"/>
          <ac:spMkLst>
            <pc:docMk/>
            <pc:sldMk cId="0" sldId="259"/>
            <ac:spMk id="61" creationId="{00000000-0000-0000-0000-000000000000}"/>
          </ac:spMkLst>
        </pc:spChg>
      </pc:sldChg>
      <pc:sldChg chg="modSp del mod">
        <pc:chgData name="Naveen Yadav" userId="8caa9bbed8e7a383" providerId="LiveId" clId="{B6195C19-FA41-4D51-A7C3-BC19CAAC1FFA}" dt="2026-01-17T00:12:21.554" v="48" actId="47"/>
        <pc:sldMkLst>
          <pc:docMk/>
          <pc:sldMk cId="0" sldId="262"/>
        </pc:sldMkLst>
        <pc:spChg chg="mod">
          <ac:chgData name="Naveen Yadav" userId="8caa9bbed8e7a383" providerId="LiveId" clId="{B6195C19-FA41-4D51-A7C3-BC19CAAC1FFA}" dt="2026-01-17T00:04:39.516" v="12" actId="14100"/>
          <ac:spMkLst>
            <pc:docMk/>
            <pc:sldMk cId="0" sldId="262"/>
            <ac:spMk id="9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4:45.588" v="13" actId="1410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4:49.338" v="14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4:53.946" v="15" actId="14100"/>
          <ac:spMkLst>
            <pc:docMk/>
            <pc:sldMk cId="0" sldId="262"/>
            <ac:spMk id="17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4:58.435" v="16" actId="14100"/>
          <ac:spMkLst>
            <pc:docMk/>
            <pc:sldMk cId="0" sldId="262"/>
            <ac:spMk id="21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5:55.882" v="26" actId="107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6:00.866" v="27" actId="107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6:12.162" v="29" actId="107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6:18.339" v="30" actId="1076"/>
          <ac:spMkLst>
            <pc:docMk/>
            <pc:sldMk cId="0" sldId="262"/>
            <ac:spMk id="30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6:28.748" v="32" actId="1076"/>
          <ac:spMkLst>
            <pc:docMk/>
            <pc:sldMk cId="0" sldId="262"/>
            <ac:spMk id="31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6:33.714" v="33" actId="1076"/>
          <ac:spMkLst>
            <pc:docMk/>
            <pc:sldMk cId="0" sldId="262"/>
            <ac:spMk id="32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6:37.338" v="34" actId="1076"/>
          <ac:spMkLst>
            <pc:docMk/>
            <pc:sldMk cId="0" sldId="262"/>
            <ac:spMk id="33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6:43.090" v="35" actId="1076"/>
          <ac:spMkLst>
            <pc:docMk/>
            <pc:sldMk cId="0" sldId="262"/>
            <ac:spMk id="34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6:53.562" v="36" actId="1076"/>
          <ac:spMkLst>
            <pc:docMk/>
            <pc:sldMk cId="0" sldId="262"/>
            <ac:spMk id="35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6:56.922" v="37" actId="1076"/>
          <ac:spMkLst>
            <pc:docMk/>
            <pc:sldMk cId="0" sldId="262"/>
            <ac:spMk id="36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7:01.058" v="38" actId="1076"/>
          <ac:spMkLst>
            <pc:docMk/>
            <pc:sldMk cId="0" sldId="262"/>
            <ac:spMk id="37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7:29.539" v="44" actId="1076"/>
          <ac:spMkLst>
            <pc:docMk/>
            <pc:sldMk cId="0" sldId="262"/>
            <ac:spMk id="38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7:33.054" v="45" actId="1076"/>
          <ac:spMkLst>
            <pc:docMk/>
            <pc:sldMk cId="0" sldId="262"/>
            <ac:spMk id="39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7:36.610" v="46" actId="1076"/>
          <ac:spMkLst>
            <pc:docMk/>
            <pc:sldMk cId="0" sldId="262"/>
            <ac:spMk id="40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7:40.053" v="47" actId="1076"/>
          <ac:spMkLst>
            <pc:docMk/>
            <pc:sldMk cId="0" sldId="262"/>
            <ac:spMk id="41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5:07.194" v="17" actId="1076"/>
          <ac:spMkLst>
            <pc:docMk/>
            <pc:sldMk cId="0" sldId="262"/>
            <ac:spMk id="44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5:10.155" v="18" actId="1076"/>
          <ac:spMkLst>
            <pc:docMk/>
            <pc:sldMk cId="0" sldId="262"/>
            <ac:spMk id="45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5:27.522" v="22" actId="1076"/>
          <ac:spMkLst>
            <pc:docMk/>
            <pc:sldMk cId="0" sldId="262"/>
            <ac:spMk id="48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5:34.810" v="23" actId="1076"/>
          <ac:spMkLst>
            <pc:docMk/>
            <pc:sldMk cId="0" sldId="262"/>
            <ac:spMk id="49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5:38.585" v="24" actId="1076"/>
          <ac:spMkLst>
            <pc:docMk/>
            <pc:sldMk cId="0" sldId="262"/>
            <ac:spMk id="50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5:44.226" v="25" actId="1076"/>
          <ac:spMkLst>
            <pc:docMk/>
            <pc:sldMk cId="0" sldId="262"/>
            <ac:spMk id="51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7:21.193" v="42" actId="1076"/>
          <ac:spMkLst>
            <pc:docMk/>
            <pc:sldMk cId="0" sldId="262"/>
            <ac:spMk id="52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7:25.539" v="43" actId="1076"/>
          <ac:spMkLst>
            <pc:docMk/>
            <pc:sldMk cId="0" sldId="262"/>
            <ac:spMk id="53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07:09.938" v="40" actId="1076"/>
          <ac:spMkLst>
            <pc:docMk/>
            <pc:sldMk cId="0" sldId="262"/>
            <ac:spMk id="65" creationId="{00000000-0000-0000-0000-000000000000}"/>
          </ac:spMkLst>
        </pc:spChg>
        <pc:picChg chg="mod">
          <ac:chgData name="Naveen Yadav" userId="8caa9bbed8e7a383" providerId="LiveId" clId="{B6195C19-FA41-4D51-A7C3-BC19CAAC1FFA}" dt="2026-01-17T00:06:08.179" v="28" actId="1076"/>
          <ac:picMkLst>
            <pc:docMk/>
            <pc:sldMk cId="0" sldId="262"/>
            <ac:picMk id="28" creationId="{00000000-0000-0000-0000-000000000000}"/>
          </ac:picMkLst>
        </pc:picChg>
        <pc:picChg chg="mod">
          <ac:chgData name="Naveen Yadav" userId="8caa9bbed8e7a383" providerId="LiveId" clId="{B6195C19-FA41-4D51-A7C3-BC19CAAC1FFA}" dt="2026-01-17T00:05:15.178" v="19" actId="1076"/>
          <ac:picMkLst>
            <pc:docMk/>
            <pc:sldMk cId="0" sldId="262"/>
            <ac:picMk id="47" creationId="{00000000-0000-0000-0000-000000000000}"/>
          </ac:picMkLst>
        </pc:picChg>
      </pc:sldChg>
      <pc:sldChg chg="modSp mod">
        <pc:chgData name="Naveen Yadav" userId="8caa9bbed8e7a383" providerId="LiveId" clId="{B6195C19-FA41-4D51-A7C3-BC19CAAC1FFA}" dt="2026-01-17T00:13:25.490" v="57" actId="1076"/>
        <pc:sldMkLst>
          <pc:docMk/>
          <pc:sldMk cId="0" sldId="264"/>
        </pc:sldMkLst>
        <pc:spChg chg="mod">
          <ac:chgData name="Naveen Yadav" userId="8caa9bbed8e7a383" providerId="LiveId" clId="{B6195C19-FA41-4D51-A7C3-BC19CAAC1FFA}" dt="2026-01-17T00:13:08.964" v="55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12:52.924" v="52" actId="107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13:16.913" v="56" actId="1076"/>
          <ac:spMkLst>
            <pc:docMk/>
            <pc:sldMk cId="0" sldId="264"/>
            <ac:spMk id="29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13:25.490" v="57" actId="1076"/>
          <ac:spMkLst>
            <pc:docMk/>
            <pc:sldMk cId="0" sldId="264"/>
            <ac:spMk id="30" creationId="{00000000-0000-0000-0000-000000000000}"/>
          </ac:spMkLst>
        </pc:spChg>
        <pc:picChg chg="mod">
          <ac:chgData name="Naveen Yadav" userId="8caa9bbed8e7a383" providerId="LiveId" clId="{B6195C19-FA41-4D51-A7C3-BC19CAAC1FFA}" dt="2026-01-17T00:12:57.401" v="53" actId="1076"/>
          <ac:picMkLst>
            <pc:docMk/>
            <pc:sldMk cId="0" sldId="264"/>
            <ac:picMk id="27" creationId="{00000000-0000-0000-0000-000000000000}"/>
          </ac:picMkLst>
        </pc:picChg>
        <pc:picChg chg="mod">
          <ac:chgData name="Naveen Yadav" userId="8caa9bbed8e7a383" providerId="LiveId" clId="{B6195C19-FA41-4D51-A7C3-BC19CAAC1FFA}" dt="2026-01-17T00:12:48.321" v="51" actId="1076"/>
          <ac:picMkLst>
            <pc:docMk/>
            <pc:sldMk cId="0" sldId="264"/>
            <ac:picMk id="41" creationId="{00000000-0000-0000-0000-000000000000}"/>
          </ac:picMkLst>
        </pc:picChg>
      </pc:sldChg>
      <pc:sldChg chg="add del">
        <pc:chgData name="Naveen Yadav" userId="8caa9bbed8e7a383" providerId="LiveId" clId="{B6195C19-FA41-4D51-A7C3-BC19CAAC1FFA}" dt="2026-01-17T00:29:50.339" v="64" actId="47"/>
        <pc:sldMkLst>
          <pc:docMk/>
          <pc:sldMk cId="0" sldId="275"/>
        </pc:sldMkLst>
      </pc:sldChg>
      <pc:sldChg chg="del">
        <pc:chgData name="Naveen Yadav" userId="8caa9bbed8e7a383" providerId="LiveId" clId="{B6195C19-FA41-4D51-A7C3-BC19CAAC1FFA}" dt="2026-01-17T00:44:30.452" v="67" actId="47"/>
        <pc:sldMkLst>
          <pc:docMk/>
          <pc:sldMk cId="0" sldId="276"/>
        </pc:sldMkLst>
      </pc:sldChg>
      <pc:sldChg chg="modSp mod">
        <pc:chgData name="Naveen Yadav" userId="8caa9bbed8e7a383" providerId="LiveId" clId="{B6195C19-FA41-4D51-A7C3-BC19CAAC1FFA}" dt="2026-01-17T00:46:12.418" v="77" actId="1076"/>
        <pc:sldMkLst>
          <pc:docMk/>
          <pc:sldMk cId="0" sldId="288"/>
        </pc:sldMkLst>
        <pc:spChg chg="mod">
          <ac:chgData name="Naveen Yadav" userId="8caa9bbed8e7a383" providerId="LiveId" clId="{B6195C19-FA41-4D51-A7C3-BC19CAAC1FFA}" dt="2026-01-17T00:45:49.290" v="73" actId="1076"/>
          <ac:spMkLst>
            <pc:docMk/>
            <pc:sldMk cId="0" sldId="288"/>
            <ac:spMk id="53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45:26.962" v="70" actId="1076"/>
          <ac:spMkLst>
            <pc:docMk/>
            <pc:sldMk cId="0" sldId="288"/>
            <ac:spMk id="54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46:08.028" v="76" actId="1076"/>
          <ac:spMkLst>
            <pc:docMk/>
            <pc:sldMk cId="0" sldId="288"/>
            <ac:spMk id="58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45:56.482" v="74" actId="1076"/>
          <ac:spMkLst>
            <pc:docMk/>
            <pc:sldMk cId="0" sldId="288"/>
            <ac:spMk id="60" creationId="{00000000-0000-0000-0000-000000000000}"/>
          </ac:spMkLst>
        </pc:spChg>
        <pc:spChg chg="mod">
          <ac:chgData name="Naveen Yadav" userId="8caa9bbed8e7a383" providerId="LiveId" clId="{B6195C19-FA41-4D51-A7C3-BC19CAAC1FFA}" dt="2026-01-17T00:46:01.667" v="75" actId="1076"/>
          <ac:spMkLst>
            <pc:docMk/>
            <pc:sldMk cId="0" sldId="288"/>
            <ac:spMk id="61" creationId="{00000000-0000-0000-0000-000000000000}"/>
          </ac:spMkLst>
        </pc:spChg>
        <pc:picChg chg="mod">
          <ac:chgData name="Naveen Yadav" userId="8caa9bbed8e7a383" providerId="LiveId" clId="{B6195C19-FA41-4D51-A7C3-BC19CAAC1FFA}" dt="2026-01-17T00:46:12.418" v="77" actId="1076"/>
          <ac:picMkLst>
            <pc:docMk/>
            <pc:sldMk cId="0" sldId="288"/>
            <ac:picMk id="59" creationId="{00000000-0000-0000-0000-000000000000}"/>
          </ac:picMkLst>
        </pc:picChg>
      </pc:sldChg>
      <pc:sldChg chg="modSp add del mod">
        <pc:chgData name="Naveen Yadav" userId="8caa9bbed8e7a383" providerId="LiveId" clId="{B6195C19-FA41-4D51-A7C3-BC19CAAC1FFA}" dt="2026-01-17T01:05:17.334" v="82" actId="47"/>
        <pc:sldMkLst>
          <pc:docMk/>
          <pc:sldMk cId="0" sldId="297"/>
        </pc:sldMkLst>
        <pc:spChg chg="mod">
          <ac:chgData name="Naveen Yadav" userId="8caa9bbed8e7a383" providerId="LiveId" clId="{B6195C19-FA41-4D51-A7C3-BC19CAAC1FFA}" dt="2026-01-17T00:47:34.647" v="79" actId="1076"/>
          <ac:spMkLst>
            <pc:docMk/>
            <pc:sldMk cId="0" sldId="297"/>
            <ac:spMk id="51" creationId="{00000000-0000-0000-0000-000000000000}"/>
          </ac:spMkLst>
        </pc:spChg>
      </pc:sldChg>
      <pc:sldChg chg="modSp mod">
        <pc:chgData name="Naveen Yadav" userId="8caa9bbed8e7a383" providerId="LiveId" clId="{B6195C19-FA41-4D51-A7C3-BC19CAAC1FFA}" dt="2026-01-17T01:09:35.897" v="100" actId="14100"/>
        <pc:sldMkLst>
          <pc:docMk/>
          <pc:sldMk cId="0" sldId="309"/>
        </pc:sldMkLst>
        <pc:spChg chg="mod">
          <ac:chgData name="Naveen Yadav" userId="8caa9bbed8e7a383" providerId="LiveId" clId="{B6195C19-FA41-4D51-A7C3-BC19CAAC1FFA}" dt="2026-01-17T01:09:35.897" v="100" actId="14100"/>
          <ac:spMkLst>
            <pc:docMk/>
            <pc:sldMk cId="0" sldId="309"/>
            <ac:spMk id="3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07:53.130" v="85" actId="1076"/>
          <ac:spMkLst>
            <pc:docMk/>
            <pc:sldMk cId="0" sldId="309"/>
            <ac:spMk id="34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07:57.715" v="86" actId="1076"/>
          <ac:spMkLst>
            <pc:docMk/>
            <pc:sldMk cId="0" sldId="309"/>
            <ac:spMk id="35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08:05.125" v="88" actId="1076"/>
          <ac:spMkLst>
            <pc:docMk/>
            <pc:sldMk cId="0" sldId="309"/>
            <ac:spMk id="37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08:10.210" v="89" actId="1076"/>
          <ac:spMkLst>
            <pc:docMk/>
            <pc:sldMk cId="0" sldId="309"/>
            <ac:spMk id="38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08:13.867" v="90" actId="1076"/>
          <ac:spMkLst>
            <pc:docMk/>
            <pc:sldMk cId="0" sldId="309"/>
            <ac:spMk id="39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08:19.339" v="91" actId="1076"/>
          <ac:spMkLst>
            <pc:docMk/>
            <pc:sldMk cId="0" sldId="309"/>
            <ac:spMk id="41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08:29.961" v="93" actId="1076"/>
          <ac:spMkLst>
            <pc:docMk/>
            <pc:sldMk cId="0" sldId="309"/>
            <ac:spMk id="42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08:35.259" v="94" actId="1076"/>
          <ac:spMkLst>
            <pc:docMk/>
            <pc:sldMk cId="0" sldId="309"/>
            <ac:spMk id="44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08:39.634" v="95" actId="1076"/>
          <ac:spMkLst>
            <pc:docMk/>
            <pc:sldMk cId="0" sldId="309"/>
            <ac:spMk id="45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09:22.217" v="98" actId="1076"/>
          <ac:spMkLst>
            <pc:docMk/>
            <pc:sldMk cId="0" sldId="309"/>
            <ac:spMk id="46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09:28.308" v="99" actId="1076"/>
          <ac:spMkLst>
            <pc:docMk/>
            <pc:sldMk cId="0" sldId="309"/>
            <ac:spMk id="47" creationId="{00000000-0000-0000-0000-000000000000}"/>
          </ac:spMkLst>
        </pc:spChg>
        <pc:picChg chg="mod">
          <ac:chgData name="Naveen Yadav" userId="8caa9bbed8e7a383" providerId="LiveId" clId="{B6195C19-FA41-4D51-A7C3-BC19CAAC1FFA}" dt="2026-01-17T01:07:59.386" v="87" actId="1076"/>
          <ac:picMkLst>
            <pc:docMk/>
            <pc:sldMk cId="0" sldId="309"/>
            <ac:picMk id="36" creationId="{00000000-0000-0000-0000-000000000000}"/>
          </ac:picMkLst>
        </pc:picChg>
        <pc:picChg chg="mod">
          <ac:chgData name="Naveen Yadav" userId="8caa9bbed8e7a383" providerId="LiveId" clId="{B6195C19-FA41-4D51-A7C3-BC19CAAC1FFA}" dt="2026-01-17T01:08:24.762" v="92" actId="1076"/>
          <ac:picMkLst>
            <pc:docMk/>
            <pc:sldMk cId="0" sldId="309"/>
            <ac:picMk id="43" creationId="{00000000-0000-0000-0000-000000000000}"/>
          </ac:picMkLst>
        </pc:picChg>
      </pc:sldChg>
      <pc:sldChg chg="addSp delSp modSp del mod">
        <pc:chgData name="Naveen Yadav" userId="8caa9bbed8e7a383" providerId="LiveId" clId="{B6195C19-FA41-4D51-A7C3-BC19CAAC1FFA}" dt="2026-01-17T01:34:04.720" v="148" actId="47"/>
        <pc:sldMkLst>
          <pc:docMk/>
          <pc:sldMk cId="0" sldId="314"/>
        </pc:sldMkLst>
        <pc:spChg chg="mod">
          <ac:chgData name="Naveen Yadav" userId="8caa9bbed8e7a383" providerId="LiveId" clId="{B6195C19-FA41-4D51-A7C3-BC19CAAC1FFA}" dt="2026-01-17T01:16:05.306" v="147" actId="1076"/>
          <ac:spMkLst>
            <pc:docMk/>
            <pc:sldMk cId="0" sldId="314"/>
            <ac:spMk id="29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3:43.541" v="127" actId="1076"/>
          <ac:spMkLst>
            <pc:docMk/>
            <pc:sldMk cId="0" sldId="314"/>
            <ac:spMk id="46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3:44.271" v="128" actId="1076"/>
          <ac:spMkLst>
            <pc:docMk/>
            <pc:sldMk cId="0" sldId="314"/>
            <ac:spMk id="47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3:44.889" v="129" actId="1076"/>
          <ac:spMkLst>
            <pc:docMk/>
            <pc:sldMk cId="0" sldId="314"/>
            <ac:spMk id="48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3:47.687" v="131" actId="1076"/>
          <ac:spMkLst>
            <pc:docMk/>
            <pc:sldMk cId="0" sldId="314"/>
            <ac:spMk id="49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3:45.972" v="130" actId="1076"/>
          <ac:spMkLst>
            <pc:docMk/>
            <pc:sldMk cId="0" sldId="314"/>
            <ac:spMk id="50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5:18.305" v="140" actId="1076"/>
          <ac:spMkLst>
            <pc:docMk/>
            <pc:sldMk cId="0" sldId="314"/>
            <ac:spMk id="51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5:23.521" v="141" actId="1076"/>
          <ac:spMkLst>
            <pc:docMk/>
            <pc:sldMk cId="0" sldId="314"/>
            <ac:spMk id="52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5:28.689" v="142" actId="1076"/>
          <ac:spMkLst>
            <pc:docMk/>
            <pc:sldMk cId="0" sldId="314"/>
            <ac:spMk id="53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5:32.473" v="143" actId="1076"/>
          <ac:spMkLst>
            <pc:docMk/>
            <pc:sldMk cId="0" sldId="314"/>
            <ac:spMk id="54" creationId="{00000000-0000-0000-0000-000000000000}"/>
          </ac:spMkLst>
        </pc:spChg>
        <pc:spChg chg="del mod">
          <ac:chgData name="Naveen Yadav" userId="8caa9bbed8e7a383" providerId="LiveId" clId="{B6195C19-FA41-4D51-A7C3-BC19CAAC1FFA}" dt="2026-01-17T01:14:16.153" v="136" actId="478"/>
          <ac:spMkLst>
            <pc:docMk/>
            <pc:sldMk cId="0" sldId="314"/>
            <ac:spMk id="55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5:05.330" v="139" actId="14100"/>
          <ac:spMkLst>
            <pc:docMk/>
            <pc:sldMk cId="0" sldId="314"/>
            <ac:spMk id="58" creationId="{00000000-0000-0000-0000-000000000000}"/>
          </ac:spMkLst>
        </pc:spChg>
        <pc:spChg chg="add mod">
          <ac:chgData name="Naveen Yadav" userId="8caa9bbed8e7a383" providerId="LiveId" clId="{B6195C19-FA41-4D51-A7C3-BC19CAAC1FFA}" dt="2026-01-17T01:15:52.637" v="146" actId="1076"/>
          <ac:spMkLst>
            <pc:docMk/>
            <pc:sldMk cId="0" sldId="314"/>
            <ac:spMk id="60" creationId="{5791DFEC-C822-E5A8-354E-C4461DEB61F9}"/>
          </ac:spMkLst>
        </pc:spChg>
      </pc:sldChg>
      <pc:sldChg chg="modSp mod">
        <pc:chgData name="Naveen Yadav" userId="8caa9bbed8e7a383" providerId="LiveId" clId="{B6195C19-FA41-4D51-A7C3-BC19CAAC1FFA}" dt="2026-01-17T01:12:17.473" v="111" actId="1076"/>
        <pc:sldMkLst>
          <pc:docMk/>
          <pc:sldMk cId="0" sldId="315"/>
        </pc:sldMkLst>
        <pc:spChg chg="mod">
          <ac:chgData name="Naveen Yadav" userId="8caa9bbed8e7a383" providerId="LiveId" clId="{B6195C19-FA41-4D51-A7C3-BC19CAAC1FFA}" dt="2026-01-17T01:12:08.225" v="109" actId="14100"/>
          <ac:spMkLst>
            <pc:docMk/>
            <pc:sldMk cId="0" sldId="315"/>
            <ac:spMk id="6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2:17.473" v="111" actId="1076"/>
          <ac:spMkLst>
            <pc:docMk/>
            <pc:sldMk cId="0" sldId="315"/>
            <ac:spMk id="15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1:16.288" v="101" actId="1076"/>
          <ac:spMkLst>
            <pc:docMk/>
            <pc:sldMk cId="0" sldId="315"/>
            <ac:spMk id="18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1:20.874" v="102" actId="1076"/>
          <ac:spMkLst>
            <pc:docMk/>
            <pc:sldMk cId="0" sldId="315"/>
            <ac:spMk id="21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1:23.761" v="103" actId="1076"/>
          <ac:spMkLst>
            <pc:docMk/>
            <pc:sldMk cId="0" sldId="315"/>
            <ac:spMk id="24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1:58.332" v="108" actId="1076"/>
          <ac:spMkLst>
            <pc:docMk/>
            <pc:sldMk cId="0" sldId="315"/>
            <ac:spMk id="27" creationId="{00000000-0000-0000-0000-000000000000}"/>
          </ac:spMkLst>
        </pc:spChg>
        <pc:spChg chg="mod">
          <ac:chgData name="Naveen Yadav" userId="8caa9bbed8e7a383" providerId="LiveId" clId="{B6195C19-FA41-4D51-A7C3-BC19CAAC1FFA}" dt="2026-01-17T01:11:51.385" v="107" actId="1076"/>
          <ac:spMkLst>
            <pc:docMk/>
            <pc:sldMk cId="0" sldId="315"/>
            <ac:spMk id="35" creationId="{00000000-0000-0000-0000-000000000000}"/>
          </ac:spMkLst>
        </pc:spChg>
        <pc:picChg chg="mod">
          <ac:chgData name="Naveen Yadav" userId="8caa9bbed8e7a383" providerId="LiveId" clId="{B6195C19-FA41-4D51-A7C3-BC19CAAC1FFA}" dt="2026-01-17T01:12:15.355" v="110" actId="1076"/>
          <ac:picMkLst>
            <pc:docMk/>
            <pc:sldMk cId="0" sldId="315"/>
            <ac:picMk id="16" creationId="{00000000-0000-0000-0000-000000000000}"/>
          </ac:picMkLst>
        </pc:picChg>
      </pc:sldChg>
      <pc:sldChg chg="addSp new mod">
        <pc:chgData name="Naveen Yadav" userId="8caa9bbed8e7a383" providerId="LiveId" clId="{B6195C19-FA41-4D51-A7C3-BC19CAAC1FFA}" dt="2026-01-17T00:12:26.785" v="50" actId="22"/>
        <pc:sldMkLst>
          <pc:docMk/>
          <pc:sldMk cId="2122811409" sldId="316"/>
        </pc:sldMkLst>
        <pc:picChg chg="add">
          <ac:chgData name="Naveen Yadav" userId="8caa9bbed8e7a383" providerId="LiveId" clId="{B6195C19-FA41-4D51-A7C3-BC19CAAC1FFA}" dt="2026-01-17T00:12:26.785" v="50" actId="22"/>
          <ac:picMkLst>
            <pc:docMk/>
            <pc:sldMk cId="2122811409" sldId="316"/>
            <ac:picMk id="3" creationId="{678EE27D-1962-BE66-9093-8B750B0EF9D0}"/>
          </ac:picMkLst>
        </pc:picChg>
      </pc:sldChg>
      <pc:sldChg chg="addSp new mod">
        <pc:chgData name="Naveen Yadav" userId="8caa9bbed8e7a383" providerId="LiveId" clId="{B6195C19-FA41-4D51-A7C3-BC19CAAC1FFA}" dt="2026-01-17T00:29:53.495" v="66" actId="22"/>
        <pc:sldMkLst>
          <pc:docMk/>
          <pc:sldMk cId="2321174021" sldId="317"/>
        </pc:sldMkLst>
        <pc:picChg chg="add">
          <ac:chgData name="Naveen Yadav" userId="8caa9bbed8e7a383" providerId="LiveId" clId="{B6195C19-FA41-4D51-A7C3-BC19CAAC1FFA}" dt="2026-01-17T00:29:53.495" v="66" actId="22"/>
          <ac:picMkLst>
            <pc:docMk/>
            <pc:sldMk cId="2321174021" sldId="317"/>
            <ac:picMk id="3" creationId="{9C571409-5351-FF2F-DA49-D1BCF85A4D90}"/>
          </ac:picMkLst>
        </pc:picChg>
      </pc:sldChg>
      <pc:sldChg chg="addSp delSp new del mod">
        <pc:chgData name="Naveen Yadav" userId="8caa9bbed8e7a383" providerId="LiveId" clId="{B6195C19-FA41-4D51-A7C3-BC19CAAC1FFA}" dt="2026-01-17T00:20:25.945" v="62" actId="680"/>
        <pc:sldMkLst>
          <pc:docMk/>
          <pc:sldMk cId="2623612180" sldId="317"/>
        </pc:sldMkLst>
        <pc:picChg chg="add del">
          <ac:chgData name="Naveen Yadav" userId="8caa9bbed8e7a383" providerId="LiveId" clId="{B6195C19-FA41-4D51-A7C3-BC19CAAC1FFA}" dt="2026-01-17T00:20:25.439" v="61" actId="22"/>
          <ac:picMkLst>
            <pc:docMk/>
            <pc:sldMk cId="2623612180" sldId="317"/>
            <ac:picMk id="3" creationId="{852B0286-60D6-F6ED-F82D-A118799AF74B}"/>
          </ac:picMkLst>
        </pc:picChg>
      </pc:sldChg>
      <pc:sldChg chg="addSp new mod">
        <pc:chgData name="Naveen Yadav" userId="8caa9bbed8e7a383" providerId="LiveId" clId="{B6195C19-FA41-4D51-A7C3-BC19CAAC1FFA}" dt="2026-01-17T00:44:34.038" v="69" actId="22"/>
        <pc:sldMkLst>
          <pc:docMk/>
          <pc:sldMk cId="1453788252" sldId="318"/>
        </pc:sldMkLst>
        <pc:picChg chg="add">
          <ac:chgData name="Naveen Yadav" userId="8caa9bbed8e7a383" providerId="LiveId" clId="{B6195C19-FA41-4D51-A7C3-BC19CAAC1FFA}" dt="2026-01-17T00:44:34.038" v="69" actId="22"/>
          <ac:picMkLst>
            <pc:docMk/>
            <pc:sldMk cId="1453788252" sldId="318"/>
            <ac:picMk id="3" creationId="{9F0F39E0-0913-59D9-92E7-E39D18BF22E0}"/>
          </ac:picMkLst>
        </pc:picChg>
      </pc:sldChg>
      <pc:sldChg chg="addSp new mod">
        <pc:chgData name="Naveen Yadav" userId="8caa9bbed8e7a383" providerId="LiveId" clId="{B6195C19-FA41-4D51-A7C3-BC19CAAC1FFA}" dt="2026-01-17T01:05:38.454" v="84" actId="22"/>
        <pc:sldMkLst>
          <pc:docMk/>
          <pc:sldMk cId="764884709" sldId="319"/>
        </pc:sldMkLst>
        <pc:picChg chg="add">
          <ac:chgData name="Naveen Yadav" userId="8caa9bbed8e7a383" providerId="LiveId" clId="{B6195C19-FA41-4D51-A7C3-BC19CAAC1FFA}" dt="2026-01-17T01:05:38.454" v="84" actId="22"/>
          <ac:picMkLst>
            <pc:docMk/>
            <pc:sldMk cId="764884709" sldId="319"/>
            <ac:picMk id="3" creationId="{7365C9AB-9EE5-4C98-AD98-5CD44E339AAA}"/>
          </ac:picMkLst>
        </pc:picChg>
      </pc:sldChg>
      <pc:sldChg chg="addSp new mod">
        <pc:chgData name="Naveen Yadav" userId="8caa9bbed8e7a383" providerId="LiveId" clId="{B6195C19-FA41-4D51-A7C3-BC19CAAC1FFA}" dt="2026-01-17T01:34:12.106" v="150" actId="22"/>
        <pc:sldMkLst>
          <pc:docMk/>
          <pc:sldMk cId="1105857033" sldId="320"/>
        </pc:sldMkLst>
        <pc:picChg chg="add">
          <ac:chgData name="Naveen Yadav" userId="8caa9bbed8e7a383" providerId="LiveId" clId="{B6195C19-FA41-4D51-A7C3-BC19CAAC1FFA}" dt="2026-01-17T01:34:12.106" v="150" actId="22"/>
          <ac:picMkLst>
            <pc:docMk/>
            <pc:sldMk cId="1105857033" sldId="320"/>
            <ac:picMk id="3" creationId="{072C29AF-CACC-97A5-07AB-58AE2DFF0DB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563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28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28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6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7.png"/><Relationship Id="rId5" Type="http://schemas.openxmlformats.org/officeDocument/2006/relationships/image" Target="../media/image48.png"/><Relationship Id="rId10" Type="http://schemas.openxmlformats.org/officeDocument/2006/relationships/image" Target="../media/image86.png"/><Relationship Id="rId4" Type="http://schemas.openxmlformats.org/officeDocument/2006/relationships/image" Target="../media/image47.png"/><Relationship Id="rId9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8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8.png"/><Relationship Id="rId3" Type="http://schemas.openxmlformats.org/officeDocument/2006/relationships/image" Target="../media/image34.png"/><Relationship Id="rId7" Type="http://schemas.openxmlformats.org/officeDocument/2006/relationships/image" Target="../media/image103.png"/><Relationship Id="rId12" Type="http://schemas.openxmlformats.org/officeDocument/2006/relationships/image" Target="../media/image10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18.png"/><Relationship Id="rId5" Type="http://schemas.openxmlformats.org/officeDocument/2006/relationships/image" Target="../media/image36.png"/><Relationship Id="rId10" Type="http://schemas.openxmlformats.org/officeDocument/2006/relationships/image" Target="../media/image106.png"/><Relationship Id="rId4" Type="http://schemas.openxmlformats.org/officeDocument/2006/relationships/image" Target="../media/image35.png"/><Relationship Id="rId9" Type="http://schemas.openxmlformats.org/officeDocument/2006/relationships/image" Target="../media/image105.png"/><Relationship Id="rId14" Type="http://schemas.openxmlformats.org/officeDocument/2006/relationships/image" Target="../media/image10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20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9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0.png"/><Relationship Id="rId3" Type="http://schemas.openxmlformats.org/officeDocument/2006/relationships/image" Target="../media/image26.png"/><Relationship Id="rId7" Type="http://schemas.openxmlformats.org/officeDocument/2006/relationships/image" Target="../media/image125.png"/><Relationship Id="rId12" Type="http://schemas.openxmlformats.org/officeDocument/2006/relationships/image" Target="../media/image129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openxmlformats.org/officeDocument/2006/relationships/image" Target="../media/image128.png"/><Relationship Id="rId5" Type="http://schemas.openxmlformats.org/officeDocument/2006/relationships/image" Target="../media/image123.png"/><Relationship Id="rId15" Type="http://schemas.openxmlformats.org/officeDocument/2006/relationships/image" Target="../media/image132.png"/><Relationship Id="rId10" Type="http://schemas.openxmlformats.org/officeDocument/2006/relationships/image" Target="../media/image77.png"/><Relationship Id="rId4" Type="http://schemas.openxmlformats.org/officeDocument/2006/relationships/image" Target="../media/image90.png"/><Relationship Id="rId9" Type="http://schemas.openxmlformats.org/officeDocument/2006/relationships/image" Target="../media/image127.png"/><Relationship Id="rId14" Type="http://schemas.openxmlformats.org/officeDocument/2006/relationships/image" Target="../media/image1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0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20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0" Type="http://schemas.openxmlformats.org/officeDocument/2006/relationships/image" Target="../media/image142.png"/><Relationship Id="rId4" Type="http://schemas.openxmlformats.org/officeDocument/2006/relationships/image" Target="../media/image54.png"/><Relationship Id="rId9" Type="http://schemas.openxmlformats.org/officeDocument/2006/relationships/image" Target="../media/image14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20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82.png"/><Relationship Id="rId9" Type="http://schemas.openxmlformats.org/officeDocument/2006/relationships/image" Target="../media/image14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20.png"/><Relationship Id="rId7" Type="http://schemas.openxmlformats.org/officeDocument/2006/relationships/image" Target="../media/image1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28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3.png"/><Relationship Id="rId3" Type="http://schemas.openxmlformats.org/officeDocument/2006/relationships/image" Target="../media/image34.png"/><Relationship Id="rId7" Type="http://schemas.openxmlformats.org/officeDocument/2006/relationships/image" Target="../media/image158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1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162.png"/><Relationship Id="rId5" Type="http://schemas.openxmlformats.org/officeDocument/2006/relationships/image" Target="../media/image36.png"/><Relationship Id="rId15" Type="http://schemas.openxmlformats.org/officeDocument/2006/relationships/image" Target="../media/image165.png"/><Relationship Id="rId10" Type="http://schemas.openxmlformats.org/officeDocument/2006/relationships/image" Target="../media/image161.png"/><Relationship Id="rId4" Type="http://schemas.openxmlformats.org/officeDocument/2006/relationships/image" Target="../media/image35.png"/><Relationship Id="rId9" Type="http://schemas.openxmlformats.org/officeDocument/2006/relationships/image" Target="../media/image160.png"/><Relationship Id="rId14" Type="http://schemas.openxmlformats.org/officeDocument/2006/relationships/image" Target="../media/image16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20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90.png"/><Relationship Id="rId9" Type="http://schemas.openxmlformats.org/officeDocument/2006/relationships/image" Target="../media/image17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46.png"/><Relationship Id="rId7" Type="http://schemas.openxmlformats.org/officeDocument/2006/relationships/image" Target="../media/image17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11" Type="http://schemas.openxmlformats.org/officeDocument/2006/relationships/image" Target="../media/image176.png"/><Relationship Id="rId5" Type="http://schemas.openxmlformats.org/officeDocument/2006/relationships/image" Target="../media/image48.png"/><Relationship Id="rId10" Type="http://schemas.openxmlformats.org/officeDocument/2006/relationships/image" Target="../media/image164.png"/><Relationship Id="rId4" Type="http://schemas.openxmlformats.org/officeDocument/2006/relationships/image" Target="../media/image47.png"/><Relationship Id="rId9" Type="http://schemas.openxmlformats.org/officeDocument/2006/relationships/image" Target="../media/image17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7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46.png"/><Relationship Id="rId7" Type="http://schemas.openxmlformats.org/officeDocument/2006/relationships/image" Target="../media/image18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5" Type="http://schemas.openxmlformats.org/officeDocument/2006/relationships/image" Target="../media/image172.png"/><Relationship Id="rId4" Type="http://schemas.openxmlformats.org/officeDocument/2006/relationships/image" Target="../media/image48.png"/><Relationship Id="rId9" Type="http://schemas.openxmlformats.org/officeDocument/2006/relationships/image" Target="../media/image18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12" Type="http://schemas.openxmlformats.org/officeDocument/2006/relationships/image" Target="../media/image19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6.png"/><Relationship Id="rId11" Type="http://schemas.openxmlformats.org/officeDocument/2006/relationships/image" Target="../media/image190.png"/><Relationship Id="rId5" Type="http://schemas.openxmlformats.org/officeDocument/2006/relationships/image" Target="../media/image185.png"/><Relationship Id="rId10" Type="http://schemas.openxmlformats.org/officeDocument/2006/relationships/image" Target="../media/image189.png"/><Relationship Id="rId4" Type="http://schemas.openxmlformats.org/officeDocument/2006/relationships/image" Target="../media/image184.png"/><Relationship Id="rId9" Type="http://schemas.openxmlformats.org/officeDocument/2006/relationships/image" Target="../media/image18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4.png"/><Relationship Id="rId11" Type="http://schemas.openxmlformats.org/officeDocument/2006/relationships/image" Target="../media/image198.png"/><Relationship Id="rId5" Type="http://schemas.openxmlformats.org/officeDocument/2006/relationships/image" Target="../media/image193.png"/><Relationship Id="rId10" Type="http://schemas.openxmlformats.org/officeDocument/2006/relationships/image" Target="../media/image197.png"/><Relationship Id="rId4" Type="http://schemas.openxmlformats.org/officeDocument/2006/relationships/image" Target="../media/image184.png"/><Relationship Id="rId9" Type="http://schemas.openxmlformats.org/officeDocument/2006/relationships/image" Target="../media/image19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3.png"/><Relationship Id="rId7" Type="http://schemas.openxmlformats.org/officeDocument/2006/relationships/image" Target="../media/image20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1" Type="http://schemas.openxmlformats.org/officeDocument/2006/relationships/image" Target="../media/image205.png"/><Relationship Id="rId5" Type="http://schemas.openxmlformats.org/officeDocument/2006/relationships/image" Target="../media/image200.png"/><Relationship Id="rId10" Type="http://schemas.openxmlformats.org/officeDocument/2006/relationships/image" Target="../media/image204.png"/><Relationship Id="rId4" Type="http://schemas.openxmlformats.org/officeDocument/2006/relationships/image" Target="../media/image199.png"/><Relationship Id="rId9" Type="http://schemas.openxmlformats.org/officeDocument/2006/relationships/image" Target="../media/image20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12" Type="http://schemas.openxmlformats.org/officeDocument/2006/relationships/image" Target="../media/image2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7.png"/><Relationship Id="rId11" Type="http://schemas.openxmlformats.org/officeDocument/2006/relationships/image" Target="../media/image210.png"/><Relationship Id="rId5" Type="http://schemas.openxmlformats.org/officeDocument/2006/relationships/image" Target="../media/image206.png"/><Relationship Id="rId10" Type="http://schemas.openxmlformats.org/officeDocument/2006/relationships/image" Target="../media/image3.png"/><Relationship Id="rId4" Type="http://schemas.openxmlformats.org/officeDocument/2006/relationships/image" Target="../media/image184.png"/><Relationship Id="rId9" Type="http://schemas.openxmlformats.org/officeDocument/2006/relationships/image" Target="../media/image20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3.png"/><Relationship Id="rId7" Type="http://schemas.openxmlformats.org/officeDocument/2006/relationships/image" Target="../media/image19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2.png"/><Relationship Id="rId5" Type="http://schemas.openxmlformats.org/officeDocument/2006/relationships/image" Target="../media/image193.png"/><Relationship Id="rId4" Type="http://schemas.openxmlformats.org/officeDocument/2006/relationships/image" Target="../media/image184.png"/><Relationship Id="rId9" Type="http://schemas.openxmlformats.org/officeDocument/2006/relationships/image" Target="../media/image21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3.png"/><Relationship Id="rId7" Type="http://schemas.openxmlformats.org/officeDocument/2006/relationships/image" Target="../media/image19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2.png"/><Relationship Id="rId11" Type="http://schemas.openxmlformats.org/officeDocument/2006/relationships/image" Target="../media/image216.png"/><Relationship Id="rId5" Type="http://schemas.openxmlformats.org/officeDocument/2006/relationships/image" Target="../media/image214.png"/><Relationship Id="rId10" Type="http://schemas.openxmlformats.org/officeDocument/2006/relationships/image" Target="../media/image215.png"/><Relationship Id="rId4" Type="http://schemas.openxmlformats.org/officeDocument/2006/relationships/image" Target="../media/image184.png"/><Relationship Id="rId9" Type="http://schemas.openxmlformats.org/officeDocument/2006/relationships/image" Target="../media/image21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3.png"/><Relationship Id="rId7" Type="http://schemas.openxmlformats.org/officeDocument/2006/relationships/image" Target="../media/image2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9.png"/><Relationship Id="rId5" Type="http://schemas.openxmlformats.org/officeDocument/2006/relationships/image" Target="../media/image218.png"/><Relationship Id="rId4" Type="http://schemas.openxmlformats.org/officeDocument/2006/relationships/image" Target="../media/image217.png"/><Relationship Id="rId9" Type="http://schemas.openxmlformats.org/officeDocument/2006/relationships/image" Target="../media/image22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2.png"/><Relationship Id="rId5" Type="http://schemas.openxmlformats.org/officeDocument/2006/relationships/image" Target="../media/image78.png"/><Relationship Id="rId10" Type="http://schemas.openxmlformats.org/officeDocument/2006/relationships/image" Target="../media/image224.png"/><Relationship Id="rId4" Type="http://schemas.openxmlformats.org/officeDocument/2006/relationships/image" Target="../media/image222.png"/><Relationship Id="rId9" Type="http://schemas.openxmlformats.org/officeDocument/2006/relationships/image" Target="../media/image22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5.png"/><Relationship Id="rId5" Type="http://schemas.openxmlformats.org/officeDocument/2006/relationships/image" Target="../media/image193.png"/><Relationship Id="rId4" Type="http://schemas.openxmlformats.org/officeDocument/2006/relationships/image" Target="../media/image18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3.png"/><Relationship Id="rId7" Type="http://schemas.openxmlformats.org/officeDocument/2006/relationships/image" Target="../media/image19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5" Type="http://schemas.openxmlformats.org/officeDocument/2006/relationships/image" Target="../media/image227.png"/><Relationship Id="rId4" Type="http://schemas.openxmlformats.org/officeDocument/2006/relationships/image" Target="../media/image184.png"/><Relationship Id="rId9" Type="http://schemas.openxmlformats.org/officeDocument/2006/relationships/image" Target="../media/image22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3.png"/><Relationship Id="rId7" Type="http://schemas.openxmlformats.org/officeDocument/2006/relationships/image" Target="../media/image19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1" Type="http://schemas.openxmlformats.org/officeDocument/2006/relationships/image" Target="../media/image231.png"/><Relationship Id="rId5" Type="http://schemas.openxmlformats.org/officeDocument/2006/relationships/image" Target="../media/image228.png"/><Relationship Id="rId10" Type="http://schemas.openxmlformats.org/officeDocument/2006/relationships/image" Target="../media/image230.png"/><Relationship Id="rId4" Type="http://schemas.openxmlformats.org/officeDocument/2006/relationships/image" Target="../media/image184.png"/><Relationship Id="rId9" Type="http://schemas.openxmlformats.org/officeDocument/2006/relationships/image" Target="../media/image229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image" Target="../media/image20.png"/><Relationship Id="rId7" Type="http://schemas.openxmlformats.org/officeDocument/2006/relationships/image" Target="../media/image234.png"/><Relationship Id="rId12" Type="http://schemas.openxmlformats.org/officeDocument/2006/relationships/image" Target="../media/image23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3.png"/><Relationship Id="rId11" Type="http://schemas.openxmlformats.org/officeDocument/2006/relationships/image" Target="../media/image238.png"/><Relationship Id="rId5" Type="http://schemas.openxmlformats.org/officeDocument/2006/relationships/image" Target="../media/image232.png"/><Relationship Id="rId10" Type="http://schemas.openxmlformats.org/officeDocument/2006/relationships/image" Target="../media/image237.png"/><Relationship Id="rId4" Type="http://schemas.openxmlformats.org/officeDocument/2006/relationships/image" Target="../media/image100.png"/><Relationship Id="rId9" Type="http://schemas.openxmlformats.org/officeDocument/2006/relationships/image" Target="../media/image23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24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2.png"/><Relationship Id="rId5" Type="http://schemas.openxmlformats.org/officeDocument/2006/relationships/image" Target="../media/image241.png"/><Relationship Id="rId4" Type="http://schemas.openxmlformats.org/officeDocument/2006/relationships/image" Target="../media/image24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3" Type="http://schemas.openxmlformats.org/officeDocument/2006/relationships/image" Target="../media/image20.png"/><Relationship Id="rId7" Type="http://schemas.openxmlformats.org/officeDocument/2006/relationships/image" Target="../media/image24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7.png"/><Relationship Id="rId5" Type="http://schemas.openxmlformats.org/officeDocument/2006/relationships/image" Target="../media/image246.png"/><Relationship Id="rId4" Type="http://schemas.openxmlformats.org/officeDocument/2006/relationships/image" Target="../media/image24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3" Type="http://schemas.openxmlformats.org/officeDocument/2006/relationships/image" Target="../media/image20.png"/><Relationship Id="rId7" Type="http://schemas.openxmlformats.org/officeDocument/2006/relationships/image" Target="../media/image25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1.png"/><Relationship Id="rId5" Type="http://schemas.openxmlformats.org/officeDocument/2006/relationships/image" Target="../media/image250.png"/><Relationship Id="rId4" Type="http://schemas.openxmlformats.org/officeDocument/2006/relationships/image" Target="../media/image9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7" Type="http://schemas.openxmlformats.org/officeDocument/2006/relationships/image" Target="../media/image25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8.png"/><Relationship Id="rId5" Type="http://schemas.openxmlformats.org/officeDocument/2006/relationships/image" Target="../media/image257.png"/><Relationship Id="rId4" Type="http://schemas.openxmlformats.org/officeDocument/2006/relationships/image" Target="../media/image2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-161849"/>
            <a:ext cx="8620963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Day-4 Module Overview: Networking Basics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532620" y="228600"/>
            <a:ext cx="1362456" cy="476402"/>
          </a:xfrm>
          <a:prstGeom prst="roundRect">
            <a:avLst>
              <a:gd name="adj" fmla="val 15355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56064" y="295351"/>
            <a:ext cx="7479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SOC-L1 TRAINING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42294" y="219456"/>
            <a:ext cx="7242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09:00 AM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4495" y="904342"/>
            <a:ext cx="31821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04495" y="1399946"/>
            <a:ext cx="571500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495" y="1781251"/>
            <a:ext cx="190195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7395" y="1742846"/>
            <a:ext cx="4362602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essential networking and identity concepts for analysts.</a:t>
            </a:r>
            <a:endParaRPr lang="en-US" sz="2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4495" y="3129991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7395" y="3091586"/>
            <a:ext cx="4315054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confidence in reading real-time SOC communication flows.</a:t>
            </a:r>
            <a:endParaRPr lang="en-US" sz="2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4495" y="4105656"/>
            <a:ext cx="237744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" y="4067251"/>
            <a:ext cx="4362602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to observe traffic patterns, not just memorize tool commands.</a:t>
            </a:r>
            <a:endParaRPr lang="en-US" sz="2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304495" y="5454396"/>
            <a:ext cx="219456" cy="1901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6656" y="5415991"/>
            <a:ext cx="3952951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calm, tool-agnostic mindset for incident triage.</a:t>
            </a:r>
            <a:endParaRPr lang="en-US" sz="2100" dirty="0"/>
          </a:p>
        </p:txBody>
      </p:sp>
      <p:sp>
        <p:nvSpPr>
          <p:cNvPr id="20" name="Shape 14"/>
          <p:cNvSpPr/>
          <p:nvPr/>
        </p:nvSpPr>
        <p:spPr>
          <a:xfrm>
            <a:off x="5319065" y="1257300"/>
            <a:ext cx="6572707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5328209" y="1266444"/>
            <a:ext cx="6553505" cy="43799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328209" y="1695298"/>
            <a:ext cx="655350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18404" y="1416406"/>
            <a:ext cx="133502" cy="1335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651906" y="1390802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VISIBILITY MAP</a:t>
            </a:r>
            <a:endParaRPr lang="en-US" sz="10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233404" y="1416406"/>
            <a:ext cx="133502" cy="13350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366906" y="1390802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8943746" y="1857146"/>
            <a:ext cx="1333195" cy="638251"/>
          </a:xfrm>
          <a:prstGeom prst="roundRect">
            <a:avLst>
              <a:gd name="adj" fmla="val 1283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 txBox="1"/>
          <p:nvPr/>
        </p:nvSpPr>
        <p:spPr>
          <a:xfrm>
            <a:off x="9048902" y="1971446"/>
            <a:ext cx="896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FLOWS</a:t>
            </a:r>
            <a:endParaRPr lang="en-US" sz="800" dirty="0"/>
          </a:p>
        </p:txBody>
      </p:sp>
      <p:sp>
        <p:nvSpPr>
          <p:cNvPr id="29" name="Text 21"/>
          <p:cNvSpPr txBox="1"/>
          <p:nvPr/>
        </p:nvSpPr>
        <p:spPr>
          <a:xfrm>
            <a:off x="9048902" y="2124151"/>
            <a:ext cx="724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2,405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10392156" y="1857146"/>
            <a:ext cx="1333195" cy="638251"/>
          </a:xfrm>
          <a:prstGeom prst="roundRect">
            <a:avLst>
              <a:gd name="adj" fmla="val 1283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 txBox="1"/>
          <p:nvPr/>
        </p:nvSpPr>
        <p:spPr>
          <a:xfrm>
            <a:off x="10496398" y="1971446"/>
            <a:ext cx="7717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EVENTS/SEC</a:t>
            </a:r>
            <a:endParaRPr lang="en-US" sz="800" dirty="0"/>
          </a:p>
        </p:txBody>
      </p:sp>
      <p:sp>
        <p:nvSpPr>
          <p:cNvPr id="32" name="Text 24"/>
          <p:cNvSpPr txBox="1"/>
          <p:nvPr/>
        </p:nvSpPr>
        <p:spPr>
          <a:xfrm>
            <a:off x="10496398" y="2124151"/>
            <a:ext cx="495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840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 txBox="1"/>
          <p:nvPr/>
        </p:nvSpPr>
        <p:spPr>
          <a:xfrm>
            <a:off x="304495" y="6458407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1719072" y="6458407"/>
            <a:ext cx="8463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the cohort. Emphasize that networking is the "nervous system" of the SOC.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01 / 60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506870" y="3838651"/>
            <a:ext cx="1447495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1"/>
          <p:cNvSpPr/>
          <p:nvPr/>
        </p:nvSpPr>
        <p:spPr>
          <a:xfrm>
            <a:off x="7743139" y="3810305"/>
            <a:ext cx="75895" cy="75895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7743139" y="3810305"/>
            <a:ext cx="75895" cy="75895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8471916" y="3838651"/>
            <a:ext cx="1447495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9640519" y="3810305"/>
            <a:ext cx="75895" cy="75895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10169042" y="3186684"/>
            <a:ext cx="790956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10169042" y="4471416"/>
            <a:ext cx="790956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5982919" y="3457346"/>
            <a:ext cx="761695" cy="761695"/>
          </a:xfrm>
          <a:prstGeom prst="roundRect">
            <a:avLst>
              <a:gd name="adj" fmla="val 12005"/>
            </a:avLst>
          </a:prstGeom>
          <a:solidFill>
            <a:srgbClr val="0F172A"/>
          </a:solidFill>
          <a:ln w="25400">
            <a:solidFill>
              <a:srgbClr val="A855F7"/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 l="-90" r="-90"/>
          <a:stretch/>
        </p:blipFill>
        <p:spPr>
          <a:xfrm>
            <a:off x="6173114" y="3614623"/>
            <a:ext cx="381305" cy="304495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6135624" y="3929177"/>
            <a:ext cx="5431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</a:t>
            </a:r>
            <a:endParaRPr lang="en-US" sz="800" dirty="0"/>
          </a:p>
        </p:txBody>
      </p:sp>
      <p:sp>
        <p:nvSpPr>
          <p:cNvPr id="48" name="Shape 39"/>
          <p:cNvSpPr/>
          <p:nvPr/>
        </p:nvSpPr>
        <p:spPr>
          <a:xfrm>
            <a:off x="7947965" y="3457346"/>
            <a:ext cx="761695" cy="761695"/>
          </a:xfrm>
          <a:prstGeom prst="roundRect">
            <a:avLst>
              <a:gd name="adj" fmla="val 12005"/>
            </a:avLst>
          </a:prstGeom>
          <a:solidFill>
            <a:srgbClr val="0F172A"/>
          </a:solidFill>
          <a:ln w="25400">
            <a:solidFill>
              <a:srgbClr val="EF4444"/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176565" y="3614623"/>
            <a:ext cx="304495" cy="304495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8129016" y="3929177"/>
            <a:ext cx="4864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FW-EDGE</a:t>
            </a:r>
            <a:endParaRPr lang="en-US" sz="800" dirty="0"/>
          </a:p>
        </p:txBody>
      </p:sp>
      <p:sp>
        <p:nvSpPr>
          <p:cNvPr id="51" name="Shape 41"/>
          <p:cNvSpPr/>
          <p:nvPr/>
        </p:nvSpPr>
        <p:spPr>
          <a:xfrm>
            <a:off x="9913010" y="3457346"/>
            <a:ext cx="761695" cy="761695"/>
          </a:xfrm>
          <a:prstGeom prst="roundRect">
            <a:avLst>
              <a:gd name="adj" fmla="val 12005"/>
            </a:avLst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41610" y="3614623"/>
            <a:ext cx="304495" cy="304495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0093147" y="3929177"/>
            <a:ext cx="4864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CORE-SW</a:t>
            </a:r>
            <a:endParaRPr lang="en-US" sz="800" dirty="0"/>
          </a:p>
        </p:txBody>
      </p:sp>
      <p:sp>
        <p:nvSpPr>
          <p:cNvPr id="54" name="Shape 43"/>
          <p:cNvSpPr/>
          <p:nvPr/>
        </p:nvSpPr>
        <p:spPr>
          <a:xfrm>
            <a:off x="10895076" y="2558491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12"/>
          <a:srcRect l="-80" r="-80"/>
          <a:stretch/>
        </p:blipFill>
        <p:spPr>
          <a:xfrm>
            <a:off x="11037722" y="2658161"/>
            <a:ext cx="286207" cy="228600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11037722" y="2896819"/>
            <a:ext cx="3721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PC-01</a:t>
            </a:r>
            <a:endParaRPr lang="en-US" sz="800" dirty="0"/>
          </a:p>
        </p:txBody>
      </p:sp>
      <p:sp>
        <p:nvSpPr>
          <p:cNvPr id="57" name="Shape 45"/>
          <p:cNvSpPr/>
          <p:nvPr/>
        </p:nvSpPr>
        <p:spPr>
          <a:xfrm>
            <a:off x="10895076" y="4547311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3"/>
          <a:srcRect l="-57" r="-57"/>
          <a:stretch/>
        </p:blipFill>
        <p:spPr>
          <a:xfrm>
            <a:off x="11080699" y="4646981"/>
            <a:ext cx="200254" cy="228600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11037722" y="4885639"/>
            <a:ext cx="3721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DB-01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75630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Mindset: Observe Communication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8230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9474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944100" y="352044"/>
            <a:ext cx="2095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NETWORKING BASICS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50484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traffic is simply people and services talking to each other across digital paths.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49533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understand the intent and identity behind every connection attempt.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505846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follow source → destination paths to spot anomalies in who is talking to whom.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 l="-1773" r="-1773"/>
          <a:stretch/>
        </p:blipFill>
        <p:spPr>
          <a:xfrm>
            <a:off x="466344" y="5600700"/>
            <a:ext cx="133502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14146" y="5553151"/>
            <a:ext cx="33201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What changed, where, and why.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8134" y="1421892"/>
            <a:ext cx="133502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30722" y="1395374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 FLOW OBSERVER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1104474" y="1380744"/>
            <a:ext cx="590702" cy="209398"/>
          </a:xfrm>
          <a:prstGeom prst="roundRect">
            <a:avLst>
              <a:gd name="adj" fmla="val 79396"/>
            </a:avLst>
          </a:prstGeom>
          <a:solidFill>
            <a:srgbClr val="064E3B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1189513" y="1410005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1904695"/>
            <a:ext cx="5591556" cy="485546"/>
          </a:xfrm>
          <a:prstGeom prst="roundRect">
            <a:avLst>
              <a:gd name="adj" fmla="val 221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6221578" y="2061972"/>
            <a:ext cx="219456" cy="171907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536131" y="2057400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User_PC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7707478" y="2137867"/>
            <a:ext cx="2371954" cy="1920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 txBox="1"/>
          <p:nvPr/>
        </p:nvSpPr>
        <p:spPr>
          <a:xfrm>
            <a:off x="8514893" y="1956816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 (443)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9603029" y="2109521"/>
            <a:ext cx="75895" cy="75895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10736885" y="2057400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Web_Svr</a:t>
            </a:r>
            <a:endParaRPr lang="en-US" sz="10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91595" y="2061972"/>
            <a:ext cx="171907" cy="171907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6098134" y="2504542"/>
            <a:ext cx="5591556" cy="485546"/>
          </a:xfrm>
          <a:prstGeom prst="roundRect">
            <a:avLst>
              <a:gd name="adj" fmla="val 221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6221578" y="2661818"/>
            <a:ext cx="219456" cy="171907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6536131" y="2657246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App_Svc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7707478" y="2737714"/>
            <a:ext cx="2371954" cy="1920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 txBox="1"/>
          <p:nvPr/>
        </p:nvSpPr>
        <p:spPr>
          <a:xfrm>
            <a:off x="8549640" y="2556662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(3306)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8655710" y="2709367"/>
            <a:ext cx="75895" cy="7589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10515600" y="2657246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DB_Cluster</a:t>
            </a:r>
            <a:endParaRPr lang="en-US" sz="100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rcRect l="-760" r="-760"/>
          <a:stretch/>
        </p:blipFill>
        <p:spPr>
          <a:xfrm>
            <a:off x="11410798" y="2661818"/>
            <a:ext cx="152705" cy="171907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6098134" y="3104388"/>
            <a:ext cx="5591556" cy="485546"/>
          </a:xfrm>
          <a:prstGeom prst="roundRect">
            <a:avLst>
              <a:gd name="adj" fmla="val 221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21578" y="3261665"/>
            <a:ext cx="171907" cy="171907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6488582" y="3257093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Remote_IP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7707478" y="3337560"/>
            <a:ext cx="2371954" cy="1920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1"/>
          <p:cNvSpPr txBox="1"/>
          <p:nvPr/>
        </p:nvSpPr>
        <p:spPr>
          <a:xfrm>
            <a:off x="8618220" y="3156509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(22)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8181137" y="3309214"/>
            <a:ext cx="75895" cy="75895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3"/>
          <p:cNvSpPr txBox="1"/>
          <p:nvPr/>
        </p:nvSpPr>
        <p:spPr>
          <a:xfrm>
            <a:off x="10736885" y="3257093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Bastion</a:t>
            </a:r>
            <a:endParaRPr lang="en-US" sz="10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391595" y="3261665"/>
            <a:ext cx="171907" cy="171907"/>
          </a:xfrm>
          <a:prstGeom prst="rect">
            <a:avLst/>
          </a:prstGeom>
        </p:spPr>
      </p:pic>
      <p:sp>
        <p:nvSpPr>
          <p:cNvPr id="54" name="Shape 44"/>
          <p:cNvSpPr/>
          <p:nvPr/>
        </p:nvSpPr>
        <p:spPr>
          <a:xfrm>
            <a:off x="6098134" y="3856939"/>
            <a:ext cx="5591556" cy="1933956"/>
          </a:xfrm>
          <a:prstGeom prst="roundRect">
            <a:avLst>
              <a:gd name="adj" fmla="val 932"/>
            </a:avLst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5"/>
          <p:cNvSpPr txBox="1"/>
          <p:nvPr/>
        </p:nvSpPr>
        <p:spPr>
          <a:xfrm>
            <a:off x="6221578" y="3990442"/>
            <a:ext cx="22201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&gt; OBSERVING TRAFFIC PATTERNS...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6221578" y="4142232"/>
            <a:ext cx="4210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[09:01:22] SRC:192.168.1.50 -&gt; DST:10.0.0.5 PORT:443 [ALLOW]</a:t>
            </a:r>
            <a:endParaRPr lang="en-US" sz="900" dirty="0"/>
          </a:p>
        </p:txBody>
      </p:sp>
      <p:sp>
        <p:nvSpPr>
          <p:cNvPr id="57" name="Text 47"/>
          <p:cNvSpPr txBox="1"/>
          <p:nvPr/>
        </p:nvSpPr>
        <p:spPr>
          <a:xfrm>
            <a:off x="6221578" y="4294937"/>
            <a:ext cx="40672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[09:01:23] SRC:10.0.0.5 -&gt; DST:10.0.2.20 PORT:3306 [ALLOW]</a:t>
            </a:r>
            <a:endParaRPr lang="en-US" sz="900" dirty="0"/>
          </a:p>
        </p:txBody>
      </p:sp>
      <p:sp>
        <p:nvSpPr>
          <p:cNvPr id="58" name="Text 48"/>
          <p:cNvSpPr txBox="1"/>
          <p:nvPr/>
        </p:nvSpPr>
        <p:spPr>
          <a:xfrm>
            <a:off x="6221578" y="4447642"/>
            <a:ext cx="4277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770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[09:01:25] SRC:203.0.113.8 -&gt; DST:192.168.1.10 PORT:22 [DENY]</a:t>
            </a:r>
            <a:endParaRPr lang="en-US" sz="900" dirty="0"/>
          </a:p>
        </p:txBody>
      </p:sp>
      <p:sp>
        <p:nvSpPr>
          <p:cNvPr id="59" name="Shape 49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0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1"/>
          <p:cNvSpPr txBox="1"/>
          <p:nvPr/>
        </p:nvSpPr>
        <p:spPr>
          <a:xfrm>
            <a:off x="304495" y="6458407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2" name="Text 52"/>
          <p:cNvSpPr txBox="1"/>
          <p:nvPr/>
        </p:nvSpPr>
        <p:spPr>
          <a:xfrm>
            <a:off x="1756562" y="6458407"/>
            <a:ext cx="7948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flows on the right. Notice how we track Source to Destination."</a:t>
            </a:r>
            <a:endParaRPr lang="en-US" sz="1300" dirty="0"/>
          </a:p>
        </p:txBody>
      </p:sp>
      <p:sp>
        <p:nvSpPr>
          <p:cNvPr id="63" name="Text 53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 / 60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79251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This Module Builds SOC Confidence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8230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9474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944100" y="352044"/>
            <a:ext cx="2095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NETWORKING BASICS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4626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50676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visuals and plain language to demystify complexity.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3767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6" y="2697480"/>
            <a:ext cx="403799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remove the fear of networking concepts for beginners.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7287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USE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9533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confusing events to simple traffic flows quickly.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40251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Ready for SOC L1 monitoring screens.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8134" y="1421892"/>
            <a:ext cx="133502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30722" y="1395374"/>
            <a:ext cx="19485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BUILDER VIEW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623499" y="1380744"/>
            <a:ext cx="1067105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709453" y="1410005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 MODE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402629" y="2419502"/>
            <a:ext cx="4981651" cy="952805"/>
          </a:xfrm>
          <a:prstGeom prst="roundRect">
            <a:avLst>
              <a:gd name="adj" fmla="val 575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16775" y="2643530"/>
            <a:ext cx="228600" cy="22860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671462" y="2957170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Confusing Logs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8126273" y="2876702"/>
            <a:ext cx="1533449" cy="38405"/>
          </a:xfrm>
          <a:prstGeom prst="roundRect">
            <a:avLst>
              <a:gd name="adj" fmla="val 1190470"/>
            </a:avLst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8361274" y="2648102"/>
            <a:ext cx="1067105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 txBox="1"/>
          <p:nvPr/>
        </p:nvSpPr>
        <p:spPr>
          <a:xfrm>
            <a:off x="8446313" y="2686507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9581998" y="2838298"/>
            <a:ext cx="95098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8892540" y="2838298"/>
            <a:ext cx="114300" cy="11430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12700" dir="16200000" algn="bl" rotWithShape="0">
              <a:srgbClr val="3B82F6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10425074" y="2643530"/>
            <a:ext cx="256946" cy="22860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10033711" y="2957170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Insight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6402629" y="3638398"/>
            <a:ext cx="4981651" cy="952805"/>
          </a:xfrm>
          <a:prstGeom prst="roundRect">
            <a:avLst>
              <a:gd name="adj" fmla="val 575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16775" y="3862426"/>
            <a:ext cx="228600" cy="22860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6791249" y="4176979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Fear of Net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8126273" y="4095598"/>
            <a:ext cx="1533449" cy="38405"/>
          </a:xfrm>
          <a:prstGeom prst="roundRect">
            <a:avLst>
              <a:gd name="adj" fmla="val 1190470"/>
            </a:avLst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8361274" y="3866998"/>
            <a:ext cx="1067105" cy="228600"/>
          </a:xfrm>
          <a:prstGeom prst="roundRect">
            <a:avLst>
              <a:gd name="adj" fmla="val 6666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 txBox="1"/>
          <p:nvPr/>
        </p:nvSpPr>
        <p:spPr>
          <a:xfrm>
            <a:off x="8446313" y="3905402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9581998" y="4058107"/>
            <a:ext cx="95098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9198864" y="4058107"/>
            <a:ext cx="114300" cy="11430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12700" dir="16200000" algn="bl" rotWithShape="0">
              <a:srgbClr val="3B82F6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 txBox="1"/>
          <p:nvPr/>
        </p:nvSpPr>
        <p:spPr>
          <a:xfrm>
            <a:off x="10193731" y="4062679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Ready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7343546" y="5410505"/>
            <a:ext cx="3105302" cy="371246"/>
          </a:xfrm>
          <a:prstGeom prst="roundRect">
            <a:avLst>
              <a:gd name="adj" fmla="val 3789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66990" y="5529377"/>
            <a:ext cx="133502" cy="133502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7677302" y="5505602"/>
            <a:ext cx="27486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 ACQUISITION DETECTED: +100%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6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55" name="Text 47"/>
          <p:cNvSpPr txBox="1"/>
          <p:nvPr/>
        </p:nvSpPr>
        <p:spPr>
          <a:xfrm>
            <a:off x="1578254" y="6329477"/>
            <a:ext cx="918697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module turns scary logs into simple pictures. You will learn to see the story, not just the data."</a:t>
            </a:r>
            <a:endParaRPr lang="en-US" sz="1300" dirty="0"/>
          </a:p>
        </p:txBody>
      </p:sp>
      <p:sp>
        <p:nvSpPr>
          <p:cNvPr id="56" name="Text 48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 / 60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43230"/>
            <a:ext cx="53007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OSI Model: Conceptual View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137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61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258300" y="352044"/>
            <a:ext cx="2781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NETWORKING FUNDAMENTALS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8673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seven-layer conceptual model describing how digital systems communicate.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123809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4132956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separate networking responsibilities cleanly, allowing easier troubleshooting and design.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86699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87614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4162349"/>
            <a:ext cx="507766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localize connectivity issues by identifying which specific layer is failing.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124298"/>
            <a:ext cx="5219395" cy="857707"/>
          </a:xfrm>
          <a:prstGeom prst="roundRect">
            <a:avLst>
              <a:gd name="adj" fmla="val 947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467198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286146"/>
            <a:ext cx="473933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Focus on the concept, not deep engineering details.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6098134" y="1421892"/>
            <a:ext cx="152705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49924" y="1395374"/>
            <a:ext cx="16248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 REFERENCE MODEL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623499" y="1380744"/>
            <a:ext cx="1067105" cy="209398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709453" y="1410005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 VIEW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135624" y="2014423"/>
            <a:ext cx="5514746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6326734" y="21524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6612026" y="2147926"/>
            <a:ext cx="1010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10046513" y="2167128"/>
            <a:ext cx="1534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Interface / Data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135624" y="2547518"/>
            <a:ext cx="5514746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6326734" y="2686507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6612026" y="2681021"/>
            <a:ext cx="1114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9909353" y="2700223"/>
            <a:ext cx="1666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Encryption / Formatting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135624" y="3081528"/>
            <a:ext cx="5514746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 txBox="1"/>
          <p:nvPr/>
        </p:nvSpPr>
        <p:spPr>
          <a:xfrm>
            <a:off x="6326734" y="32196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6612026" y="3215030"/>
            <a:ext cx="734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10046513" y="3233318"/>
            <a:ext cx="1534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Management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6135624" y="3614623"/>
            <a:ext cx="5514746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 txBox="1"/>
          <p:nvPr/>
        </p:nvSpPr>
        <p:spPr>
          <a:xfrm>
            <a:off x="6326734" y="37526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6612026" y="3748126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45" name="Text 41"/>
          <p:cNvSpPr txBox="1"/>
          <p:nvPr/>
        </p:nvSpPr>
        <p:spPr>
          <a:xfrm>
            <a:off x="9703613" y="3767328"/>
            <a:ext cx="1877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 / Flow Control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6135624" y="4147718"/>
            <a:ext cx="5514746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 txBox="1"/>
          <p:nvPr/>
        </p:nvSpPr>
        <p:spPr>
          <a:xfrm>
            <a:off x="6326734" y="4286707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6612026" y="4281221"/>
            <a:ext cx="781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200" dirty="0"/>
          </a:p>
        </p:txBody>
      </p:sp>
      <p:sp>
        <p:nvSpPr>
          <p:cNvPr id="49" name="Text 45"/>
          <p:cNvSpPr txBox="1"/>
          <p:nvPr/>
        </p:nvSpPr>
        <p:spPr>
          <a:xfrm>
            <a:off x="10115093" y="4300423"/>
            <a:ext cx="1467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 / Addressing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6135624" y="4681728"/>
            <a:ext cx="5514746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 txBox="1"/>
          <p:nvPr/>
        </p:nvSpPr>
        <p:spPr>
          <a:xfrm>
            <a:off x="6326734" y="48198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6612026" y="4815230"/>
            <a:ext cx="848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Link</a:t>
            </a:r>
            <a:endParaRPr lang="en-US" sz="1200" dirty="0"/>
          </a:p>
        </p:txBody>
      </p:sp>
      <p:sp>
        <p:nvSpPr>
          <p:cNvPr id="53" name="Text 49"/>
          <p:cNvSpPr txBox="1"/>
          <p:nvPr/>
        </p:nvSpPr>
        <p:spPr>
          <a:xfrm>
            <a:off x="9772193" y="4833518"/>
            <a:ext cx="1810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Addressing (MAC)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6135624" y="5214823"/>
            <a:ext cx="5514746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 txBox="1"/>
          <p:nvPr/>
        </p:nvSpPr>
        <p:spPr>
          <a:xfrm>
            <a:off x="6326734" y="53528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56" name="Text 52"/>
          <p:cNvSpPr txBox="1"/>
          <p:nvPr/>
        </p:nvSpPr>
        <p:spPr>
          <a:xfrm>
            <a:off x="6612026" y="5348326"/>
            <a:ext cx="781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</a:t>
            </a:r>
            <a:endParaRPr lang="en-US" sz="1200" dirty="0"/>
          </a:p>
        </p:txBody>
      </p:sp>
      <p:sp>
        <p:nvSpPr>
          <p:cNvPr id="57" name="Text 53"/>
          <p:cNvSpPr txBox="1"/>
          <p:nvPr/>
        </p:nvSpPr>
        <p:spPr>
          <a:xfrm>
            <a:off x="9772193" y="5367528"/>
            <a:ext cx="1810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Cables / Signals / Binary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11715293" y="2221992"/>
            <a:ext cx="19202" cy="1086307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11715293" y="4383634"/>
            <a:ext cx="19202" cy="1086307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 txBox="1"/>
          <p:nvPr/>
        </p:nvSpPr>
        <p:spPr>
          <a:xfrm>
            <a:off x="10251338" y="1866290"/>
            <a:ext cx="11247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SOFTWARE LAYERS</a:t>
            </a:r>
            <a:endParaRPr lang="en-US" sz="900" dirty="0"/>
          </a:p>
        </p:txBody>
      </p:sp>
      <p:sp>
        <p:nvSpPr>
          <p:cNvPr id="61" name="Text 57"/>
          <p:cNvSpPr txBox="1"/>
          <p:nvPr/>
        </p:nvSpPr>
        <p:spPr>
          <a:xfrm>
            <a:off x="10241279" y="4132027"/>
            <a:ext cx="11247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HARDWARE LAYERS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5" name="Text 61"/>
          <p:cNvSpPr txBox="1"/>
          <p:nvPr/>
        </p:nvSpPr>
        <p:spPr>
          <a:xfrm>
            <a:off x="1629461" y="6329477"/>
            <a:ext cx="85679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stack on the right. Notice how layers separate hardware (bottom) from software (top)."</a:t>
            </a:r>
            <a:endParaRPr lang="en-US" sz="1300" dirty="0"/>
          </a:p>
        </p:txBody>
      </p:sp>
      <p:sp>
        <p:nvSpPr>
          <p:cNvPr id="66" name="Text 62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04 / 60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629655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OSI Layers: What SOC Observes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137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61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258300" y="352044"/>
            <a:ext cx="2781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NETWORKING FUNDAMENTALS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12380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51060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OSI layer emits different signals, helping us pinpoint where a problem (or attack) is happening.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72216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73131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3017520"/>
            <a:ext cx="48673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Layer-based thinking speeds up triage. You don't debug Wi-Fi cables for a DNS error.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866998"/>
            <a:ext cx="38405" cy="123809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87614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4162349"/>
            <a:ext cx="5039258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map alerts to specific layers (Application, Transport, Network) to define the scope instantly.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312907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DNS queries live at Layer 7.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6098134" y="1421892"/>
            <a:ext cx="152705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49924" y="1395374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 VISIBILITY STACK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967314" y="1380744"/>
            <a:ext cx="724205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1052353" y="1410005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VIEW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53721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135624" y="1943100"/>
            <a:ext cx="5514746" cy="571500"/>
          </a:xfrm>
          <a:prstGeom prst="roundRect">
            <a:avLst>
              <a:gd name="adj" fmla="val 16000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10865815" y="1857146"/>
            <a:ext cx="875995" cy="181051"/>
          </a:xfrm>
          <a:prstGeom prst="roundRect">
            <a:avLst>
              <a:gd name="adj" fmla="val 106327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10923422" y="1886407"/>
            <a:ext cx="8385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VISIBILITY</a:t>
            </a:r>
            <a:endParaRPr lang="en-US" sz="800" dirty="0"/>
          </a:p>
        </p:txBody>
      </p:sp>
      <p:sp>
        <p:nvSpPr>
          <p:cNvPr id="33" name="Text 29"/>
          <p:cNvSpPr txBox="1"/>
          <p:nvPr/>
        </p:nvSpPr>
        <p:spPr>
          <a:xfrm>
            <a:off x="6297473" y="2109521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6678778" y="2128723"/>
            <a:ext cx="10817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9829800" y="2081174"/>
            <a:ext cx="1666951" cy="295351"/>
          </a:xfrm>
          <a:prstGeom prst="roundRect">
            <a:avLst>
              <a:gd name="adj" fmla="val 39948"/>
            </a:avLst>
          </a:prstGeom>
          <a:solidFill>
            <a:srgbClr val="172554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953244" y="2162556"/>
            <a:ext cx="133502" cy="133502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10162642" y="2128723"/>
            <a:ext cx="13103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HTTP, DNS, SMTP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135624" y="2667305"/>
            <a:ext cx="5514746" cy="571500"/>
          </a:xfrm>
          <a:prstGeom prst="roundRect">
            <a:avLst>
              <a:gd name="adj" fmla="val 16000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4"/>
          <p:cNvSpPr/>
          <p:nvPr/>
        </p:nvSpPr>
        <p:spPr>
          <a:xfrm>
            <a:off x="9719158" y="2805379"/>
            <a:ext cx="1772107" cy="295351"/>
          </a:xfrm>
          <a:prstGeom prst="roundRect">
            <a:avLst>
              <a:gd name="adj" fmla="val 39948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 txBox="1"/>
          <p:nvPr/>
        </p:nvSpPr>
        <p:spPr>
          <a:xfrm>
            <a:off x="9842602" y="2852928"/>
            <a:ext cx="16248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Encryption, Formats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6297473" y="2833726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4748B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6678778" y="2852928"/>
            <a:ext cx="11859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BD5E1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6135624" y="3390595"/>
            <a:ext cx="5514746" cy="571500"/>
          </a:xfrm>
          <a:prstGeom prst="roundRect">
            <a:avLst>
              <a:gd name="adj" fmla="val 16000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9"/>
          <p:cNvSpPr/>
          <p:nvPr/>
        </p:nvSpPr>
        <p:spPr>
          <a:xfrm>
            <a:off x="10359238" y="3528670"/>
            <a:ext cx="1133856" cy="295351"/>
          </a:xfrm>
          <a:prstGeom prst="roundRect">
            <a:avLst>
              <a:gd name="adj" fmla="val 39948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 txBox="1"/>
          <p:nvPr/>
        </p:nvSpPr>
        <p:spPr>
          <a:xfrm>
            <a:off x="10482682" y="3576218"/>
            <a:ext cx="986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Tokens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6297473" y="3557930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4748B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47" name="Text 42"/>
          <p:cNvSpPr txBox="1"/>
          <p:nvPr/>
        </p:nvSpPr>
        <p:spPr>
          <a:xfrm>
            <a:off x="6678778" y="3576218"/>
            <a:ext cx="7863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BD5E1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6135624" y="4114800"/>
            <a:ext cx="5514746" cy="571500"/>
          </a:xfrm>
          <a:prstGeom prst="roundRect">
            <a:avLst>
              <a:gd name="adj" fmla="val 16000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4"/>
          <p:cNvSpPr/>
          <p:nvPr/>
        </p:nvSpPr>
        <p:spPr>
          <a:xfrm>
            <a:off x="10865815" y="4028846"/>
            <a:ext cx="875995" cy="181051"/>
          </a:xfrm>
          <a:prstGeom prst="roundRect">
            <a:avLst>
              <a:gd name="adj" fmla="val 106327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 txBox="1"/>
          <p:nvPr/>
        </p:nvSpPr>
        <p:spPr>
          <a:xfrm>
            <a:off x="10923422" y="4058107"/>
            <a:ext cx="8385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VISIBILITY</a:t>
            </a:r>
            <a:endParaRPr lang="en-US" sz="800" dirty="0"/>
          </a:p>
        </p:txBody>
      </p:sp>
      <p:sp>
        <p:nvSpPr>
          <p:cNvPr id="51" name="Text 46"/>
          <p:cNvSpPr txBox="1"/>
          <p:nvPr/>
        </p:nvSpPr>
        <p:spPr>
          <a:xfrm>
            <a:off x="6297473" y="4281221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52" name="Text 47"/>
          <p:cNvSpPr txBox="1"/>
          <p:nvPr/>
        </p:nvSpPr>
        <p:spPr>
          <a:xfrm>
            <a:off x="6678778" y="4300423"/>
            <a:ext cx="9482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53" name="Shape 48"/>
          <p:cNvSpPr/>
          <p:nvPr/>
        </p:nvSpPr>
        <p:spPr>
          <a:xfrm>
            <a:off x="9909353" y="4252874"/>
            <a:ext cx="1580998" cy="295351"/>
          </a:xfrm>
          <a:prstGeom prst="roundRect">
            <a:avLst>
              <a:gd name="adj" fmla="val 39948"/>
            </a:avLst>
          </a:prstGeom>
          <a:solidFill>
            <a:srgbClr val="172554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33711" y="4334256"/>
            <a:ext cx="133502" cy="133502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10243109" y="4300423"/>
            <a:ext cx="12243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 Ports, UDP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6135624" y="4839005"/>
            <a:ext cx="5514746" cy="571500"/>
          </a:xfrm>
          <a:prstGeom prst="roundRect">
            <a:avLst>
              <a:gd name="adj" fmla="val 16000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1"/>
          <p:cNvSpPr/>
          <p:nvPr/>
        </p:nvSpPr>
        <p:spPr>
          <a:xfrm>
            <a:off x="10865815" y="4753051"/>
            <a:ext cx="875995" cy="181051"/>
          </a:xfrm>
          <a:prstGeom prst="roundRect">
            <a:avLst>
              <a:gd name="adj" fmla="val 106327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2"/>
          <p:cNvSpPr txBox="1"/>
          <p:nvPr/>
        </p:nvSpPr>
        <p:spPr>
          <a:xfrm>
            <a:off x="10923422" y="4781398"/>
            <a:ext cx="8385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VISIBILITY</a:t>
            </a:r>
            <a:endParaRPr lang="en-US" sz="800" dirty="0"/>
          </a:p>
        </p:txBody>
      </p:sp>
      <p:sp>
        <p:nvSpPr>
          <p:cNvPr id="59" name="Text 53"/>
          <p:cNvSpPr txBox="1"/>
          <p:nvPr/>
        </p:nvSpPr>
        <p:spPr>
          <a:xfrm>
            <a:off x="6297473" y="5005426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4"/>
          <p:cNvSpPr txBox="1"/>
          <p:nvPr/>
        </p:nvSpPr>
        <p:spPr>
          <a:xfrm>
            <a:off x="6678778" y="5024628"/>
            <a:ext cx="8430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300" dirty="0"/>
          </a:p>
        </p:txBody>
      </p:sp>
      <p:sp>
        <p:nvSpPr>
          <p:cNvPr id="61" name="Shape 55"/>
          <p:cNvSpPr/>
          <p:nvPr/>
        </p:nvSpPr>
        <p:spPr>
          <a:xfrm>
            <a:off x="10031882" y="4977079"/>
            <a:ext cx="1457554" cy="295351"/>
          </a:xfrm>
          <a:prstGeom prst="roundRect">
            <a:avLst>
              <a:gd name="adj" fmla="val 39948"/>
            </a:avLst>
          </a:prstGeom>
          <a:solidFill>
            <a:srgbClr val="172554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10155326" y="5057546"/>
            <a:ext cx="171907" cy="133502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10403129" y="5024628"/>
            <a:ext cx="10625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Addresses</a:t>
            </a:r>
            <a:endParaRPr lang="en-US" sz="1000" dirty="0"/>
          </a:p>
        </p:txBody>
      </p:sp>
      <p:sp>
        <p:nvSpPr>
          <p:cNvPr id="64" name="Shape 57"/>
          <p:cNvSpPr/>
          <p:nvPr/>
        </p:nvSpPr>
        <p:spPr>
          <a:xfrm>
            <a:off x="6135624" y="5562295"/>
            <a:ext cx="5514746" cy="571500"/>
          </a:xfrm>
          <a:prstGeom prst="roundRect">
            <a:avLst>
              <a:gd name="adj" fmla="val 16000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8"/>
          <p:cNvSpPr/>
          <p:nvPr/>
        </p:nvSpPr>
        <p:spPr>
          <a:xfrm>
            <a:off x="10199218" y="5700370"/>
            <a:ext cx="1295705" cy="295351"/>
          </a:xfrm>
          <a:prstGeom prst="roundRect">
            <a:avLst>
              <a:gd name="adj" fmla="val 39948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9"/>
          <p:cNvSpPr txBox="1"/>
          <p:nvPr/>
        </p:nvSpPr>
        <p:spPr>
          <a:xfrm>
            <a:off x="10322662" y="5747918"/>
            <a:ext cx="11484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 Addresses</a:t>
            </a:r>
            <a:endParaRPr lang="en-US" sz="1000" dirty="0"/>
          </a:p>
        </p:txBody>
      </p:sp>
      <p:sp>
        <p:nvSpPr>
          <p:cNvPr id="67" name="Text 60"/>
          <p:cNvSpPr txBox="1"/>
          <p:nvPr/>
        </p:nvSpPr>
        <p:spPr>
          <a:xfrm>
            <a:off x="6297473" y="5729630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4748B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68" name="Text 61"/>
          <p:cNvSpPr txBox="1"/>
          <p:nvPr/>
        </p:nvSpPr>
        <p:spPr>
          <a:xfrm>
            <a:off x="6678778" y="5747918"/>
            <a:ext cx="9006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BD5E1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Link</a:t>
            </a:r>
            <a:endParaRPr lang="en-US" sz="1300" dirty="0"/>
          </a:p>
        </p:txBody>
      </p:sp>
      <p:sp>
        <p:nvSpPr>
          <p:cNvPr id="69" name="Shape 62"/>
          <p:cNvSpPr/>
          <p:nvPr/>
        </p:nvSpPr>
        <p:spPr>
          <a:xfrm>
            <a:off x="6135624" y="6286500"/>
            <a:ext cx="5514746" cy="571500"/>
          </a:xfrm>
          <a:prstGeom prst="roundRect">
            <a:avLst>
              <a:gd name="adj" fmla="val 16000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3"/>
          <p:cNvSpPr/>
          <p:nvPr/>
        </p:nvSpPr>
        <p:spPr>
          <a:xfrm>
            <a:off x="10039198" y="6424574"/>
            <a:ext cx="1457554" cy="295351"/>
          </a:xfrm>
          <a:prstGeom prst="roundRect">
            <a:avLst>
              <a:gd name="adj" fmla="val 39948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4"/>
          <p:cNvSpPr txBox="1"/>
          <p:nvPr/>
        </p:nvSpPr>
        <p:spPr>
          <a:xfrm>
            <a:off x="10162642" y="6472123"/>
            <a:ext cx="13103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Cables, Signals</a:t>
            </a:r>
            <a:endParaRPr lang="en-US" sz="1000" dirty="0"/>
          </a:p>
        </p:txBody>
      </p:sp>
      <p:sp>
        <p:nvSpPr>
          <p:cNvPr id="72" name="Text 65"/>
          <p:cNvSpPr txBox="1"/>
          <p:nvPr/>
        </p:nvSpPr>
        <p:spPr>
          <a:xfrm>
            <a:off x="6297473" y="6452921"/>
            <a:ext cx="234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4748B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3" name="Text 66"/>
          <p:cNvSpPr txBox="1"/>
          <p:nvPr/>
        </p:nvSpPr>
        <p:spPr>
          <a:xfrm>
            <a:off x="6678778" y="6472123"/>
            <a:ext cx="8339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BD5E1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</a:t>
            </a:r>
            <a:endParaRPr lang="en-US" sz="1300" dirty="0"/>
          </a:p>
        </p:txBody>
      </p:sp>
      <p:sp>
        <p:nvSpPr>
          <p:cNvPr id="74" name="Shape 67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68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69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77" name="Text 70"/>
          <p:cNvSpPr txBox="1"/>
          <p:nvPr/>
        </p:nvSpPr>
        <p:spPr>
          <a:xfrm>
            <a:off x="1651406" y="6329477"/>
            <a:ext cx="877732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highlighted layers (7, 4, 3). These are where SOC analysts spend 90% of their time."</a:t>
            </a:r>
            <a:endParaRPr lang="en-US" sz="1300" dirty="0"/>
          </a:p>
        </p:txBody>
      </p:sp>
      <p:sp>
        <p:nvSpPr>
          <p:cNvPr id="78" name="Text 71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 / 60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43230"/>
            <a:ext cx="65580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TCP/IP Model: Conceptual Mapping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137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61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258300" y="352044"/>
            <a:ext cx="2781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NETWORKING FUNDAMENTALS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517276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practical four-layer stack model that defines how data moves across the internet.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48390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matches real-world traffic patterns better than the theoretical OSI model.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505846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align logs to this model to quickly identify where communication is breaking down.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32250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Cleaner investigation paths.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6098134" y="1421892"/>
            <a:ext cx="152705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49924" y="1395374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TCP/IP STACK VIEW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692994" y="1380744"/>
            <a:ext cx="1000354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778033" y="1410005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MODEL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288329" y="2128723"/>
            <a:ext cx="5210251" cy="771754"/>
          </a:xfrm>
          <a:prstGeom prst="roundRect">
            <a:avLst>
              <a:gd name="adj" fmla="val 11702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6526073" y="2300630"/>
            <a:ext cx="15764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APPLICATION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6526073" y="2585923"/>
            <a:ext cx="1810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Interface &amp; Services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9867290" y="2381098"/>
            <a:ext cx="448056" cy="267005"/>
          </a:xfrm>
          <a:prstGeom prst="roundRect">
            <a:avLst>
              <a:gd name="adj" fmla="val 489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9953244" y="2438705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10408615" y="2381098"/>
            <a:ext cx="381305" cy="267005"/>
          </a:xfrm>
          <a:prstGeom prst="roundRect">
            <a:avLst>
              <a:gd name="adj" fmla="val 489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 txBox="1"/>
          <p:nvPr/>
        </p:nvSpPr>
        <p:spPr>
          <a:xfrm>
            <a:off x="10494569" y="2438705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0881360" y="2381098"/>
            <a:ext cx="381305" cy="267005"/>
          </a:xfrm>
          <a:prstGeom prst="roundRect">
            <a:avLst>
              <a:gd name="adj" fmla="val 489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 txBox="1"/>
          <p:nvPr/>
        </p:nvSpPr>
        <p:spPr>
          <a:xfrm>
            <a:off x="10967314" y="2438705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288329" y="3014777"/>
            <a:ext cx="5210251" cy="771754"/>
          </a:xfrm>
          <a:prstGeom prst="roundRect">
            <a:avLst>
              <a:gd name="adj" fmla="val 11702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6526073" y="3185770"/>
            <a:ext cx="1367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TRANSPORT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6526073" y="3471977"/>
            <a:ext cx="1877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Host-to-Host Communication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10408615" y="3267151"/>
            <a:ext cx="381305" cy="267005"/>
          </a:xfrm>
          <a:prstGeom prst="roundRect">
            <a:avLst>
              <a:gd name="adj" fmla="val 489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 txBox="1"/>
          <p:nvPr/>
        </p:nvSpPr>
        <p:spPr>
          <a:xfrm>
            <a:off x="10494569" y="3323844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10881360" y="3267151"/>
            <a:ext cx="381305" cy="267005"/>
          </a:xfrm>
          <a:prstGeom prst="roundRect">
            <a:avLst>
              <a:gd name="adj" fmla="val 489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 txBox="1"/>
          <p:nvPr/>
        </p:nvSpPr>
        <p:spPr>
          <a:xfrm>
            <a:off x="10967314" y="3323844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</a:t>
            </a:r>
            <a:endParaRPr lang="en-US" sz="900" dirty="0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>
            <a:alphaModFix amt="30000"/>
          </a:blip>
          <a:srcRect/>
          <a:stretch/>
        </p:blipFill>
        <p:spPr>
          <a:xfrm>
            <a:off x="11354105" y="3286354"/>
            <a:ext cx="228600" cy="228600"/>
          </a:xfrm>
          <a:prstGeom prst="rect">
            <a:avLst/>
          </a:prstGeom>
        </p:spPr>
      </p:pic>
      <p:sp>
        <p:nvSpPr>
          <p:cNvPr id="47" name="Shape 42"/>
          <p:cNvSpPr/>
          <p:nvPr/>
        </p:nvSpPr>
        <p:spPr>
          <a:xfrm>
            <a:off x="6288329" y="3900830"/>
            <a:ext cx="5210251" cy="771754"/>
          </a:xfrm>
          <a:prstGeom prst="roundRect">
            <a:avLst>
              <a:gd name="adj" fmla="val 11702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 txBox="1"/>
          <p:nvPr/>
        </p:nvSpPr>
        <p:spPr>
          <a:xfrm>
            <a:off x="6526073" y="4071823"/>
            <a:ext cx="126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INTERNET</a:t>
            </a:r>
            <a:endParaRPr lang="en-US" sz="1300" dirty="0"/>
          </a:p>
        </p:txBody>
      </p:sp>
      <p:sp>
        <p:nvSpPr>
          <p:cNvPr id="49" name="Text 44"/>
          <p:cNvSpPr txBox="1"/>
          <p:nvPr/>
        </p:nvSpPr>
        <p:spPr>
          <a:xfrm>
            <a:off x="6526073" y="4358030"/>
            <a:ext cx="1467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Addressing &amp; Routing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9730130" y="4153205"/>
            <a:ext cx="448056" cy="267005"/>
          </a:xfrm>
          <a:prstGeom prst="roundRect">
            <a:avLst>
              <a:gd name="adj" fmla="val 489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 txBox="1"/>
          <p:nvPr/>
        </p:nvSpPr>
        <p:spPr>
          <a:xfrm>
            <a:off x="9816084" y="4209898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IPv4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10271455" y="4153205"/>
            <a:ext cx="448056" cy="267005"/>
          </a:xfrm>
          <a:prstGeom prst="roundRect">
            <a:avLst>
              <a:gd name="adj" fmla="val 489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 txBox="1"/>
          <p:nvPr/>
        </p:nvSpPr>
        <p:spPr>
          <a:xfrm>
            <a:off x="10357409" y="4209898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IPv6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10812780" y="4153205"/>
            <a:ext cx="448056" cy="267005"/>
          </a:xfrm>
          <a:prstGeom prst="roundRect">
            <a:avLst>
              <a:gd name="adj" fmla="val 489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0"/>
          <p:cNvSpPr txBox="1"/>
          <p:nvPr/>
        </p:nvSpPr>
        <p:spPr>
          <a:xfrm>
            <a:off x="10898734" y="4209898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ICMP</a:t>
            </a:r>
            <a:endParaRPr lang="en-US" sz="900" dirty="0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5">
            <a:alphaModFix amt="30000"/>
          </a:blip>
          <a:srcRect/>
          <a:stretch/>
        </p:blipFill>
        <p:spPr>
          <a:xfrm>
            <a:off x="11354105" y="4172407"/>
            <a:ext cx="228600" cy="228600"/>
          </a:xfrm>
          <a:prstGeom prst="rect">
            <a:avLst/>
          </a:prstGeom>
        </p:spPr>
      </p:pic>
      <p:sp>
        <p:nvSpPr>
          <p:cNvPr id="57" name="Shape 51"/>
          <p:cNvSpPr/>
          <p:nvPr/>
        </p:nvSpPr>
        <p:spPr>
          <a:xfrm>
            <a:off x="6288329" y="4785970"/>
            <a:ext cx="5210251" cy="771754"/>
          </a:xfrm>
          <a:prstGeom prst="roundRect">
            <a:avLst>
              <a:gd name="adj" fmla="val 11702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2"/>
          <p:cNvSpPr txBox="1"/>
          <p:nvPr/>
        </p:nvSpPr>
        <p:spPr>
          <a:xfrm>
            <a:off x="6526073" y="4957877"/>
            <a:ext cx="1881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NETWORK ACCESS</a:t>
            </a:r>
            <a:endParaRPr lang="en-US" sz="1300" dirty="0"/>
          </a:p>
        </p:txBody>
      </p:sp>
      <p:sp>
        <p:nvSpPr>
          <p:cNvPr id="59" name="Text 53"/>
          <p:cNvSpPr txBox="1"/>
          <p:nvPr/>
        </p:nvSpPr>
        <p:spPr>
          <a:xfrm>
            <a:off x="6526073" y="5243170"/>
            <a:ext cx="1467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&amp; Data Link</a:t>
            </a:r>
            <a:endParaRPr lang="en-US" sz="900" dirty="0"/>
          </a:p>
        </p:txBody>
      </p:sp>
      <p:sp>
        <p:nvSpPr>
          <p:cNvPr id="60" name="Shape 54"/>
          <p:cNvSpPr/>
          <p:nvPr/>
        </p:nvSpPr>
        <p:spPr>
          <a:xfrm>
            <a:off x="9455810" y="5038344"/>
            <a:ext cx="724205" cy="267005"/>
          </a:xfrm>
          <a:prstGeom prst="roundRect">
            <a:avLst>
              <a:gd name="adj" fmla="val 489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5"/>
          <p:cNvSpPr txBox="1"/>
          <p:nvPr/>
        </p:nvSpPr>
        <p:spPr>
          <a:xfrm>
            <a:off x="9541764" y="5095951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Ethernet</a:t>
            </a:r>
            <a:endParaRPr lang="en-US" sz="900" dirty="0"/>
          </a:p>
        </p:txBody>
      </p:sp>
      <p:sp>
        <p:nvSpPr>
          <p:cNvPr id="62" name="Shape 56"/>
          <p:cNvSpPr/>
          <p:nvPr/>
        </p:nvSpPr>
        <p:spPr>
          <a:xfrm>
            <a:off x="10271455" y="5038344"/>
            <a:ext cx="523951" cy="267005"/>
          </a:xfrm>
          <a:prstGeom prst="roundRect">
            <a:avLst>
              <a:gd name="adj" fmla="val 489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 txBox="1"/>
          <p:nvPr/>
        </p:nvSpPr>
        <p:spPr>
          <a:xfrm>
            <a:off x="10357409" y="5095951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Wi-Fi</a:t>
            </a:r>
            <a:endParaRPr lang="en-US" sz="900" dirty="0"/>
          </a:p>
        </p:txBody>
      </p:sp>
      <p:sp>
        <p:nvSpPr>
          <p:cNvPr id="64" name="Shape 58"/>
          <p:cNvSpPr/>
          <p:nvPr/>
        </p:nvSpPr>
        <p:spPr>
          <a:xfrm>
            <a:off x="10881360" y="5038344"/>
            <a:ext cx="381305" cy="267005"/>
          </a:xfrm>
          <a:prstGeom prst="roundRect">
            <a:avLst>
              <a:gd name="adj" fmla="val 4892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9"/>
          <p:cNvSpPr txBox="1"/>
          <p:nvPr/>
        </p:nvSpPr>
        <p:spPr>
          <a:xfrm>
            <a:off x="10967314" y="5095951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9" name="Text 63"/>
          <p:cNvSpPr txBox="1"/>
          <p:nvPr/>
        </p:nvSpPr>
        <p:spPr>
          <a:xfrm>
            <a:off x="1568196" y="6329477"/>
            <a:ext cx="918697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4-layer model is what you'll actually see in log headers. Notice how layers map to real protocols."</a:t>
            </a:r>
            <a:endParaRPr lang="en-US" sz="1300" dirty="0"/>
          </a:p>
        </p:txBody>
      </p:sp>
      <p:sp>
        <p:nvSpPr>
          <p:cNvPr id="70" name="Text 64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 / 60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8EE27D-1962-BE66-9093-8B750B0EF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4" y="18574"/>
            <a:ext cx="12117491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11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91824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Architectures: On-Prem, Cloud, Hybrid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798710" y="323698"/>
            <a:ext cx="2095805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923069" y="390449"/>
            <a:ext cx="19485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NETWORKING FUNDAMENTALS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4495" y="1257300"/>
            <a:ext cx="2752344" cy="1324051"/>
          </a:xfrm>
          <a:prstGeom prst="roundRect">
            <a:avLst>
              <a:gd name="adj" fmla="val 39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466344" y="1454810"/>
            <a:ext cx="142646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85800" y="1438351"/>
            <a:ext cx="11768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66344" y="1714500"/>
            <a:ext cx="2453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main ways enterprise networks are physically and logically built.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47949" y="1257300"/>
            <a:ext cx="2752344" cy="1324051"/>
          </a:xfrm>
          <a:prstGeom prst="roundRect">
            <a:avLst>
              <a:gd name="adj" fmla="val 39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3409798" y="1454810"/>
            <a:ext cx="105156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90849" y="1438351"/>
            <a:ext cx="11859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EXISTS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409798" y="1714500"/>
            <a:ext cx="21479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business needs drive where data lives (control vs. scale).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91402" y="1257300"/>
            <a:ext cx="2752344" cy="1324051"/>
          </a:xfrm>
          <a:prstGeom prst="roundRect">
            <a:avLst>
              <a:gd name="adj" fmla="val 39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6353251" y="1454810"/>
            <a:ext cx="152705" cy="1335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81851" y="1438351"/>
            <a:ext cx="14721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OBSERVATION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6353251" y="1714500"/>
            <a:ext cx="25100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must know where our "cameras" (logs/sensors) are placed.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134856" y="1257300"/>
            <a:ext cx="2752344" cy="1324051"/>
          </a:xfrm>
          <a:prstGeom prst="roundRect">
            <a:avLst>
              <a:gd name="adj" fmla="val 39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3425" r="-3425"/>
          <a:stretch/>
        </p:blipFill>
        <p:spPr>
          <a:xfrm>
            <a:off x="9296705" y="1454810"/>
            <a:ext cx="142646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515246" y="1438351"/>
            <a:ext cx="8430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9296705" y="1714500"/>
            <a:ext cx="23390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traffic paths and identify blind spots quickly.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04495" y="2862986"/>
            <a:ext cx="3733495" cy="3124505"/>
          </a:xfrm>
          <a:prstGeom prst="roundRect">
            <a:avLst>
              <a:gd name="adj" fmla="val 10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14554" y="2873045"/>
            <a:ext cx="3715207" cy="46634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14554" y="3330245"/>
            <a:ext cx="3715207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1207922" y="3024835"/>
            <a:ext cx="114300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98118" y="2987345"/>
            <a:ext cx="1858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ON-PREM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04749" y="3530498"/>
            <a:ext cx="3333902" cy="1723644"/>
          </a:xfrm>
          <a:prstGeom prst="roundRect">
            <a:avLst>
              <a:gd name="adj" fmla="val 2345"/>
            </a:avLst>
          </a:prstGeom>
          <a:solidFill>
            <a:srgbClr val="1E293B">
              <a:alpha val="50000"/>
            </a:srgbClr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943100" y="3979469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410919" y="4626864"/>
            <a:ext cx="16248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Physical Datacenter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2995574" y="3717036"/>
            <a:ext cx="590702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 txBox="1"/>
          <p:nvPr/>
        </p:nvSpPr>
        <p:spPr>
          <a:xfrm>
            <a:off x="3081528" y="3773729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1017727" y="4794199"/>
            <a:ext cx="800100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 txBox="1"/>
          <p:nvPr/>
        </p:nvSpPr>
        <p:spPr>
          <a:xfrm>
            <a:off x="1103681" y="4851806"/>
            <a:ext cx="715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Switch/TAP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695858" y="5410505"/>
            <a:ext cx="30531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 own the hardware. Traffic flows inside our building."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4229100" y="2862986"/>
            <a:ext cx="3733495" cy="3124505"/>
          </a:xfrm>
          <a:prstGeom prst="roundRect">
            <a:avLst>
              <a:gd name="adj" fmla="val 10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1"/>
          <p:cNvSpPr/>
          <p:nvPr/>
        </p:nvSpPr>
        <p:spPr>
          <a:xfrm>
            <a:off x="4238244" y="2873045"/>
            <a:ext cx="3715207" cy="46634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4238244" y="3330245"/>
            <a:ext cx="3715207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5414162" y="3024835"/>
            <a:ext cx="190195" cy="15270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5680253" y="2987345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CLOUD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4429354" y="3530498"/>
            <a:ext cx="3333902" cy="1723644"/>
          </a:xfrm>
          <a:prstGeom prst="roundRect">
            <a:avLst>
              <a:gd name="adj" fmla="val 2345"/>
            </a:avLst>
          </a:prstGeom>
          <a:solidFill>
            <a:srgbClr val="1E293B">
              <a:alpha val="50000"/>
            </a:srgbClr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810098" y="3979469"/>
            <a:ext cx="571500" cy="45720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415991" y="4626864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AWS / Azure / GCP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6876288" y="3632911"/>
            <a:ext cx="705002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7"/>
          <p:cNvSpPr txBox="1"/>
          <p:nvPr/>
        </p:nvSpPr>
        <p:spPr>
          <a:xfrm>
            <a:off x="6962242" y="3690518"/>
            <a:ext cx="619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VPC Logs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5106924" y="4626864"/>
            <a:ext cx="724205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9"/>
          <p:cNvSpPr txBox="1"/>
          <p:nvPr/>
        </p:nvSpPr>
        <p:spPr>
          <a:xfrm>
            <a:off x="5192878" y="4683557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CloudTrail</a:t>
            </a:r>
            <a:endParaRPr lang="en-US" sz="900" dirty="0"/>
          </a:p>
        </p:txBody>
      </p:sp>
      <p:sp>
        <p:nvSpPr>
          <p:cNvPr id="50" name="Text 40"/>
          <p:cNvSpPr txBox="1"/>
          <p:nvPr/>
        </p:nvSpPr>
        <p:spPr>
          <a:xfrm>
            <a:off x="4712818" y="5410505"/>
            <a:ext cx="28721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"Someone else's hardware. Visibility via API logs."</a:t>
            </a:r>
            <a:endParaRPr lang="en-US" sz="1000" dirty="0"/>
          </a:p>
        </p:txBody>
      </p:sp>
      <p:sp>
        <p:nvSpPr>
          <p:cNvPr id="51" name="Shape 41"/>
          <p:cNvSpPr/>
          <p:nvPr/>
        </p:nvSpPr>
        <p:spPr>
          <a:xfrm>
            <a:off x="8153705" y="2862986"/>
            <a:ext cx="3733495" cy="3124505"/>
          </a:xfrm>
          <a:prstGeom prst="roundRect">
            <a:avLst>
              <a:gd name="adj" fmla="val 10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2"/>
          <p:cNvSpPr/>
          <p:nvPr/>
        </p:nvSpPr>
        <p:spPr>
          <a:xfrm>
            <a:off x="8162849" y="2873045"/>
            <a:ext cx="3715207" cy="46634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3"/>
          <p:cNvSpPr/>
          <p:nvPr/>
        </p:nvSpPr>
        <p:spPr>
          <a:xfrm>
            <a:off x="8162849" y="3330245"/>
            <a:ext cx="3715207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9256471" y="3024835"/>
            <a:ext cx="171907" cy="152705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9504274" y="2987345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NETWORK</a:t>
            </a:r>
            <a:endParaRPr lang="en-US" sz="1200" dirty="0"/>
          </a:p>
        </p:txBody>
      </p:sp>
      <p:sp>
        <p:nvSpPr>
          <p:cNvPr id="56" name="Shape 45"/>
          <p:cNvSpPr/>
          <p:nvPr/>
        </p:nvSpPr>
        <p:spPr>
          <a:xfrm>
            <a:off x="8353044" y="3530498"/>
            <a:ext cx="3333902" cy="1723644"/>
          </a:xfrm>
          <a:prstGeom prst="roundRect">
            <a:avLst>
              <a:gd name="adj" fmla="val 2345"/>
            </a:avLst>
          </a:prstGeom>
          <a:solidFill>
            <a:srgbClr val="1E293B">
              <a:alpha val="50000"/>
            </a:srgbClr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8677656" y="4179722"/>
            <a:ext cx="171907" cy="228600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8677656" y="4445813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HQ</a:t>
            </a:r>
            <a:endParaRPr lang="en-US" sz="900" dirty="0"/>
          </a:p>
        </p:txBody>
      </p:sp>
      <p:sp>
        <p:nvSpPr>
          <p:cNvPr id="59" name="Text 47"/>
          <p:cNvSpPr txBox="1"/>
          <p:nvPr/>
        </p:nvSpPr>
        <p:spPr>
          <a:xfrm>
            <a:off x="9947758" y="4255618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VPN</a:t>
            </a:r>
            <a:endParaRPr lang="en-US" sz="900" dirty="0"/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13"/>
          <a:srcRect l="-80" r="-80"/>
          <a:stretch/>
        </p:blipFill>
        <p:spPr>
          <a:xfrm>
            <a:off x="11061497" y="4179722"/>
            <a:ext cx="286207" cy="228600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11045952" y="4445813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</a:t>
            </a:r>
            <a:endParaRPr lang="en-US" sz="900" dirty="0"/>
          </a:p>
        </p:txBody>
      </p:sp>
      <p:sp>
        <p:nvSpPr>
          <p:cNvPr id="62" name="Shape 49"/>
          <p:cNvSpPr/>
          <p:nvPr/>
        </p:nvSpPr>
        <p:spPr>
          <a:xfrm>
            <a:off x="9526219" y="3969410"/>
            <a:ext cx="838505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0"/>
          <p:cNvSpPr txBox="1"/>
          <p:nvPr/>
        </p:nvSpPr>
        <p:spPr>
          <a:xfrm>
            <a:off x="9611258" y="4026103"/>
            <a:ext cx="752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Tunnel Logs</a:t>
            </a:r>
            <a:endParaRPr lang="en-US" sz="900" dirty="0"/>
          </a:p>
        </p:txBody>
      </p:sp>
      <p:sp>
        <p:nvSpPr>
          <p:cNvPr id="64" name="Text 51"/>
          <p:cNvSpPr txBox="1"/>
          <p:nvPr/>
        </p:nvSpPr>
        <p:spPr>
          <a:xfrm>
            <a:off x="8578901" y="5410505"/>
            <a:ext cx="29864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"Connected worlds. Critical choke point is the connection."</a:t>
            </a:r>
            <a:endParaRPr lang="en-US" sz="1000" dirty="0"/>
          </a:p>
        </p:txBody>
      </p:sp>
      <p:sp>
        <p:nvSpPr>
          <p:cNvPr id="65" name="Shape 5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5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54"/>
          <p:cNvSpPr txBox="1"/>
          <p:nvPr/>
        </p:nvSpPr>
        <p:spPr>
          <a:xfrm>
            <a:off x="304495" y="6329477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8" name="Text 55"/>
          <p:cNvSpPr txBox="1"/>
          <p:nvPr/>
        </p:nvSpPr>
        <p:spPr>
          <a:xfrm>
            <a:off x="304495" y="6329477"/>
            <a:ext cx="1008308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 hybrid setups, observing the VPN tunnel (the bridge) is often the most critical monitoring point."</a:t>
            </a:r>
            <a:endParaRPr lang="en-US" sz="1300" dirty="0"/>
          </a:p>
        </p:txBody>
      </p:sp>
      <p:sp>
        <p:nvSpPr>
          <p:cNvPr id="69" name="Text 56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08 / 60</a:t>
            </a:r>
            <a:endParaRPr lang="en-US" sz="1000" dirty="0"/>
          </a:p>
        </p:txBody>
      </p:sp>
      <p:sp>
        <p:nvSpPr>
          <p:cNvPr id="70" name="Shape 57"/>
          <p:cNvSpPr/>
          <p:nvPr/>
        </p:nvSpPr>
        <p:spPr>
          <a:xfrm>
            <a:off x="3160166" y="3885286"/>
            <a:ext cx="286207" cy="286207"/>
          </a:xfrm>
          <a:prstGeom prst="ellipse">
            <a:avLst/>
          </a:prstGeom>
          <a:solidFill>
            <a:srgbClr val="EF4444"/>
          </a:solidFill>
          <a:ln/>
          <a:effectLst>
            <a:outerShdw blurRad="101600" dist="12700" dir="16200000" algn="bl" rotWithShape="0">
              <a:srgbClr val="EF4444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4"/>
          <a:srcRect l="-837" r="-837"/>
          <a:stretch/>
        </p:blipFill>
        <p:spPr>
          <a:xfrm>
            <a:off x="3226918" y="3961181"/>
            <a:ext cx="152705" cy="133502"/>
          </a:xfrm>
          <a:prstGeom prst="rect">
            <a:avLst/>
          </a:prstGeom>
        </p:spPr>
      </p:pic>
      <p:sp>
        <p:nvSpPr>
          <p:cNvPr id="72" name="Shape 58"/>
          <p:cNvSpPr/>
          <p:nvPr/>
        </p:nvSpPr>
        <p:spPr>
          <a:xfrm>
            <a:off x="1183234" y="4607662"/>
            <a:ext cx="286207" cy="286207"/>
          </a:xfrm>
          <a:prstGeom prst="ellipse">
            <a:avLst/>
          </a:prstGeom>
          <a:solidFill>
            <a:srgbClr val="EF4444"/>
          </a:solidFill>
          <a:ln/>
          <a:effectLst>
            <a:outerShdw blurRad="101600" dist="12700" dir="16200000" algn="bl" rotWithShape="0">
              <a:srgbClr val="EF4444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14"/>
          <a:srcRect l="-837" r="-837"/>
          <a:stretch/>
        </p:blipFill>
        <p:spPr>
          <a:xfrm>
            <a:off x="1249985" y="4683557"/>
            <a:ext cx="152705" cy="133502"/>
          </a:xfrm>
          <a:prstGeom prst="rect">
            <a:avLst/>
          </a:prstGeom>
        </p:spPr>
      </p:pic>
      <p:sp>
        <p:nvSpPr>
          <p:cNvPr id="74" name="Shape 59"/>
          <p:cNvSpPr/>
          <p:nvPr/>
        </p:nvSpPr>
        <p:spPr>
          <a:xfrm>
            <a:off x="6964070" y="3801161"/>
            <a:ext cx="286207" cy="286207"/>
          </a:xfrm>
          <a:prstGeom prst="ellipse">
            <a:avLst/>
          </a:prstGeom>
          <a:solidFill>
            <a:srgbClr val="EF4444"/>
          </a:solidFill>
          <a:ln/>
          <a:effectLst>
            <a:outerShdw blurRad="101600" dist="12700" dir="16200000" algn="bl" rotWithShape="0">
              <a:srgbClr val="EF4444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5" name="Image 13" descr="preencoded.png"/>
          <p:cNvPicPr>
            <a:picLocks noChangeAspect="1"/>
          </p:cNvPicPr>
          <p:nvPr/>
        </p:nvPicPr>
        <p:blipFill>
          <a:blip r:embed="rId14"/>
          <a:srcRect l="-837" r="-837"/>
          <a:stretch/>
        </p:blipFill>
        <p:spPr>
          <a:xfrm>
            <a:off x="7030822" y="3877056"/>
            <a:ext cx="152705" cy="133502"/>
          </a:xfrm>
          <a:prstGeom prst="rect">
            <a:avLst/>
          </a:prstGeom>
        </p:spPr>
      </p:pic>
      <p:sp>
        <p:nvSpPr>
          <p:cNvPr id="76" name="Shape 60"/>
          <p:cNvSpPr/>
          <p:nvPr/>
        </p:nvSpPr>
        <p:spPr>
          <a:xfrm>
            <a:off x="5437022" y="4439412"/>
            <a:ext cx="286207" cy="286207"/>
          </a:xfrm>
          <a:prstGeom prst="ellipse">
            <a:avLst/>
          </a:prstGeom>
          <a:solidFill>
            <a:srgbClr val="EF4444"/>
          </a:solidFill>
          <a:ln/>
          <a:effectLst>
            <a:outerShdw blurRad="101600" dist="12700" dir="16200000" algn="bl" rotWithShape="0">
              <a:srgbClr val="EF4444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7" name="Image 14" descr="preencoded.png"/>
          <p:cNvPicPr>
            <a:picLocks noChangeAspect="1"/>
          </p:cNvPicPr>
          <p:nvPr/>
        </p:nvPicPr>
        <p:blipFill>
          <a:blip r:embed="rId14"/>
          <a:srcRect l="-837" r="-837"/>
          <a:stretch/>
        </p:blipFill>
        <p:spPr>
          <a:xfrm>
            <a:off x="5503774" y="4515307"/>
            <a:ext cx="152705" cy="133502"/>
          </a:xfrm>
          <a:prstGeom prst="rect">
            <a:avLst/>
          </a:prstGeom>
        </p:spPr>
      </p:pic>
      <p:sp>
        <p:nvSpPr>
          <p:cNvPr id="78" name="Shape 61"/>
          <p:cNvSpPr/>
          <p:nvPr/>
        </p:nvSpPr>
        <p:spPr>
          <a:xfrm>
            <a:off x="9855403" y="4220870"/>
            <a:ext cx="286207" cy="286207"/>
          </a:xfrm>
          <a:prstGeom prst="ellipse">
            <a:avLst/>
          </a:prstGeom>
          <a:solidFill>
            <a:srgbClr val="EF4444"/>
          </a:solidFill>
          <a:ln/>
          <a:effectLst>
            <a:outerShdw blurRad="101600" dist="12700" dir="16200000" algn="bl" rotWithShape="0">
              <a:srgbClr val="EF4444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9" name="Image 15" descr="preencoded.png"/>
          <p:cNvPicPr>
            <a:picLocks noChangeAspect="1"/>
          </p:cNvPicPr>
          <p:nvPr/>
        </p:nvPicPr>
        <p:blipFill>
          <a:blip r:embed="rId14"/>
          <a:srcRect l="-837" r="-837"/>
          <a:stretch/>
        </p:blipFill>
        <p:spPr>
          <a:xfrm>
            <a:off x="9922154" y="4297680"/>
            <a:ext cx="152705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747796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Client-to-Service: Clean Flow Timeline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8686" y="323698"/>
            <a:ext cx="1457554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353044" y="390449"/>
            <a:ext cx="13103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SOC-L1 TRAINING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829800" y="352044"/>
            <a:ext cx="22101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 VISIBILITY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4019702"/>
            <a:ext cx="1158270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04495" y="1276502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304495" y="1657807"/>
            <a:ext cx="105156" cy="17190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23951" y="1619402"/>
            <a:ext cx="3458261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4-stage sequence: Request → Resolve → Connect → Exchange.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304495" y="2769718"/>
            <a:ext cx="105156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3951" y="2731313"/>
            <a:ext cx="2962656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successful network conversation follows this predictable order.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267505" y="1276502"/>
            <a:ext cx="1877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4267505" y="1657807"/>
            <a:ext cx="105156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86046" y="1619402"/>
            <a:ext cx="35058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Timelines reveal exactly where a connection failed or slowed down.</a:t>
            </a:r>
            <a:endParaRPr lang="en-US" sz="18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4267505" y="2769718"/>
            <a:ext cx="105156" cy="17190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486046" y="2731313"/>
            <a:ext cx="3553358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precise diagnosis rather than guessing "the network is down."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0" y="1276502"/>
            <a:ext cx="1914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USE &amp; OUTCOME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8229600" y="1657807"/>
            <a:ext cx="190195" cy="17190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534095" y="1619402"/>
            <a:ext cx="35058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Correlate user-reported delays with specific protocol stages.</a:t>
            </a:r>
            <a:endParaRPr lang="en-US" sz="18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9600" y="2449678"/>
            <a:ext cx="171907" cy="17190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515807" y="2411273"/>
            <a:ext cx="3448202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confident flow reasoning by isolating the root cause.</a:t>
            </a:r>
            <a:endParaRPr lang="en-US" sz="1800" dirty="0"/>
          </a:p>
        </p:txBody>
      </p:sp>
      <p:sp>
        <p:nvSpPr>
          <p:cNvPr id="26" name="Shape 18"/>
          <p:cNvSpPr/>
          <p:nvPr/>
        </p:nvSpPr>
        <p:spPr>
          <a:xfrm>
            <a:off x="304495" y="4253789"/>
            <a:ext cx="11582705" cy="1857146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6344" y="4365346"/>
            <a:ext cx="133502" cy="13350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76656" y="4358487"/>
            <a:ext cx="18626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FLOW LIFECYCLE MONITOR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8923631" y="4377233"/>
            <a:ext cx="1276502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1"/>
          <p:cNvSpPr txBox="1"/>
          <p:nvPr/>
        </p:nvSpPr>
        <p:spPr>
          <a:xfrm>
            <a:off x="9160917" y="4425433"/>
            <a:ext cx="11914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STATUS: COMPLETE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10799064" y="4415638"/>
            <a:ext cx="933602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3"/>
          <p:cNvSpPr txBox="1"/>
          <p:nvPr/>
        </p:nvSpPr>
        <p:spPr>
          <a:xfrm>
            <a:off x="10885018" y="4472330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ID: FL-9382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6"/>
          <p:cNvSpPr txBox="1"/>
          <p:nvPr/>
        </p:nvSpPr>
        <p:spPr>
          <a:xfrm>
            <a:off x="304495" y="6329477"/>
            <a:ext cx="1776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OBSERVATION: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304495" y="6329477"/>
            <a:ext cx="1059698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Notice how "Resolution" must happen before "Connection". A failure at step 2 prevents step 3.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09 / 60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1019556" y="5159959"/>
            <a:ext cx="10153498" cy="384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1019556" y="5170018"/>
            <a:ext cx="10153498" cy="1920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1476756" y="4491533"/>
            <a:ext cx="571500" cy="5715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3B82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1607972" y="4634180"/>
            <a:ext cx="256946" cy="2286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442009" y="5224882"/>
            <a:ext cx="762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1140257" y="5520233"/>
            <a:ext cx="13478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initiates action</a:t>
            </a:r>
            <a:endParaRPr lang="en-US" sz="1000" dirty="0"/>
          </a:p>
        </p:txBody>
      </p:sp>
      <p:sp>
        <p:nvSpPr>
          <p:cNvPr id="44" name="Text 34"/>
          <p:cNvSpPr txBox="1"/>
          <p:nvPr/>
        </p:nvSpPr>
        <p:spPr>
          <a:xfrm>
            <a:off x="1132027" y="5693969"/>
            <a:ext cx="13670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(Click or Command)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1436522" y="4110228"/>
            <a:ext cx="657454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6"/>
          <p:cNvSpPr txBox="1"/>
          <p:nvPr/>
        </p:nvSpPr>
        <p:spPr>
          <a:xfrm>
            <a:off x="1521562" y="416783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T+0.00s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4365346" y="4491533"/>
            <a:ext cx="571500" cy="5715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A855F7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37253" y="4663440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4331513" y="5224882"/>
            <a:ext cx="762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</a:t>
            </a:r>
            <a:endParaRPr lang="en-US" sz="1200" dirty="0"/>
          </a:p>
        </p:txBody>
      </p:sp>
      <p:sp>
        <p:nvSpPr>
          <p:cNvPr id="50" name="Text 39"/>
          <p:cNvSpPr txBox="1"/>
          <p:nvPr/>
        </p:nvSpPr>
        <p:spPr>
          <a:xfrm>
            <a:off x="4256532" y="5520233"/>
            <a:ext cx="8906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 Lookup</a:t>
            </a:r>
            <a:endParaRPr lang="en-US" sz="1000" dirty="0"/>
          </a:p>
        </p:txBody>
      </p:sp>
      <p:sp>
        <p:nvSpPr>
          <p:cNvPr id="51" name="Text 40"/>
          <p:cNvSpPr txBox="1"/>
          <p:nvPr/>
        </p:nvSpPr>
        <p:spPr>
          <a:xfrm>
            <a:off x="4027018" y="5693969"/>
            <a:ext cx="13478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to IP Address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4325112" y="4110228"/>
            <a:ext cx="657454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2"/>
          <p:cNvSpPr txBox="1"/>
          <p:nvPr/>
        </p:nvSpPr>
        <p:spPr>
          <a:xfrm>
            <a:off x="4411066" y="416783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T+0.05s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7254850" y="4491533"/>
            <a:ext cx="571500" cy="5715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F59E0B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7397496" y="4663440"/>
            <a:ext cx="286207" cy="228600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7220102" y="5224882"/>
            <a:ext cx="762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endParaRPr lang="en-US" sz="1200" dirty="0"/>
          </a:p>
        </p:txBody>
      </p:sp>
      <p:sp>
        <p:nvSpPr>
          <p:cNvPr id="57" name="Text 45"/>
          <p:cNvSpPr txBox="1"/>
          <p:nvPr/>
        </p:nvSpPr>
        <p:spPr>
          <a:xfrm>
            <a:off x="7036308" y="5520233"/>
            <a:ext cx="11100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TCP Handshake</a:t>
            </a:r>
            <a:endParaRPr lang="en-US" sz="1000" dirty="0"/>
          </a:p>
        </p:txBody>
      </p:sp>
      <p:sp>
        <p:nvSpPr>
          <p:cNvPr id="58" name="Text 46"/>
          <p:cNvSpPr txBox="1"/>
          <p:nvPr/>
        </p:nvSpPr>
        <p:spPr>
          <a:xfrm>
            <a:off x="6987845" y="5693969"/>
            <a:ext cx="1205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(SYN / SYN-ACK)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7214616" y="4110228"/>
            <a:ext cx="657454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48"/>
          <p:cNvSpPr txBox="1"/>
          <p:nvPr/>
        </p:nvSpPr>
        <p:spPr>
          <a:xfrm>
            <a:off x="7300570" y="416783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T+0.12s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10144354" y="4491533"/>
            <a:ext cx="571500" cy="5715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10B981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15346" y="4663440"/>
            <a:ext cx="228600" cy="228600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10063886" y="5224882"/>
            <a:ext cx="8485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EXCHANGE</a:t>
            </a:r>
            <a:endParaRPr lang="en-US" sz="1200" dirty="0"/>
          </a:p>
        </p:txBody>
      </p:sp>
      <p:sp>
        <p:nvSpPr>
          <p:cNvPr id="64" name="Text 51"/>
          <p:cNvSpPr txBox="1"/>
          <p:nvPr/>
        </p:nvSpPr>
        <p:spPr>
          <a:xfrm>
            <a:off x="10002622" y="5520233"/>
            <a:ext cx="9573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Transfer</a:t>
            </a:r>
            <a:endParaRPr lang="en-US" sz="1000" dirty="0"/>
          </a:p>
        </p:txBody>
      </p:sp>
      <p:sp>
        <p:nvSpPr>
          <p:cNvPr id="65" name="Text 52"/>
          <p:cNvSpPr txBox="1"/>
          <p:nvPr/>
        </p:nvSpPr>
        <p:spPr>
          <a:xfrm>
            <a:off x="9797796" y="5693969"/>
            <a:ext cx="13670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(HTTP / SMB / SSH)</a:t>
            </a:r>
            <a:endParaRPr lang="en-US" sz="1000" dirty="0"/>
          </a:p>
        </p:txBody>
      </p:sp>
      <p:sp>
        <p:nvSpPr>
          <p:cNvPr id="66" name="Shape 53"/>
          <p:cNvSpPr/>
          <p:nvPr/>
        </p:nvSpPr>
        <p:spPr>
          <a:xfrm>
            <a:off x="10104120" y="4110228"/>
            <a:ext cx="657454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4"/>
          <p:cNvSpPr txBox="1"/>
          <p:nvPr/>
        </p:nvSpPr>
        <p:spPr>
          <a:xfrm>
            <a:off x="10189159" y="416783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T+0.18s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29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304495" y="69009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22730" y="6900977"/>
            <a:ext cx="888248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zones. Traffic flows from Untrusted (WAN) to DMZ, but rarely directly to LAN."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846613" y="70536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 / 60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04495" y="256946"/>
            <a:ext cx="66961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Logical Zones: LAN, WAN, DMZ, Cloud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4801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6045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0" y="352044"/>
            <a:ext cx="24387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 ARCHITECTURE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4495" y="1257300"/>
            <a:ext cx="38405" cy="86685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95605" y="1552651"/>
            <a:ext cx="452993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Segmented communication areas separated by security controls to isolate assets.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4495" y="2349094"/>
            <a:ext cx="38405" cy="866851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95605" y="2358238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95605" y="2644445"/>
            <a:ext cx="445312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reduce risk exposure and limit the "blast radius" if one area is compromised.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04495" y="3439973"/>
            <a:ext cx="38405" cy="116220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95605" y="3450031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95605" y="3735324"/>
            <a:ext cx="4072738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conduct zone-aware investigations, checking if traffic crossed a security boundary.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4495" y="5962802"/>
            <a:ext cx="4638751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6172200"/>
            <a:ext cx="171907" cy="171907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52551" y="6124651"/>
            <a:ext cx="38057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Key: Did the attacker jump from DMZ to LAN?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19065" y="1257300"/>
            <a:ext cx="6572707" cy="5296205"/>
          </a:xfrm>
          <a:prstGeom prst="roundRect">
            <a:avLst>
              <a:gd name="adj" fmla="val 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328209" y="1266444"/>
            <a:ext cx="6553505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328209" y="1705356"/>
            <a:ext cx="655350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5518404" y="1421892"/>
            <a:ext cx="152705" cy="133502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671109" y="1395374"/>
            <a:ext cx="13862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 TRAFFIC MAP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10898734" y="1380744"/>
            <a:ext cx="790956" cy="209398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10983773" y="1410005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VIEW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328209" y="1714500"/>
            <a:ext cx="6553505" cy="48289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5518404" y="2000707"/>
            <a:ext cx="1933956" cy="4257446"/>
          </a:xfrm>
          <a:prstGeom prst="roundRect">
            <a:avLst>
              <a:gd name="adj" fmla="val 1863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5848502" y="2152498"/>
            <a:ext cx="1276502" cy="276149"/>
          </a:xfrm>
          <a:prstGeom prst="roundRect">
            <a:avLst>
              <a:gd name="adj" fmla="val 45672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962802" y="2200046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 (TRUSTED)</a:t>
            </a:r>
            <a:endParaRPr lang="en-US" sz="100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6368796" y="2619756"/>
            <a:ext cx="228600" cy="304495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5737860" y="3076956"/>
            <a:ext cx="15819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Staff, Workstations, Private Servers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5671109" y="5591556"/>
            <a:ext cx="1628546" cy="514807"/>
          </a:xfrm>
          <a:prstGeom prst="roundRect">
            <a:avLst>
              <a:gd name="adj" fmla="val 1315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5757062" y="5695798"/>
            <a:ext cx="142646" cy="11430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5975604" y="5686654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192.168.1.x</a:t>
            </a:r>
            <a:endParaRPr lang="en-US" sz="9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57062" y="5886907"/>
            <a:ext cx="114300" cy="114300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5947258" y="5876849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192.168.10.x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7637983" y="2000707"/>
            <a:ext cx="1933956" cy="4257446"/>
          </a:xfrm>
          <a:prstGeom prst="roundRect">
            <a:avLst>
              <a:gd name="adj" fmla="val 1863"/>
            </a:avLst>
          </a:prstGeom>
          <a:solidFill>
            <a:srgbClr val="F59E0B">
              <a:alpha val="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8008315" y="2152498"/>
            <a:ext cx="1190549" cy="276149"/>
          </a:xfrm>
          <a:prstGeom prst="roundRect">
            <a:avLst>
              <a:gd name="adj" fmla="val 45672"/>
            </a:avLst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 txBox="1"/>
          <p:nvPr/>
        </p:nvSpPr>
        <p:spPr>
          <a:xfrm>
            <a:off x="8122615" y="2200046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DMZ (BUFFER)</a:t>
            </a:r>
            <a:endParaRPr lang="en-US" sz="1000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50885" y="2619756"/>
            <a:ext cx="304495" cy="304495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7898587" y="3076956"/>
            <a:ext cx="14959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Web Servers, Email Gateways, Proxies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7790688" y="5591556"/>
            <a:ext cx="1628546" cy="514807"/>
          </a:xfrm>
          <a:prstGeom prst="roundRect">
            <a:avLst>
              <a:gd name="adj" fmla="val 1315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876642" y="5695798"/>
            <a:ext cx="114300" cy="114300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8066837" y="5686654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172.16.1.10</a:t>
            </a:r>
            <a:endParaRPr lang="en-US" sz="9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76642" y="5886907"/>
            <a:ext cx="114300" cy="11430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066837" y="5876849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172.16.1.20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9757562" y="2000707"/>
            <a:ext cx="1933956" cy="4257446"/>
          </a:xfrm>
          <a:prstGeom prst="roundRect">
            <a:avLst>
              <a:gd name="adj" fmla="val 1863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6"/>
          <p:cNvSpPr/>
          <p:nvPr/>
        </p:nvSpPr>
        <p:spPr>
          <a:xfrm>
            <a:off x="10008108" y="2152498"/>
            <a:ext cx="1438351" cy="276149"/>
          </a:xfrm>
          <a:prstGeom prst="roundRect">
            <a:avLst>
              <a:gd name="adj" fmla="val 45672"/>
            </a:avLst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47"/>
          <p:cNvSpPr txBox="1"/>
          <p:nvPr/>
        </p:nvSpPr>
        <p:spPr>
          <a:xfrm>
            <a:off x="10122408" y="2200046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 (UNTRUSTED)</a:t>
            </a:r>
            <a:endParaRPr lang="en-US" sz="1000" dirty="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1"/>
          <a:srcRect l="-90" r="-90"/>
          <a:stretch/>
        </p:blipFill>
        <p:spPr>
          <a:xfrm>
            <a:off x="10532059" y="2619756"/>
            <a:ext cx="381305" cy="304495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10055657" y="3076956"/>
            <a:ext cx="14292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Internet, External Attackers, Remote Users</a:t>
            </a:r>
            <a:endParaRPr lang="en-US" sz="900" dirty="0"/>
          </a:p>
        </p:txBody>
      </p:sp>
      <p:sp>
        <p:nvSpPr>
          <p:cNvPr id="60" name="Shape 49"/>
          <p:cNvSpPr/>
          <p:nvPr/>
        </p:nvSpPr>
        <p:spPr>
          <a:xfrm>
            <a:off x="9910267" y="5591556"/>
            <a:ext cx="1628546" cy="514807"/>
          </a:xfrm>
          <a:prstGeom prst="roundRect">
            <a:avLst>
              <a:gd name="adj" fmla="val 1315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9996221" y="5695798"/>
            <a:ext cx="105156" cy="114300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10177272" y="5686654"/>
            <a:ext cx="5056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Any IP</a:t>
            </a:r>
            <a:endParaRPr lang="en-US" sz="900" dirty="0"/>
          </a:p>
        </p:txBody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 r:embed="rId13"/>
          <a:srcRect l="-2571" r="-2571"/>
          <a:stretch/>
        </p:blipFill>
        <p:spPr>
          <a:xfrm>
            <a:off x="9996221" y="5886907"/>
            <a:ext cx="105156" cy="114300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10177272" y="5876849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Threats</a:t>
            </a:r>
            <a:endParaRPr lang="en-US" sz="900" dirty="0"/>
          </a:p>
        </p:txBody>
      </p:sp>
      <p:sp>
        <p:nvSpPr>
          <p:cNvPr id="65" name="Shape 52"/>
          <p:cNvSpPr/>
          <p:nvPr/>
        </p:nvSpPr>
        <p:spPr>
          <a:xfrm>
            <a:off x="7620610" y="4129430"/>
            <a:ext cx="1837944" cy="1920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53"/>
          <p:cNvSpPr/>
          <p:nvPr/>
        </p:nvSpPr>
        <p:spPr>
          <a:xfrm>
            <a:off x="8022946" y="3938321"/>
            <a:ext cx="1037844" cy="181051"/>
          </a:xfrm>
          <a:prstGeom prst="roundRect">
            <a:avLst>
              <a:gd name="adj" fmla="val 10632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54"/>
          <p:cNvSpPr txBox="1"/>
          <p:nvPr/>
        </p:nvSpPr>
        <p:spPr>
          <a:xfrm>
            <a:off x="8079638" y="3967582"/>
            <a:ext cx="10003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HTTP/S (Allowed)</a:t>
            </a:r>
            <a:endParaRPr lang="en-US" sz="800" dirty="0"/>
          </a:p>
        </p:txBody>
      </p:sp>
      <p:sp>
        <p:nvSpPr>
          <p:cNvPr id="68" name="Shape 55"/>
          <p:cNvSpPr/>
          <p:nvPr/>
        </p:nvSpPr>
        <p:spPr>
          <a:xfrm>
            <a:off x="5458968" y="4129430"/>
            <a:ext cx="1837944" cy="1920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56"/>
          <p:cNvSpPr/>
          <p:nvPr/>
        </p:nvSpPr>
        <p:spPr>
          <a:xfrm>
            <a:off x="5975604" y="3938321"/>
            <a:ext cx="809244" cy="181051"/>
          </a:xfrm>
          <a:prstGeom prst="roundRect">
            <a:avLst>
              <a:gd name="adj" fmla="val 10632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57"/>
          <p:cNvSpPr txBox="1"/>
          <p:nvPr/>
        </p:nvSpPr>
        <p:spPr>
          <a:xfrm>
            <a:off x="6033211" y="3967582"/>
            <a:ext cx="7717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(Strict)</a:t>
            </a:r>
            <a:endParaRPr lang="en-US" sz="800" dirty="0"/>
          </a:p>
        </p:txBody>
      </p:sp>
      <p:sp>
        <p:nvSpPr>
          <p:cNvPr id="71" name="Shape 58"/>
          <p:cNvSpPr/>
          <p:nvPr/>
        </p:nvSpPr>
        <p:spPr>
          <a:xfrm>
            <a:off x="7430414" y="3906317"/>
            <a:ext cx="286207" cy="381305"/>
          </a:xfrm>
          <a:prstGeom prst="roundRect">
            <a:avLst>
              <a:gd name="adj" fmla="val 42599"/>
            </a:avLst>
          </a:prstGeom>
          <a:solidFill>
            <a:srgbClr val="B91C1C"/>
          </a:solidFill>
          <a:ln/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2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507224" y="4030675"/>
            <a:ext cx="133502" cy="133502"/>
          </a:xfrm>
          <a:prstGeom prst="rect">
            <a:avLst/>
          </a:prstGeom>
        </p:spPr>
      </p:pic>
      <p:sp>
        <p:nvSpPr>
          <p:cNvPr id="73" name="Shape 59"/>
          <p:cNvSpPr/>
          <p:nvPr/>
        </p:nvSpPr>
        <p:spPr>
          <a:xfrm>
            <a:off x="9528048" y="3906317"/>
            <a:ext cx="286207" cy="381305"/>
          </a:xfrm>
          <a:prstGeom prst="roundRect">
            <a:avLst>
              <a:gd name="adj" fmla="val 42599"/>
            </a:avLst>
          </a:prstGeom>
          <a:solidFill>
            <a:srgbClr val="B91C1C"/>
          </a:solidFill>
          <a:ln/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4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603943" y="4030675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475305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SOC Sees Traffic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6231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7475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744200" y="352044"/>
            <a:ext cx="12957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VISIBILITY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60126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collection of logs, mirrors, and sensors placed strategically across the network.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123809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4972507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provide complete coverage across all zones (LAN, DMZ, Cloud) and eliminate dark spots.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86699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87614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4162349"/>
            <a:ext cx="48865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combine views from multiple sources to build full context around an event.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466344" y="5600700"/>
            <a:ext cx="190195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71754" y="5553151"/>
            <a:ext cx="244327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Fewer blind spots.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6098134" y="1421892"/>
            <a:ext cx="152705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49924" y="1395374"/>
            <a:ext cx="19485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VISIBILITY COVERAGE MAP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350094" y="1380744"/>
            <a:ext cx="1343254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435133" y="1410005"/>
            <a:ext cx="1257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active_monitoring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1904695"/>
            <a:ext cx="1762049" cy="3877056"/>
          </a:xfrm>
          <a:prstGeom prst="roundRect">
            <a:avLst>
              <a:gd name="adj" fmla="val 2244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6498641" y="2038198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/ LAN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221578" y="2314346"/>
            <a:ext cx="1514246" cy="514807"/>
          </a:xfrm>
          <a:prstGeom prst="roundRect">
            <a:avLst>
              <a:gd name="adj" fmla="val 1973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6326734" y="2419502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6393485" y="2505456"/>
            <a:ext cx="171907" cy="133502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726326" y="2488082"/>
            <a:ext cx="9409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 Logs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6221578" y="2905049"/>
            <a:ext cx="1514246" cy="514807"/>
          </a:xfrm>
          <a:prstGeom prst="roundRect">
            <a:avLst>
              <a:gd name="adj" fmla="val 1973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6326734" y="3010205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312E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6393485" y="3095244"/>
            <a:ext cx="171907" cy="133502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6726326" y="3078785"/>
            <a:ext cx="8174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Logs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221578" y="3495751"/>
            <a:ext cx="1514246" cy="514807"/>
          </a:xfrm>
          <a:prstGeom prst="roundRect">
            <a:avLst>
              <a:gd name="adj" fmla="val 1973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11773" y="3685946"/>
            <a:ext cx="133502" cy="133502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6726326" y="3669487"/>
            <a:ext cx="8842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TAPs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8011973" y="1904695"/>
            <a:ext cx="1762049" cy="3877056"/>
          </a:xfrm>
          <a:prstGeom prst="roundRect">
            <a:avLst>
              <a:gd name="adj" fmla="val 2244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8549640" y="2038198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DMZ / EDGE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8135417" y="2314346"/>
            <a:ext cx="1514246" cy="514807"/>
          </a:xfrm>
          <a:prstGeom prst="roundRect">
            <a:avLst>
              <a:gd name="adj" fmla="val 1973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8240573" y="2419502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7F1D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335670" y="2505456"/>
            <a:ext cx="114300" cy="133502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640166" y="2488082"/>
            <a:ext cx="8741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 Logs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8135417" y="2905049"/>
            <a:ext cx="1514246" cy="514807"/>
          </a:xfrm>
          <a:prstGeom prst="roundRect">
            <a:avLst>
              <a:gd name="adj" fmla="val 1973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2"/>
          <p:cNvSpPr/>
          <p:nvPr/>
        </p:nvSpPr>
        <p:spPr>
          <a:xfrm>
            <a:off x="8240573" y="3010205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7835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25612" y="3095244"/>
            <a:ext cx="133502" cy="133502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8640166" y="3078785"/>
            <a:ext cx="9884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IDS / IPS Alerts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8135417" y="3495751"/>
            <a:ext cx="1514246" cy="514807"/>
          </a:xfrm>
          <a:prstGeom prst="roundRect">
            <a:avLst>
              <a:gd name="adj" fmla="val 1973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5"/>
          <p:cNvSpPr/>
          <p:nvPr/>
        </p:nvSpPr>
        <p:spPr>
          <a:xfrm>
            <a:off x="8240573" y="3600907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325612" y="3685946"/>
            <a:ext cx="133502" cy="133502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8640166" y="3669487"/>
            <a:ext cx="7598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Proxy Logs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9925812" y="1904695"/>
            <a:ext cx="1762049" cy="3877056"/>
          </a:xfrm>
          <a:prstGeom prst="roundRect">
            <a:avLst>
              <a:gd name="adj" fmla="val 2244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8"/>
          <p:cNvSpPr txBox="1"/>
          <p:nvPr/>
        </p:nvSpPr>
        <p:spPr>
          <a:xfrm>
            <a:off x="10428732" y="2038198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/ WAN</a:t>
            </a:r>
            <a:endParaRPr lang="en-US" sz="900" dirty="0"/>
          </a:p>
        </p:txBody>
      </p:sp>
      <p:sp>
        <p:nvSpPr>
          <p:cNvPr id="59" name="Shape 49"/>
          <p:cNvSpPr/>
          <p:nvPr/>
        </p:nvSpPr>
        <p:spPr>
          <a:xfrm>
            <a:off x="10049256" y="2314346"/>
            <a:ext cx="1514246" cy="514807"/>
          </a:xfrm>
          <a:prstGeom prst="roundRect">
            <a:avLst>
              <a:gd name="adj" fmla="val 1973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10221163" y="2505456"/>
            <a:ext cx="171907" cy="133502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10554005" y="2488082"/>
            <a:ext cx="9884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VPC Flow Logs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10049256" y="2905049"/>
            <a:ext cx="1514246" cy="514807"/>
          </a:xfrm>
          <a:prstGeom prst="roundRect">
            <a:avLst>
              <a:gd name="adj" fmla="val 1973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240366" y="3095244"/>
            <a:ext cx="133502" cy="133502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10554005" y="3078785"/>
            <a:ext cx="6931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CDN Logs</a:t>
            </a:r>
            <a:endParaRPr lang="en-US" sz="900" dirty="0"/>
          </a:p>
        </p:txBody>
      </p:sp>
      <p:sp>
        <p:nvSpPr>
          <p:cNvPr id="65" name="Shape 53"/>
          <p:cNvSpPr/>
          <p:nvPr/>
        </p:nvSpPr>
        <p:spPr>
          <a:xfrm>
            <a:off x="10049256" y="3495751"/>
            <a:ext cx="1514246" cy="514807"/>
          </a:xfrm>
          <a:prstGeom prst="roundRect">
            <a:avLst>
              <a:gd name="adj" fmla="val 1973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54"/>
          <p:cNvSpPr/>
          <p:nvPr/>
        </p:nvSpPr>
        <p:spPr>
          <a:xfrm>
            <a:off x="10154412" y="3600907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831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7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240366" y="3685946"/>
            <a:ext cx="133502" cy="133502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10554005" y="3669487"/>
            <a:ext cx="9692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Gateway</a:t>
            </a:r>
            <a:endParaRPr lang="en-US" sz="900" dirty="0"/>
          </a:p>
        </p:txBody>
      </p:sp>
      <p:sp>
        <p:nvSpPr>
          <p:cNvPr id="69" name="Shape 56"/>
          <p:cNvSpPr/>
          <p:nvPr/>
        </p:nvSpPr>
        <p:spPr>
          <a:xfrm>
            <a:off x="6098134" y="5934456"/>
            <a:ext cx="559155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57"/>
          <p:cNvSpPr/>
          <p:nvPr/>
        </p:nvSpPr>
        <p:spPr>
          <a:xfrm>
            <a:off x="6098134" y="6105449"/>
            <a:ext cx="75895" cy="75895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58"/>
          <p:cNvSpPr txBox="1"/>
          <p:nvPr/>
        </p:nvSpPr>
        <p:spPr>
          <a:xfrm>
            <a:off x="6230722" y="6057900"/>
            <a:ext cx="9144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 FLOWING</a:t>
            </a:r>
            <a:endParaRPr lang="en-US" sz="900" dirty="0"/>
          </a:p>
        </p:txBody>
      </p:sp>
      <p:sp>
        <p:nvSpPr>
          <p:cNvPr id="72" name="Shape 59"/>
          <p:cNvSpPr/>
          <p:nvPr/>
        </p:nvSpPr>
        <p:spPr>
          <a:xfrm>
            <a:off x="7206386" y="6105449"/>
            <a:ext cx="75895" cy="7589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0"/>
          <p:cNvSpPr txBox="1"/>
          <p:nvPr/>
        </p:nvSpPr>
        <p:spPr>
          <a:xfrm>
            <a:off x="7339889" y="6057900"/>
            <a:ext cx="1047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PCAP AVAILABLE</a:t>
            </a:r>
            <a:endParaRPr lang="en-US" sz="900" dirty="0"/>
          </a:p>
        </p:txBody>
      </p:sp>
      <p:sp>
        <p:nvSpPr>
          <p:cNvPr id="74" name="Text 61"/>
          <p:cNvSpPr txBox="1"/>
          <p:nvPr/>
        </p:nvSpPr>
        <p:spPr>
          <a:xfrm>
            <a:off x="10795406" y="6077102"/>
            <a:ext cx="9811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Coverage: 94%</a:t>
            </a:r>
            <a:endParaRPr lang="en-US" sz="900" dirty="0"/>
          </a:p>
        </p:txBody>
      </p:sp>
      <p:sp>
        <p:nvSpPr>
          <p:cNvPr id="75" name="Shape 6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6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64"/>
          <p:cNvSpPr txBox="1"/>
          <p:nvPr/>
        </p:nvSpPr>
        <p:spPr>
          <a:xfrm>
            <a:off x="304495" y="6458407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78" name="Text 65"/>
          <p:cNvSpPr txBox="1"/>
          <p:nvPr/>
        </p:nvSpPr>
        <p:spPr>
          <a:xfrm>
            <a:off x="1756562" y="6458407"/>
            <a:ext cx="8368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 combine Endpoint, Firewall, and Proxy logs. No single tool sees everything."</a:t>
            </a:r>
            <a:endParaRPr lang="en-US" sz="1300" dirty="0"/>
          </a:p>
        </p:txBody>
      </p:sp>
      <p:sp>
        <p:nvSpPr>
          <p:cNvPr id="79" name="Text 66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 / 60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68296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Markers in Communication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0229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1473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352044"/>
            <a:ext cx="2895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IP ADDRESSING &amp; IDENTITY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52011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unique digital fingerprints—MAC, IP, and Ports—that identify every sender and receiver.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46104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answer "Who spoke to whom?" and distinguish specific services on a device.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9725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link alerts to entities to reconstruct traceable conversations across the network.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339608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Pinpoint the exact device and app.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8134" y="1421892"/>
            <a:ext cx="133502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30722" y="1395374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 TRACING VIEW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554919" y="1380744"/>
            <a:ext cx="1133856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640873" y="1410005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SESSION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2061972"/>
            <a:ext cx="5591556" cy="2523744"/>
          </a:xfrm>
          <a:prstGeom prst="roundRect">
            <a:avLst>
              <a:gd name="adj" fmla="val 10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335878" y="2300630"/>
            <a:ext cx="1714500" cy="2048256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6497726" y="2462479"/>
            <a:ext cx="190195" cy="152705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764731" y="2462479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(Client)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6497726" y="2776118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 (HARDWARE)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6497726" y="2948026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00:1A:2B:3C:4D:5E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6497726" y="3300070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(LOGICAL)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6497726" y="3471977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192.168.1.100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6497726" y="3824021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(APP)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6497726" y="3995928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49152 (Random)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8240573" y="3314700"/>
            <a:ext cx="1304849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8567014" y="3200400"/>
            <a:ext cx="657454" cy="418795"/>
          </a:xfrm>
          <a:prstGeom prst="roundRect">
            <a:avLst>
              <a:gd name="adj" fmla="val 59547"/>
            </a:avLst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 txBox="1"/>
          <p:nvPr/>
        </p:nvSpPr>
        <p:spPr>
          <a:xfrm>
            <a:off x="8681314" y="3247949"/>
            <a:ext cx="438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 / TCP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9734702" y="2300630"/>
            <a:ext cx="1714500" cy="2048256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896551" y="2462479"/>
            <a:ext cx="152705" cy="152705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10125151" y="2462479"/>
            <a:ext cx="876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 (Server)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9896551" y="2776118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 (HARDWARE)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9896551" y="2948026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AA:BB:CC:DD:EE:FF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9896551" y="3300070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(LOGICAL)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9896551" y="3471977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203.0.113.50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9896551" y="3824021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(APP)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9896551" y="3995928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 (Web)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6098134" y="5005426"/>
            <a:ext cx="1762049" cy="619049"/>
          </a:xfrm>
          <a:prstGeom prst="roundRect">
            <a:avLst>
              <a:gd name="adj" fmla="val 136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7"/>
          <p:cNvSpPr/>
          <p:nvPr/>
        </p:nvSpPr>
        <p:spPr>
          <a:xfrm>
            <a:off x="6221578" y="5162702"/>
            <a:ext cx="304495" cy="304495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97473" y="5238598"/>
            <a:ext cx="152705" cy="152705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6640373" y="5148072"/>
            <a:ext cx="9866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 Address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6640373" y="5339182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Device ID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8011973" y="5005426"/>
            <a:ext cx="1762049" cy="619049"/>
          </a:xfrm>
          <a:prstGeom prst="roundRect">
            <a:avLst>
              <a:gd name="adj" fmla="val 136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1"/>
          <p:cNvSpPr/>
          <p:nvPr/>
        </p:nvSpPr>
        <p:spPr>
          <a:xfrm>
            <a:off x="8135417" y="5162702"/>
            <a:ext cx="304495" cy="304495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8230514" y="5238598"/>
            <a:ext cx="114300" cy="152705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8554212" y="5148072"/>
            <a:ext cx="7955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Address</a:t>
            </a:r>
            <a:endParaRPr lang="en-US" sz="1000" dirty="0"/>
          </a:p>
        </p:txBody>
      </p:sp>
      <p:sp>
        <p:nvSpPr>
          <p:cNvPr id="61" name="Text 53"/>
          <p:cNvSpPr txBox="1"/>
          <p:nvPr/>
        </p:nvSpPr>
        <p:spPr>
          <a:xfrm>
            <a:off x="8554212" y="5339182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Location</a:t>
            </a:r>
            <a:endParaRPr lang="en-US" sz="900" dirty="0"/>
          </a:p>
        </p:txBody>
      </p:sp>
      <p:sp>
        <p:nvSpPr>
          <p:cNvPr id="62" name="Shape 54"/>
          <p:cNvSpPr/>
          <p:nvPr/>
        </p:nvSpPr>
        <p:spPr>
          <a:xfrm>
            <a:off x="9925812" y="5005426"/>
            <a:ext cx="1762049" cy="619049"/>
          </a:xfrm>
          <a:prstGeom prst="roundRect">
            <a:avLst>
              <a:gd name="adj" fmla="val 136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5"/>
          <p:cNvSpPr/>
          <p:nvPr/>
        </p:nvSpPr>
        <p:spPr>
          <a:xfrm>
            <a:off x="10049256" y="5162702"/>
            <a:ext cx="304495" cy="304495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4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10116007" y="5238598"/>
            <a:ext cx="171907" cy="152705"/>
          </a:xfrm>
          <a:prstGeom prst="rect">
            <a:avLst/>
          </a:prstGeom>
        </p:spPr>
      </p:pic>
      <p:sp>
        <p:nvSpPr>
          <p:cNvPr id="65" name="Text 56"/>
          <p:cNvSpPr txBox="1"/>
          <p:nvPr/>
        </p:nvSpPr>
        <p:spPr>
          <a:xfrm>
            <a:off x="10468966" y="5148072"/>
            <a:ext cx="929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 Number</a:t>
            </a:r>
            <a:endParaRPr lang="en-US" sz="1000" dirty="0"/>
          </a:p>
        </p:txBody>
      </p:sp>
      <p:sp>
        <p:nvSpPr>
          <p:cNvPr id="66" name="Text 57"/>
          <p:cNvSpPr txBox="1"/>
          <p:nvPr/>
        </p:nvSpPr>
        <p:spPr>
          <a:xfrm>
            <a:off x="10468966" y="5339182"/>
            <a:ext cx="9912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Service</a:t>
            </a:r>
            <a:endParaRPr lang="en-US" sz="900" dirty="0"/>
          </a:p>
        </p:txBody>
      </p:sp>
      <p:sp>
        <p:nvSpPr>
          <p:cNvPr id="67" name="Shape 58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59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0"/>
          <p:cNvSpPr txBox="1"/>
          <p:nvPr/>
        </p:nvSpPr>
        <p:spPr>
          <a:xfrm>
            <a:off x="304495" y="6458407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70" name="Text 61"/>
          <p:cNvSpPr txBox="1"/>
          <p:nvPr/>
        </p:nvSpPr>
        <p:spPr>
          <a:xfrm>
            <a:off x="1756562" y="6458407"/>
            <a:ext cx="9082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three identity layers: Hardware (MAC), Location (IP), and Service (Port)."</a:t>
            </a:r>
            <a:endParaRPr lang="en-US" sz="1300" dirty="0"/>
          </a:p>
        </p:txBody>
      </p:sp>
      <p:sp>
        <p:nvSpPr>
          <p:cNvPr id="71" name="Text 62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12 / 60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51627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Wireshark: What and Why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7087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8331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829800" y="352044"/>
            <a:ext cx="22101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 VISIBILITY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9725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deep packet inspection tool that captures raw network traffic for microscopic analysis.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48390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see the exact content of communication when high-level logs aren't enough.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123809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429354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use it sparingly for awareness and escalation, mostly during deep forensic investigations.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43772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No live capture practice here. Awareness only.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8134" y="1421892"/>
            <a:ext cx="133502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30722" y="1395374"/>
            <a:ext cx="2348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 CAPTURE VISUALIZATION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898734" y="1380744"/>
            <a:ext cx="790956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983773" y="1410005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PCAP VIEW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2238451"/>
            <a:ext cx="57150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6174029" y="1981505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669634" y="2238451"/>
            <a:ext cx="7616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6745529" y="1981505"/>
            <a:ext cx="3977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7431329" y="2238451"/>
            <a:ext cx="1047902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7507224" y="1981505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8479231" y="2238451"/>
            <a:ext cx="1047902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8555126" y="1981505"/>
            <a:ext cx="3977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9527134" y="2238451"/>
            <a:ext cx="67665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 txBox="1"/>
          <p:nvPr/>
        </p:nvSpPr>
        <p:spPr>
          <a:xfrm>
            <a:off x="9603029" y="1981505"/>
            <a:ext cx="4745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10199218" y="2238451"/>
            <a:ext cx="1495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 txBox="1"/>
          <p:nvPr/>
        </p:nvSpPr>
        <p:spPr>
          <a:xfrm>
            <a:off x="10275113" y="1981505"/>
            <a:ext cx="3977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6098134" y="2771546"/>
            <a:ext cx="571500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 txBox="1"/>
          <p:nvPr/>
        </p:nvSpPr>
        <p:spPr>
          <a:xfrm>
            <a:off x="6174029" y="2421331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6669634" y="2771546"/>
            <a:ext cx="76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 txBox="1"/>
          <p:nvPr/>
        </p:nvSpPr>
        <p:spPr>
          <a:xfrm>
            <a:off x="6745529" y="2421331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10.421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7431329" y="2771546"/>
            <a:ext cx="1047902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 txBox="1"/>
          <p:nvPr/>
        </p:nvSpPr>
        <p:spPr>
          <a:xfrm>
            <a:off x="7507224" y="2421331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8479231" y="2771546"/>
            <a:ext cx="1047902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 txBox="1"/>
          <p:nvPr/>
        </p:nvSpPr>
        <p:spPr>
          <a:xfrm>
            <a:off x="8555126" y="2421331"/>
            <a:ext cx="9125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203.0.113.5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9527134" y="2771546"/>
            <a:ext cx="676656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 txBox="1"/>
          <p:nvPr/>
        </p:nvSpPr>
        <p:spPr>
          <a:xfrm>
            <a:off x="9603029" y="2421331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10199218" y="2771546"/>
            <a:ext cx="1495044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 txBox="1"/>
          <p:nvPr/>
        </p:nvSpPr>
        <p:spPr>
          <a:xfrm>
            <a:off x="10275113" y="2328977"/>
            <a:ext cx="135971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49201 → 443 [SYN] Seq=0 Win=64240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6098134" y="3305556"/>
            <a:ext cx="571500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 txBox="1"/>
          <p:nvPr/>
        </p:nvSpPr>
        <p:spPr>
          <a:xfrm>
            <a:off x="6174029" y="2955341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143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6669634" y="3305556"/>
            <a:ext cx="76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 txBox="1"/>
          <p:nvPr/>
        </p:nvSpPr>
        <p:spPr>
          <a:xfrm>
            <a:off x="6745529" y="2955341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10.452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7431329" y="3305556"/>
            <a:ext cx="1047902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5"/>
          <p:cNvSpPr txBox="1"/>
          <p:nvPr/>
        </p:nvSpPr>
        <p:spPr>
          <a:xfrm>
            <a:off x="7507224" y="2955341"/>
            <a:ext cx="9125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203.0.113.5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8479231" y="3305556"/>
            <a:ext cx="1047902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7"/>
          <p:cNvSpPr txBox="1"/>
          <p:nvPr/>
        </p:nvSpPr>
        <p:spPr>
          <a:xfrm>
            <a:off x="8555126" y="2955341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9527134" y="3305556"/>
            <a:ext cx="676656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9"/>
          <p:cNvSpPr txBox="1"/>
          <p:nvPr/>
        </p:nvSpPr>
        <p:spPr>
          <a:xfrm>
            <a:off x="9603029" y="2955341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64" name="Shape 60"/>
          <p:cNvSpPr/>
          <p:nvPr/>
        </p:nvSpPr>
        <p:spPr>
          <a:xfrm>
            <a:off x="10199218" y="3305556"/>
            <a:ext cx="1495044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1"/>
          <p:cNvSpPr txBox="1"/>
          <p:nvPr/>
        </p:nvSpPr>
        <p:spPr>
          <a:xfrm>
            <a:off x="10275113" y="2862072"/>
            <a:ext cx="135971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 → 49201 [SYN, ACK] Seq=0 Ack=1</a:t>
            </a:r>
            <a:endParaRPr lang="en-US" sz="900" dirty="0"/>
          </a:p>
        </p:txBody>
      </p:sp>
      <p:sp>
        <p:nvSpPr>
          <p:cNvPr id="66" name="Shape 62"/>
          <p:cNvSpPr/>
          <p:nvPr/>
        </p:nvSpPr>
        <p:spPr>
          <a:xfrm>
            <a:off x="6098134" y="3838651"/>
            <a:ext cx="571500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3"/>
          <p:cNvSpPr txBox="1"/>
          <p:nvPr/>
        </p:nvSpPr>
        <p:spPr>
          <a:xfrm>
            <a:off x="6174029" y="3488436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144</a:t>
            </a:r>
            <a:endParaRPr lang="en-US" sz="900" dirty="0"/>
          </a:p>
        </p:txBody>
      </p:sp>
      <p:sp>
        <p:nvSpPr>
          <p:cNvPr id="68" name="Shape 64"/>
          <p:cNvSpPr/>
          <p:nvPr/>
        </p:nvSpPr>
        <p:spPr>
          <a:xfrm>
            <a:off x="6669634" y="3838651"/>
            <a:ext cx="76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5"/>
          <p:cNvSpPr txBox="1"/>
          <p:nvPr/>
        </p:nvSpPr>
        <p:spPr>
          <a:xfrm>
            <a:off x="6745529" y="3488436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10.453</a:t>
            </a:r>
            <a:endParaRPr lang="en-US" sz="900" dirty="0"/>
          </a:p>
        </p:txBody>
      </p:sp>
      <p:sp>
        <p:nvSpPr>
          <p:cNvPr id="70" name="Shape 66"/>
          <p:cNvSpPr/>
          <p:nvPr/>
        </p:nvSpPr>
        <p:spPr>
          <a:xfrm>
            <a:off x="7431329" y="3838651"/>
            <a:ext cx="1047902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7"/>
          <p:cNvSpPr txBox="1"/>
          <p:nvPr/>
        </p:nvSpPr>
        <p:spPr>
          <a:xfrm>
            <a:off x="7507224" y="3488436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</a:t>
            </a:r>
            <a:endParaRPr lang="en-US" sz="900" dirty="0"/>
          </a:p>
        </p:txBody>
      </p:sp>
      <p:sp>
        <p:nvSpPr>
          <p:cNvPr id="72" name="Shape 68"/>
          <p:cNvSpPr/>
          <p:nvPr/>
        </p:nvSpPr>
        <p:spPr>
          <a:xfrm>
            <a:off x="8479231" y="3838651"/>
            <a:ext cx="1047902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9"/>
          <p:cNvSpPr txBox="1"/>
          <p:nvPr/>
        </p:nvSpPr>
        <p:spPr>
          <a:xfrm>
            <a:off x="8555126" y="3488436"/>
            <a:ext cx="9125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203.0.113.5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9527134" y="3838651"/>
            <a:ext cx="676656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1"/>
          <p:cNvSpPr txBox="1"/>
          <p:nvPr/>
        </p:nvSpPr>
        <p:spPr>
          <a:xfrm>
            <a:off x="9603029" y="3488436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76" name="Shape 72"/>
          <p:cNvSpPr/>
          <p:nvPr/>
        </p:nvSpPr>
        <p:spPr>
          <a:xfrm>
            <a:off x="10199218" y="3838651"/>
            <a:ext cx="1495044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3"/>
          <p:cNvSpPr txBox="1"/>
          <p:nvPr/>
        </p:nvSpPr>
        <p:spPr>
          <a:xfrm>
            <a:off x="10275113" y="3396082"/>
            <a:ext cx="135971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49201 → 443 [ACK] Seq=1 Ack=1</a:t>
            </a:r>
            <a:endParaRPr lang="en-US" sz="900" dirty="0"/>
          </a:p>
        </p:txBody>
      </p:sp>
      <p:sp>
        <p:nvSpPr>
          <p:cNvPr id="78" name="Shape 74"/>
          <p:cNvSpPr/>
          <p:nvPr/>
        </p:nvSpPr>
        <p:spPr>
          <a:xfrm>
            <a:off x="6098134" y="3847795"/>
            <a:ext cx="5591556" cy="352044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6098134" y="4190695"/>
            <a:ext cx="571500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6"/>
          <p:cNvSpPr txBox="1"/>
          <p:nvPr/>
        </p:nvSpPr>
        <p:spPr>
          <a:xfrm>
            <a:off x="6174029" y="3929177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145</a:t>
            </a:r>
            <a:endParaRPr lang="en-US" sz="900" dirty="0"/>
          </a:p>
        </p:txBody>
      </p:sp>
      <p:sp>
        <p:nvSpPr>
          <p:cNvPr id="81" name="Shape 77"/>
          <p:cNvSpPr/>
          <p:nvPr/>
        </p:nvSpPr>
        <p:spPr>
          <a:xfrm>
            <a:off x="6669634" y="4190695"/>
            <a:ext cx="76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8"/>
          <p:cNvSpPr txBox="1"/>
          <p:nvPr/>
        </p:nvSpPr>
        <p:spPr>
          <a:xfrm>
            <a:off x="6745529" y="3929177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10.455</a:t>
            </a: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7431329" y="4190695"/>
            <a:ext cx="1047902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0"/>
          <p:cNvSpPr txBox="1"/>
          <p:nvPr/>
        </p:nvSpPr>
        <p:spPr>
          <a:xfrm>
            <a:off x="7507224" y="3929177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</a:t>
            </a:r>
            <a:endParaRPr lang="en-US" sz="900" dirty="0"/>
          </a:p>
        </p:txBody>
      </p:sp>
      <p:sp>
        <p:nvSpPr>
          <p:cNvPr id="85" name="Shape 81"/>
          <p:cNvSpPr/>
          <p:nvPr/>
        </p:nvSpPr>
        <p:spPr>
          <a:xfrm>
            <a:off x="8479231" y="4190695"/>
            <a:ext cx="1047902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2"/>
          <p:cNvSpPr txBox="1"/>
          <p:nvPr/>
        </p:nvSpPr>
        <p:spPr>
          <a:xfrm>
            <a:off x="8555126" y="3929177"/>
            <a:ext cx="9125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203.0.113.5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9527134" y="4190695"/>
            <a:ext cx="676656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4"/>
          <p:cNvSpPr txBox="1"/>
          <p:nvPr/>
        </p:nvSpPr>
        <p:spPr>
          <a:xfrm>
            <a:off x="9603029" y="3929177"/>
            <a:ext cx="6172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TLSv1.2</a:t>
            </a:r>
            <a:endParaRPr lang="en-US" sz="900" dirty="0"/>
          </a:p>
        </p:txBody>
      </p:sp>
      <p:sp>
        <p:nvSpPr>
          <p:cNvPr id="89" name="Shape 85"/>
          <p:cNvSpPr/>
          <p:nvPr/>
        </p:nvSpPr>
        <p:spPr>
          <a:xfrm>
            <a:off x="10199218" y="4190695"/>
            <a:ext cx="1495044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6"/>
          <p:cNvSpPr txBox="1"/>
          <p:nvPr/>
        </p:nvSpPr>
        <p:spPr>
          <a:xfrm>
            <a:off x="10275113" y="3929177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Hello</a:t>
            </a:r>
            <a:endParaRPr lang="en-US" sz="900" dirty="0"/>
          </a:p>
        </p:txBody>
      </p:sp>
      <p:sp>
        <p:nvSpPr>
          <p:cNvPr id="91" name="Shape 87"/>
          <p:cNvSpPr/>
          <p:nvPr/>
        </p:nvSpPr>
        <p:spPr>
          <a:xfrm>
            <a:off x="6098134" y="4911242"/>
            <a:ext cx="571500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88"/>
          <p:cNvSpPr txBox="1"/>
          <p:nvPr/>
        </p:nvSpPr>
        <p:spPr>
          <a:xfrm>
            <a:off x="6174029" y="4462272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146</a:t>
            </a:r>
            <a:endParaRPr lang="en-US" sz="900" dirty="0"/>
          </a:p>
        </p:txBody>
      </p:sp>
      <p:sp>
        <p:nvSpPr>
          <p:cNvPr id="93" name="Shape 89"/>
          <p:cNvSpPr/>
          <p:nvPr/>
        </p:nvSpPr>
        <p:spPr>
          <a:xfrm>
            <a:off x="6669634" y="4911242"/>
            <a:ext cx="76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0"/>
          <p:cNvSpPr txBox="1"/>
          <p:nvPr/>
        </p:nvSpPr>
        <p:spPr>
          <a:xfrm>
            <a:off x="6745529" y="4462272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10.488</a:t>
            </a:r>
            <a:endParaRPr lang="en-US" sz="900" dirty="0"/>
          </a:p>
        </p:txBody>
      </p:sp>
      <p:sp>
        <p:nvSpPr>
          <p:cNvPr id="95" name="Shape 91"/>
          <p:cNvSpPr/>
          <p:nvPr/>
        </p:nvSpPr>
        <p:spPr>
          <a:xfrm>
            <a:off x="7431329" y="4911242"/>
            <a:ext cx="1047902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2"/>
          <p:cNvSpPr txBox="1"/>
          <p:nvPr/>
        </p:nvSpPr>
        <p:spPr>
          <a:xfrm>
            <a:off x="7507224" y="4462272"/>
            <a:ext cx="9125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203.0.113.5</a:t>
            </a:r>
            <a:endParaRPr lang="en-US" sz="900" dirty="0"/>
          </a:p>
        </p:txBody>
      </p:sp>
      <p:sp>
        <p:nvSpPr>
          <p:cNvPr id="97" name="Shape 93"/>
          <p:cNvSpPr/>
          <p:nvPr/>
        </p:nvSpPr>
        <p:spPr>
          <a:xfrm>
            <a:off x="8479231" y="4911242"/>
            <a:ext cx="1047902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4"/>
          <p:cNvSpPr txBox="1"/>
          <p:nvPr/>
        </p:nvSpPr>
        <p:spPr>
          <a:xfrm>
            <a:off x="8555126" y="4462272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</a:t>
            </a:r>
            <a:endParaRPr lang="en-US" sz="900" dirty="0"/>
          </a:p>
        </p:txBody>
      </p:sp>
      <p:sp>
        <p:nvSpPr>
          <p:cNvPr id="99" name="Shape 95"/>
          <p:cNvSpPr/>
          <p:nvPr/>
        </p:nvSpPr>
        <p:spPr>
          <a:xfrm>
            <a:off x="9527134" y="4911242"/>
            <a:ext cx="676656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6"/>
          <p:cNvSpPr txBox="1"/>
          <p:nvPr/>
        </p:nvSpPr>
        <p:spPr>
          <a:xfrm>
            <a:off x="9603029" y="4462272"/>
            <a:ext cx="6172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TLSv1.2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10199218" y="4911242"/>
            <a:ext cx="1495044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8"/>
          <p:cNvSpPr txBox="1"/>
          <p:nvPr/>
        </p:nvSpPr>
        <p:spPr>
          <a:xfrm>
            <a:off x="10275113" y="4276649"/>
            <a:ext cx="135971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Hello, Certificate, Server Hello Done</a:t>
            </a:r>
            <a:endParaRPr lang="en-US" sz="900" dirty="0"/>
          </a:p>
        </p:txBody>
      </p:sp>
      <p:sp>
        <p:nvSpPr>
          <p:cNvPr id="103" name="Shape 99"/>
          <p:cNvSpPr/>
          <p:nvPr/>
        </p:nvSpPr>
        <p:spPr>
          <a:xfrm>
            <a:off x="6098134" y="4219956"/>
            <a:ext cx="559155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0"/>
          <p:cNvSpPr txBox="1"/>
          <p:nvPr/>
        </p:nvSpPr>
        <p:spPr>
          <a:xfrm>
            <a:off x="6098134" y="4381805"/>
            <a:ext cx="28392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 145: 219 bytes on wire (1752 bits)</a:t>
            </a:r>
            <a:endParaRPr lang="en-US" sz="900" dirty="0"/>
          </a:p>
        </p:txBody>
      </p:sp>
      <p:sp>
        <p:nvSpPr>
          <p:cNvPr id="105" name="Text 101"/>
          <p:cNvSpPr txBox="1"/>
          <p:nvPr/>
        </p:nvSpPr>
        <p:spPr>
          <a:xfrm>
            <a:off x="6174029" y="4591202"/>
            <a:ext cx="3791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Ethernet II, Src: Dell_a1:b2:c3, Dst: Cisco_d4:e5:f6</a:t>
            </a:r>
            <a:endParaRPr lang="en-US" sz="900" dirty="0"/>
          </a:p>
        </p:txBody>
      </p:sp>
      <p:sp>
        <p:nvSpPr>
          <p:cNvPr id="106" name="Text 102"/>
          <p:cNvSpPr txBox="1"/>
          <p:nvPr/>
        </p:nvSpPr>
        <p:spPr>
          <a:xfrm>
            <a:off x="6174029" y="4762195"/>
            <a:ext cx="46204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Internet Protocol Version 4, Src: 192.168.1.10, Dst: 203.0.113.5</a:t>
            </a:r>
            <a:endParaRPr lang="en-US" sz="900" dirty="0"/>
          </a:p>
        </p:txBody>
      </p:sp>
      <p:sp>
        <p:nvSpPr>
          <p:cNvPr id="107" name="Text 103"/>
          <p:cNvSpPr txBox="1"/>
          <p:nvPr/>
        </p:nvSpPr>
        <p:spPr>
          <a:xfrm>
            <a:off x="6174029" y="4934102"/>
            <a:ext cx="4410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Transmission Control Protocol, Src Port: 49201, Dst Port: 443</a:t>
            </a:r>
            <a:endParaRPr lang="en-US" sz="900" dirty="0"/>
          </a:p>
        </p:txBody>
      </p:sp>
      <p:sp>
        <p:nvSpPr>
          <p:cNvPr id="108" name="Text 104"/>
          <p:cNvSpPr txBox="1"/>
          <p:nvPr/>
        </p:nvSpPr>
        <p:spPr>
          <a:xfrm>
            <a:off x="6174029" y="5105095"/>
            <a:ext cx="1877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Transport Layer Security</a:t>
            </a:r>
            <a:endParaRPr lang="en-US" sz="900" dirty="0"/>
          </a:p>
        </p:txBody>
      </p:sp>
      <p:sp>
        <p:nvSpPr>
          <p:cNvPr id="109" name="Text 105"/>
          <p:cNvSpPr txBox="1"/>
          <p:nvPr/>
        </p:nvSpPr>
        <p:spPr>
          <a:xfrm>
            <a:off x="6326734" y="5277002"/>
            <a:ext cx="3934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TLSv1.2 Record Layer: Handshake Protocol: Client Hello</a:t>
            </a:r>
            <a:endParaRPr lang="en-US" sz="900" dirty="0"/>
          </a:p>
        </p:txBody>
      </p:sp>
      <p:sp>
        <p:nvSpPr>
          <p:cNvPr id="110" name="Text 106"/>
          <p:cNvSpPr txBox="1"/>
          <p:nvPr/>
        </p:nvSpPr>
        <p:spPr>
          <a:xfrm>
            <a:off x="6402629" y="5447995"/>
            <a:ext cx="20098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Type: Handshake (22)</a:t>
            </a:r>
            <a:endParaRPr lang="en-US" sz="900" dirty="0"/>
          </a:p>
        </p:txBody>
      </p:sp>
      <p:sp>
        <p:nvSpPr>
          <p:cNvPr id="111" name="Text 107"/>
          <p:cNvSpPr txBox="1"/>
          <p:nvPr/>
        </p:nvSpPr>
        <p:spPr>
          <a:xfrm>
            <a:off x="6402629" y="5619902"/>
            <a:ext cx="1810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TLS 1.0 (0x0301)</a:t>
            </a:r>
            <a:endParaRPr lang="en-US" sz="900" dirty="0"/>
          </a:p>
        </p:txBody>
      </p:sp>
      <p:sp>
        <p:nvSpPr>
          <p:cNvPr id="112" name="Shape 108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09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10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115" name="Text 111"/>
          <p:cNvSpPr txBox="1"/>
          <p:nvPr/>
        </p:nvSpPr>
        <p:spPr>
          <a:xfrm>
            <a:off x="1608430" y="6329477"/>
            <a:ext cx="888248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is what raw traffic looks like. It's granular, complex, and only used when logs aren't enough."</a:t>
            </a:r>
            <a:endParaRPr lang="en-US" sz="1300" dirty="0"/>
          </a:p>
        </p:txBody>
      </p:sp>
      <p:sp>
        <p:nvSpPr>
          <p:cNvPr id="116" name="Text 112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 / 60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53437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SOC Uses Wireshark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457286" y="323698"/>
            <a:ext cx="1457554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581644" y="390449"/>
            <a:ext cx="13103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SOC-L1 TRAINING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352044"/>
            <a:ext cx="1981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 ANALYSIS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3381451"/>
            <a:ext cx="1158270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04495" y="1276502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304495" y="1657807"/>
            <a:ext cx="105156" cy="17190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23951" y="1619402"/>
            <a:ext cx="35625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Narrow, time-bound analysis of specific packet data.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304495" y="2449678"/>
            <a:ext cx="105156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3951" y="2411273"/>
            <a:ext cx="35625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only when high-level logs are insufficient.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267505" y="1276502"/>
            <a:ext cx="1877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4267505" y="1657807"/>
            <a:ext cx="105156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86046" y="1619402"/>
            <a:ext cx="33147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hypotheses quickly with raw network truth.</a:t>
            </a:r>
            <a:endParaRPr lang="en-US" sz="18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4267505" y="2449678"/>
            <a:ext cx="105156" cy="17190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486046" y="2411273"/>
            <a:ext cx="34866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Proves exactly what happened on the wire.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0" y="1276502"/>
            <a:ext cx="1914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USE &amp; OUTCOME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8229600" y="1657807"/>
            <a:ext cx="190195" cy="17190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534095" y="1619402"/>
            <a:ext cx="32772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specific flows, never capture the whole network.</a:t>
            </a:r>
            <a:endParaRPr lang="en-US" sz="18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9600" y="2449678"/>
            <a:ext cx="171907" cy="17190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515807" y="2411273"/>
            <a:ext cx="300106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evidence-backed conclusions for reports.</a:t>
            </a:r>
            <a:endParaRPr lang="en-US" sz="1800" dirty="0"/>
          </a:p>
        </p:txBody>
      </p:sp>
      <p:sp>
        <p:nvSpPr>
          <p:cNvPr id="26" name="Shape 18"/>
          <p:cNvSpPr/>
          <p:nvPr/>
        </p:nvSpPr>
        <p:spPr>
          <a:xfrm>
            <a:off x="304495" y="3613709"/>
            <a:ext cx="11582705" cy="2371954"/>
          </a:xfrm>
          <a:prstGeom prst="roundRect">
            <a:avLst>
              <a:gd name="adj" fmla="val 185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6344" y="3792017"/>
            <a:ext cx="133502" cy="13350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76656" y="3794760"/>
            <a:ext cx="18626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INVESTIGATION WORKFLOW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9111082" y="3775558"/>
            <a:ext cx="1410005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1"/>
          <p:cNvSpPr txBox="1"/>
          <p:nvPr/>
        </p:nvSpPr>
        <p:spPr>
          <a:xfrm>
            <a:off x="9197035" y="3832250"/>
            <a:ext cx="13240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STATUS: VALIDATING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10593324" y="3775558"/>
            <a:ext cx="1133856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3"/>
          <p:cNvSpPr txBox="1"/>
          <p:nvPr/>
        </p:nvSpPr>
        <p:spPr>
          <a:xfrm>
            <a:off x="10679278" y="3832250"/>
            <a:ext cx="10479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CASE: INC-4022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6"/>
          <p:cNvSpPr txBox="1"/>
          <p:nvPr/>
        </p:nvSpPr>
        <p:spPr>
          <a:xfrm>
            <a:off x="304495" y="6329477"/>
            <a:ext cx="1776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OBSERVATION: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304495" y="6329477"/>
            <a:ext cx="977767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Notice this workflow is linear and targeted. We don't just "watch traffic"—we investigate specific alerts.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 / 60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828446" y="4778654"/>
            <a:ext cx="10534802" cy="384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828446" y="4787798"/>
            <a:ext cx="10534802" cy="1920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1123798" y="4225442"/>
            <a:ext cx="476402" cy="4764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EF4444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1276502" y="4368089"/>
            <a:ext cx="171907" cy="19019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162202" y="4825289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endParaRPr lang="en-US" sz="1000" dirty="0"/>
          </a:p>
        </p:txBody>
      </p:sp>
      <p:sp>
        <p:nvSpPr>
          <p:cNvPr id="43" name="Text 33"/>
          <p:cNvSpPr txBox="1"/>
          <p:nvPr/>
        </p:nvSpPr>
        <p:spPr>
          <a:xfrm>
            <a:off x="856793" y="5073091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Suspicious activity</a:t>
            </a:r>
            <a:endParaRPr lang="en-US" sz="900" dirty="0"/>
          </a:p>
        </p:txBody>
      </p:sp>
      <p:sp>
        <p:nvSpPr>
          <p:cNvPr id="44" name="Text 34"/>
          <p:cNvSpPr txBox="1"/>
          <p:nvPr/>
        </p:nvSpPr>
        <p:spPr>
          <a:xfrm>
            <a:off x="1115568" y="5221224"/>
            <a:ext cx="581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triggered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1138428" y="3939235"/>
            <a:ext cx="457200" cy="237744"/>
          </a:xfrm>
          <a:prstGeom prst="roundRect">
            <a:avLst>
              <a:gd name="adj" fmla="val 6153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6"/>
          <p:cNvSpPr txBox="1"/>
          <p:nvPr/>
        </p:nvSpPr>
        <p:spPr>
          <a:xfrm>
            <a:off x="1205179" y="3977640"/>
            <a:ext cx="40325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800" dirty="0"/>
          </a:p>
        </p:txBody>
      </p:sp>
      <p:sp>
        <p:nvSpPr>
          <p:cNvPr id="47" name="Shape 37"/>
          <p:cNvSpPr/>
          <p:nvPr/>
        </p:nvSpPr>
        <p:spPr>
          <a:xfrm>
            <a:off x="3491179" y="4225442"/>
            <a:ext cx="476402" cy="4764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3B82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610051" y="4368089"/>
            <a:ext cx="237744" cy="190195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3449117" y="4825289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</a:t>
            </a:r>
            <a:endParaRPr lang="en-US" sz="1000" dirty="0"/>
          </a:p>
        </p:txBody>
      </p:sp>
      <p:sp>
        <p:nvSpPr>
          <p:cNvPr id="50" name="Text 39"/>
          <p:cNvSpPr txBox="1"/>
          <p:nvPr/>
        </p:nvSpPr>
        <p:spPr>
          <a:xfrm>
            <a:off x="3308299" y="5073091"/>
            <a:ext cx="9336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specific</a:t>
            </a:r>
            <a:endParaRPr lang="en-US" sz="900" dirty="0"/>
          </a:p>
        </p:txBody>
      </p:sp>
      <p:sp>
        <p:nvSpPr>
          <p:cNvPr id="51" name="Text 40"/>
          <p:cNvSpPr txBox="1"/>
          <p:nvPr/>
        </p:nvSpPr>
        <p:spPr>
          <a:xfrm>
            <a:off x="3335731" y="5221224"/>
            <a:ext cx="876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packet sample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3473806" y="3939235"/>
            <a:ext cx="514807" cy="237744"/>
          </a:xfrm>
          <a:prstGeom prst="roundRect">
            <a:avLst>
              <a:gd name="adj" fmla="val 6153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2"/>
          <p:cNvSpPr txBox="1"/>
          <p:nvPr/>
        </p:nvSpPr>
        <p:spPr>
          <a:xfrm>
            <a:off x="3540557" y="3977640"/>
            <a:ext cx="45994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800" dirty="0"/>
          </a:p>
        </p:txBody>
      </p:sp>
      <p:sp>
        <p:nvSpPr>
          <p:cNvPr id="54" name="Shape 43"/>
          <p:cNvSpPr/>
          <p:nvPr/>
        </p:nvSpPr>
        <p:spPr>
          <a:xfrm>
            <a:off x="5857646" y="4225442"/>
            <a:ext cx="476402" cy="4764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A855F7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01207" y="4368089"/>
            <a:ext cx="190195" cy="190195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5815584" y="4825289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</a:t>
            </a:r>
            <a:endParaRPr lang="en-US" sz="1000" dirty="0"/>
          </a:p>
        </p:txBody>
      </p:sp>
      <p:sp>
        <p:nvSpPr>
          <p:cNvPr id="57" name="Text 45"/>
          <p:cNvSpPr txBox="1"/>
          <p:nvPr/>
        </p:nvSpPr>
        <p:spPr>
          <a:xfrm>
            <a:off x="5665622" y="5073091"/>
            <a:ext cx="952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payload</a:t>
            </a:r>
            <a:endParaRPr lang="en-US" sz="900" dirty="0"/>
          </a:p>
        </p:txBody>
      </p:sp>
      <p:sp>
        <p:nvSpPr>
          <p:cNvPr id="58" name="Text 46"/>
          <p:cNvSpPr txBox="1"/>
          <p:nvPr/>
        </p:nvSpPr>
        <p:spPr>
          <a:xfrm>
            <a:off x="5822899" y="5221224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headers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5809183" y="3939235"/>
            <a:ext cx="580644" cy="237744"/>
          </a:xfrm>
          <a:prstGeom prst="roundRect">
            <a:avLst>
              <a:gd name="adj" fmla="val 6153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48"/>
          <p:cNvSpPr txBox="1"/>
          <p:nvPr/>
        </p:nvSpPr>
        <p:spPr>
          <a:xfrm>
            <a:off x="5875934" y="3977640"/>
            <a:ext cx="5266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800" dirty="0"/>
          </a:p>
        </p:txBody>
      </p:sp>
      <p:sp>
        <p:nvSpPr>
          <p:cNvPr id="61" name="Shape 49"/>
          <p:cNvSpPr/>
          <p:nvPr/>
        </p:nvSpPr>
        <p:spPr>
          <a:xfrm>
            <a:off x="8225028" y="4225442"/>
            <a:ext cx="476402" cy="4764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F59E0B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376818" y="4368089"/>
            <a:ext cx="171907" cy="190195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8142732" y="4825289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000" dirty="0"/>
          </a:p>
        </p:txBody>
      </p:sp>
      <p:sp>
        <p:nvSpPr>
          <p:cNvPr id="64" name="Text 51"/>
          <p:cNvSpPr txBox="1"/>
          <p:nvPr/>
        </p:nvSpPr>
        <p:spPr>
          <a:xfrm>
            <a:off x="8024774" y="5073091"/>
            <a:ext cx="972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or deny</a:t>
            </a:r>
            <a:endParaRPr lang="en-US" sz="900" dirty="0"/>
          </a:p>
        </p:txBody>
      </p:sp>
      <p:sp>
        <p:nvSpPr>
          <p:cNvPr id="65" name="Text 52"/>
          <p:cNvSpPr txBox="1"/>
          <p:nvPr/>
        </p:nvSpPr>
        <p:spPr>
          <a:xfrm>
            <a:off x="8168335" y="5221224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hypothesis</a:t>
            </a:r>
            <a:endParaRPr lang="en-US" sz="900" dirty="0"/>
          </a:p>
        </p:txBody>
      </p:sp>
      <p:sp>
        <p:nvSpPr>
          <p:cNvPr id="66" name="Shape 53"/>
          <p:cNvSpPr/>
          <p:nvPr/>
        </p:nvSpPr>
        <p:spPr>
          <a:xfrm>
            <a:off x="8207654" y="3939235"/>
            <a:ext cx="514807" cy="237744"/>
          </a:xfrm>
          <a:prstGeom prst="roundRect">
            <a:avLst>
              <a:gd name="adj" fmla="val 6153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4"/>
          <p:cNvSpPr txBox="1"/>
          <p:nvPr/>
        </p:nvSpPr>
        <p:spPr>
          <a:xfrm>
            <a:off x="8274406" y="3977640"/>
            <a:ext cx="45994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800" dirty="0"/>
          </a:p>
        </p:txBody>
      </p:sp>
      <p:sp>
        <p:nvSpPr>
          <p:cNvPr id="68" name="Shape 55"/>
          <p:cNvSpPr/>
          <p:nvPr/>
        </p:nvSpPr>
        <p:spPr>
          <a:xfrm>
            <a:off x="10591495" y="4225442"/>
            <a:ext cx="476402" cy="476402"/>
          </a:xfrm>
          <a:prstGeom prst="ellipse">
            <a:avLst/>
          </a:prstGeom>
          <a:solidFill>
            <a:srgbClr val="0F172A"/>
          </a:solidFill>
          <a:ln w="38100">
            <a:solidFill>
              <a:srgbClr val="10B981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9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758830" y="4368089"/>
            <a:ext cx="142646" cy="190195"/>
          </a:xfrm>
          <a:prstGeom prst="rect">
            <a:avLst/>
          </a:prstGeom>
        </p:spPr>
      </p:pic>
      <p:sp>
        <p:nvSpPr>
          <p:cNvPr id="70" name="Text 56"/>
          <p:cNvSpPr txBox="1"/>
          <p:nvPr/>
        </p:nvSpPr>
        <p:spPr>
          <a:xfrm>
            <a:off x="10510114" y="4825289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1000" dirty="0"/>
          </a:p>
        </p:txBody>
      </p:sp>
      <p:sp>
        <p:nvSpPr>
          <p:cNvPr id="71" name="Text 57"/>
          <p:cNvSpPr txBox="1"/>
          <p:nvPr/>
        </p:nvSpPr>
        <p:spPr>
          <a:xfrm>
            <a:off x="10393070" y="5073091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evidence</a:t>
            </a:r>
            <a:endParaRPr lang="en-US" sz="900" dirty="0"/>
          </a:p>
        </p:txBody>
      </p:sp>
      <p:sp>
        <p:nvSpPr>
          <p:cNvPr id="72" name="Text 58"/>
          <p:cNvSpPr txBox="1"/>
          <p:nvPr/>
        </p:nvSpPr>
        <p:spPr>
          <a:xfrm>
            <a:off x="10614355" y="5221224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ticket</a:t>
            </a:r>
            <a:endParaRPr lang="en-US" sz="900" dirty="0"/>
          </a:p>
        </p:txBody>
      </p:sp>
      <p:sp>
        <p:nvSpPr>
          <p:cNvPr id="73" name="Shape 59"/>
          <p:cNvSpPr/>
          <p:nvPr/>
        </p:nvSpPr>
        <p:spPr>
          <a:xfrm>
            <a:off x="10574122" y="3939235"/>
            <a:ext cx="514807" cy="237744"/>
          </a:xfrm>
          <a:prstGeom prst="roundRect">
            <a:avLst>
              <a:gd name="adj" fmla="val 6153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0"/>
          <p:cNvSpPr txBox="1"/>
          <p:nvPr/>
        </p:nvSpPr>
        <p:spPr>
          <a:xfrm>
            <a:off x="10640873" y="3977640"/>
            <a:ext cx="45994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77541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 Address: Device Hardware Identity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0229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1473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352044"/>
            <a:ext cx="2895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IP ADDRESSING &amp; IDENTITY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8673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Layer-2 physical identifier (Media Access Control) burned into the network card.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123809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4601261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ensure data frames reach the specific physical interface on a local network segment.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86699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87614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4162349"/>
            <a:ext cx="50959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tie dynamic IP addresses back to persistent hardware to track specific devices.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35679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MACs can be virtualized or spoofed.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8134" y="1421892"/>
            <a:ext cx="133502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30722" y="1395374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 IDENTITY INSPECTOR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1035894" y="1380744"/>
            <a:ext cx="657454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1120933" y="141000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95330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212434" y="2018995"/>
            <a:ext cx="2428646" cy="123809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6498641" y="2152498"/>
            <a:ext cx="2115007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: 50 : 56</a:t>
            </a:r>
            <a:endParaRPr lang="en-US" sz="2700" dirty="0"/>
          </a:p>
        </p:txBody>
      </p:sp>
      <p:sp>
        <p:nvSpPr>
          <p:cNvPr id="32" name="Text 28"/>
          <p:cNvSpPr txBox="1"/>
          <p:nvPr/>
        </p:nvSpPr>
        <p:spPr>
          <a:xfrm>
            <a:off x="6690665" y="3419856"/>
            <a:ext cx="1562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 OUI (3 BYTES)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8789213" y="2409444"/>
            <a:ext cx="467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700" dirty="0"/>
          </a:p>
        </p:txBody>
      </p:sp>
      <p:sp>
        <p:nvSpPr>
          <p:cNvPr id="34" name="Shape 30"/>
          <p:cNvSpPr/>
          <p:nvPr/>
        </p:nvSpPr>
        <p:spPr>
          <a:xfrm>
            <a:off x="9147658" y="2018995"/>
            <a:ext cx="2428646" cy="1238098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9433865" y="2152498"/>
            <a:ext cx="2115007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 : 00 : 08</a:t>
            </a:r>
            <a:endParaRPr lang="en-US" sz="2700" dirty="0"/>
          </a:p>
        </p:txBody>
      </p:sp>
      <p:sp>
        <p:nvSpPr>
          <p:cNvPr id="36" name="Text 32"/>
          <p:cNvSpPr txBox="1"/>
          <p:nvPr/>
        </p:nvSpPr>
        <p:spPr>
          <a:xfrm>
            <a:off x="9553651" y="3419856"/>
            <a:ext cx="1705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 SPECIFIC (3 BYTES)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6212434" y="3943807"/>
            <a:ext cx="5362956" cy="2419502"/>
          </a:xfrm>
          <a:prstGeom prst="roundRect">
            <a:avLst>
              <a:gd name="adj" fmla="val 1190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6411773" y="4371746"/>
            <a:ext cx="4962449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rcRect l="-1911" r="-1911"/>
          <a:stretch/>
        </p:blipFill>
        <p:spPr>
          <a:xfrm>
            <a:off x="6411773" y="4166921"/>
            <a:ext cx="133502" cy="114300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545275" y="4143146"/>
            <a:ext cx="1390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AUTO-LOOKUP RESULTS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6411773" y="4876495"/>
            <a:ext cx="4962449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 txBox="1"/>
          <p:nvPr/>
        </p:nvSpPr>
        <p:spPr>
          <a:xfrm>
            <a:off x="6411773" y="4543654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MAC: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9817913" y="4543654"/>
            <a:ext cx="1677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00:50:56:C0:00:08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6411773" y="5343754"/>
            <a:ext cx="4962449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 txBox="1"/>
          <p:nvPr/>
        </p:nvSpPr>
        <p:spPr>
          <a:xfrm>
            <a:off x="6411773" y="5009998"/>
            <a:ext cx="1305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OUI Database:</a:t>
            </a:r>
            <a:endParaRPr lang="en-US" sz="1200" dirty="0"/>
          </a:p>
        </p:txBody>
      </p:sp>
      <p:sp>
        <p:nvSpPr>
          <p:cNvPr id="46" name="Text 41"/>
          <p:cNvSpPr txBox="1"/>
          <p:nvPr/>
        </p:nvSpPr>
        <p:spPr>
          <a:xfrm>
            <a:off x="10275113" y="5009998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VMware, Inc.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6411773" y="5810098"/>
            <a:ext cx="4962449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 txBox="1"/>
          <p:nvPr/>
        </p:nvSpPr>
        <p:spPr>
          <a:xfrm>
            <a:off x="6411773" y="5477256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 Type:</a:t>
            </a:r>
            <a:endParaRPr lang="en-US" sz="1200" dirty="0"/>
          </a:p>
        </p:txBody>
      </p:sp>
      <p:sp>
        <p:nvSpPr>
          <p:cNvPr id="49" name="Text 44"/>
          <p:cNvSpPr txBox="1"/>
          <p:nvPr/>
        </p:nvSpPr>
        <p:spPr>
          <a:xfrm>
            <a:off x="9817913" y="5477256"/>
            <a:ext cx="1677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Interface</a:t>
            </a:r>
            <a:endParaRPr lang="en-US" sz="1200" dirty="0"/>
          </a:p>
        </p:txBody>
      </p:sp>
      <p:sp>
        <p:nvSpPr>
          <p:cNvPr id="50" name="Text 45"/>
          <p:cNvSpPr txBox="1"/>
          <p:nvPr/>
        </p:nvSpPr>
        <p:spPr>
          <a:xfrm>
            <a:off x="6411773" y="5943600"/>
            <a:ext cx="103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Seen:</a:t>
            </a:r>
            <a:endParaRPr lang="en-US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9360713" y="5943600"/>
            <a:ext cx="2134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(Local Segment)</a:t>
            </a:r>
            <a:endParaRPr lang="en-US" sz="1200" dirty="0"/>
          </a:p>
        </p:txBody>
      </p:sp>
      <p:sp>
        <p:nvSpPr>
          <p:cNvPr id="52" name="Shape 47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8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55" name="Text 50"/>
          <p:cNvSpPr txBox="1"/>
          <p:nvPr/>
        </p:nvSpPr>
        <p:spPr>
          <a:xfrm>
            <a:off x="1401775" y="6329477"/>
            <a:ext cx="949238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first half. The 'OUI' tells us the manufacturer, helping us identify if it's a Dell, Apple, or Virtual Machine."</a:t>
            </a:r>
            <a:endParaRPr lang="en-US" sz="1300" dirty="0"/>
          </a:p>
        </p:txBody>
      </p:sp>
      <p:sp>
        <p:nvSpPr>
          <p:cNvPr id="56" name="Text 51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 / 60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56967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IP Addressing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0229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1473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352044"/>
            <a:ext cx="2895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IP ADDRESSING &amp; IDENTITY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12380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810658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unique logical address assigned to every device to allow communication across networks.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722169"/>
            <a:ext cx="38405" cy="123809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73131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3017520"/>
            <a:ext cx="47631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route traffic correctly between different networks, just like a postal address routes mail.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418703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419618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4482389"/>
            <a:ext cx="51435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attribute every network event to a specific IP entity to establish identity.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41870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Clear identity context for investigations.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6098134" y="1421892"/>
            <a:ext cx="171907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69126" y="1395374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FLOW VISUALIZER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1104474" y="1380744"/>
            <a:ext cx="590702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1189513" y="1410005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1969618"/>
            <a:ext cx="5591556" cy="2057400"/>
          </a:xfrm>
          <a:prstGeom prst="roundRect">
            <a:avLst>
              <a:gd name="adj" fmla="val 164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8050378" y="2979115"/>
            <a:ext cx="1686154" cy="38405"/>
          </a:xfrm>
          <a:prstGeom prst="roundRect">
            <a:avLst>
              <a:gd name="adj" fmla="val 119047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9639605" y="2921508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8816645" y="2921508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10B981"/>
          </a:solidFill>
          <a:ln/>
          <a:effectLst>
            <a:outerShdw blurRad="101600" dist="12700" dir="16200000" algn="bl" rotWithShape="0">
              <a:srgbClr val="10B981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8514893" y="2702966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PACKET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098134" y="4312310"/>
            <a:ext cx="5591556" cy="1410005"/>
          </a:xfrm>
          <a:prstGeom prst="roundRect">
            <a:avLst>
              <a:gd name="adj" fmla="val 2629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 txBox="1"/>
          <p:nvPr/>
        </p:nvSpPr>
        <p:spPr>
          <a:xfrm>
            <a:off x="6259982" y="4474159"/>
            <a:ext cx="284561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SOC LOG VIEW: IDENTITY ATTRIBUTION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6259982" y="4736592"/>
            <a:ext cx="418886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[timestamp] SRC_IP:192.168.1.50 initiated connection to DST_IP:10.0.0.5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6259982" y="5107838"/>
            <a:ext cx="41888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[timestamp] Protocol: TCP | Port: 443 | Action: ALLOWED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6259982" y="5369357"/>
            <a:ext cx="41888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Identity established: User_PC -&gt; Corporate_Web_Server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304495" y="6458407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43" name="Text 39"/>
          <p:cNvSpPr txBox="1"/>
          <p:nvPr/>
        </p:nvSpPr>
        <p:spPr>
          <a:xfrm>
            <a:off x="1756562" y="6458407"/>
            <a:ext cx="89775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flow. Without the IP addresses, we wouldn't know who is talking to whom."</a:t>
            </a:r>
            <a:endParaRPr lang="en-US" sz="1300" dirty="0"/>
          </a:p>
        </p:txBody>
      </p:sp>
      <p:sp>
        <p:nvSpPr>
          <p:cNvPr id="44" name="Text 40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16 / 60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6335878" y="2307031"/>
            <a:ext cx="1524305" cy="1380744"/>
          </a:xfrm>
          <a:prstGeom prst="roundRect">
            <a:avLst>
              <a:gd name="adj" fmla="val 3654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6907378" y="2469794"/>
            <a:ext cx="381305" cy="304495"/>
          </a:xfrm>
          <a:prstGeom prst="rect">
            <a:avLst/>
          </a:prstGeom>
        </p:spPr>
      </p:pic>
      <p:sp>
        <p:nvSpPr>
          <p:cNvPr id="47" name="Shape 42"/>
          <p:cNvSpPr/>
          <p:nvPr/>
        </p:nvSpPr>
        <p:spPr>
          <a:xfrm>
            <a:off x="6463894" y="3203143"/>
            <a:ext cx="1276502" cy="323698"/>
          </a:xfrm>
          <a:prstGeom prst="roundRect">
            <a:avLst>
              <a:gd name="adj" fmla="val 3323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 txBox="1"/>
          <p:nvPr/>
        </p:nvSpPr>
        <p:spPr>
          <a:xfrm>
            <a:off x="6578194" y="2897734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(User)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6548933" y="3259836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192.168.1.50</a:t>
            </a:r>
            <a:endParaRPr lang="en-US" sz="1200" dirty="0"/>
          </a:p>
        </p:txBody>
      </p:sp>
      <p:sp>
        <p:nvSpPr>
          <p:cNvPr id="50" name="Shape 45"/>
          <p:cNvSpPr/>
          <p:nvPr/>
        </p:nvSpPr>
        <p:spPr>
          <a:xfrm>
            <a:off x="9924898" y="2207362"/>
            <a:ext cx="1524305" cy="1580998"/>
          </a:xfrm>
          <a:prstGeom prst="roundRect">
            <a:avLst>
              <a:gd name="adj" fmla="val 2999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34802" y="2369210"/>
            <a:ext cx="304495" cy="304495"/>
          </a:xfrm>
          <a:prstGeom prst="rect">
            <a:avLst/>
          </a:prstGeom>
        </p:spPr>
      </p:pic>
      <p:sp>
        <p:nvSpPr>
          <p:cNvPr id="52" name="Shape 46"/>
          <p:cNvSpPr/>
          <p:nvPr/>
        </p:nvSpPr>
        <p:spPr>
          <a:xfrm>
            <a:off x="10235794" y="3302813"/>
            <a:ext cx="905256" cy="323698"/>
          </a:xfrm>
          <a:prstGeom prst="roundRect">
            <a:avLst>
              <a:gd name="adj" fmla="val 3323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 txBox="1"/>
          <p:nvPr/>
        </p:nvSpPr>
        <p:spPr>
          <a:xfrm>
            <a:off x="10086746" y="2798064"/>
            <a:ext cx="9866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 (Web)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10320833" y="3359506"/>
            <a:ext cx="8485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43230"/>
            <a:ext cx="63203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IPv4 Basics: Conceptual Structure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280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404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401300" y="352044"/>
            <a:ext cx="1638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IP ADDRESSING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50292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familiar "dotted decimal" address format used by almost every organization today.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46104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provides a unique, readable identity for devices on a network, enabling routing.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123809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657954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recognize common patterns (like 192.168.x.x) to quickly identify internal vs. external hosts.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124298"/>
            <a:ext cx="5219395" cy="857707"/>
          </a:xfrm>
          <a:prstGeom prst="roundRect">
            <a:avLst>
              <a:gd name="adj" fmla="val 947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467198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286146"/>
            <a:ext cx="473933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No math required. Just recognize the 4-part structure.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6098134" y="1421892"/>
            <a:ext cx="171907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69126" y="1395374"/>
            <a:ext cx="21104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IPv4 STRUCTURE VISUALIZER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554919" y="1380744"/>
            <a:ext cx="1133856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640873" y="1410005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32-BIT ADDRESS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42935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406286" y="2000707"/>
            <a:ext cx="952805" cy="761695"/>
          </a:xfrm>
          <a:prstGeom prst="roundRect">
            <a:avLst>
              <a:gd name="adj" fmla="val 12005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6608369" y="2152498"/>
            <a:ext cx="781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</a:t>
            </a:r>
            <a:endParaRPr lang="en-US" sz="2400" dirty="0"/>
          </a:p>
        </p:txBody>
      </p:sp>
      <p:sp>
        <p:nvSpPr>
          <p:cNvPr id="32" name="Text 28"/>
          <p:cNvSpPr txBox="1"/>
          <p:nvPr/>
        </p:nvSpPr>
        <p:spPr>
          <a:xfrm>
            <a:off x="6601968" y="2866644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OCTET 1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476695" y="3228746"/>
            <a:ext cx="819302" cy="295351"/>
          </a:xfrm>
          <a:prstGeom prst="roundRect">
            <a:avLst>
              <a:gd name="adj" fmla="val 3994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6562649" y="328635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11000000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7501738" y="2619756"/>
            <a:ext cx="3337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</p:txBody>
      </p:sp>
      <p:sp>
        <p:nvSpPr>
          <p:cNvPr id="36" name="Shape 32"/>
          <p:cNvSpPr/>
          <p:nvPr/>
        </p:nvSpPr>
        <p:spPr>
          <a:xfrm>
            <a:off x="7745882" y="2000707"/>
            <a:ext cx="952805" cy="761695"/>
          </a:xfrm>
          <a:prstGeom prst="roundRect">
            <a:avLst>
              <a:gd name="adj" fmla="val 12005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7947965" y="2152498"/>
            <a:ext cx="781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168</a:t>
            </a:r>
            <a:endParaRPr lang="en-US" sz="2400" dirty="0"/>
          </a:p>
        </p:txBody>
      </p:sp>
      <p:sp>
        <p:nvSpPr>
          <p:cNvPr id="38" name="Text 34"/>
          <p:cNvSpPr txBox="1"/>
          <p:nvPr/>
        </p:nvSpPr>
        <p:spPr>
          <a:xfrm>
            <a:off x="7942478" y="2866644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OCTET 2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816291" y="3228746"/>
            <a:ext cx="819302" cy="295351"/>
          </a:xfrm>
          <a:prstGeom prst="roundRect">
            <a:avLst>
              <a:gd name="adj" fmla="val 3994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7902245" y="328635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10101000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8841334" y="2619756"/>
            <a:ext cx="3337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</p:txBody>
      </p:sp>
      <p:sp>
        <p:nvSpPr>
          <p:cNvPr id="42" name="Shape 38"/>
          <p:cNvSpPr/>
          <p:nvPr/>
        </p:nvSpPr>
        <p:spPr>
          <a:xfrm>
            <a:off x="9086393" y="2000707"/>
            <a:ext cx="952805" cy="761695"/>
          </a:xfrm>
          <a:prstGeom prst="roundRect">
            <a:avLst>
              <a:gd name="adj" fmla="val 12005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 txBox="1"/>
          <p:nvPr/>
        </p:nvSpPr>
        <p:spPr>
          <a:xfrm>
            <a:off x="9471355" y="2152498"/>
            <a:ext cx="419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44" name="Text 40"/>
          <p:cNvSpPr txBox="1"/>
          <p:nvPr/>
        </p:nvSpPr>
        <p:spPr>
          <a:xfrm>
            <a:off x="9282074" y="2866644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OCTET 3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9156802" y="3228746"/>
            <a:ext cx="819302" cy="295351"/>
          </a:xfrm>
          <a:prstGeom prst="roundRect">
            <a:avLst>
              <a:gd name="adj" fmla="val 3994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 txBox="1"/>
          <p:nvPr/>
        </p:nvSpPr>
        <p:spPr>
          <a:xfrm>
            <a:off x="9242755" y="328635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00000001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10181844" y="2619756"/>
            <a:ext cx="3337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</p:txBody>
      </p:sp>
      <p:sp>
        <p:nvSpPr>
          <p:cNvPr id="48" name="Shape 44"/>
          <p:cNvSpPr/>
          <p:nvPr/>
        </p:nvSpPr>
        <p:spPr>
          <a:xfrm>
            <a:off x="10425989" y="2000707"/>
            <a:ext cx="952805" cy="761695"/>
          </a:xfrm>
          <a:prstGeom prst="roundRect">
            <a:avLst>
              <a:gd name="adj" fmla="val 12005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 txBox="1"/>
          <p:nvPr/>
        </p:nvSpPr>
        <p:spPr>
          <a:xfrm>
            <a:off x="10628071" y="2152498"/>
            <a:ext cx="781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400" dirty="0"/>
          </a:p>
        </p:txBody>
      </p:sp>
      <p:sp>
        <p:nvSpPr>
          <p:cNvPr id="50" name="Text 46"/>
          <p:cNvSpPr txBox="1"/>
          <p:nvPr/>
        </p:nvSpPr>
        <p:spPr>
          <a:xfrm>
            <a:off x="10622585" y="2866644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OCTET 4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10496398" y="3228746"/>
            <a:ext cx="819302" cy="295351"/>
          </a:xfrm>
          <a:prstGeom prst="roundRect">
            <a:avLst>
              <a:gd name="adj" fmla="val 3994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 txBox="1"/>
          <p:nvPr/>
        </p:nvSpPr>
        <p:spPr>
          <a:xfrm>
            <a:off x="10582351" y="328635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01100100</a:t>
            </a:r>
            <a:endParaRPr lang="en-US" sz="1000" dirty="0"/>
          </a:p>
        </p:txBody>
      </p:sp>
      <p:pic>
        <p:nvPicPr>
          <p:cNvPr id="53" name="Image 2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7361834" y="3933749"/>
            <a:ext cx="105156" cy="133502"/>
          </a:xfrm>
          <a:prstGeom prst="rect">
            <a:avLst/>
          </a:prstGeom>
        </p:spPr>
      </p:pic>
      <p:sp>
        <p:nvSpPr>
          <p:cNvPr id="54" name="Text 49"/>
          <p:cNvSpPr txBox="1"/>
          <p:nvPr/>
        </p:nvSpPr>
        <p:spPr>
          <a:xfrm>
            <a:off x="7542886" y="3924605"/>
            <a:ext cx="29864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Values range from 0 to 255 per block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6497726" y="4562856"/>
            <a:ext cx="2324405" cy="666598"/>
          </a:xfrm>
          <a:prstGeom prst="roundRect">
            <a:avLst>
              <a:gd name="adj" fmla="val 783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1"/>
          <p:cNvSpPr txBox="1"/>
          <p:nvPr/>
        </p:nvSpPr>
        <p:spPr>
          <a:xfrm>
            <a:off x="6622085" y="4695444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FORMAT NAME</a:t>
            </a:r>
            <a:endParaRPr lang="en-US" sz="900" dirty="0"/>
          </a:p>
        </p:txBody>
      </p:sp>
      <p:sp>
        <p:nvSpPr>
          <p:cNvPr id="57" name="Text 52"/>
          <p:cNvSpPr txBox="1"/>
          <p:nvPr/>
        </p:nvSpPr>
        <p:spPr>
          <a:xfrm>
            <a:off x="6622085" y="4895698"/>
            <a:ext cx="1914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Dotted Decimal Notation</a:t>
            </a:r>
            <a:endParaRPr lang="en-US" sz="1200" dirty="0"/>
          </a:p>
        </p:txBody>
      </p:sp>
      <p:sp>
        <p:nvSpPr>
          <p:cNvPr id="58" name="Shape 53"/>
          <p:cNvSpPr/>
          <p:nvPr/>
        </p:nvSpPr>
        <p:spPr>
          <a:xfrm>
            <a:off x="8968435" y="4562856"/>
            <a:ext cx="2324405" cy="666598"/>
          </a:xfrm>
          <a:prstGeom prst="roundRect">
            <a:avLst>
              <a:gd name="adj" fmla="val 783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4"/>
          <p:cNvSpPr txBox="1"/>
          <p:nvPr/>
        </p:nvSpPr>
        <p:spPr>
          <a:xfrm>
            <a:off x="9092794" y="4695444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TOTAL LENGTH</a:t>
            </a:r>
            <a:endParaRPr lang="en-US" sz="900" dirty="0"/>
          </a:p>
        </p:txBody>
      </p:sp>
      <p:sp>
        <p:nvSpPr>
          <p:cNvPr id="60" name="Text 55"/>
          <p:cNvSpPr txBox="1"/>
          <p:nvPr/>
        </p:nvSpPr>
        <p:spPr>
          <a:xfrm>
            <a:off x="9092794" y="4895698"/>
            <a:ext cx="1334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Bytes (32 Bits)</a:t>
            </a:r>
            <a:endParaRPr lang="en-US" sz="1200" dirty="0"/>
          </a:p>
        </p:txBody>
      </p:sp>
      <p:sp>
        <p:nvSpPr>
          <p:cNvPr id="61" name="Shape 56"/>
          <p:cNvSpPr/>
          <p:nvPr/>
        </p:nvSpPr>
        <p:spPr>
          <a:xfrm>
            <a:off x="7278624" y="5419649"/>
            <a:ext cx="3228746" cy="437998"/>
          </a:xfrm>
          <a:prstGeom prst="roundRect">
            <a:avLst>
              <a:gd name="adj" fmla="val 2723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78878" y="5562295"/>
            <a:ext cx="152705" cy="152705"/>
          </a:xfrm>
          <a:prstGeom prst="rect">
            <a:avLst/>
          </a:prstGeom>
        </p:spPr>
      </p:pic>
      <p:sp>
        <p:nvSpPr>
          <p:cNvPr id="63" name="Text 57"/>
          <p:cNvSpPr txBox="1"/>
          <p:nvPr/>
        </p:nvSpPr>
        <p:spPr>
          <a:xfrm>
            <a:off x="7745882" y="5533949"/>
            <a:ext cx="26773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 IPv4 Address Confirmed</a:t>
            </a:r>
            <a:endParaRPr lang="en-US" sz="1200" dirty="0"/>
          </a:p>
        </p:txBody>
      </p:sp>
      <p:sp>
        <p:nvSpPr>
          <p:cNvPr id="64" name="Shape 58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59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0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7" name="Text 61"/>
          <p:cNvSpPr txBox="1"/>
          <p:nvPr/>
        </p:nvSpPr>
        <p:spPr>
          <a:xfrm>
            <a:off x="1598371" y="6329477"/>
            <a:ext cx="85679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is the address format you will see in 99% of your logs today. Just 4 numbers separated by dots."</a:t>
            </a:r>
            <a:endParaRPr lang="en-US" sz="1300" dirty="0"/>
          </a:p>
        </p:txBody>
      </p:sp>
      <p:sp>
        <p:nvSpPr>
          <p:cNvPr id="68" name="Text 62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17 / 60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59253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IPv4 In Enterprise Dashboards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0229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1473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352044"/>
            <a:ext cx="2895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IP ADDRESSING &amp; IDENTITY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12380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476902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IPv4 addresses appear as either Private (Internal) or Public (Internet-facing) depending on the network zone.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722169"/>
            <a:ext cx="38405" cy="123809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73131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3017520"/>
            <a:ext cx="4657954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Addressing rules vary by zone to manage routing, security, and scarcity of public IP addresses.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4187038"/>
            <a:ext cx="38405" cy="123809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419618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4482389"/>
            <a:ext cx="4782312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correlate Private IPs with NAT logs to identify the true internal source of external traffic.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651906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861304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813755"/>
            <a:ext cx="408188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Accurate attribution of source identity.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6098134" y="1421892"/>
            <a:ext cx="152705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49924" y="1395374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 TRAFFIC LOGS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898734" y="1380744"/>
            <a:ext cx="790956" cy="209398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983773" y="1410005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VIEW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1904695"/>
            <a:ext cx="5591556" cy="437998"/>
          </a:xfrm>
          <a:prstGeom prst="roundRect">
            <a:avLst>
              <a:gd name="adj" fmla="val 2723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6221578" y="2029054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09:14:22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7168896" y="2029054"/>
            <a:ext cx="4745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7926019" y="2029054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192.168.1.50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8894369" y="2038198"/>
            <a:ext cx="314554" cy="181051"/>
          </a:xfrm>
          <a:prstGeom prst="roundRect">
            <a:avLst>
              <a:gd name="adj" fmla="val 106327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8961120" y="2066544"/>
            <a:ext cx="2578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9328709" y="2029054"/>
            <a:ext cx="1691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9479585" y="2029054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10447020" y="2038198"/>
            <a:ext cx="314554" cy="181051"/>
          </a:xfrm>
          <a:prstGeom prst="roundRect">
            <a:avLst>
              <a:gd name="adj" fmla="val 106327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 txBox="1"/>
          <p:nvPr/>
        </p:nvSpPr>
        <p:spPr>
          <a:xfrm>
            <a:off x="10513771" y="2066544"/>
            <a:ext cx="2578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</a:t>
            </a:r>
            <a:endParaRPr lang="en-US" sz="800" dirty="0"/>
          </a:p>
        </p:txBody>
      </p:sp>
      <p:sp>
        <p:nvSpPr>
          <p:cNvPr id="40" name="Text 36"/>
          <p:cNvSpPr txBox="1"/>
          <p:nvPr/>
        </p:nvSpPr>
        <p:spPr>
          <a:xfrm>
            <a:off x="11340389" y="2029054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SMB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098134" y="2481682"/>
            <a:ext cx="5591556" cy="437998"/>
          </a:xfrm>
          <a:prstGeom prst="roundRect">
            <a:avLst>
              <a:gd name="adj" fmla="val 2723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6221578" y="2605126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09:14:25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7168896" y="2605126"/>
            <a:ext cx="4745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7926019" y="2605126"/>
            <a:ext cx="9125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172.16.20.5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8820302" y="2614270"/>
            <a:ext cx="314554" cy="181051"/>
          </a:xfrm>
          <a:prstGeom prst="roundRect">
            <a:avLst>
              <a:gd name="adj" fmla="val 106327"/>
            </a:avLst>
          </a:prstGeom>
          <a:solidFill>
            <a:srgbClr val="3F6212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 txBox="1"/>
          <p:nvPr/>
        </p:nvSpPr>
        <p:spPr>
          <a:xfrm>
            <a:off x="8887054" y="2643530"/>
            <a:ext cx="2578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EF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DMZ</a:t>
            </a:r>
            <a:endParaRPr lang="en-US" sz="800" dirty="0"/>
          </a:p>
        </p:txBody>
      </p:sp>
      <p:sp>
        <p:nvSpPr>
          <p:cNvPr id="47" name="Text 43"/>
          <p:cNvSpPr txBox="1"/>
          <p:nvPr/>
        </p:nvSpPr>
        <p:spPr>
          <a:xfrm>
            <a:off x="9328709" y="2605126"/>
            <a:ext cx="1691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9479585" y="2605126"/>
            <a:ext cx="8458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10.0.50.20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10298887" y="2614270"/>
            <a:ext cx="314554" cy="181051"/>
          </a:xfrm>
          <a:prstGeom prst="roundRect">
            <a:avLst>
              <a:gd name="adj" fmla="val 106327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 txBox="1"/>
          <p:nvPr/>
        </p:nvSpPr>
        <p:spPr>
          <a:xfrm>
            <a:off x="10365638" y="2643530"/>
            <a:ext cx="2578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800" dirty="0"/>
          </a:p>
        </p:txBody>
      </p:sp>
      <p:sp>
        <p:nvSpPr>
          <p:cNvPr id="51" name="Text 47"/>
          <p:cNvSpPr txBox="1"/>
          <p:nvPr/>
        </p:nvSpPr>
        <p:spPr>
          <a:xfrm>
            <a:off x="11191342" y="2605126"/>
            <a:ext cx="4745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6098134" y="3057754"/>
            <a:ext cx="5591556" cy="437998"/>
          </a:xfrm>
          <a:prstGeom prst="roundRect">
            <a:avLst>
              <a:gd name="adj" fmla="val 2723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 txBox="1"/>
          <p:nvPr/>
        </p:nvSpPr>
        <p:spPr>
          <a:xfrm>
            <a:off x="6221578" y="3181198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09:14:30</a:t>
            </a:r>
            <a:endParaRPr lang="en-US" sz="900" dirty="0"/>
          </a:p>
        </p:txBody>
      </p:sp>
      <p:sp>
        <p:nvSpPr>
          <p:cNvPr id="54" name="Text 50"/>
          <p:cNvSpPr txBox="1"/>
          <p:nvPr/>
        </p:nvSpPr>
        <p:spPr>
          <a:xfrm>
            <a:off x="7168896" y="3181198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7926019" y="3181198"/>
            <a:ext cx="8458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10.0.0.150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8745322" y="3191256"/>
            <a:ext cx="314554" cy="181051"/>
          </a:xfrm>
          <a:prstGeom prst="roundRect">
            <a:avLst>
              <a:gd name="adj" fmla="val 106327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 txBox="1"/>
          <p:nvPr/>
        </p:nvSpPr>
        <p:spPr>
          <a:xfrm>
            <a:off x="8812073" y="3219602"/>
            <a:ext cx="2578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</a:t>
            </a:r>
            <a:endParaRPr lang="en-US" sz="800" dirty="0"/>
          </a:p>
        </p:txBody>
      </p:sp>
      <p:sp>
        <p:nvSpPr>
          <p:cNvPr id="58" name="Text 54"/>
          <p:cNvSpPr txBox="1"/>
          <p:nvPr/>
        </p:nvSpPr>
        <p:spPr>
          <a:xfrm>
            <a:off x="9328709" y="3181198"/>
            <a:ext cx="1691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9479585" y="3181198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203.0.113.88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10447020" y="3191256"/>
            <a:ext cx="314554" cy="181051"/>
          </a:xfrm>
          <a:prstGeom prst="roundRect">
            <a:avLst>
              <a:gd name="adj" fmla="val 106327"/>
            </a:avLst>
          </a:prstGeom>
          <a:solidFill>
            <a:srgbClr val="451A03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7"/>
          <p:cNvSpPr txBox="1"/>
          <p:nvPr/>
        </p:nvSpPr>
        <p:spPr>
          <a:xfrm>
            <a:off x="10513771" y="3219602"/>
            <a:ext cx="2578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</a:t>
            </a:r>
            <a:endParaRPr lang="en-US" sz="800" dirty="0"/>
          </a:p>
        </p:txBody>
      </p:sp>
      <p:sp>
        <p:nvSpPr>
          <p:cNvPr id="62" name="Text 58"/>
          <p:cNvSpPr txBox="1"/>
          <p:nvPr/>
        </p:nvSpPr>
        <p:spPr>
          <a:xfrm>
            <a:off x="11265408" y="3181198"/>
            <a:ext cx="3977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6098134" y="3633826"/>
            <a:ext cx="5591556" cy="437998"/>
          </a:xfrm>
          <a:prstGeom prst="roundRect">
            <a:avLst>
              <a:gd name="adj" fmla="val 27231"/>
            </a:avLst>
          </a:prstGeom>
          <a:solidFill>
            <a:srgbClr val="45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 txBox="1"/>
          <p:nvPr/>
        </p:nvSpPr>
        <p:spPr>
          <a:xfrm>
            <a:off x="6221578" y="3757270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09:14:35</a:t>
            </a:r>
            <a:endParaRPr lang="en-US" sz="900" dirty="0"/>
          </a:p>
        </p:txBody>
      </p:sp>
      <p:sp>
        <p:nvSpPr>
          <p:cNvPr id="65" name="Text 61"/>
          <p:cNvSpPr txBox="1"/>
          <p:nvPr/>
        </p:nvSpPr>
        <p:spPr>
          <a:xfrm>
            <a:off x="7168896" y="3757270"/>
            <a:ext cx="3977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900" dirty="0"/>
          </a:p>
        </p:txBody>
      </p:sp>
      <p:sp>
        <p:nvSpPr>
          <p:cNvPr id="66" name="Text 62"/>
          <p:cNvSpPr txBox="1"/>
          <p:nvPr/>
        </p:nvSpPr>
        <p:spPr>
          <a:xfrm>
            <a:off x="7926019" y="3757270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198.51.100.2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8894369" y="3767328"/>
            <a:ext cx="314554" cy="181051"/>
          </a:xfrm>
          <a:prstGeom prst="roundRect">
            <a:avLst>
              <a:gd name="adj" fmla="val 106327"/>
            </a:avLst>
          </a:prstGeom>
          <a:solidFill>
            <a:srgbClr val="451A03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4"/>
          <p:cNvSpPr txBox="1"/>
          <p:nvPr/>
        </p:nvSpPr>
        <p:spPr>
          <a:xfrm>
            <a:off x="8961120" y="3795674"/>
            <a:ext cx="2578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</a:t>
            </a:r>
            <a:endParaRPr lang="en-US" sz="800" dirty="0"/>
          </a:p>
        </p:txBody>
      </p:sp>
      <p:sp>
        <p:nvSpPr>
          <p:cNvPr id="69" name="Text 65"/>
          <p:cNvSpPr txBox="1"/>
          <p:nvPr/>
        </p:nvSpPr>
        <p:spPr>
          <a:xfrm>
            <a:off x="9328709" y="3757270"/>
            <a:ext cx="1691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900" dirty="0"/>
          </a:p>
        </p:txBody>
      </p:sp>
      <p:sp>
        <p:nvSpPr>
          <p:cNvPr id="70" name="Text 66"/>
          <p:cNvSpPr txBox="1"/>
          <p:nvPr/>
        </p:nvSpPr>
        <p:spPr>
          <a:xfrm>
            <a:off x="9479585" y="3757270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203.0.113.10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10447020" y="3767328"/>
            <a:ext cx="256946" cy="181051"/>
          </a:xfrm>
          <a:prstGeom prst="roundRect">
            <a:avLst>
              <a:gd name="adj" fmla="val 106327"/>
            </a:avLst>
          </a:prstGeom>
          <a:solidFill>
            <a:srgbClr val="451A03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8"/>
          <p:cNvSpPr txBox="1"/>
          <p:nvPr/>
        </p:nvSpPr>
        <p:spPr>
          <a:xfrm>
            <a:off x="10513771" y="3795674"/>
            <a:ext cx="2002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</a:t>
            </a:r>
            <a:endParaRPr lang="en-US" sz="800" dirty="0"/>
          </a:p>
        </p:txBody>
      </p:sp>
      <p:sp>
        <p:nvSpPr>
          <p:cNvPr id="73" name="Text 69"/>
          <p:cNvSpPr txBox="1"/>
          <p:nvPr/>
        </p:nvSpPr>
        <p:spPr>
          <a:xfrm>
            <a:off x="11340389" y="3757270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6098134" y="4962449"/>
            <a:ext cx="5591556" cy="819302"/>
          </a:xfrm>
          <a:prstGeom prst="roundRect">
            <a:avLst>
              <a:gd name="adj" fmla="val 519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1"/>
          <p:cNvSpPr txBox="1"/>
          <p:nvPr/>
        </p:nvSpPr>
        <p:spPr>
          <a:xfrm>
            <a:off x="6221578" y="5105095"/>
            <a:ext cx="531083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ANALYST NOTE: Notice how traffic flows between zones. Private IPs (192.x, 10.x) stay internal. Public IPs (203.x) are on the internet side.</a:t>
            </a:r>
            <a:endParaRPr lang="en-US" sz="1000" dirty="0"/>
          </a:p>
        </p:txBody>
      </p:sp>
      <p:sp>
        <p:nvSpPr>
          <p:cNvPr id="76" name="Shape 7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4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79" name="Text 75"/>
          <p:cNvSpPr txBox="1"/>
          <p:nvPr/>
        </p:nvSpPr>
        <p:spPr>
          <a:xfrm>
            <a:off x="1486814" y="6329477"/>
            <a:ext cx="939728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"Look at the log entries. Can you spot which IP addresses are Private (Internal) and which are Public (Internet)?"</a:t>
            </a:r>
            <a:endParaRPr lang="en-US" sz="1300" dirty="0"/>
          </a:p>
        </p:txBody>
      </p:sp>
      <p:sp>
        <p:nvSpPr>
          <p:cNvPr id="80" name="Text 76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 / 60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66486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IPv6 Basics: Conceptual Structure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0229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1473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352044"/>
            <a:ext cx="2895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IP ADDRESSING &amp; IDENTITY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51627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128-bit address using hexadecimal numbers (0-9, A-F) separated by colons (:).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48865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IPv4 ran out of space. IPv6 provides infinite scale for modern cloud and IoT networks.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7823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parse longer, complex strings in logs. Don't fear the length; look for the patterns.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42537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No math required. Just recognize the format.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6098134" y="1421892"/>
            <a:ext cx="114300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12434" y="1395374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IPV6 STRUCTURE INSPECTOR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1035894" y="1380744"/>
            <a:ext cx="657454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1120933" y="141000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128-BIT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51530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6135624" y="1962302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FULL EXPANDED ADDRESS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135624" y="2210105"/>
            <a:ext cx="5514746" cy="857707"/>
          </a:xfrm>
          <a:prstGeom prst="roundRect">
            <a:avLst>
              <a:gd name="adj" fmla="val 473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6297473" y="2391156"/>
            <a:ext cx="52395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2001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809537" y="2391156"/>
            <a:ext cx="277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6971386" y="2391156"/>
            <a:ext cx="52395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0db8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7483450" y="2391156"/>
            <a:ext cx="277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7645298" y="2391156"/>
            <a:ext cx="52395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85a3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8156448" y="2391156"/>
            <a:ext cx="277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8319211" y="2391156"/>
            <a:ext cx="52395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0000</a:t>
            </a:r>
            <a:endParaRPr lang="en-US" sz="1500" dirty="0"/>
          </a:p>
        </p:txBody>
      </p:sp>
      <p:sp>
        <p:nvSpPr>
          <p:cNvPr id="39" name="Text 35"/>
          <p:cNvSpPr txBox="1"/>
          <p:nvPr/>
        </p:nvSpPr>
        <p:spPr>
          <a:xfrm>
            <a:off x="8830361" y="2391156"/>
            <a:ext cx="277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8992210" y="2391156"/>
            <a:ext cx="52395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0000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9504274" y="2391156"/>
            <a:ext cx="277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500" dirty="0"/>
          </a:p>
        </p:txBody>
      </p:sp>
      <p:sp>
        <p:nvSpPr>
          <p:cNvPr id="42" name="Text 38"/>
          <p:cNvSpPr txBox="1"/>
          <p:nvPr/>
        </p:nvSpPr>
        <p:spPr>
          <a:xfrm>
            <a:off x="9666122" y="2391156"/>
            <a:ext cx="52395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8a2e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10178186" y="2391156"/>
            <a:ext cx="277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500" dirty="0"/>
          </a:p>
        </p:txBody>
      </p:sp>
      <p:sp>
        <p:nvSpPr>
          <p:cNvPr id="44" name="Text 40"/>
          <p:cNvSpPr txBox="1"/>
          <p:nvPr/>
        </p:nvSpPr>
        <p:spPr>
          <a:xfrm>
            <a:off x="10340035" y="2391156"/>
            <a:ext cx="52395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0370</a:t>
            </a:r>
            <a:endParaRPr lang="en-US" sz="1500" dirty="0"/>
          </a:p>
        </p:txBody>
      </p:sp>
      <p:sp>
        <p:nvSpPr>
          <p:cNvPr id="45" name="Text 41"/>
          <p:cNvSpPr txBox="1"/>
          <p:nvPr/>
        </p:nvSpPr>
        <p:spPr>
          <a:xfrm>
            <a:off x="10852099" y="2391156"/>
            <a:ext cx="277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11013948" y="2391156"/>
            <a:ext cx="52395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7334</a:t>
            </a:r>
            <a:endParaRPr lang="en-US" sz="1500" dirty="0"/>
          </a:p>
        </p:txBody>
      </p:sp>
      <p:sp>
        <p:nvSpPr>
          <p:cNvPr id="47" name="Text 43"/>
          <p:cNvSpPr txBox="1"/>
          <p:nvPr/>
        </p:nvSpPr>
        <p:spPr>
          <a:xfrm>
            <a:off x="6212434" y="3152851"/>
            <a:ext cx="11914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Prefix (Network)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8583473" y="3152851"/>
            <a:ext cx="5056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Subnet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10269626" y="3152851"/>
            <a:ext cx="13908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Interface ID (Host)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6135624" y="3562502"/>
            <a:ext cx="2686507" cy="1123798"/>
          </a:xfrm>
          <a:prstGeom prst="roundRect">
            <a:avLst>
              <a:gd name="adj" fmla="val 275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 txBox="1"/>
          <p:nvPr/>
        </p:nvSpPr>
        <p:spPr>
          <a:xfrm>
            <a:off x="6297473" y="3733495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HEXADECIMAL</a:t>
            </a:r>
            <a:endParaRPr lang="en-US" sz="900" dirty="0"/>
          </a:p>
        </p:txBody>
      </p:sp>
      <p:sp>
        <p:nvSpPr>
          <p:cNvPr id="52" name="Text 48"/>
          <p:cNvSpPr txBox="1"/>
          <p:nvPr/>
        </p:nvSpPr>
        <p:spPr>
          <a:xfrm>
            <a:off x="6297473" y="3952951"/>
            <a:ext cx="13862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0-9, A-F</a:t>
            </a:r>
            <a:endParaRPr lang="en-US" sz="2200" dirty="0"/>
          </a:p>
        </p:txBody>
      </p:sp>
      <p:sp>
        <p:nvSpPr>
          <p:cNvPr id="53" name="Text 49"/>
          <p:cNvSpPr txBox="1"/>
          <p:nvPr/>
        </p:nvSpPr>
        <p:spPr>
          <a:xfrm>
            <a:off x="6297473" y="4343400"/>
            <a:ext cx="11192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Base-16 System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8968435" y="3562502"/>
            <a:ext cx="2686507" cy="1123798"/>
          </a:xfrm>
          <a:prstGeom prst="roundRect">
            <a:avLst>
              <a:gd name="adj" fmla="val 275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 txBox="1"/>
          <p:nvPr/>
        </p:nvSpPr>
        <p:spPr>
          <a:xfrm>
            <a:off x="9130284" y="3733495"/>
            <a:ext cx="5056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GROUPS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9130284" y="3952951"/>
            <a:ext cx="14529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groups</a:t>
            </a:r>
            <a:endParaRPr lang="en-US" sz="2200" dirty="0"/>
          </a:p>
        </p:txBody>
      </p:sp>
      <p:sp>
        <p:nvSpPr>
          <p:cNvPr id="57" name="Text 53"/>
          <p:cNvSpPr txBox="1"/>
          <p:nvPr/>
        </p:nvSpPr>
        <p:spPr>
          <a:xfrm>
            <a:off x="9130284" y="4343400"/>
            <a:ext cx="11768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hex digits each</a:t>
            </a:r>
            <a:endParaRPr lang="en-US" sz="1000" dirty="0"/>
          </a:p>
        </p:txBody>
      </p:sp>
      <p:sp>
        <p:nvSpPr>
          <p:cNvPr id="58" name="Text 54"/>
          <p:cNvSpPr txBox="1"/>
          <p:nvPr/>
        </p:nvSpPr>
        <p:spPr>
          <a:xfrm>
            <a:off x="6135624" y="4895698"/>
            <a:ext cx="24249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Simplified (Zero Compression)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6135624" y="5143500"/>
            <a:ext cx="5514746" cy="629107"/>
          </a:xfrm>
          <a:prstGeom prst="roundRect">
            <a:avLst>
              <a:gd name="adj" fmla="val 8809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 txBox="1"/>
          <p:nvPr/>
        </p:nvSpPr>
        <p:spPr>
          <a:xfrm>
            <a:off x="6297473" y="5324551"/>
            <a:ext cx="7242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2001</a:t>
            </a:r>
            <a:endParaRPr lang="en-US" sz="1800" dirty="0"/>
          </a:p>
        </p:txBody>
      </p:sp>
      <p:sp>
        <p:nvSpPr>
          <p:cNvPr id="61" name="Text 57"/>
          <p:cNvSpPr txBox="1"/>
          <p:nvPr/>
        </p:nvSpPr>
        <p:spPr>
          <a:xfrm>
            <a:off x="6884518" y="5324551"/>
            <a:ext cx="3145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800" dirty="0"/>
          </a:p>
        </p:txBody>
      </p:sp>
      <p:sp>
        <p:nvSpPr>
          <p:cNvPr id="62" name="Text 58"/>
          <p:cNvSpPr txBox="1"/>
          <p:nvPr/>
        </p:nvSpPr>
        <p:spPr>
          <a:xfrm>
            <a:off x="7060082" y="5324551"/>
            <a:ext cx="5907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db8</a:t>
            </a:r>
            <a:endParaRPr lang="en-US" sz="1800" dirty="0"/>
          </a:p>
        </p:txBody>
      </p:sp>
      <p:sp>
        <p:nvSpPr>
          <p:cNvPr id="63" name="Text 59"/>
          <p:cNvSpPr txBox="1"/>
          <p:nvPr/>
        </p:nvSpPr>
        <p:spPr>
          <a:xfrm>
            <a:off x="7509967" y="5324551"/>
            <a:ext cx="3145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1800" dirty="0"/>
          </a:p>
        </p:txBody>
      </p:sp>
      <p:sp>
        <p:nvSpPr>
          <p:cNvPr id="64" name="Text 60"/>
          <p:cNvSpPr txBox="1"/>
          <p:nvPr/>
        </p:nvSpPr>
        <p:spPr>
          <a:xfrm>
            <a:off x="7684618" y="5324551"/>
            <a:ext cx="7242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85a3</a:t>
            </a:r>
            <a:endParaRPr lang="en-US" sz="1800" dirty="0"/>
          </a:p>
        </p:txBody>
      </p:sp>
      <p:sp>
        <p:nvSpPr>
          <p:cNvPr id="65" name="Text 61"/>
          <p:cNvSpPr txBox="1"/>
          <p:nvPr/>
        </p:nvSpPr>
        <p:spPr>
          <a:xfrm>
            <a:off x="8271662" y="5324551"/>
            <a:ext cx="448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::</a:t>
            </a:r>
            <a:endParaRPr lang="en-US" sz="1800" dirty="0"/>
          </a:p>
        </p:txBody>
      </p:sp>
      <p:sp>
        <p:nvSpPr>
          <p:cNvPr id="66" name="Text 62"/>
          <p:cNvSpPr txBox="1"/>
          <p:nvPr/>
        </p:nvSpPr>
        <p:spPr>
          <a:xfrm>
            <a:off x="8584387" y="5324551"/>
            <a:ext cx="11338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8a2e...</a:t>
            </a:r>
            <a:endParaRPr lang="en-US" sz="1800" dirty="0"/>
          </a:p>
        </p:txBody>
      </p:sp>
      <p:pic>
        <p:nvPicPr>
          <p:cNvPr id="67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6135624" y="5853074"/>
            <a:ext cx="85954" cy="114300"/>
          </a:xfrm>
          <a:prstGeom prst="rect">
            <a:avLst/>
          </a:prstGeom>
        </p:spPr>
      </p:pic>
      <p:sp>
        <p:nvSpPr>
          <p:cNvPr id="68" name="Text 63"/>
          <p:cNvSpPr txBox="1"/>
          <p:nvPr/>
        </p:nvSpPr>
        <p:spPr>
          <a:xfrm>
            <a:off x="6259982" y="5857646"/>
            <a:ext cx="35250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Double colon (::) replaces consecutive zeros once.</a:t>
            </a:r>
            <a:endParaRPr lang="en-US" sz="900" dirty="0"/>
          </a:p>
        </p:txBody>
      </p:sp>
      <p:sp>
        <p:nvSpPr>
          <p:cNvPr id="69" name="Shape 6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6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72" name="Text 67"/>
          <p:cNvSpPr txBox="1"/>
          <p:nvPr/>
        </p:nvSpPr>
        <p:spPr>
          <a:xfrm>
            <a:off x="1748333" y="6329477"/>
            <a:ext cx="794887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length and the letters A-F. This is how modern devices identify themselves."</a:t>
            </a:r>
            <a:endParaRPr lang="en-US" sz="1300" dirty="0"/>
          </a:p>
        </p:txBody>
      </p:sp>
      <p:sp>
        <p:nvSpPr>
          <p:cNvPr id="73" name="Text 68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19 / 60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571409-5351-FF2F-DA49-D1BCF85A4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8" y="37626"/>
            <a:ext cx="12136544" cy="67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74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0F39E0-0913-59D9-92E7-E39D18BF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59"/>
            <a:ext cx="12192000" cy="678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788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52395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Log Fields for Identity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0229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1473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352044"/>
            <a:ext cx="2895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IP ADDRESSING &amp; IDENTITY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51435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identifiers in logs: Source/Destination IPs, Ports, MAC addresses, and Interface IDs.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51819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fields allow analysts to reconstruct who spoke to whom, when, and how.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5912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filter by these fields to pivot between events and build a reliable timeline.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28529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Faster triage decisions.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6098134" y="1421892"/>
            <a:ext cx="105156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02375" y="1395374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EVENT LOG VIEWER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1104474" y="1380744"/>
            <a:ext cx="590702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1189513" y="1410005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2949854"/>
            <a:ext cx="5591556" cy="1485900"/>
          </a:xfrm>
          <a:prstGeom prst="roundRect">
            <a:avLst>
              <a:gd name="adj" fmla="val 31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297473" y="3388766"/>
            <a:ext cx="5191049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6297473" y="3159252"/>
            <a:ext cx="49103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event_type="firewall_allow" timestamp="2023-10-24T08:42:15Z"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6297473" y="3502152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src_ip=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858000" y="3473806"/>
            <a:ext cx="1123798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6858000" y="3721608"/>
            <a:ext cx="1123798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 txBox="1"/>
          <p:nvPr/>
        </p:nvSpPr>
        <p:spPr>
          <a:xfrm>
            <a:off x="6896405" y="350215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192.168.10.55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7974482" y="3502152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src_port=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8695030" y="3473806"/>
            <a:ext cx="485546" cy="267005"/>
          </a:xfrm>
          <a:prstGeom prst="roundRect">
            <a:avLst>
              <a:gd name="adj" fmla="val 48924"/>
            </a:avLst>
          </a:prstGeom>
          <a:solidFill>
            <a:srgbClr val="EC489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8695030" y="3721608"/>
            <a:ext cx="485546" cy="1920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8732520" y="3502152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49231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9171432" y="3502152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dst_ip=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9731045" y="3473806"/>
            <a:ext cx="961949" cy="267005"/>
          </a:xfrm>
          <a:prstGeom prst="roundRect">
            <a:avLst>
              <a:gd name="adj" fmla="val 48924"/>
            </a:avLst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9731045" y="3721608"/>
            <a:ext cx="961949" cy="1920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 txBox="1"/>
          <p:nvPr/>
        </p:nvSpPr>
        <p:spPr>
          <a:xfrm>
            <a:off x="9769450" y="3502152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10.20.5.100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10687507" y="3502152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dst_port=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6297473" y="3732581"/>
            <a:ext cx="323698" cy="267005"/>
          </a:xfrm>
          <a:prstGeom prst="roundRect">
            <a:avLst>
              <a:gd name="adj" fmla="val 48924"/>
            </a:avLst>
          </a:prstGeom>
          <a:solidFill>
            <a:srgbClr val="EC489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6297473" y="3980383"/>
            <a:ext cx="323698" cy="1920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 txBox="1"/>
          <p:nvPr/>
        </p:nvSpPr>
        <p:spPr>
          <a:xfrm>
            <a:off x="6335878" y="3760927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6613855" y="3760927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proto=TCP src_mac=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8054950" y="3732581"/>
            <a:ext cx="1438351" cy="267005"/>
          </a:xfrm>
          <a:prstGeom prst="roundRect">
            <a:avLst>
              <a:gd name="adj" fmla="val 48924"/>
            </a:avLst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8054950" y="3980383"/>
            <a:ext cx="1438351" cy="1920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 txBox="1"/>
          <p:nvPr/>
        </p:nvSpPr>
        <p:spPr>
          <a:xfrm>
            <a:off x="8092440" y="3760927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00:1A:2B:3C:4D:5E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6297473" y="3760927"/>
            <a:ext cx="52157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action=ALLOW interface=eth0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6098134" y="4736592"/>
            <a:ext cx="5971946" cy="552298"/>
          </a:xfrm>
          <a:prstGeom prst="roundRect">
            <a:avLst>
              <a:gd name="adj" fmla="val 17127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1"/>
          <p:cNvSpPr/>
          <p:nvPr/>
        </p:nvSpPr>
        <p:spPr>
          <a:xfrm>
            <a:off x="6240780" y="4975250"/>
            <a:ext cx="75895" cy="7589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 txBox="1"/>
          <p:nvPr/>
        </p:nvSpPr>
        <p:spPr>
          <a:xfrm>
            <a:off x="6393485" y="4831690"/>
            <a:ext cx="11338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IDENTITY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6393485" y="5042002"/>
            <a:ext cx="2924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initiated the conversation (Internal Workstation)</a:t>
            </a:r>
            <a:endParaRPr lang="en-US" sz="900" dirty="0"/>
          </a:p>
        </p:txBody>
      </p:sp>
      <p:sp>
        <p:nvSpPr>
          <p:cNvPr id="58" name="Text 54"/>
          <p:cNvSpPr txBox="1"/>
          <p:nvPr/>
        </p:nvSpPr>
        <p:spPr>
          <a:xfrm>
            <a:off x="11052353" y="4945990"/>
            <a:ext cx="9811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192.168.10.55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6098134" y="4736592"/>
            <a:ext cx="5971946" cy="552298"/>
          </a:xfrm>
          <a:prstGeom prst="roundRect">
            <a:avLst>
              <a:gd name="adj" fmla="val 17127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6240780" y="4975250"/>
            <a:ext cx="75895" cy="75895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7"/>
          <p:cNvSpPr txBox="1"/>
          <p:nvPr/>
        </p:nvSpPr>
        <p:spPr>
          <a:xfrm>
            <a:off x="6393485" y="4831690"/>
            <a:ext cx="13533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 TARGET</a:t>
            </a:r>
            <a:endParaRPr lang="en-US" sz="900" dirty="0"/>
          </a:p>
        </p:txBody>
      </p:sp>
      <p:sp>
        <p:nvSpPr>
          <p:cNvPr id="62" name="Text 58"/>
          <p:cNvSpPr txBox="1"/>
          <p:nvPr/>
        </p:nvSpPr>
        <p:spPr>
          <a:xfrm>
            <a:off x="6393485" y="5042002"/>
            <a:ext cx="2667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received the request (Internal Web Server)</a:t>
            </a:r>
            <a:endParaRPr lang="en-US" sz="900" dirty="0"/>
          </a:p>
        </p:txBody>
      </p:sp>
      <p:sp>
        <p:nvSpPr>
          <p:cNvPr id="63" name="Text 59"/>
          <p:cNvSpPr txBox="1"/>
          <p:nvPr/>
        </p:nvSpPr>
        <p:spPr>
          <a:xfrm>
            <a:off x="11189513" y="4945990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10.20.5.100</a:t>
            </a:r>
            <a:endParaRPr lang="en-US" sz="900" dirty="0"/>
          </a:p>
        </p:txBody>
      </p:sp>
      <p:sp>
        <p:nvSpPr>
          <p:cNvPr id="64" name="Shape 60"/>
          <p:cNvSpPr/>
          <p:nvPr/>
        </p:nvSpPr>
        <p:spPr>
          <a:xfrm>
            <a:off x="6098134" y="4736592"/>
            <a:ext cx="5971946" cy="552298"/>
          </a:xfrm>
          <a:prstGeom prst="roundRect">
            <a:avLst>
              <a:gd name="adj" fmla="val 17127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1"/>
          <p:cNvSpPr/>
          <p:nvPr/>
        </p:nvSpPr>
        <p:spPr>
          <a:xfrm>
            <a:off x="6240780" y="4975250"/>
            <a:ext cx="75895" cy="75895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2"/>
          <p:cNvSpPr txBox="1"/>
          <p:nvPr/>
        </p:nvSpPr>
        <p:spPr>
          <a:xfrm>
            <a:off x="6393485" y="4831690"/>
            <a:ext cx="11247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DEVICE</a:t>
            </a:r>
            <a:endParaRPr lang="en-US" sz="900" dirty="0"/>
          </a:p>
        </p:txBody>
      </p:sp>
      <p:sp>
        <p:nvSpPr>
          <p:cNvPr id="67" name="Text 63"/>
          <p:cNvSpPr txBox="1"/>
          <p:nvPr/>
        </p:nvSpPr>
        <p:spPr>
          <a:xfrm>
            <a:off x="6393485" y="5042002"/>
            <a:ext cx="24103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address confirms device identity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11189513" y="4945990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00:1A:2B...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6098134" y="4736592"/>
            <a:ext cx="5971946" cy="552298"/>
          </a:xfrm>
          <a:prstGeom prst="roundRect">
            <a:avLst>
              <a:gd name="adj" fmla="val 17127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6240780" y="4975250"/>
            <a:ext cx="75895" cy="75895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7"/>
          <p:cNvSpPr txBox="1"/>
          <p:nvPr/>
        </p:nvSpPr>
        <p:spPr>
          <a:xfrm>
            <a:off x="6393485" y="4831690"/>
            <a:ext cx="11722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472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CONTEXT</a:t>
            </a:r>
            <a:endParaRPr lang="en-US" sz="900" dirty="0"/>
          </a:p>
        </p:txBody>
      </p:sp>
      <p:sp>
        <p:nvSpPr>
          <p:cNvPr id="72" name="Text 68"/>
          <p:cNvSpPr txBox="1"/>
          <p:nvPr/>
        </p:nvSpPr>
        <p:spPr>
          <a:xfrm>
            <a:off x="6393485" y="5042002"/>
            <a:ext cx="2505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 443 indicates secure HTTPS web traffic</a:t>
            </a:r>
            <a:endParaRPr lang="en-US" sz="900" dirty="0"/>
          </a:p>
        </p:txBody>
      </p:sp>
      <p:sp>
        <p:nvSpPr>
          <p:cNvPr id="73" name="Text 69"/>
          <p:cNvSpPr txBox="1"/>
          <p:nvPr/>
        </p:nvSpPr>
        <p:spPr>
          <a:xfrm>
            <a:off x="11463833" y="4945990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TCP/443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1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2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77" name="Text 73"/>
          <p:cNvSpPr txBox="1"/>
          <p:nvPr/>
        </p:nvSpPr>
        <p:spPr>
          <a:xfrm>
            <a:off x="1640434" y="6329477"/>
            <a:ext cx="90827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"Notice how we use these specific fields to reconstruct the entire story of 'Who talked to whom'."</a:t>
            </a:r>
            <a:endParaRPr lang="en-US" sz="1300" dirty="0"/>
          </a:p>
        </p:txBody>
      </p:sp>
      <p:sp>
        <p:nvSpPr>
          <p:cNvPr id="78" name="Text 74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22 / 60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68772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Addressing: Concept Only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659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2903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287000" y="352044"/>
            <a:ext cx="1752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 ADDRESSING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12380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514350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IP address is split into two logical parts: one identifies the network, the other identifies the specific device (host).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722169"/>
            <a:ext cx="38405" cy="123809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73131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3017520"/>
            <a:ext cx="5115154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organize millions of devices efficiently, like street names (network) and house numbers (host).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4187038"/>
            <a:ext cx="38405" cy="123809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419618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4482389"/>
            <a:ext cx="4629607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quickly recognize boundaries to tell if traffic is staying "on the same street" or leaving the neighborhood.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651906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861304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813755"/>
            <a:ext cx="44631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No subnet math required. Just spot the pattern.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6098134" y="1421892"/>
            <a:ext cx="152705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49924" y="1395374"/>
            <a:ext cx="2348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STRUCTURE VISUALIZER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692994" y="1380744"/>
            <a:ext cx="1000354" cy="209398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778033" y="1410005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VIEW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765646" y="2152498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6956755" y="2119579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ID (Street Name)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9068105" y="2152498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9258300" y="2119579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ID (House Number)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337146" y="2595982"/>
            <a:ext cx="3114446" cy="819302"/>
          </a:xfrm>
          <a:prstGeom prst="roundRect">
            <a:avLst>
              <a:gd name="adj" fmla="val 10382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7623353" y="2824582"/>
            <a:ext cx="6858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</a:t>
            </a:r>
            <a:endParaRPr lang="en-US" sz="2100" dirty="0"/>
          </a:p>
        </p:txBody>
      </p:sp>
      <p:sp>
        <p:nvSpPr>
          <p:cNvPr id="36" name="Text 32"/>
          <p:cNvSpPr txBox="1"/>
          <p:nvPr/>
        </p:nvSpPr>
        <p:spPr>
          <a:xfrm>
            <a:off x="8179308" y="2824582"/>
            <a:ext cx="3621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100" dirty="0"/>
          </a:p>
        </p:txBody>
      </p:sp>
      <p:sp>
        <p:nvSpPr>
          <p:cNvPr id="37" name="Text 33"/>
          <p:cNvSpPr txBox="1"/>
          <p:nvPr/>
        </p:nvSpPr>
        <p:spPr>
          <a:xfrm>
            <a:off x="8416138" y="2824582"/>
            <a:ext cx="6858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168</a:t>
            </a:r>
            <a:endParaRPr lang="en-US" sz="2100" dirty="0"/>
          </a:p>
        </p:txBody>
      </p:sp>
      <p:sp>
        <p:nvSpPr>
          <p:cNvPr id="38" name="Text 34"/>
          <p:cNvSpPr txBox="1"/>
          <p:nvPr/>
        </p:nvSpPr>
        <p:spPr>
          <a:xfrm>
            <a:off x="8972093" y="2824582"/>
            <a:ext cx="3621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100" dirty="0"/>
          </a:p>
        </p:txBody>
      </p:sp>
      <p:sp>
        <p:nvSpPr>
          <p:cNvPr id="39" name="Text 35"/>
          <p:cNvSpPr txBox="1"/>
          <p:nvPr/>
        </p:nvSpPr>
        <p:spPr>
          <a:xfrm>
            <a:off x="9208922" y="2824582"/>
            <a:ext cx="3621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100" dirty="0"/>
          </a:p>
        </p:txBody>
      </p:sp>
      <p:sp>
        <p:nvSpPr>
          <p:cNvPr id="40" name="Text 36"/>
          <p:cNvSpPr txBox="1"/>
          <p:nvPr/>
        </p:nvSpPr>
        <p:spPr>
          <a:xfrm>
            <a:off x="9444838" y="2824582"/>
            <a:ext cx="3621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100" dirty="0"/>
          </a:p>
        </p:txBody>
      </p:sp>
      <p:sp>
        <p:nvSpPr>
          <p:cNvPr id="41" name="Text 37"/>
          <p:cNvSpPr txBox="1"/>
          <p:nvPr/>
        </p:nvSpPr>
        <p:spPr>
          <a:xfrm>
            <a:off x="9681667" y="2824582"/>
            <a:ext cx="6858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100" dirty="0"/>
          </a:p>
        </p:txBody>
      </p:sp>
      <p:sp>
        <p:nvSpPr>
          <p:cNvPr id="42" name="Shape 38"/>
          <p:cNvSpPr/>
          <p:nvPr/>
        </p:nvSpPr>
        <p:spPr>
          <a:xfrm>
            <a:off x="6098134" y="3605479"/>
            <a:ext cx="5591556" cy="1552651"/>
          </a:xfrm>
          <a:prstGeom prst="roundRect">
            <a:avLst>
              <a:gd name="adj" fmla="val 289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6259982" y="3767328"/>
            <a:ext cx="2391156" cy="1228954"/>
          </a:xfrm>
          <a:prstGeom prst="roundRect">
            <a:avLst>
              <a:gd name="adj" fmla="val 3461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7309714" y="3890772"/>
            <a:ext cx="286207" cy="228600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6858000" y="4252874"/>
            <a:ext cx="1305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SHARED PREFIX</a:t>
            </a:r>
            <a:endParaRPr lang="en-US" sz="1200" dirty="0"/>
          </a:p>
        </p:txBody>
      </p:sp>
      <p:sp>
        <p:nvSpPr>
          <p:cNvPr id="46" name="Text 41"/>
          <p:cNvSpPr txBox="1"/>
          <p:nvPr/>
        </p:nvSpPr>
        <p:spPr>
          <a:xfrm>
            <a:off x="6530645" y="4500677"/>
            <a:ext cx="19485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to all devices in this zone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8834933" y="4267505"/>
            <a:ext cx="267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500" dirty="0"/>
          </a:p>
        </p:txBody>
      </p:sp>
      <p:sp>
        <p:nvSpPr>
          <p:cNvPr id="48" name="Shape 43"/>
          <p:cNvSpPr/>
          <p:nvPr/>
        </p:nvSpPr>
        <p:spPr>
          <a:xfrm>
            <a:off x="9140342" y="3862426"/>
            <a:ext cx="2391156" cy="1037844"/>
          </a:xfrm>
          <a:prstGeom prst="roundRect">
            <a:avLst>
              <a:gd name="adj" fmla="val 4850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0190074" y="3985870"/>
            <a:ext cx="286207" cy="228600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9738360" y="4347972"/>
            <a:ext cx="1305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UNIQUE SUFFIX</a:t>
            </a:r>
            <a:endParaRPr lang="en-US" sz="1200" dirty="0"/>
          </a:p>
        </p:txBody>
      </p:sp>
      <p:sp>
        <p:nvSpPr>
          <p:cNvPr id="51" name="Text 45"/>
          <p:cNvSpPr txBox="1"/>
          <p:nvPr/>
        </p:nvSpPr>
        <p:spPr>
          <a:xfrm>
            <a:off x="9573768" y="4595774"/>
            <a:ext cx="16248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to one machine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6932066" y="5395874"/>
            <a:ext cx="40251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"SOC sees 192.168.1.50 talking to 192.168.1.100 as local traffic."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48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 txBox="1"/>
          <p:nvPr/>
        </p:nvSpPr>
        <p:spPr>
          <a:xfrm>
            <a:off x="304495" y="6458407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56" name="Text 50"/>
          <p:cNvSpPr txBox="1"/>
          <p:nvPr/>
        </p:nvSpPr>
        <p:spPr>
          <a:xfrm>
            <a:off x="1756562" y="6458407"/>
            <a:ext cx="91869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color split. The blue part is the 'Street', the green part is the 'House'."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23 / 60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538215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CIDR: Conceptual Grouping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5944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7188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715500" y="352044"/>
            <a:ext cx="23244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NETWORKING CONCEPTS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90575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standardized method to define IP address ranges using compact notation.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48390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provide a flexible, efficient way to group IPs without listing every single address.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51819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use CIDR blocks to create simple filters for entire network segments.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450067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Focus on the concept of "ranges", not the math.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6098134" y="1421892"/>
            <a:ext cx="171907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69126" y="1395374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RANGE VISUALIZATION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1035894" y="1380744"/>
            <a:ext cx="657454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1120933" y="141000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DEFINED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99079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515100" y="1904695"/>
            <a:ext cx="4762195" cy="1104595"/>
          </a:xfrm>
          <a:prstGeom prst="roundRect">
            <a:avLst>
              <a:gd name="adj" fmla="val 5709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6914693" y="2115007"/>
            <a:ext cx="33631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192.168.1.0</a:t>
            </a:r>
            <a:endParaRPr lang="en-US" sz="3600" dirty="0"/>
          </a:p>
        </p:txBody>
      </p:sp>
      <p:sp>
        <p:nvSpPr>
          <p:cNvPr id="32" name="Text 28"/>
          <p:cNvSpPr txBox="1"/>
          <p:nvPr/>
        </p:nvSpPr>
        <p:spPr>
          <a:xfrm>
            <a:off x="10047427" y="2152498"/>
            <a:ext cx="117226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/24</a:t>
            </a:r>
            <a:endParaRPr lang="en-US" sz="3600" dirty="0"/>
          </a:p>
        </p:txBody>
      </p:sp>
      <p:sp>
        <p:nvSpPr>
          <p:cNvPr id="33" name="Shape 29"/>
          <p:cNvSpPr/>
          <p:nvPr/>
        </p:nvSpPr>
        <p:spPr>
          <a:xfrm>
            <a:off x="6098134" y="3238805"/>
            <a:ext cx="2704795" cy="1086307"/>
          </a:xfrm>
          <a:prstGeom prst="roundRect">
            <a:avLst>
              <a:gd name="adj" fmla="val 44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7047281" y="3409798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ID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7001561" y="3705149"/>
            <a:ext cx="10241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192.168.1.0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6986016" y="4009644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Group Name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8987638" y="3238805"/>
            <a:ext cx="2704795" cy="1086307"/>
          </a:xfrm>
          <a:prstGeom prst="roundRect">
            <a:avLst>
              <a:gd name="adj" fmla="val 443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 txBox="1"/>
          <p:nvPr/>
        </p:nvSpPr>
        <p:spPr>
          <a:xfrm>
            <a:off x="9937699" y="3409798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 SIZE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9711842" y="3705149"/>
            <a:ext cx="1386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256 Addresses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9876434" y="4009644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192.168.1.0 - .255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098134" y="4858207"/>
            <a:ext cx="5591556" cy="1657807"/>
          </a:xfrm>
          <a:prstGeom prst="roundRect">
            <a:avLst>
              <a:gd name="adj" fmla="val 190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6259982" y="5020056"/>
            <a:ext cx="1381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FILTER EXAMPLE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6259982" y="5257800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user@soc:~$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7253935" y="5257800"/>
            <a:ext cx="25868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src_ip IN 192.168.1.0/24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6450178" y="5533949"/>
            <a:ext cx="21104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found: 192.168.1.55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6450178" y="5810098"/>
            <a:ext cx="21863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found: 192.168.1.102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6450178" y="6086246"/>
            <a:ext cx="21863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found: 192.168.1.200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51" name="Text 47"/>
          <p:cNvSpPr txBox="1"/>
          <p:nvPr/>
        </p:nvSpPr>
        <p:spPr>
          <a:xfrm>
            <a:off x="1709928" y="6329477"/>
            <a:ext cx="877732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/24 tells us we are looking at the whole '192.168.1' neighborhood, not just one house."</a:t>
            </a:r>
            <a:endParaRPr lang="en-US" sz="1300" dirty="0"/>
          </a:p>
        </p:txBody>
      </p:sp>
      <p:sp>
        <p:nvSpPr>
          <p:cNvPr id="52" name="Text 48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24 / 60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72868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vs Public IP: Clear Differences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359238" y="323698"/>
            <a:ext cx="1533449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482682" y="390449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 CONCEPTS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4495" y="1257300"/>
            <a:ext cx="2752344" cy="1086307"/>
          </a:xfrm>
          <a:prstGeom prst="roundRect">
            <a:avLst>
              <a:gd name="adj" fmla="val 59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466344" y="1454810"/>
            <a:ext cx="142646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85800" y="1438351"/>
            <a:ext cx="11768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66344" y="1714500"/>
            <a:ext cx="24341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Internal-only addresses vs Internet-routable addresses.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47949" y="1257300"/>
            <a:ext cx="2752344" cy="1086307"/>
          </a:xfrm>
          <a:prstGeom prst="roundRect">
            <a:avLst>
              <a:gd name="adj" fmla="val 59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3409798" y="1454810"/>
            <a:ext cx="105156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90849" y="1438351"/>
            <a:ext cx="11859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EXISTS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409798" y="1714500"/>
            <a:ext cx="25008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conserve IPv4 space and provide internal containment.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91402" y="1257300"/>
            <a:ext cx="2752344" cy="1086307"/>
          </a:xfrm>
          <a:prstGeom prst="roundRect">
            <a:avLst>
              <a:gd name="adj" fmla="val 59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6353251" y="1454810"/>
            <a:ext cx="152705" cy="1335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81851" y="1438351"/>
            <a:ext cx="14721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OBSERVATION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6353251" y="1714500"/>
            <a:ext cx="24725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investigation based on internal/external scope.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134856" y="1257300"/>
            <a:ext cx="2752344" cy="1086307"/>
          </a:xfrm>
          <a:prstGeom prst="roundRect">
            <a:avLst>
              <a:gd name="adj" fmla="val 59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3425" r="-3425"/>
          <a:stretch/>
        </p:blipFill>
        <p:spPr>
          <a:xfrm>
            <a:off x="9296705" y="1454810"/>
            <a:ext cx="142646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515246" y="1438351"/>
            <a:ext cx="8430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9296705" y="1714500"/>
            <a:ext cx="25484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correct escalation decisions based on exposure.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04495" y="2623414"/>
            <a:ext cx="5600700" cy="4619549"/>
          </a:xfrm>
          <a:prstGeom prst="roundRect">
            <a:avLst>
              <a:gd name="adj" fmla="val 4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14554" y="2632558"/>
            <a:ext cx="5581498" cy="49560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14554" y="3119018"/>
            <a:ext cx="5581498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1877263" y="2789834"/>
            <a:ext cx="219456" cy="17190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172614" y="2746858"/>
            <a:ext cx="22914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IP (INTERNAL)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43154" y="3356762"/>
            <a:ext cx="5124298" cy="905256"/>
          </a:xfrm>
          <a:prstGeom prst="roundRect">
            <a:avLst>
              <a:gd name="adj" fmla="val 8506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543154" y="3356762"/>
            <a:ext cx="38405" cy="90525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733349" y="3509467"/>
            <a:ext cx="304495" cy="304495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833018" y="3594506"/>
            <a:ext cx="105156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152144" y="3518611"/>
            <a:ext cx="30102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10.0.0.0 - 10.255.255.255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4802429" y="3542386"/>
            <a:ext cx="714146" cy="237744"/>
          </a:xfrm>
          <a:prstGeom prst="roundRect">
            <a:avLst>
              <a:gd name="adj" fmla="val 6153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 txBox="1"/>
          <p:nvPr/>
        </p:nvSpPr>
        <p:spPr>
          <a:xfrm>
            <a:off x="4878324" y="3570732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733349" y="3899916"/>
            <a:ext cx="4467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large enterprise networks. Not routable on internet.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543154" y="4408322"/>
            <a:ext cx="5124298" cy="905256"/>
          </a:xfrm>
          <a:prstGeom prst="roundRect">
            <a:avLst>
              <a:gd name="adj" fmla="val 8506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1"/>
          <p:cNvSpPr/>
          <p:nvPr/>
        </p:nvSpPr>
        <p:spPr>
          <a:xfrm>
            <a:off x="543154" y="4408322"/>
            <a:ext cx="38405" cy="90525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733349" y="4561027"/>
            <a:ext cx="304495" cy="304495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833018" y="4646066"/>
            <a:ext cx="105156" cy="133502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152144" y="4570171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172.16.0.0 - 172.31.255.255</a:t>
            </a:r>
            <a:endParaRPr lang="en-US" sz="1500" dirty="0"/>
          </a:p>
        </p:txBody>
      </p:sp>
      <p:sp>
        <p:nvSpPr>
          <p:cNvPr id="43" name="Shape 34"/>
          <p:cNvSpPr/>
          <p:nvPr/>
        </p:nvSpPr>
        <p:spPr>
          <a:xfrm>
            <a:off x="4802429" y="4593946"/>
            <a:ext cx="714146" cy="237744"/>
          </a:xfrm>
          <a:prstGeom prst="roundRect">
            <a:avLst>
              <a:gd name="adj" fmla="val 6153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5"/>
          <p:cNvSpPr txBox="1"/>
          <p:nvPr/>
        </p:nvSpPr>
        <p:spPr>
          <a:xfrm>
            <a:off x="4878324" y="4622292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733349" y="4951476"/>
            <a:ext cx="4019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Mid-sized networks. Often used for AWS/Cloud VPCs.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543154" y="5459882"/>
            <a:ext cx="5124298" cy="905256"/>
          </a:xfrm>
          <a:prstGeom prst="roundRect">
            <a:avLst>
              <a:gd name="adj" fmla="val 8506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38"/>
          <p:cNvSpPr/>
          <p:nvPr/>
        </p:nvSpPr>
        <p:spPr>
          <a:xfrm>
            <a:off x="543154" y="5459882"/>
            <a:ext cx="38405" cy="90525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39"/>
          <p:cNvSpPr/>
          <p:nvPr/>
        </p:nvSpPr>
        <p:spPr>
          <a:xfrm>
            <a:off x="733349" y="5612587"/>
            <a:ext cx="304495" cy="304495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809244" y="5697626"/>
            <a:ext cx="152705" cy="133502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1152144" y="5621731"/>
            <a:ext cx="34674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192.168.0.0 - 192.168.255.255</a:t>
            </a:r>
            <a:endParaRPr lang="en-US" sz="1500" dirty="0"/>
          </a:p>
        </p:txBody>
      </p:sp>
      <p:sp>
        <p:nvSpPr>
          <p:cNvPr id="51" name="Shape 41"/>
          <p:cNvSpPr/>
          <p:nvPr/>
        </p:nvSpPr>
        <p:spPr>
          <a:xfrm>
            <a:off x="4802429" y="5645506"/>
            <a:ext cx="714146" cy="237744"/>
          </a:xfrm>
          <a:prstGeom prst="roundRect">
            <a:avLst>
              <a:gd name="adj" fmla="val 6153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2"/>
          <p:cNvSpPr txBox="1"/>
          <p:nvPr/>
        </p:nvSpPr>
        <p:spPr>
          <a:xfrm>
            <a:off x="4878324" y="5673852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</a:t>
            </a:r>
            <a:endParaRPr lang="en-US" sz="1000" dirty="0"/>
          </a:p>
        </p:txBody>
      </p:sp>
      <p:sp>
        <p:nvSpPr>
          <p:cNvPr id="53" name="Text 43"/>
          <p:cNvSpPr txBox="1"/>
          <p:nvPr/>
        </p:nvSpPr>
        <p:spPr>
          <a:xfrm>
            <a:off x="733349" y="6003036"/>
            <a:ext cx="4239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office / Home networks. Most common local range.</a:t>
            </a:r>
            <a:endParaRPr lang="en-US" sz="1200" dirty="0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168957" y="6838798"/>
            <a:ext cx="133502" cy="133502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2378354" y="6822338"/>
            <a:ext cx="1767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behind NAT / Firewall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6286500" y="2623414"/>
            <a:ext cx="5600700" cy="4619549"/>
          </a:xfrm>
          <a:prstGeom prst="roundRect">
            <a:avLst>
              <a:gd name="adj" fmla="val 49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6"/>
          <p:cNvSpPr/>
          <p:nvPr/>
        </p:nvSpPr>
        <p:spPr>
          <a:xfrm>
            <a:off x="6295644" y="2632558"/>
            <a:ext cx="5581498" cy="49560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7"/>
          <p:cNvSpPr/>
          <p:nvPr/>
        </p:nvSpPr>
        <p:spPr>
          <a:xfrm>
            <a:off x="6295644" y="3119018"/>
            <a:ext cx="5581498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934249" y="2789834"/>
            <a:ext cx="171907" cy="171907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8182051" y="2746858"/>
            <a:ext cx="219638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IP (INTERNET)</a:t>
            </a:r>
            <a:endParaRPr lang="en-US" sz="1300" dirty="0"/>
          </a:p>
        </p:txBody>
      </p:sp>
      <p:sp>
        <p:nvSpPr>
          <p:cNvPr id="61" name="Shape 49"/>
          <p:cNvSpPr/>
          <p:nvPr/>
        </p:nvSpPr>
        <p:spPr>
          <a:xfrm>
            <a:off x="6524244" y="3356762"/>
            <a:ext cx="5124298" cy="905256"/>
          </a:xfrm>
          <a:prstGeom prst="roundRect">
            <a:avLst>
              <a:gd name="adj" fmla="val 8506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0"/>
          <p:cNvSpPr/>
          <p:nvPr/>
        </p:nvSpPr>
        <p:spPr>
          <a:xfrm>
            <a:off x="6524244" y="3356762"/>
            <a:ext cx="38405" cy="90525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51"/>
          <p:cNvSpPr/>
          <p:nvPr/>
        </p:nvSpPr>
        <p:spPr>
          <a:xfrm>
            <a:off x="6715354" y="3509467"/>
            <a:ext cx="304495" cy="304495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4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801307" y="3594506"/>
            <a:ext cx="133502" cy="133502"/>
          </a:xfrm>
          <a:prstGeom prst="rect">
            <a:avLst/>
          </a:prstGeom>
        </p:spPr>
      </p:pic>
      <p:sp>
        <p:nvSpPr>
          <p:cNvPr id="65" name="Text 52"/>
          <p:cNvSpPr txBox="1"/>
          <p:nvPr/>
        </p:nvSpPr>
        <p:spPr>
          <a:xfrm>
            <a:off x="7134149" y="3518611"/>
            <a:ext cx="2438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8.8.8.8 (Google DNS)</a:t>
            </a:r>
            <a:endParaRPr lang="en-US" sz="1500" dirty="0"/>
          </a:p>
        </p:txBody>
      </p:sp>
      <p:sp>
        <p:nvSpPr>
          <p:cNvPr id="66" name="Shape 53"/>
          <p:cNvSpPr/>
          <p:nvPr/>
        </p:nvSpPr>
        <p:spPr>
          <a:xfrm>
            <a:off x="11104474" y="3542386"/>
            <a:ext cx="400507" cy="237744"/>
          </a:xfrm>
          <a:prstGeom prst="roundRect">
            <a:avLst>
              <a:gd name="adj" fmla="val 6153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54"/>
          <p:cNvSpPr txBox="1"/>
          <p:nvPr/>
        </p:nvSpPr>
        <p:spPr>
          <a:xfrm>
            <a:off x="11180369" y="3570732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endParaRPr lang="en-US" sz="1000" dirty="0"/>
          </a:p>
        </p:txBody>
      </p:sp>
      <p:sp>
        <p:nvSpPr>
          <p:cNvPr id="68" name="Text 55"/>
          <p:cNvSpPr txBox="1"/>
          <p:nvPr/>
        </p:nvSpPr>
        <p:spPr>
          <a:xfrm>
            <a:off x="6715354" y="3899916"/>
            <a:ext cx="4163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Examples: 1.1.1.1, 142.250.x.x. Reachable from anywhere.</a:t>
            </a:r>
            <a:endParaRPr lang="en-US" sz="1200" dirty="0"/>
          </a:p>
        </p:txBody>
      </p:sp>
      <p:sp>
        <p:nvSpPr>
          <p:cNvPr id="69" name="Shape 56"/>
          <p:cNvSpPr/>
          <p:nvPr/>
        </p:nvSpPr>
        <p:spPr>
          <a:xfrm>
            <a:off x="6524244" y="4408322"/>
            <a:ext cx="5124298" cy="905256"/>
          </a:xfrm>
          <a:prstGeom prst="roundRect">
            <a:avLst>
              <a:gd name="adj" fmla="val 8506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57"/>
          <p:cNvSpPr/>
          <p:nvPr/>
        </p:nvSpPr>
        <p:spPr>
          <a:xfrm>
            <a:off x="6524244" y="4408322"/>
            <a:ext cx="38405" cy="90525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58"/>
          <p:cNvSpPr/>
          <p:nvPr/>
        </p:nvSpPr>
        <p:spPr>
          <a:xfrm>
            <a:off x="6715354" y="4561027"/>
            <a:ext cx="304495" cy="304495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2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801307" y="4646066"/>
            <a:ext cx="133502" cy="133502"/>
          </a:xfrm>
          <a:prstGeom prst="rect">
            <a:avLst/>
          </a:prstGeom>
        </p:spPr>
      </p:pic>
      <p:sp>
        <p:nvSpPr>
          <p:cNvPr id="73" name="Text 59"/>
          <p:cNvSpPr txBox="1"/>
          <p:nvPr/>
        </p:nvSpPr>
        <p:spPr>
          <a:xfrm>
            <a:off x="7134149" y="4570171"/>
            <a:ext cx="18672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Exposure</a:t>
            </a:r>
            <a:endParaRPr lang="en-US" sz="1500" dirty="0"/>
          </a:p>
        </p:txBody>
      </p:sp>
      <p:sp>
        <p:nvSpPr>
          <p:cNvPr id="74" name="Text 60"/>
          <p:cNvSpPr txBox="1"/>
          <p:nvPr/>
        </p:nvSpPr>
        <p:spPr>
          <a:xfrm>
            <a:off x="6715354" y="4951476"/>
            <a:ext cx="4105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to/from these IPs crosses the internet boundary.</a:t>
            </a:r>
            <a:endParaRPr lang="en-US" sz="1200" dirty="0"/>
          </a:p>
        </p:txBody>
      </p:sp>
      <p:sp>
        <p:nvSpPr>
          <p:cNvPr id="75" name="Shape 61"/>
          <p:cNvSpPr/>
          <p:nvPr/>
        </p:nvSpPr>
        <p:spPr>
          <a:xfrm>
            <a:off x="6524244" y="5612587"/>
            <a:ext cx="5124298" cy="1047902"/>
          </a:xfrm>
          <a:prstGeom prst="roundRect">
            <a:avLst>
              <a:gd name="adj" fmla="val 634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62"/>
          <p:cNvSpPr txBox="1"/>
          <p:nvPr/>
        </p:nvSpPr>
        <p:spPr>
          <a:xfrm>
            <a:off x="6687007" y="5783580"/>
            <a:ext cx="14913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LOGIC CHECK:</a:t>
            </a:r>
            <a:endParaRPr lang="en-US" sz="1000" dirty="0"/>
          </a:p>
        </p:txBody>
      </p:sp>
      <p:sp>
        <p:nvSpPr>
          <p:cNvPr id="77" name="Text 63"/>
          <p:cNvSpPr txBox="1"/>
          <p:nvPr/>
        </p:nvSpPr>
        <p:spPr>
          <a:xfrm>
            <a:off x="6687007" y="6050585"/>
            <a:ext cx="3310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Src: 10.x.x.x → Dest: 192.168.x.x = Lateral (Internal)</a:t>
            </a:r>
            <a:endParaRPr lang="en-US" sz="1000" dirty="0"/>
          </a:p>
        </p:txBody>
      </p:sp>
      <p:sp>
        <p:nvSpPr>
          <p:cNvPr id="78" name="Text 64"/>
          <p:cNvSpPr txBox="1"/>
          <p:nvPr/>
        </p:nvSpPr>
        <p:spPr>
          <a:xfrm>
            <a:off x="6687007" y="6317590"/>
            <a:ext cx="32726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Src: 10.x.x.x → Dest: 8.8.8.8 = Outbound (Internet)</a:t>
            </a:r>
            <a:endParaRPr lang="en-US" sz="1000" dirty="0"/>
          </a:p>
        </p:txBody>
      </p:sp>
      <p:pic>
        <p:nvPicPr>
          <p:cNvPr id="79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127187" y="6838798"/>
            <a:ext cx="133502" cy="133502"/>
          </a:xfrm>
          <a:prstGeom prst="rect">
            <a:avLst/>
          </a:prstGeom>
        </p:spPr>
      </p:pic>
      <p:sp>
        <p:nvSpPr>
          <p:cNvPr id="80" name="Text 65"/>
          <p:cNvSpPr txBox="1"/>
          <p:nvPr/>
        </p:nvSpPr>
        <p:spPr>
          <a:xfrm>
            <a:off x="8336585" y="6822338"/>
            <a:ext cx="18150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Globally Unique &amp; Routable</a:t>
            </a:r>
            <a:endParaRPr lang="en-US" sz="1000" dirty="0"/>
          </a:p>
        </p:txBody>
      </p:sp>
      <p:sp>
        <p:nvSpPr>
          <p:cNvPr id="81" name="Shape 66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67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68"/>
          <p:cNvSpPr txBox="1"/>
          <p:nvPr/>
        </p:nvSpPr>
        <p:spPr>
          <a:xfrm>
            <a:off x="304495" y="6329477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84" name="Text 69"/>
          <p:cNvSpPr txBox="1"/>
          <p:nvPr/>
        </p:nvSpPr>
        <p:spPr>
          <a:xfrm>
            <a:off x="304495" y="6329477"/>
            <a:ext cx="1059698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"If you see a 192.168.x.x address attacking a 10.x.x.x address, the threat is INSIDE the building."</a:t>
            </a:r>
            <a:endParaRPr lang="en-US" sz="1300" dirty="0"/>
          </a:p>
        </p:txBody>
      </p:sp>
      <p:sp>
        <p:nvSpPr>
          <p:cNvPr id="85" name="Text 70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25 / 60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29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8580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304495" y="69009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12418" y="6900977"/>
            <a:ext cx="9292133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IP 169.254... This specific range means DHCP failed. It's not a hacker, it's a broken connection."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846613" y="70536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26 / 60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04495" y="228600"/>
            <a:ext cx="721095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APIPA: Automatic Private Addressing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5944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7188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715500" y="352044"/>
            <a:ext cx="23244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NETWORKING CONCEPTS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95605" y="1552651"/>
            <a:ext cx="51819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self-assigned IP address (169.254.x.x) given by the OS when no DHCP server is found.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04495" y="2402129"/>
            <a:ext cx="38405" cy="123809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95605" y="2411273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HAPPENS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95605" y="2697480"/>
            <a:ext cx="4620463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device shouted for an IP address but received No DHCP Response from the network.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04495" y="386699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95605" y="3876142"/>
            <a:ext cx="14529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OBSERVATION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95605" y="4162349"/>
            <a:ext cx="502005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Seeing 169.254.x.x explains why a host cannot talk to the internet or corporate WAN.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04495" y="5695798"/>
            <a:ext cx="5219395" cy="857707"/>
          </a:xfrm>
          <a:prstGeom prst="roundRect">
            <a:avLst>
              <a:gd name="adj" fmla="val 947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6038698"/>
            <a:ext cx="171907" cy="171907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52551" y="5857646"/>
            <a:ext cx="473933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Reduce false alarms—it's a config issue, not an attack.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897880" y="1257300"/>
            <a:ext cx="5991149" cy="5296205"/>
          </a:xfrm>
          <a:prstGeom prst="roundRect">
            <a:avLst>
              <a:gd name="adj" fmla="val 3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6098134" y="1421892"/>
            <a:ext cx="171907" cy="133502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6269126" y="1395374"/>
            <a:ext cx="19485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DHCP FAILURE SIMULATION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10280599" y="1380744"/>
            <a:ext cx="1410005" cy="209398"/>
          </a:xfrm>
          <a:prstGeom prst="roundRect">
            <a:avLst>
              <a:gd name="adj" fmla="val 79396"/>
            </a:avLst>
          </a:prstGeom>
          <a:solidFill>
            <a:srgbClr val="7F1D1D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10366553" y="1410005"/>
            <a:ext cx="13240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CONNECTIVITY ERROR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907024" y="1714500"/>
            <a:ext cx="5971946" cy="48289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8612734" y="3505810"/>
            <a:ext cx="1190549" cy="237744"/>
          </a:xfrm>
          <a:prstGeom prst="roundRect">
            <a:avLst>
              <a:gd name="adj" fmla="val 61538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98687" y="3578047"/>
            <a:ext cx="95098" cy="95098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851392" y="3554273"/>
            <a:ext cx="943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TIMEOUT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6402629" y="4114800"/>
            <a:ext cx="4981651" cy="933602"/>
          </a:xfrm>
          <a:prstGeom prst="roundRect">
            <a:avLst>
              <a:gd name="adj" fmla="val 5997"/>
            </a:avLst>
          </a:prstGeom>
          <a:solidFill>
            <a:srgbClr val="451A0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26073" y="4276649"/>
            <a:ext cx="228600" cy="22860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6868973" y="4276649"/>
            <a:ext cx="2805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SOC ALERT: LOCAL LINK ONLY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868973" y="4552798"/>
            <a:ext cx="43488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cannot route traffic outside the local segment. Internet access and corporate resources are unavailable.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7274966" y="5296205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APIPA RANGE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6555334" y="5486400"/>
            <a:ext cx="24249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169.254.0.1 - 169.254.255.254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10109606" y="5296205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SUBNET MASK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9869119" y="5486400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255.255.0.0 (/16)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215530" y="3684118"/>
            <a:ext cx="3362249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6555334" y="2219249"/>
            <a:ext cx="1333195" cy="1248156"/>
          </a:xfrm>
          <a:prstGeom prst="roundRect">
            <a:avLst>
              <a:gd name="adj" fmla="val 4474"/>
            </a:avLst>
          </a:prstGeom>
          <a:solidFill>
            <a:srgbClr val="451A03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7030822" y="2352751"/>
            <a:ext cx="381305" cy="30449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6781190" y="2743200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Workstation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6810451" y="2980944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169.254.0.15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6707124" y="3191256"/>
            <a:ext cx="11247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[Self-Assigned]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9896551" y="2219249"/>
            <a:ext cx="1333195" cy="1248156"/>
          </a:xfrm>
          <a:prstGeom prst="roundRect">
            <a:avLst>
              <a:gd name="adj" fmla="val 4474"/>
            </a:avLst>
          </a:prstGeom>
          <a:solidFill>
            <a:srgbClr val="450A0A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410444" y="2352751"/>
            <a:ext cx="304495" cy="304495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10123322" y="2743200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DHCP Server</a:t>
            </a:r>
            <a:endParaRPr lang="en-US" sz="1000" dirty="0"/>
          </a:p>
        </p:txBody>
      </p:sp>
      <p:sp>
        <p:nvSpPr>
          <p:cNvPr id="55" name="Text 47"/>
          <p:cNvSpPr txBox="1"/>
          <p:nvPr/>
        </p:nvSpPr>
        <p:spPr>
          <a:xfrm>
            <a:off x="10185502" y="2980944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UNREACHABLE</a:t>
            </a:r>
            <a:endParaRPr lang="en-US" sz="900" dirty="0"/>
          </a:p>
        </p:txBody>
      </p:sp>
      <p:sp>
        <p:nvSpPr>
          <p:cNvPr id="56" name="Text 48"/>
          <p:cNvSpPr txBox="1"/>
          <p:nvPr/>
        </p:nvSpPr>
        <p:spPr>
          <a:xfrm>
            <a:off x="10116922" y="3191256"/>
            <a:ext cx="9811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[No Response]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49725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NAT: Why Enterprises Use It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087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8331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829800" y="352044"/>
            <a:ext cx="22101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 ADDRESSING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12380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5039258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Address Translation (NAT) modifies IP headers to replace internal addresses with public ones.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722169"/>
            <a:ext cx="38405" cy="123809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73131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3017520"/>
            <a:ext cx="491490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conserve limited public IPv4 addresses and hide internal network topology from the internet.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4187038"/>
            <a:ext cx="38405" cy="123809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419618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4482389"/>
            <a:ext cx="457200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map the real internal identity to the translated public identity to trace activity accurately.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651906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861304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813755"/>
            <a:ext cx="34344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Accurate attribution of source.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8134" y="1421892"/>
            <a:ext cx="133502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30722" y="1395374"/>
            <a:ext cx="19485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 TRANSLATION MONITOR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1104474" y="1380744"/>
            <a:ext cx="590702" cy="209398"/>
          </a:xfrm>
          <a:prstGeom prst="roundRect">
            <a:avLst>
              <a:gd name="adj" fmla="val 79396"/>
            </a:avLst>
          </a:prstGeom>
          <a:solidFill>
            <a:srgbClr val="064E3B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1189513" y="1410005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10724083" y="1890979"/>
            <a:ext cx="75895" cy="75895"/>
          </a:xfrm>
          <a:prstGeom prst="ellipse">
            <a:avLst/>
          </a:prstGeom>
          <a:solidFill>
            <a:srgbClr val="60A5FA">
              <a:alpha val="3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098134" y="1919326"/>
            <a:ext cx="1686154" cy="2667305"/>
          </a:xfrm>
          <a:prstGeom prst="roundRect">
            <a:avLst>
              <a:gd name="adj" fmla="val 3677"/>
            </a:avLst>
          </a:prstGeom>
          <a:solidFill>
            <a:srgbClr val="1E293B">
              <a:alpha val="50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360566" y="1824228"/>
            <a:ext cx="1152144" cy="17190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6455664" y="1833372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(LAN)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281014" y="2728570"/>
            <a:ext cx="1314907" cy="448056"/>
          </a:xfrm>
          <a:prstGeom prst="roundRect">
            <a:avLst>
              <a:gd name="adj" fmla="val 3473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4458" y="2857500"/>
            <a:ext cx="237744" cy="190195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738214" y="2862072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192.168.1.50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281014" y="3329330"/>
            <a:ext cx="1314907" cy="448056"/>
          </a:xfrm>
          <a:prstGeom prst="roundRect">
            <a:avLst>
              <a:gd name="adj" fmla="val 3473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4458" y="3457346"/>
            <a:ext cx="190195" cy="190195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6690665" y="3461918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192.168.1.51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972446" y="1919326"/>
            <a:ext cx="1714500" cy="2667305"/>
          </a:xfrm>
          <a:prstGeom prst="roundRect">
            <a:avLst>
              <a:gd name="adj" fmla="val 3556"/>
            </a:avLst>
          </a:prstGeom>
          <a:solidFill>
            <a:srgbClr val="1E293B">
              <a:alpha val="50000"/>
            </a:srgbClr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10254082" y="1824228"/>
            <a:ext cx="1152144" cy="17190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 txBox="1"/>
          <p:nvPr/>
        </p:nvSpPr>
        <p:spPr>
          <a:xfrm>
            <a:off x="10350094" y="1833372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 (WAN)</a:t>
            </a:r>
            <a:endParaRPr lang="en-US" sz="9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658246" y="2728570"/>
            <a:ext cx="342900" cy="34290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10159898" y="3338474"/>
            <a:ext cx="1343254" cy="552298"/>
          </a:xfrm>
          <a:prstGeom prst="roundRect">
            <a:avLst>
              <a:gd name="adj" fmla="val 22836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 txBox="1"/>
          <p:nvPr/>
        </p:nvSpPr>
        <p:spPr>
          <a:xfrm>
            <a:off x="10283342" y="3524098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203.0.113.10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11338560" y="3461918"/>
            <a:ext cx="4672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(Public IP)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6098134" y="4776826"/>
            <a:ext cx="5591556" cy="990295"/>
          </a:xfrm>
          <a:prstGeom prst="roundRect">
            <a:avLst>
              <a:gd name="adj" fmla="val 532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6098134" y="4776826"/>
            <a:ext cx="5591556" cy="32369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 txBox="1"/>
          <p:nvPr/>
        </p:nvSpPr>
        <p:spPr>
          <a:xfrm>
            <a:off x="6249924" y="4862779"/>
            <a:ext cx="11247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SOURCE</a:t>
            </a:r>
            <a:endParaRPr lang="en-US" sz="900" dirty="0"/>
          </a:p>
        </p:txBody>
      </p:sp>
      <p:sp>
        <p:nvSpPr>
          <p:cNvPr id="50" name="Text 43"/>
          <p:cNvSpPr txBox="1"/>
          <p:nvPr/>
        </p:nvSpPr>
        <p:spPr>
          <a:xfrm>
            <a:off x="8446313" y="4862779"/>
            <a:ext cx="1257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TRANSLATED SOURCE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10779862" y="4862779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6098134" y="5100523"/>
            <a:ext cx="559155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 txBox="1"/>
          <p:nvPr/>
        </p:nvSpPr>
        <p:spPr>
          <a:xfrm>
            <a:off x="6249924" y="5195621"/>
            <a:ext cx="1257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192.168.1.50:4521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8514893" y="5195621"/>
            <a:ext cx="13240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203.0.113.10:10452</a:t>
            </a:r>
            <a:endParaRPr lang="en-US" sz="900" dirty="0"/>
          </a:p>
        </p:txBody>
      </p:sp>
      <p:sp>
        <p:nvSpPr>
          <p:cNvPr id="55" name="Text 48"/>
          <p:cNvSpPr txBox="1"/>
          <p:nvPr/>
        </p:nvSpPr>
        <p:spPr>
          <a:xfrm>
            <a:off x="10848442" y="5195621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8.8.8.8:53</a:t>
            </a:r>
            <a:endParaRPr lang="en-US" sz="900" dirty="0"/>
          </a:p>
        </p:txBody>
      </p:sp>
      <p:sp>
        <p:nvSpPr>
          <p:cNvPr id="56" name="Shape 49"/>
          <p:cNvSpPr/>
          <p:nvPr/>
        </p:nvSpPr>
        <p:spPr>
          <a:xfrm>
            <a:off x="6098134" y="5434279"/>
            <a:ext cx="559155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 txBox="1"/>
          <p:nvPr/>
        </p:nvSpPr>
        <p:spPr>
          <a:xfrm>
            <a:off x="6249924" y="5529377"/>
            <a:ext cx="1257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192.168.1.51:8080</a:t>
            </a:r>
            <a:endParaRPr lang="en-US" sz="900" dirty="0"/>
          </a:p>
        </p:txBody>
      </p:sp>
      <p:sp>
        <p:nvSpPr>
          <p:cNvPr id="58" name="Text 51"/>
          <p:cNvSpPr txBox="1"/>
          <p:nvPr/>
        </p:nvSpPr>
        <p:spPr>
          <a:xfrm>
            <a:off x="8583473" y="5529377"/>
            <a:ext cx="11247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203.0.113.10:80</a:t>
            </a:r>
            <a:endParaRPr lang="en-US" sz="900" dirty="0"/>
          </a:p>
        </p:txBody>
      </p:sp>
      <p:sp>
        <p:nvSpPr>
          <p:cNvPr id="59" name="Text 52"/>
          <p:cNvSpPr txBox="1"/>
          <p:nvPr/>
        </p:nvSpPr>
        <p:spPr>
          <a:xfrm>
            <a:off x="10779862" y="5529377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1.1.1.1:443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4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5"/>
          <p:cNvSpPr txBox="1"/>
          <p:nvPr/>
        </p:nvSpPr>
        <p:spPr>
          <a:xfrm>
            <a:off x="304495" y="6458407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3" name="Text 56"/>
          <p:cNvSpPr txBox="1"/>
          <p:nvPr/>
        </p:nvSpPr>
        <p:spPr>
          <a:xfrm>
            <a:off x="1756562" y="6458407"/>
            <a:ext cx="89775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how the private IP (192.168.x) becomes the public IP (203.0.x) as it leaves."</a:t>
            </a:r>
            <a:endParaRPr lang="en-US" sz="1300" dirty="0"/>
          </a:p>
        </p:txBody>
      </p:sp>
      <p:sp>
        <p:nvSpPr>
          <p:cNvPr id="64" name="Text 57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27 / 60</a:t>
            </a:r>
            <a:endParaRPr lang="en-US" sz="1000" dirty="0"/>
          </a:p>
        </p:txBody>
      </p:sp>
      <p:sp>
        <p:nvSpPr>
          <p:cNvPr id="65" name="Shape 58"/>
          <p:cNvSpPr/>
          <p:nvPr/>
        </p:nvSpPr>
        <p:spPr>
          <a:xfrm>
            <a:off x="6098134" y="3252521"/>
            <a:ext cx="5591556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59"/>
          <p:cNvSpPr/>
          <p:nvPr/>
        </p:nvSpPr>
        <p:spPr>
          <a:xfrm>
            <a:off x="8314639" y="2585923"/>
            <a:ext cx="1123798" cy="1333195"/>
          </a:xfrm>
          <a:prstGeom prst="roundRect">
            <a:avLst>
              <a:gd name="adj" fmla="val 5516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190500" dist="12700" dir="16200000" algn="bl" rotWithShape="0">
              <a:srgbClr val="3B82F6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21547" y="2848356"/>
            <a:ext cx="304495" cy="304495"/>
          </a:xfrm>
          <a:prstGeom prst="rect">
            <a:avLst/>
          </a:prstGeom>
        </p:spPr>
      </p:pic>
      <p:sp>
        <p:nvSpPr>
          <p:cNvPr id="68" name="Text 60"/>
          <p:cNvSpPr txBox="1"/>
          <p:nvPr/>
        </p:nvSpPr>
        <p:spPr>
          <a:xfrm>
            <a:off x="8433511" y="3238805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 GATEWAY</a:t>
            </a:r>
            <a:endParaRPr lang="en-US" sz="1000" dirty="0"/>
          </a:p>
        </p:txBody>
      </p:sp>
      <p:sp>
        <p:nvSpPr>
          <p:cNvPr id="69" name="Text 61"/>
          <p:cNvSpPr txBox="1"/>
          <p:nvPr/>
        </p:nvSpPr>
        <p:spPr>
          <a:xfrm>
            <a:off x="8530438" y="3514954"/>
            <a:ext cx="781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Mapping...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56866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 Effects on SOC Visibility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9373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0617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352044"/>
            <a:ext cx="1981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 CONCEPTS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9249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Address Translation creates many-to-one or one-to-one IP mappings.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50109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obscures original internal sources from the external internet.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22530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VISIBILITY CHALLENGE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94416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logs see only the NAT IP, hiding the true internal endpoint.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32058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Trustworthy source tracing.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8134" y="1421892"/>
            <a:ext cx="133502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30722" y="1395374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 TRANSLATION VIEWER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1241634" y="1380744"/>
            <a:ext cx="448056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1326673" y="1410005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505249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1904695"/>
            <a:ext cx="5591556" cy="1114654"/>
          </a:xfrm>
          <a:prstGeom prst="roundRect">
            <a:avLst>
              <a:gd name="adj" fmla="val 5609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249924" y="1819656"/>
            <a:ext cx="1733702" cy="171907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6326734" y="1828800"/>
            <a:ext cx="1666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ZONE (PRE-NAT)</a:t>
            </a:r>
            <a:endParaRPr lang="en-US" sz="9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6773875" y="2057400"/>
            <a:ext cx="286207" cy="22860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644030" y="2371954"/>
            <a:ext cx="6528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User_PC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360566" y="2590495"/>
            <a:ext cx="1114654" cy="276149"/>
          </a:xfrm>
          <a:prstGeom prst="roundRect">
            <a:avLst>
              <a:gd name="adj" fmla="val 45672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6436462" y="2638044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192.168.1.50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7679131" y="2452421"/>
            <a:ext cx="3857854" cy="1920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9191549" y="2338121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Source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098134" y="3819449"/>
            <a:ext cx="5591556" cy="1114654"/>
          </a:xfrm>
          <a:prstGeom prst="roundRect">
            <a:avLst>
              <a:gd name="adj" fmla="val 5609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6249924" y="3733495"/>
            <a:ext cx="1800454" cy="171907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 txBox="1"/>
          <p:nvPr/>
        </p:nvSpPr>
        <p:spPr>
          <a:xfrm>
            <a:off x="6326734" y="3743554"/>
            <a:ext cx="1733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 ZONE (POST-NAT)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6249924" y="4367174"/>
            <a:ext cx="3857854" cy="1920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 txBox="1"/>
          <p:nvPr/>
        </p:nvSpPr>
        <p:spPr>
          <a:xfrm>
            <a:off x="7687361" y="4252874"/>
            <a:ext cx="10771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Translated Source</a:t>
            </a:r>
            <a:endParaRPr lang="en-US" sz="900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53344" y="3972154"/>
            <a:ext cx="228600" cy="228600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10624414" y="4286707"/>
            <a:ext cx="5961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10311689" y="4505249"/>
            <a:ext cx="1114654" cy="276149"/>
          </a:xfrm>
          <a:prstGeom prst="roundRect">
            <a:avLst>
              <a:gd name="adj" fmla="val 45672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 txBox="1"/>
          <p:nvPr/>
        </p:nvSpPr>
        <p:spPr>
          <a:xfrm>
            <a:off x="10387584" y="4552798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203.0.113.10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6098134" y="5076749"/>
            <a:ext cx="5591556" cy="952805"/>
          </a:xfrm>
          <a:prstGeom prst="roundRect">
            <a:avLst>
              <a:gd name="adj" fmla="val 575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3"/>
          <p:cNvSpPr/>
          <p:nvPr/>
        </p:nvSpPr>
        <p:spPr>
          <a:xfrm>
            <a:off x="6202375" y="5392217"/>
            <a:ext cx="5381244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 txBox="1"/>
          <p:nvPr/>
        </p:nvSpPr>
        <p:spPr>
          <a:xfrm>
            <a:off x="6202375" y="5191049"/>
            <a:ext cx="1943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FIREWALL TRANSLATION LOGS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10965485" y="5191049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RECORDING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6202375" y="5486400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[10:42:01]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6964985" y="5486400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SRC:</a:t>
            </a:r>
            <a:endParaRPr lang="en-US" sz="900" dirty="0"/>
          </a:p>
        </p:txBody>
      </p:sp>
      <p:sp>
        <p:nvSpPr>
          <p:cNvPr id="54" name="Text 48"/>
          <p:cNvSpPr txBox="1"/>
          <p:nvPr/>
        </p:nvSpPr>
        <p:spPr>
          <a:xfrm>
            <a:off x="7315200" y="5486400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192.168.1.50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8214970" y="5486400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900" dirty="0"/>
          </a:p>
        </p:txBody>
      </p:sp>
      <p:sp>
        <p:nvSpPr>
          <p:cNvPr id="56" name="Text 50"/>
          <p:cNvSpPr txBox="1"/>
          <p:nvPr/>
        </p:nvSpPr>
        <p:spPr>
          <a:xfrm>
            <a:off x="8428025" y="5486400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XLATE:</a:t>
            </a:r>
            <a:endParaRPr lang="en-US" sz="900" dirty="0"/>
          </a:p>
        </p:txBody>
      </p:sp>
      <p:sp>
        <p:nvSpPr>
          <p:cNvPr id="57" name="Text 51"/>
          <p:cNvSpPr txBox="1"/>
          <p:nvPr/>
        </p:nvSpPr>
        <p:spPr>
          <a:xfrm>
            <a:off x="8916314" y="5486400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203.0.113.10</a:t>
            </a:r>
            <a:endParaRPr lang="en-US" sz="900" dirty="0"/>
          </a:p>
        </p:txBody>
      </p:sp>
      <p:sp>
        <p:nvSpPr>
          <p:cNvPr id="58" name="Text 52"/>
          <p:cNvSpPr txBox="1"/>
          <p:nvPr/>
        </p:nvSpPr>
        <p:spPr>
          <a:xfrm>
            <a:off x="9815170" y="5486400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900" dirty="0"/>
          </a:p>
        </p:txBody>
      </p:sp>
      <p:sp>
        <p:nvSpPr>
          <p:cNvPr id="59" name="Text 53"/>
          <p:cNvSpPr txBox="1"/>
          <p:nvPr/>
        </p:nvSpPr>
        <p:spPr>
          <a:xfrm>
            <a:off x="10029139" y="5486400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DST:</a:t>
            </a:r>
            <a:endParaRPr lang="en-US" sz="900" dirty="0"/>
          </a:p>
        </p:txBody>
      </p:sp>
      <p:sp>
        <p:nvSpPr>
          <p:cNvPr id="60" name="Text 54"/>
          <p:cNvSpPr txBox="1"/>
          <p:nvPr/>
        </p:nvSpPr>
        <p:spPr>
          <a:xfrm>
            <a:off x="10379354" y="5486400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8.8.8.8</a:t>
            </a:r>
            <a:endParaRPr lang="en-US" sz="900" dirty="0"/>
          </a:p>
        </p:txBody>
      </p:sp>
      <p:sp>
        <p:nvSpPr>
          <p:cNvPr id="61" name="Text 55"/>
          <p:cNvSpPr txBox="1"/>
          <p:nvPr/>
        </p:nvSpPr>
        <p:spPr>
          <a:xfrm>
            <a:off x="6202375" y="5695798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[10:42:05]</a:t>
            </a:r>
            <a:endParaRPr lang="en-US" sz="900" dirty="0"/>
          </a:p>
        </p:txBody>
      </p:sp>
      <p:sp>
        <p:nvSpPr>
          <p:cNvPr id="62" name="Text 56"/>
          <p:cNvSpPr txBox="1"/>
          <p:nvPr/>
        </p:nvSpPr>
        <p:spPr>
          <a:xfrm>
            <a:off x="6964985" y="5695798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SRC:</a:t>
            </a:r>
            <a:endParaRPr lang="en-US" sz="900" dirty="0"/>
          </a:p>
        </p:txBody>
      </p:sp>
      <p:sp>
        <p:nvSpPr>
          <p:cNvPr id="63" name="Text 57"/>
          <p:cNvSpPr txBox="1"/>
          <p:nvPr/>
        </p:nvSpPr>
        <p:spPr>
          <a:xfrm>
            <a:off x="7315200" y="5695798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192.168.1.51</a:t>
            </a:r>
            <a:endParaRPr lang="en-US" sz="900" dirty="0"/>
          </a:p>
        </p:txBody>
      </p:sp>
      <p:sp>
        <p:nvSpPr>
          <p:cNvPr id="64" name="Text 58"/>
          <p:cNvSpPr txBox="1"/>
          <p:nvPr/>
        </p:nvSpPr>
        <p:spPr>
          <a:xfrm>
            <a:off x="8214970" y="5695798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900" dirty="0"/>
          </a:p>
        </p:txBody>
      </p:sp>
      <p:sp>
        <p:nvSpPr>
          <p:cNvPr id="65" name="Text 59"/>
          <p:cNvSpPr txBox="1"/>
          <p:nvPr/>
        </p:nvSpPr>
        <p:spPr>
          <a:xfrm>
            <a:off x="8428025" y="5695798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XLATE:</a:t>
            </a:r>
            <a:endParaRPr lang="en-US" sz="900" dirty="0"/>
          </a:p>
        </p:txBody>
      </p:sp>
      <p:sp>
        <p:nvSpPr>
          <p:cNvPr id="66" name="Text 60"/>
          <p:cNvSpPr txBox="1"/>
          <p:nvPr/>
        </p:nvSpPr>
        <p:spPr>
          <a:xfrm>
            <a:off x="8916314" y="5695798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203.0.113.10</a:t>
            </a:r>
            <a:endParaRPr lang="en-US" sz="900" dirty="0"/>
          </a:p>
        </p:txBody>
      </p:sp>
      <p:sp>
        <p:nvSpPr>
          <p:cNvPr id="67" name="Text 61"/>
          <p:cNvSpPr txBox="1"/>
          <p:nvPr/>
        </p:nvSpPr>
        <p:spPr>
          <a:xfrm>
            <a:off x="9815170" y="5695798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900" dirty="0"/>
          </a:p>
        </p:txBody>
      </p:sp>
      <p:sp>
        <p:nvSpPr>
          <p:cNvPr id="68" name="Text 62"/>
          <p:cNvSpPr txBox="1"/>
          <p:nvPr/>
        </p:nvSpPr>
        <p:spPr>
          <a:xfrm>
            <a:off x="10029139" y="5695798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DST:</a:t>
            </a:r>
            <a:endParaRPr lang="en-US" sz="900" dirty="0"/>
          </a:p>
        </p:txBody>
      </p:sp>
      <p:sp>
        <p:nvSpPr>
          <p:cNvPr id="69" name="Text 63"/>
          <p:cNvSpPr txBox="1"/>
          <p:nvPr/>
        </p:nvSpPr>
        <p:spPr>
          <a:xfrm>
            <a:off x="10379354" y="5695798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1.1.1.1</a:t>
            </a:r>
            <a:endParaRPr lang="en-US" sz="900" dirty="0"/>
          </a:p>
        </p:txBody>
      </p:sp>
      <p:sp>
        <p:nvSpPr>
          <p:cNvPr id="70" name="Shape 6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 txBox="1"/>
          <p:nvPr/>
        </p:nvSpPr>
        <p:spPr>
          <a:xfrm>
            <a:off x="304495" y="6458407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73" name="Text 67"/>
          <p:cNvSpPr txBox="1"/>
          <p:nvPr/>
        </p:nvSpPr>
        <p:spPr>
          <a:xfrm>
            <a:off x="1756562" y="6458407"/>
            <a:ext cx="8882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"Notice how 192.168.1.50 becomes 203.0.113.10 outside. Logs must be correlated here."</a:t>
            </a:r>
            <a:endParaRPr lang="en-US" sz="1300" dirty="0"/>
          </a:p>
        </p:txBody>
      </p:sp>
      <p:sp>
        <p:nvSpPr>
          <p:cNvPr id="74" name="Text 68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28 / 60</a:t>
            </a:r>
            <a:endParaRPr lang="en-US" sz="1000" dirty="0"/>
          </a:p>
        </p:txBody>
      </p:sp>
      <p:sp>
        <p:nvSpPr>
          <p:cNvPr id="75" name="Shape 69"/>
          <p:cNvSpPr/>
          <p:nvPr/>
        </p:nvSpPr>
        <p:spPr>
          <a:xfrm>
            <a:off x="8416138" y="3010205"/>
            <a:ext cx="952805" cy="819302"/>
          </a:xfrm>
          <a:prstGeom prst="roundRect">
            <a:avLst>
              <a:gd name="adj" fmla="val 7787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797442" y="3114446"/>
            <a:ext cx="190195" cy="190195"/>
          </a:xfrm>
          <a:prstGeom prst="rect">
            <a:avLst/>
          </a:prstGeom>
        </p:spPr>
      </p:pic>
      <p:sp>
        <p:nvSpPr>
          <p:cNvPr id="77" name="Shape 70"/>
          <p:cNvSpPr/>
          <p:nvPr/>
        </p:nvSpPr>
        <p:spPr>
          <a:xfrm>
            <a:off x="8545982" y="3543300"/>
            <a:ext cx="694944" cy="181051"/>
          </a:xfrm>
          <a:prstGeom prst="roundRect">
            <a:avLst>
              <a:gd name="adj" fmla="val 10632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1"/>
          <p:cNvSpPr txBox="1"/>
          <p:nvPr/>
        </p:nvSpPr>
        <p:spPr>
          <a:xfrm>
            <a:off x="8608162" y="3343046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</a:t>
            </a:r>
            <a:endParaRPr lang="en-US" sz="900" dirty="0"/>
          </a:p>
        </p:txBody>
      </p:sp>
      <p:sp>
        <p:nvSpPr>
          <p:cNvPr id="79" name="Text 72"/>
          <p:cNvSpPr txBox="1"/>
          <p:nvPr/>
        </p:nvSpPr>
        <p:spPr>
          <a:xfrm>
            <a:off x="8603590" y="3571646"/>
            <a:ext cx="6574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 ACTIVE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43230"/>
            <a:ext cx="71012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Subnetting: Conceptual Grouping Only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9373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0617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352044"/>
            <a:ext cx="1981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 CONCEPTS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9249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Splitting a large network into smaller, logical segments for better organization.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49249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limit broadcast traffic scope and improve security boundaries.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6963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identify segment boundaries to detect unauthorized lateral movement.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124298"/>
            <a:ext cx="5219395" cy="857707"/>
          </a:xfrm>
          <a:prstGeom prst="roundRect">
            <a:avLst>
              <a:gd name="adj" fmla="val 947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467198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286146"/>
            <a:ext cx="473933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Understanding boundaries is key; no math required.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6098134" y="1421892"/>
            <a:ext cx="171907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69126" y="1395374"/>
            <a:ext cx="21104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SEGMENTATION VIEW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967314" y="1380744"/>
            <a:ext cx="724205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1052353" y="1410005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TOPOLOGY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1904695"/>
            <a:ext cx="5591556" cy="1162202"/>
          </a:xfrm>
          <a:prstGeom prst="roundRect">
            <a:avLst>
              <a:gd name="adj" fmla="val 5159"/>
            </a:avLst>
          </a:prstGeom>
          <a:solidFill>
            <a:srgbClr val="1E293B">
              <a:alpha val="50000"/>
            </a:srgbClr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rcRect l="-837" r="-837"/>
          <a:stretch/>
        </p:blipFill>
        <p:spPr>
          <a:xfrm>
            <a:off x="8064094" y="2305202"/>
            <a:ext cx="152705" cy="133502"/>
          </a:xfrm>
          <a:prstGeom prst="rect">
            <a:avLst/>
          </a:prstGeom>
        </p:spPr>
      </p:pic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rcRect l="-837" r="-837"/>
          <a:stretch/>
        </p:blipFill>
        <p:spPr>
          <a:xfrm>
            <a:off x="8368589" y="2305202"/>
            <a:ext cx="152705" cy="133502"/>
          </a:xfrm>
          <a:prstGeom prst="rect">
            <a:avLst/>
          </a:prstGeom>
        </p:spPr>
      </p:pic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/>
          <a:stretch/>
        </p:blipFill>
        <p:spPr>
          <a:xfrm>
            <a:off x="8673084" y="2305202"/>
            <a:ext cx="133502" cy="133502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rcRect l="-1507" r="-1507"/>
          <a:stretch/>
        </p:blipFill>
        <p:spPr>
          <a:xfrm>
            <a:off x="8959291" y="2305202"/>
            <a:ext cx="171907" cy="133502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rcRect l="-837" r="-837"/>
          <a:stretch/>
        </p:blipFill>
        <p:spPr>
          <a:xfrm>
            <a:off x="9282989" y="2305202"/>
            <a:ext cx="152705" cy="133502"/>
          </a:xfrm>
          <a:prstGeom prst="rect">
            <a:avLst/>
          </a:prstGeom>
        </p:spPr>
      </p:pic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/>
          <a:stretch/>
        </p:blipFill>
        <p:spPr>
          <a:xfrm>
            <a:off x="9587484" y="2305202"/>
            <a:ext cx="133502" cy="13350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001000" y="2762402"/>
            <a:ext cx="18772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 BOUNDARIES • HIGH NOISE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6307531" y="1809598"/>
            <a:ext cx="2048256" cy="171907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29"/>
          <p:cNvSpPr txBox="1"/>
          <p:nvPr/>
        </p:nvSpPr>
        <p:spPr>
          <a:xfrm>
            <a:off x="6402629" y="1819656"/>
            <a:ext cx="1943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LARGE NETWORK (FLAT)</a:t>
            </a:r>
            <a:endParaRPr lang="en-US" sz="9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8834933" y="3258007"/>
            <a:ext cx="114300" cy="152705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6098134" y="3600907"/>
            <a:ext cx="5591556" cy="1600200"/>
          </a:xfrm>
          <a:prstGeom prst="roundRect">
            <a:avLst>
              <a:gd name="adj" fmla="val 2721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1"/>
          <p:cNvSpPr/>
          <p:nvPr/>
        </p:nvSpPr>
        <p:spPr>
          <a:xfrm>
            <a:off x="6307531" y="3504895"/>
            <a:ext cx="2180844" cy="17190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2"/>
          <p:cNvSpPr txBox="1"/>
          <p:nvPr/>
        </p:nvSpPr>
        <p:spPr>
          <a:xfrm>
            <a:off x="6402629" y="3514954"/>
            <a:ext cx="2076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SEGMENTED NETWORK (SUBNETTED)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6259982" y="3857854"/>
            <a:ext cx="1009498" cy="91440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4"/>
          <p:cNvSpPr txBox="1"/>
          <p:nvPr/>
        </p:nvSpPr>
        <p:spPr>
          <a:xfrm>
            <a:off x="6520586" y="399135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 DEPT</a:t>
            </a:r>
            <a:endParaRPr lang="en-US" sz="9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6541618" y="4267505"/>
            <a:ext cx="171907" cy="152705"/>
          </a:xfrm>
          <a:prstGeom prst="rect">
            <a:avLst/>
          </a:prstGeom>
        </p:spPr>
      </p:pic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6789420" y="4267505"/>
            <a:ext cx="190195" cy="152705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6383426" y="4505249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192.168.1.x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7404811" y="3857854"/>
            <a:ext cx="905256" cy="914400"/>
          </a:xfrm>
          <a:prstGeom prst="roundRect">
            <a:avLst>
              <a:gd name="adj" fmla="val 425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798918" y="4123944"/>
            <a:ext cx="114300" cy="114300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7490765" y="4304995"/>
            <a:ext cx="8485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BOUNDARY</a:t>
            </a:r>
            <a:endParaRPr lang="en-US" sz="1200" dirty="0"/>
          </a:p>
        </p:txBody>
      </p:sp>
      <p:sp>
        <p:nvSpPr>
          <p:cNvPr id="52" name="Shape 38"/>
          <p:cNvSpPr/>
          <p:nvPr/>
        </p:nvSpPr>
        <p:spPr>
          <a:xfrm>
            <a:off x="8450885" y="3857854"/>
            <a:ext cx="1009498" cy="91440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39"/>
          <p:cNvSpPr txBox="1"/>
          <p:nvPr/>
        </p:nvSpPr>
        <p:spPr>
          <a:xfrm>
            <a:off x="8746236" y="3991356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OPS</a:t>
            </a:r>
            <a:endParaRPr lang="en-US" sz="900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751722" y="4267505"/>
            <a:ext cx="152705" cy="152705"/>
          </a:xfrm>
          <a:prstGeom prst="rect">
            <a:avLst/>
          </a:prstGeom>
        </p:spPr>
      </p:pic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3"/>
          <a:srcRect l="-33" r="-33"/>
          <a:stretch/>
        </p:blipFill>
        <p:spPr>
          <a:xfrm>
            <a:off x="8980322" y="4267505"/>
            <a:ext cx="171907" cy="152705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8574329" y="4505249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192.168.2.x</a:t>
            </a:r>
            <a:endParaRPr lang="en-US" sz="900" dirty="0"/>
          </a:p>
        </p:txBody>
      </p:sp>
      <p:sp>
        <p:nvSpPr>
          <p:cNvPr id="57" name="Shape 41"/>
          <p:cNvSpPr/>
          <p:nvPr/>
        </p:nvSpPr>
        <p:spPr>
          <a:xfrm>
            <a:off x="9595714" y="3857854"/>
            <a:ext cx="905256" cy="914400"/>
          </a:xfrm>
          <a:prstGeom prst="roundRect">
            <a:avLst>
              <a:gd name="adj" fmla="val 425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989820" y="4123944"/>
            <a:ext cx="114300" cy="114300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9681667" y="4304995"/>
            <a:ext cx="8485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BOUNDARY</a:t>
            </a:r>
            <a:endParaRPr lang="en-US" sz="1200" dirty="0"/>
          </a:p>
        </p:txBody>
      </p:sp>
      <p:sp>
        <p:nvSpPr>
          <p:cNvPr id="60" name="Shape 43"/>
          <p:cNvSpPr/>
          <p:nvPr/>
        </p:nvSpPr>
        <p:spPr>
          <a:xfrm>
            <a:off x="10641787" y="3857854"/>
            <a:ext cx="1009498" cy="91440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44"/>
          <p:cNvSpPr txBox="1"/>
          <p:nvPr/>
        </p:nvSpPr>
        <p:spPr>
          <a:xfrm>
            <a:off x="10799978" y="3991356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 WIFI</a:t>
            </a:r>
            <a:endParaRPr lang="en-US" sz="900" dirty="0"/>
          </a:p>
        </p:txBody>
      </p:sp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14"/>
          <a:srcRect t="-100" b="-100"/>
          <a:stretch/>
        </p:blipFill>
        <p:spPr>
          <a:xfrm>
            <a:off x="10981030" y="4267505"/>
            <a:ext cx="114300" cy="152705"/>
          </a:xfrm>
          <a:prstGeom prst="rect">
            <a:avLst/>
          </a:prstGeom>
        </p:spPr>
      </p:pic>
      <p:pic>
        <p:nvPicPr>
          <p:cNvPr id="63" name="Image 16" descr="preencoded.png"/>
          <p:cNvPicPr>
            <a:picLocks noChangeAspect="1"/>
          </p:cNvPicPr>
          <p:nvPr/>
        </p:nvPicPr>
        <p:blipFill>
          <a:blip r:embed="rId15"/>
          <a:srcRect t="-43" b="-43"/>
          <a:stretch/>
        </p:blipFill>
        <p:spPr>
          <a:xfrm>
            <a:off x="11171225" y="4267505"/>
            <a:ext cx="133502" cy="152705"/>
          </a:xfrm>
          <a:prstGeom prst="rect">
            <a:avLst/>
          </a:prstGeom>
        </p:spPr>
      </p:pic>
      <p:sp>
        <p:nvSpPr>
          <p:cNvPr id="64" name="Text 45"/>
          <p:cNvSpPr txBox="1"/>
          <p:nvPr/>
        </p:nvSpPr>
        <p:spPr>
          <a:xfrm>
            <a:off x="10765231" y="4505249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192.168.3.x</a:t>
            </a:r>
            <a:endParaRPr lang="en-US" sz="900" dirty="0"/>
          </a:p>
        </p:txBody>
      </p:sp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7700162" y="4905756"/>
            <a:ext cx="114300" cy="114300"/>
          </a:xfrm>
          <a:prstGeom prst="rect">
            <a:avLst/>
          </a:prstGeom>
        </p:spPr>
      </p:pic>
      <p:sp>
        <p:nvSpPr>
          <p:cNvPr id="66" name="Text 46"/>
          <p:cNvSpPr txBox="1"/>
          <p:nvPr/>
        </p:nvSpPr>
        <p:spPr>
          <a:xfrm>
            <a:off x="7890358" y="4886554"/>
            <a:ext cx="2286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TRAFFIC ISOLATED • REDUCED SCOPE</a:t>
            </a:r>
            <a:endParaRPr lang="en-US" sz="900" dirty="0"/>
          </a:p>
        </p:txBody>
      </p:sp>
      <p:sp>
        <p:nvSpPr>
          <p:cNvPr id="67" name="Shape 47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48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49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70" name="Text 50"/>
          <p:cNvSpPr txBox="1"/>
          <p:nvPr/>
        </p:nvSpPr>
        <p:spPr>
          <a:xfrm>
            <a:off x="1640434" y="6329477"/>
            <a:ext cx="877732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how segmentation creates clear 'lanes'. SOC monitors the boundaries between these lanes."</a:t>
            </a:r>
            <a:endParaRPr lang="en-US" sz="1300" dirty="0"/>
          </a:p>
        </p:txBody>
      </p:sp>
      <p:sp>
        <p:nvSpPr>
          <p:cNvPr id="71" name="Text 51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29 / 60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67345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Supernetting: Conceptual Aggregation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087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8331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829800" y="352044"/>
            <a:ext cx="22101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 ADDRESSING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12380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543654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Combining multiple smaller consecutive network ranges into a single larger route summary.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72216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73131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3017520"/>
            <a:ext cx="49533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simplify routing tables and make network representation more efficient.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866998"/>
            <a:ext cx="38405" cy="123809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87614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4162349"/>
            <a:ext cx="48774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filter broader ranges (like /22 instead of four /24s) to catch activity across related subnets.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31866"/>
            <a:ext cx="5219395" cy="857707"/>
          </a:xfrm>
          <a:prstGeom prst="roundRect">
            <a:avLst>
              <a:gd name="adj" fmla="val 947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74766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493715"/>
            <a:ext cx="473933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This is just a conceptual grouping. No complex math required.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6098134" y="1421892"/>
            <a:ext cx="152705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49924" y="1395374"/>
            <a:ext cx="2348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AGGREGATION VISUALIZER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830154" y="1380744"/>
            <a:ext cx="866851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915193" y="1410005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504840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135624" y="1943100"/>
            <a:ext cx="5514746" cy="418795"/>
          </a:xfrm>
          <a:prstGeom prst="roundRect">
            <a:avLst>
              <a:gd name="adj" fmla="val 2977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6297473" y="2085746"/>
            <a:ext cx="171907" cy="13350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583680" y="2061972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192.168.0.0/24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10686593" y="2048256"/>
            <a:ext cx="809244" cy="209398"/>
          </a:xfrm>
          <a:prstGeom prst="roundRect">
            <a:avLst>
              <a:gd name="adj" fmla="val 7939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 txBox="1"/>
          <p:nvPr/>
        </p:nvSpPr>
        <p:spPr>
          <a:xfrm>
            <a:off x="10744200" y="2076602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Dept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135624" y="2476195"/>
            <a:ext cx="5514746" cy="418795"/>
          </a:xfrm>
          <a:prstGeom prst="roundRect">
            <a:avLst>
              <a:gd name="adj" fmla="val 2977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6297473" y="2619756"/>
            <a:ext cx="171907" cy="13350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583680" y="2595982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192.168.1.0/24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10892333" y="2581351"/>
            <a:ext cx="599846" cy="209398"/>
          </a:xfrm>
          <a:prstGeom prst="roundRect">
            <a:avLst>
              <a:gd name="adj" fmla="val 7939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0949940" y="2609698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 Dept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135624" y="3010205"/>
            <a:ext cx="5514746" cy="418795"/>
          </a:xfrm>
          <a:prstGeom prst="roundRect">
            <a:avLst>
              <a:gd name="adj" fmla="val 2977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6297473" y="3152851"/>
            <a:ext cx="171907" cy="133502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6583680" y="3129077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192.168.2.0/24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10892333" y="3114446"/>
            <a:ext cx="599846" cy="209398"/>
          </a:xfrm>
          <a:prstGeom prst="roundRect">
            <a:avLst>
              <a:gd name="adj" fmla="val 7939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10949940" y="3143707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Dept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6135624" y="3543300"/>
            <a:ext cx="5514746" cy="418795"/>
          </a:xfrm>
          <a:prstGeom prst="roundRect">
            <a:avLst>
              <a:gd name="adj" fmla="val 2977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6297473" y="3685946"/>
            <a:ext cx="171907" cy="133502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6583680" y="3662172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192.168.3.0/24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10686593" y="3648456"/>
            <a:ext cx="809244" cy="209398"/>
          </a:xfrm>
          <a:prstGeom prst="roundRect">
            <a:avLst>
              <a:gd name="adj" fmla="val 7939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 txBox="1"/>
          <p:nvPr/>
        </p:nvSpPr>
        <p:spPr>
          <a:xfrm>
            <a:off x="10744200" y="3676802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Dept</a:t>
            </a:r>
            <a:endParaRPr lang="en-US" sz="90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8806586" y="4248302"/>
            <a:ext cx="171907" cy="22860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8275320" y="4524451"/>
            <a:ext cx="13240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AGGREGATING ROUTES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6135624" y="4762195"/>
            <a:ext cx="5514746" cy="1772107"/>
          </a:xfrm>
          <a:prstGeom prst="roundRect">
            <a:avLst>
              <a:gd name="adj" fmla="val 2219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7"/>
          <a:srcRect l="-266" r="-266"/>
          <a:stretch/>
        </p:blipFill>
        <p:spPr>
          <a:xfrm>
            <a:off x="8730691" y="4972507"/>
            <a:ext cx="323698" cy="286207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171993" y="5419649"/>
            <a:ext cx="15764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192.168.0.0/22</a:t>
            </a:r>
            <a:endParaRPr lang="en-US" sz="1300" dirty="0"/>
          </a:p>
        </p:txBody>
      </p:sp>
      <p:sp>
        <p:nvSpPr>
          <p:cNvPr id="55" name="Text 45"/>
          <p:cNvSpPr txBox="1"/>
          <p:nvPr/>
        </p:nvSpPr>
        <p:spPr>
          <a:xfrm>
            <a:off x="7751369" y="5762549"/>
            <a:ext cx="23865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all 4 networks (0.0 - 3.255)</a:t>
            </a:r>
            <a:endParaRPr lang="en-US" sz="1000" dirty="0"/>
          </a:p>
        </p:txBody>
      </p:sp>
      <p:sp>
        <p:nvSpPr>
          <p:cNvPr id="56" name="Text 46"/>
          <p:cNvSpPr txBox="1"/>
          <p:nvPr/>
        </p:nvSpPr>
        <p:spPr>
          <a:xfrm>
            <a:off x="7658100" y="6143854"/>
            <a:ext cx="2563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SOC Filter: src_net="192.168.0.0/22"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8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49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0" name="Text 50"/>
          <p:cNvSpPr txBox="1"/>
          <p:nvPr/>
        </p:nvSpPr>
        <p:spPr>
          <a:xfrm>
            <a:off x="1686154" y="6329477"/>
            <a:ext cx="80540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how 4 separate /24 networks combine into one /22 supernet. It's just simplification."</a:t>
            </a:r>
            <a:endParaRPr lang="en-US" sz="1300" dirty="0"/>
          </a:p>
        </p:txBody>
      </p:sp>
      <p:sp>
        <p:nvSpPr>
          <p:cNvPr id="61" name="Text 51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30 / 60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43230"/>
            <a:ext cx="74441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Planning: Investigation Benefits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9373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0617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352044"/>
            <a:ext cx="1981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 CONCEPTS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50109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predictable, documented IP ranges for specific departments or functions.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51252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allow faster alert triage by knowing exactly who owns an IP range.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8673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map suspicious IP addresses directly to their owners without guessing.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32058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Reduced investigation time.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6098134" y="1421892"/>
            <a:ext cx="152705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49924" y="1395374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ALLOCATION MAP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830154" y="1380744"/>
            <a:ext cx="866851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915193" y="1410005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DOCUMENTED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70550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1904695"/>
            <a:ext cx="5591556" cy="761695"/>
          </a:xfrm>
          <a:prstGeom prst="roundRect">
            <a:avLst>
              <a:gd name="adj" fmla="val 90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107278" y="1914754"/>
            <a:ext cx="1143000" cy="74340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7241134" y="1914754"/>
            <a:ext cx="9144" cy="743407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6531559" y="2076602"/>
            <a:ext cx="286207" cy="22860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486754" y="2343607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7440473" y="2167128"/>
            <a:ext cx="1367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10.10.0.0/16</a:t>
            </a:r>
            <a:endParaRPr lang="en-US" sz="13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8961120" y="2219249"/>
            <a:ext cx="105156" cy="13350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9142171" y="2095805"/>
            <a:ext cx="13103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 Staff (HQ)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10758830" y="2152498"/>
            <a:ext cx="733349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0883189" y="221010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TRUSTED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098134" y="2819095"/>
            <a:ext cx="5591556" cy="761695"/>
          </a:xfrm>
          <a:prstGeom prst="roundRect">
            <a:avLst>
              <a:gd name="adj" fmla="val 90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6107278" y="2829154"/>
            <a:ext cx="1143000" cy="74340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7241134" y="2829154"/>
            <a:ext cx="9144" cy="743407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59906" y="2991002"/>
            <a:ext cx="228600" cy="228600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6420002" y="3258007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SERVERS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7440473" y="3081528"/>
            <a:ext cx="1367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10.20.0.0/16</a:t>
            </a:r>
            <a:endParaRPr lang="en-US" sz="13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961120" y="3133649"/>
            <a:ext cx="114300" cy="133502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9151315" y="3010205"/>
            <a:ext cx="9098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Datacenter Production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10691165" y="3066898"/>
            <a:ext cx="800100" cy="267005"/>
          </a:xfrm>
          <a:prstGeom prst="roundRect">
            <a:avLst>
              <a:gd name="adj" fmla="val 48924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 txBox="1"/>
          <p:nvPr/>
        </p:nvSpPr>
        <p:spPr>
          <a:xfrm>
            <a:off x="10814609" y="3124505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6098134" y="3733495"/>
            <a:ext cx="5591556" cy="761695"/>
          </a:xfrm>
          <a:prstGeom prst="roundRect">
            <a:avLst>
              <a:gd name="adj" fmla="val 90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3"/>
          <p:cNvSpPr/>
          <p:nvPr/>
        </p:nvSpPr>
        <p:spPr>
          <a:xfrm>
            <a:off x="6107278" y="3743554"/>
            <a:ext cx="1143000" cy="74340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4"/>
          <p:cNvSpPr/>
          <p:nvPr/>
        </p:nvSpPr>
        <p:spPr>
          <a:xfrm>
            <a:off x="7241134" y="3743554"/>
            <a:ext cx="9144" cy="743407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6531559" y="3905402"/>
            <a:ext cx="286207" cy="228600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6481267" y="4172407"/>
            <a:ext cx="476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</a:t>
            </a:r>
            <a:endParaRPr lang="en-US" sz="900" dirty="0"/>
          </a:p>
        </p:txBody>
      </p:sp>
      <p:sp>
        <p:nvSpPr>
          <p:cNvPr id="55" name="Text 46"/>
          <p:cNvSpPr txBox="1"/>
          <p:nvPr/>
        </p:nvSpPr>
        <p:spPr>
          <a:xfrm>
            <a:off x="7440473" y="3995928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172.16.0.0/20</a:t>
            </a:r>
            <a:endParaRPr lang="en-US" sz="1300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064447" y="4048049"/>
            <a:ext cx="133502" cy="133502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9273845" y="4024274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Visitor Wi-Fi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10622585" y="3981298"/>
            <a:ext cx="866851" cy="267005"/>
          </a:xfrm>
          <a:prstGeom prst="roundRect">
            <a:avLst>
              <a:gd name="adj" fmla="val 48924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49"/>
          <p:cNvSpPr txBox="1"/>
          <p:nvPr/>
        </p:nvSpPr>
        <p:spPr>
          <a:xfrm>
            <a:off x="10746029" y="4038905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UNTRUSTED</a:t>
            </a:r>
            <a:endParaRPr lang="en-US" sz="900" dirty="0"/>
          </a:p>
        </p:txBody>
      </p:sp>
      <p:sp>
        <p:nvSpPr>
          <p:cNvPr id="60" name="Shape 50"/>
          <p:cNvSpPr/>
          <p:nvPr/>
        </p:nvSpPr>
        <p:spPr>
          <a:xfrm>
            <a:off x="6098134" y="4647895"/>
            <a:ext cx="5591556" cy="761695"/>
          </a:xfrm>
          <a:prstGeom prst="roundRect">
            <a:avLst>
              <a:gd name="adj" fmla="val 90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1"/>
          <p:cNvSpPr/>
          <p:nvPr/>
        </p:nvSpPr>
        <p:spPr>
          <a:xfrm>
            <a:off x="6107278" y="4657954"/>
            <a:ext cx="1143000" cy="74340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2"/>
          <p:cNvSpPr/>
          <p:nvPr/>
        </p:nvSpPr>
        <p:spPr>
          <a:xfrm>
            <a:off x="7241134" y="4657954"/>
            <a:ext cx="9144" cy="743407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6531559" y="4819802"/>
            <a:ext cx="286207" cy="228600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6433718" y="5086807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LAB</a:t>
            </a:r>
            <a:endParaRPr lang="en-US" sz="900" dirty="0"/>
          </a:p>
        </p:txBody>
      </p:sp>
      <p:sp>
        <p:nvSpPr>
          <p:cNvPr id="65" name="Text 54"/>
          <p:cNvSpPr txBox="1"/>
          <p:nvPr/>
        </p:nvSpPr>
        <p:spPr>
          <a:xfrm>
            <a:off x="7440473" y="4910328"/>
            <a:ext cx="1776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192.168.100.0/24</a:t>
            </a:r>
            <a:endParaRPr lang="en-US" sz="1300" dirty="0"/>
          </a:p>
        </p:txBody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12"/>
          <a:srcRect t="-1100" b="-1100"/>
          <a:stretch/>
        </p:blipFill>
        <p:spPr>
          <a:xfrm>
            <a:off x="9372600" y="4962449"/>
            <a:ext cx="114300" cy="133502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9562795" y="4839005"/>
            <a:ext cx="9866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Sandbox</a:t>
            </a:r>
            <a:endParaRPr lang="en-US" sz="1000" dirty="0"/>
          </a:p>
        </p:txBody>
      </p:sp>
      <p:sp>
        <p:nvSpPr>
          <p:cNvPr id="68" name="Shape 56"/>
          <p:cNvSpPr/>
          <p:nvPr/>
        </p:nvSpPr>
        <p:spPr>
          <a:xfrm>
            <a:off x="10758830" y="4895698"/>
            <a:ext cx="733349" cy="267005"/>
          </a:xfrm>
          <a:prstGeom prst="roundRect">
            <a:avLst>
              <a:gd name="adj" fmla="val 48924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7"/>
          <p:cNvSpPr txBox="1"/>
          <p:nvPr/>
        </p:nvSpPr>
        <p:spPr>
          <a:xfrm>
            <a:off x="10883189" y="495330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</a:t>
            </a:r>
            <a:endParaRPr lang="en-US" sz="900" dirty="0"/>
          </a:p>
        </p:txBody>
      </p:sp>
      <p:sp>
        <p:nvSpPr>
          <p:cNvPr id="70" name="Shape 58"/>
          <p:cNvSpPr/>
          <p:nvPr/>
        </p:nvSpPr>
        <p:spPr>
          <a:xfrm>
            <a:off x="6098134" y="5562295"/>
            <a:ext cx="5591556" cy="666598"/>
          </a:xfrm>
          <a:prstGeom prst="roundRect">
            <a:avLst>
              <a:gd name="adj" fmla="val 11758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1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221578" y="5800954"/>
            <a:ext cx="190195" cy="190195"/>
          </a:xfrm>
          <a:prstGeom prst="rect">
            <a:avLst/>
          </a:prstGeom>
        </p:spPr>
      </p:pic>
      <p:sp>
        <p:nvSpPr>
          <p:cNvPr id="72" name="Text 59"/>
          <p:cNvSpPr txBox="1"/>
          <p:nvPr/>
        </p:nvSpPr>
        <p:spPr>
          <a:xfrm>
            <a:off x="6526073" y="5705856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TRIAGE SCENARIO:</a:t>
            </a:r>
            <a:endParaRPr lang="en-US" sz="1000" dirty="0"/>
          </a:p>
        </p:txBody>
      </p:sp>
      <p:sp>
        <p:nvSpPr>
          <p:cNvPr id="73" name="Text 60"/>
          <p:cNvSpPr txBox="1"/>
          <p:nvPr/>
        </p:nvSpPr>
        <p:spPr>
          <a:xfrm>
            <a:off x="6526073" y="5924398"/>
            <a:ext cx="32433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from 172.16.5.22? Check "GUEST" rules first.</a:t>
            </a:r>
            <a:endParaRPr lang="en-US" sz="1000" dirty="0"/>
          </a:p>
        </p:txBody>
      </p:sp>
      <p:sp>
        <p:nvSpPr>
          <p:cNvPr id="74" name="Shape 6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62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63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77" name="Text 64"/>
          <p:cNvSpPr txBox="1"/>
          <p:nvPr/>
        </p:nvSpPr>
        <p:spPr>
          <a:xfrm>
            <a:off x="1698041" y="6329477"/>
            <a:ext cx="888248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"If you see an alert from 10.20.x.x, you instantly know it's a critical server, not a guest."</a:t>
            </a:r>
            <a:endParaRPr lang="en-US" sz="1300" dirty="0"/>
          </a:p>
        </p:txBody>
      </p:sp>
      <p:sp>
        <p:nvSpPr>
          <p:cNvPr id="78" name="Text 65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31 / 60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646755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CIDR in Filters: Practical SOC Use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7087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8331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829800" y="352044"/>
            <a:ext cx="22101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 ADDRESSING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9816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CIDR notation (e.g., /24, /16) to search whole network ranges instantly.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45537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catch related activity across an entire subnet without typing every single IP.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0389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save clean CIDR filters to create repeatable triage workflows.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37481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Find all hosts in a subnet instantly.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8134" y="1421892"/>
            <a:ext cx="133502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30722" y="1395374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SIEM QUERY BUILDER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1241634" y="1380744"/>
            <a:ext cx="448056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1326673" y="1410005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59120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1904695"/>
            <a:ext cx="5591556" cy="476402"/>
          </a:xfrm>
          <a:prstGeom prst="roundRect">
            <a:avLst>
              <a:gd name="adj" fmla="val 230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59982" y="2076602"/>
            <a:ext cx="133502" cy="13350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507785" y="2052828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FILTER: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7181698" y="2052828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src_ip =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7821778" y="2014423"/>
            <a:ext cx="1276502" cy="256946"/>
          </a:xfrm>
          <a:prstGeom prst="roundRect">
            <a:avLst>
              <a:gd name="adj" fmla="val 52722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 txBox="1"/>
          <p:nvPr/>
        </p:nvSpPr>
        <p:spPr>
          <a:xfrm>
            <a:off x="7898587" y="2052828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192.168.1.0/24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9094622" y="2052828"/>
            <a:ext cx="16248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action="DENIED"</a:t>
            </a:r>
            <a:endParaRPr lang="en-US" sz="10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10795406" y="2076602"/>
            <a:ext cx="105156" cy="133502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11090758" y="2029054"/>
            <a:ext cx="437998" cy="228600"/>
          </a:xfrm>
          <a:prstGeom prst="roundRect">
            <a:avLst>
              <a:gd name="adj" fmla="val 6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11205058" y="2066544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098134" y="2533802"/>
            <a:ext cx="5591556" cy="1867205"/>
          </a:xfrm>
          <a:prstGeom prst="roundRect">
            <a:avLst>
              <a:gd name="adj" fmla="val 1999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8240573" y="2766974"/>
            <a:ext cx="13908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SCOPE VISUALIZATION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7273138" y="3023921"/>
            <a:ext cx="1333195" cy="886054"/>
          </a:xfrm>
          <a:prstGeom prst="roundRect">
            <a:avLst>
              <a:gd name="adj" fmla="val 665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7797089" y="3148279"/>
            <a:ext cx="286207" cy="228600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7596835" y="3491179"/>
            <a:ext cx="781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CIDR RANGE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7459675" y="3642970"/>
            <a:ext cx="10479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192.168.1.0/24</a:t>
            </a:r>
            <a:endParaRPr lang="en-US" sz="9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97442" y="3366821"/>
            <a:ext cx="190195" cy="190195"/>
          </a:xfrm>
          <a:prstGeom prst="rect">
            <a:avLst/>
          </a:prstGeom>
        </p:spPr>
      </p:pic>
      <p:sp>
        <p:nvSpPr>
          <p:cNvPr id="47" name="Shape 39"/>
          <p:cNvSpPr/>
          <p:nvPr/>
        </p:nvSpPr>
        <p:spPr>
          <a:xfrm>
            <a:off x="9177833" y="3023921"/>
            <a:ext cx="1333195" cy="886054"/>
          </a:xfrm>
          <a:prstGeom prst="roundRect">
            <a:avLst>
              <a:gd name="adj" fmla="val 665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9744761" y="3148279"/>
            <a:ext cx="200254" cy="2286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9604858" y="3491179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MATCHES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9536278" y="3642970"/>
            <a:ext cx="705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254 HOSTS</a:t>
            </a:r>
            <a:endParaRPr lang="en-US" sz="900" dirty="0"/>
          </a:p>
        </p:txBody>
      </p:sp>
      <p:sp>
        <p:nvSpPr>
          <p:cNvPr id="51" name="Text 42"/>
          <p:cNvSpPr txBox="1"/>
          <p:nvPr/>
        </p:nvSpPr>
        <p:spPr>
          <a:xfrm>
            <a:off x="7623353" y="4033418"/>
            <a:ext cx="26289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Includes: 192.168.1.1 — 192.168.1.254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6098134" y="4552798"/>
            <a:ext cx="5591556" cy="1561795"/>
          </a:xfrm>
          <a:prstGeom prst="roundRect">
            <a:avLst>
              <a:gd name="adj" fmla="val 142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4"/>
          <p:cNvSpPr/>
          <p:nvPr/>
        </p:nvSpPr>
        <p:spPr>
          <a:xfrm>
            <a:off x="6107278" y="4887468"/>
            <a:ext cx="1238098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5"/>
          <p:cNvSpPr txBox="1"/>
          <p:nvPr/>
        </p:nvSpPr>
        <p:spPr>
          <a:xfrm>
            <a:off x="6221578" y="4647895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7337146" y="4887468"/>
            <a:ext cx="1781251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7"/>
          <p:cNvSpPr txBox="1"/>
          <p:nvPr/>
        </p:nvSpPr>
        <p:spPr>
          <a:xfrm>
            <a:off x="7451446" y="4647895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IP</a:t>
            </a:r>
            <a:endParaRPr lang="en-US" sz="900" dirty="0"/>
          </a:p>
        </p:txBody>
      </p:sp>
      <p:sp>
        <p:nvSpPr>
          <p:cNvPr id="57" name="Shape 48"/>
          <p:cNvSpPr/>
          <p:nvPr/>
        </p:nvSpPr>
        <p:spPr>
          <a:xfrm>
            <a:off x="9109253" y="4887468"/>
            <a:ext cx="15617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49"/>
          <p:cNvSpPr txBox="1"/>
          <p:nvPr/>
        </p:nvSpPr>
        <p:spPr>
          <a:xfrm>
            <a:off x="9223553" y="4647895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</a:t>
            </a:r>
            <a:endParaRPr lang="en-US" sz="900" dirty="0"/>
          </a:p>
        </p:txBody>
      </p:sp>
      <p:sp>
        <p:nvSpPr>
          <p:cNvPr id="59" name="Shape 50"/>
          <p:cNvSpPr/>
          <p:nvPr/>
        </p:nvSpPr>
        <p:spPr>
          <a:xfrm>
            <a:off x="10664647" y="4887468"/>
            <a:ext cx="101955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1"/>
          <p:cNvSpPr txBox="1"/>
          <p:nvPr/>
        </p:nvSpPr>
        <p:spPr>
          <a:xfrm>
            <a:off x="10778947" y="4647895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900" dirty="0"/>
          </a:p>
        </p:txBody>
      </p:sp>
      <p:sp>
        <p:nvSpPr>
          <p:cNvPr id="61" name="Shape 52"/>
          <p:cNvSpPr/>
          <p:nvPr/>
        </p:nvSpPr>
        <p:spPr>
          <a:xfrm>
            <a:off x="6107278" y="5215738"/>
            <a:ext cx="1238098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3"/>
          <p:cNvSpPr txBox="1"/>
          <p:nvPr/>
        </p:nvSpPr>
        <p:spPr>
          <a:xfrm>
            <a:off x="6221578" y="4981651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09:41:05</a:t>
            </a:r>
            <a:endParaRPr lang="en-US" sz="900" dirty="0"/>
          </a:p>
        </p:txBody>
      </p:sp>
      <p:sp>
        <p:nvSpPr>
          <p:cNvPr id="63" name="Shape 54"/>
          <p:cNvSpPr/>
          <p:nvPr/>
        </p:nvSpPr>
        <p:spPr>
          <a:xfrm>
            <a:off x="7337146" y="5215738"/>
            <a:ext cx="1781251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5"/>
          <p:cNvSpPr txBox="1"/>
          <p:nvPr/>
        </p:nvSpPr>
        <p:spPr>
          <a:xfrm>
            <a:off x="7451446" y="4981651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192.168.1.45</a:t>
            </a:r>
            <a:endParaRPr lang="en-US" sz="900" dirty="0"/>
          </a:p>
        </p:txBody>
      </p:sp>
      <p:sp>
        <p:nvSpPr>
          <p:cNvPr id="65" name="Shape 56"/>
          <p:cNvSpPr/>
          <p:nvPr/>
        </p:nvSpPr>
        <p:spPr>
          <a:xfrm>
            <a:off x="9109253" y="5215738"/>
            <a:ext cx="15617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57"/>
          <p:cNvSpPr txBox="1"/>
          <p:nvPr/>
        </p:nvSpPr>
        <p:spPr>
          <a:xfrm>
            <a:off x="9223553" y="4981651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10.0.5.22</a:t>
            </a:r>
            <a:endParaRPr lang="en-US" sz="900" dirty="0"/>
          </a:p>
        </p:txBody>
      </p:sp>
      <p:sp>
        <p:nvSpPr>
          <p:cNvPr id="67" name="Shape 58"/>
          <p:cNvSpPr/>
          <p:nvPr/>
        </p:nvSpPr>
        <p:spPr>
          <a:xfrm>
            <a:off x="10664647" y="5215738"/>
            <a:ext cx="1019556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59"/>
          <p:cNvSpPr txBox="1"/>
          <p:nvPr/>
        </p:nvSpPr>
        <p:spPr>
          <a:xfrm>
            <a:off x="10778947" y="4981651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DENIED</a:t>
            </a:r>
            <a:endParaRPr lang="en-US" sz="900" dirty="0"/>
          </a:p>
        </p:txBody>
      </p:sp>
      <p:sp>
        <p:nvSpPr>
          <p:cNvPr id="69" name="Shape 60"/>
          <p:cNvSpPr/>
          <p:nvPr/>
        </p:nvSpPr>
        <p:spPr>
          <a:xfrm>
            <a:off x="6107278" y="5549494"/>
            <a:ext cx="1238098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1"/>
          <p:cNvSpPr txBox="1"/>
          <p:nvPr/>
        </p:nvSpPr>
        <p:spPr>
          <a:xfrm>
            <a:off x="6221578" y="5315407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09:41:08</a:t>
            </a:r>
            <a:endParaRPr lang="en-US" sz="900" dirty="0"/>
          </a:p>
        </p:txBody>
      </p:sp>
      <p:sp>
        <p:nvSpPr>
          <p:cNvPr id="71" name="Shape 62"/>
          <p:cNvSpPr/>
          <p:nvPr/>
        </p:nvSpPr>
        <p:spPr>
          <a:xfrm>
            <a:off x="7337146" y="5549494"/>
            <a:ext cx="1781251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3"/>
          <p:cNvSpPr txBox="1"/>
          <p:nvPr/>
        </p:nvSpPr>
        <p:spPr>
          <a:xfrm>
            <a:off x="7451446" y="5315407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192.168.1.102</a:t>
            </a:r>
            <a:endParaRPr lang="en-US" sz="900" dirty="0"/>
          </a:p>
        </p:txBody>
      </p:sp>
      <p:sp>
        <p:nvSpPr>
          <p:cNvPr id="73" name="Shape 64"/>
          <p:cNvSpPr/>
          <p:nvPr/>
        </p:nvSpPr>
        <p:spPr>
          <a:xfrm>
            <a:off x="9109253" y="5549494"/>
            <a:ext cx="15617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5"/>
          <p:cNvSpPr txBox="1"/>
          <p:nvPr/>
        </p:nvSpPr>
        <p:spPr>
          <a:xfrm>
            <a:off x="9223553" y="5315407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10.0.5.22</a:t>
            </a:r>
            <a:endParaRPr lang="en-US" sz="900" dirty="0"/>
          </a:p>
        </p:txBody>
      </p:sp>
      <p:sp>
        <p:nvSpPr>
          <p:cNvPr id="75" name="Shape 66"/>
          <p:cNvSpPr/>
          <p:nvPr/>
        </p:nvSpPr>
        <p:spPr>
          <a:xfrm>
            <a:off x="10664647" y="5549494"/>
            <a:ext cx="1019556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67"/>
          <p:cNvSpPr txBox="1"/>
          <p:nvPr/>
        </p:nvSpPr>
        <p:spPr>
          <a:xfrm>
            <a:off x="10778947" y="5315407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DENIED</a:t>
            </a:r>
            <a:endParaRPr lang="en-US" sz="900" dirty="0"/>
          </a:p>
        </p:txBody>
      </p:sp>
      <p:sp>
        <p:nvSpPr>
          <p:cNvPr id="77" name="Shape 68"/>
          <p:cNvSpPr/>
          <p:nvPr/>
        </p:nvSpPr>
        <p:spPr>
          <a:xfrm>
            <a:off x="6107278" y="5882335"/>
            <a:ext cx="1238098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69"/>
          <p:cNvSpPr txBox="1"/>
          <p:nvPr/>
        </p:nvSpPr>
        <p:spPr>
          <a:xfrm>
            <a:off x="6221578" y="5648249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09:41:12</a:t>
            </a:r>
            <a:endParaRPr lang="en-US" sz="900" dirty="0"/>
          </a:p>
        </p:txBody>
      </p:sp>
      <p:sp>
        <p:nvSpPr>
          <p:cNvPr id="79" name="Shape 70"/>
          <p:cNvSpPr/>
          <p:nvPr/>
        </p:nvSpPr>
        <p:spPr>
          <a:xfrm>
            <a:off x="7337146" y="5882335"/>
            <a:ext cx="1781251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1"/>
          <p:cNvSpPr txBox="1"/>
          <p:nvPr/>
        </p:nvSpPr>
        <p:spPr>
          <a:xfrm>
            <a:off x="7451446" y="5648249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192.168.1.15</a:t>
            </a:r>
            <a:endParaRPr lang="en-US" sz="900" dirty="0"/>
          </a:p>
        </p:txBody>
      </p:sp>
      <p:sp>
        <p:nvSpPr>
          <p:cNvPr id="81" name="Shape 72"/>
          <p:cNvSpPr/>
          <p:nvPr/>
        </p:nvSpPr>
        <p:spPr>
          <a:xfrm>
            <a:off x="9109253" y="5882335"/>
            <a:ext cx="15617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3"/>
          <p:cNvSpPr txBox="1"/>
          <p:nvPr/>
        </p:nvSpPr>
        <p:spPr>
          <a:xfrm>
            <a:off x="9223553" y="5648249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8.8.8.8</a:t>
            </a:r>
            <a:endParaRPr lang="en-US" sz="900" dirty="0"/>
          </a:p>
        </p:txBody>
      </p:sp>
      <p:sp>
        <p:nvSpPr>
          <p:cNvPr id="83" name="Shape 74"/>
          <p:cNvSpPr/>
          <p:nvPr/>
        </p:nvSpPr>
        <p:spPr>
          <a:xfrm>
            <a:off x="10664647" y="5882335"/>
            <a:ext cx="1019556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75"/>
          <p:cNvSpPr txBox="1"/>
          <p:nvPr/>
        </p:nvSpPr>
        <p:spPr>
          <a:xfrm>
            <a:off x="10778947" y="5648249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DENIED</a:t>
            </a:r>
            <a:endParaRPr lang="en-US" sz="900" dirty="0"/>
          </a:p>
        </p:txBody>
      </p:sp>
      <p:sp>
        <p:nvSpPr>
          <p:cNvPr id="85" name="Shape 76"/>
          <p:cNvSpPr/>
          <p:nvPr/>
        </p:nvSpPr>
        <p:spPr>
          <a:xfrm>
            <a:off x="6107278" y="6216091"/>
            <a:ext cx="1238098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7"/>
          <p:cNvSpPr txBox="1"/>
          <p:nvPr/>
        </p:nvSpPr>
        <p:spPr>
          <a:xfrm>
            <a:off x="6221578" y="5982005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09:41:15</a:t>
            </a:r>
            <a:endParaRPr lang="en-US" sz="900" dirty="0"/>
          </a:p>
        </p:txBody>
      </p:sp>
      <p:sp>
        <p:nvSpPr>
          <p:cNvPr id="87" name="Shape 78"/>
          <p:cNvSpPr/>
          <p:nvPr/>
        </p:nvSpPr>
        <p:spPr>
          <a:xfrm>
            <a:off x="7337146" y="6216091"/>
            <a:ext cx="1781251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79"/>
          <p:cNvSpPr txBox="1"/>
          <p:nvPr/>
        </p:nvSpPr>
        <p:spPr>
          <a:xfrm>
            <a:off x="7451446" y="5982005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192.168.1.200</a:t>
            </a:r>
            <a:endParaRPr lang="en-US" sz="900" dirty="0"/>
          </a:p>
        </p:txBody>
      </p:sp>
      <p:sp>
        <p:nvSpPr>
          <p:cNvPr id="89" name="Shape 80"/>
          <p:cNvSpPr/>
          <p:nvPr/>
        </p:nvSpPr>
        <p:spPr>
          <a:xfrm>
            <a:off x="9109253" y="6216091"/>
            <a:ext cx="15617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1"/>
          <p:cNvSpPr txBox="1"/>
          <p:nvPr/>
        </p:nvSpPr>
        <p:spPr>
          <a:xfrm>
            <a:off x="9223553" y="5982005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10.0.5.80</a:t>
            </a:r>
            <a:endParaRPr lang="en-US" sz="900" dirty="0"/>
          </a:p>
        </p:txBody>
      </p:sp>
      <p:sp>
        <p:nvSpPr>
          <p:cNvPr id="91" name="Shape 82"/>
          <p:cNvSpPr/>
          <p:nvPr/>
        </p:nvSpPr>
        <p:spPr>
          <a:xfrm>
            <a:off x="10664647" y="6216091"/>
            <a:ext cx="1019556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83"/>
          <p:cNvSpPr txBox="1"/>
          <p:nvPr/>
        </p:nvSpPr>
        <p:spPr>
          <a:xfrm>
            <a:off x="10778947" y="5982005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DENIED</a:t>
            </a:r>
            <a:endParaRPr lang="en-US" sz="900" dirty="0"/>
          </a:p>
        </p:txBody>
      </p:sp>
      <p:sp>
        <p:nvSpPr>
          <p:cNvPr id="93" name="Shape 8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6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96" name="Text 87"/>
          <p:cNvSpPr txBox="1"/>
          <p:nvPr/>
        </p:nvSpPr>
        <p:spPr>
          <a:xfrm>
            <a:off x="1651406" y="6329477"/>
            <a:ext cx="877732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how one simple filter '/24' instantly finds logs from every machine in that department."</a:t>
            </a:r>
            <a:endParaRPr lang="en-US" sz="1300" dirty="0"/>
          </a:p>
        </p:txBody>
      </p:sp>
      <p:sp>
        <p:nvSpPr>
          <p:cNvPr id="97" name="Text 88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32 / 60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61539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VPN: Concept and Purpose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087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8331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829800" y="352044"/>
            <a:ext cx="22101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TRAFFIC COMPONENTS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51819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encrypted tunnel that safely carries private data over untrusted public networks.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123809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502920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provide confidential remote access for employees working outside the secure office network.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86699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87614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4162349"/>
            <a:ext cx="45820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monitor session health, duration, and geography to verify remote identities.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36914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Verified, secure remote identities.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8134" y="1421892"/>
            <a:ext cx="133502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30722" y="1395374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 TUNNEL VISUALIZER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898734" y="1380744"/>
            <a:ext cx="790956" cy="209398"/>
          </a:xfrm>
          <a:prstGeom prst="roundRect">
            <a:avLst>
              <a:gd name="adj" fmla="val 79396"/>
            </a:avLst>
          </a:prstGeom>
          <a:solidFill>
            <a:srgbClr val="064E3B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983773" y="1410005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1904695"/>
            <a:ext cx="5591556" cy="1714500"/>
          </a:xfrm>
          <a:prstGeom prst="roundRect">
            <a:avLst>
              <a:gd name="adj" fmla="val 237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7345375" y="2572207"/>
            <a:ext cx="1380744" cy="381305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7345375" y="2352751"/>
            <a:ext cx="1380744" cy="400507"/>
          </a:xfrm>
          <a:prstGeom prst="roundRect">
            <a:avLst>
              <a:gd name="adj" fmla="val 21744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7431329" y="2414930"/>
            <a:ext cx="105156" cy="11430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7431329" y="2391156"/>
            <a:ext cx="84856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Encrypted Tunnel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7621524" y="2686507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3B82F6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 l="-258" r="-258"/>
          <a:stretch/>
        </p:blipFill>
        <p:spPr>
          <a:xfrm>
            <a:off x="7664501" y="2723998"/>
            <a:ext cx="66751" cy="75895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8034833" y="2686507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3B82F6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rcRect l="-258" r="-258"/>
          <a:stretch/>
        </p:blipFill>
        <p:spPr>
          <a:xfrm>
            <a:off x="8077810" y="2723998"/>
            <a:ext cx="66751" cy="75895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8449056" y="2686507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3B82F6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6"/>
          <a:srcRect l="-258" r="-258"/>
          <a:stretch/>
        </p:blipFill>
        <p:spPr>
          <a:xfrm>
            <a:off x="8492033" y="2723998"/>
            <a:ext cx="66751" cy="75895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10092233" y="2695651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6098134" y="3810305"/>
            <a:ext cx="5591556" cy="1971446"/>
          </a:xfrm>
          <a:prstGeom prst="roundRect">
            <a:avLst>
              <a:gd name="adj" fmla="val 896"/>
            </a:avLst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 txBox="1"/>
          <p:nvPr/>
        </p:nvSpPr>
        <p:spPr>
          <a:xfrm>
            <a:off x="6259982" y="3981298"/>
            <a:ext cx="13908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VPN SESSION LOGS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6259982" y="4209898"/>
            <a:ext cx="39346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[10:42:01] CONNECT User:jdoe from IP:203.0.113.45 (Home)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6259982" y="4362602"/>
            <a:ext cx="26956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[10:42:02] AUTH 2FA Challenge: Success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6259982" y="4515307"/>
            <a:ext cx="35250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[10:42:03] TUNNEL ESP Tunnel Established (AES-256)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6259982" y="4667098"/>
            <a:ext cx="44769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[10:42:05] ACCESS jdoe -&gt; Internal_FileSvr (10.0.1.50) [ALLOWED]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51" name="Text 43"/>
          <p:cNvSpPr txBox="1"/>
          <p:nvPr/>
        </p:nvSpPr>
        <p:spPr>
          <a:xfrm>
            <a:off x="1698041" y="6329477"/>
            <a:ext cx="836858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blue encrypted packets in the tunnel. To the internet, this data is unreadable."</a:t>
            </a:r>
            <a:endParaRPr lang="en-US" sz="1300" dirty="0"/>
          </a:p>
        </p:txBody>
      </p:sp>
      <p:sp>
        <p:nvSpPr>
          <p:cNvPr id="52" name="Text 44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33 / 60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8945085" y="2391156"/>
            <a:ext cx="1143000" cy="571500"/>
          </a:xfrm>
          <a:prstGeom prst="roundRect">
            <a:avLst>
              <a:gd name="adj" fmla="val 80000"/>
            </a:avLst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6"/>
          <p:cNvSpPr txBox="1"/>
          <p:nvPr/>
        </p:nvSpPr>
        <p:spPr>
          <a:xfrm>
            <a:off x="8187538" y="2085699"/>
            <a:ext cx="11814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 (Untrusted)</a:t>
            </a:r>
            <a:endParaRPr lang="en-US" sz="800" dirty="0"/>
          </a:p>
        </p:txBody>
      </p:sp>
      <p:sp>
        <p:nvSpPr>
          <p:cNvPr id="55" name="Shape 47"/>
          <p:cNvSpPr/>
          <p:nvPr/>
        </p:nvSpPr>
        <p:spPr>
          <a:xfrm>
            <a:off x="6536131" y="2295144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0F172A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 txBox="1"/>
          <p:nvPr/>
        </p:nvSpPr>
        <p:spPr>
          <a:xfrm>
            <a:off x="6397142" y="2857500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Remote User</a:t>
            </a:r>
            <a:endParaRPr lang="en-US" sz="900" dirty="0"/>
          </a:p>
        </p:txBody>
      </p:sp>
      <p:sp>
        <p:nvSpPr>
          <p:cNvPr id="57" name="Text 49"/>
          <p:cNvSpPr txBox="1"/>
          <p:nvPr/>
        </p:nvSpPr>
        <p:spPr>
          <a:xfrm>
            <a:off x="6362395" y="3029407"/>
            <a:ext cx="9436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Public IP</a:t>
            </a:r>
            <a:endParaRPr lang="en-US" sz="1200" dirty="0"/>
          </a:p>
        </p:txBody>
      </p:sp>
      <p:sp>
        <p:nvSpPr>
          <p:cNvPr id="58" name="Shape 50"/>
          <p:cNvSpPr/>
          <p:nvPr/>
        </p:nvSpPr>
        <p:spPr>
          <a:xfrm>
            <a:off x="8979865" y="2085747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0F172A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098458" y="2248510"/>
            <a:ext cx="190195" cy="190195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9230859" y="2525573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VPN Gateway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9270186" y="2697876"/>
            <a:ext cx="762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Decrypt Point</a:t>
            </a:r>
            <a:endParaRPr lang="en-US" sz="1200" dirty="0"/>
          </a:p>
        </p:txBody>
      </p:sp>
      <p:sp>
        <p:nvSpPr>
          <p:cNvPr id="62" name="Shape 53"/>
          <p:cNvSpPr/>
          <p:nvPr/>
        </p:nvSpPr>
        <p:spPr>
          <a:xfrm>
            <a:off x="10772546" y="2295144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0F172A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916107" y="2438705"/>
            <a:ext cx="190195" cy="190195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10598810" y="2857500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Internal App</a:t>
            </a:r>
            <a:endParaRPr lang="en-US" sz="900" dirty="0"/>
          </a:p>
        </p:txBody>
      </p:sp>
      <p:sp>
        <p:nvSpPr>
          <p:cNvPr id="65" name="Text 55"/>
          <p:cNvSpPr txBox="1"/>
          <p:nvPr/>
        </p:nvSpPr>
        <p:spPr>
          <a:xfrm>
            <a:off x="10554005" y="3029407"/>
            <a:ext cx="10387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Private IP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56583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Visibility: VPN Sessions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7087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8331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829800" y="352044"/>
            <a:ext cx="22101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TRAFFIC COMPONENTS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0864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VPN logs reveal user logins, session durations, and origin locations.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50008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spot risky access patterns like impossible travel or unusual hours.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82986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check geolocation and concurrency for signs of compromised credentials.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29672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Early anomaly detection.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8134" y="1421892"/>
            <a:ext cx="133502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30722" y="1395374"/>
            <a:ext cx="16248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VPN SESSION MONITOR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898734" y="1380744"/>
            <a:ext cx="790956" cy="209398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983773" y="1410005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VIEW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99079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1904695"/>
            <a:ext cx="1762049" cy="790956"/>
          </a:xfrm>
          <a:prstGeom prst="roundRect">
            <a:avLst>
              <a:gd name="adj" fmla="val 11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6841541" y="2048256"/>
            <a:ext cx="448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6516014" y="2419502"/>
            <a:ext cx="10122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SESSIONS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8011973" y="1904695"/>
            <a:ext cx="1762049" cy="790956"/>
          </a:xfrm>
          <a:prstGeom prst="roundRect">
            <a:avLst>
              <a:gd name="adj" fmla="val 11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8412480" y="2048256"/>
            <a:ext cx="11338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USA, DE</a:t>
            </a:r>
            <a:endParaRPr lang="en-US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8557870" y="2419502"/>
            <a:ext cx="7552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ORIGINS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9925812" y="1904695"/>
            <a:ext cx="1762049" cy="790956"/>
          </a:xfrm>
          <a:prstGeom prst="roundRect">
            <a:avLst>
              <a:gd name="adj" fmla="val 11143"/>
            </a:avLst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10737799" y="2048256"/>
            <a:ext cx="314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4"/>
          <p:cNvSpPr txBox="1"/>
          <p:nvPr/>
        </p:nvSpPr>
        <p:spPr>
          <a:xfrm>
            <a:off x="10445191" y="2419502"/>
            <a:ext cx="8028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RISKY LOGINS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6098134" y="2919679"/>
            <a:ext cx="5591556" cy="2523744"/>
          </a:xfrm>
          <a:prstGeom prst="roundRect">
            <a:avLst>
              <a:gd name="adj" fmla="val 109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6107278" y="3310128"/>
            <a:ext cx="10570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 txBox="1"/>
          <p:nvPr/>
        </p:nvSpPr>
        <p:spPr>
          <a:xfrm>
            <a:off x="6221578" y="3043123"/>
            <a:ext cx="3557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7157923" y="3310128"/>
            <a:ext cx="129570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 txBox="1"/>
          <p:nvPr/>
        </p:nvSpPr>
        <p:spPr>
          <a:xfrm>
            <a:off x="7272223" y="3043123"/>
            <a:ext cx="6986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IP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8450885" y="3310128"/>
            <a:ext cx="6949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 txBox="1"/>
          <p:nvPr/>
        </p:nvSpPr>
        <p:spPr>
          <a:xfrm>
            <a:off x="8565185" y="3043123"/>
            <a:ext cx="4882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9140342" y="3310128"/>
            <a:ext cx="895198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 txBox="1"/>
          <p:nvPr/>
        </p:nvSpPr>
        <p:spPr>
          <a:xfrm>
            <a:off x="9254642" y="3043123"/>
            <a:ext cx="63185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10030968" y="3310128"/>
            <a:ext cx="83850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 txBox="1"/>
          <p:nvPr/>
        </p:nvSpPr>
        <p:spPr>
          <a:xfrm>
            <a:off x="10145268" y="3043123"/>
            <a:ext cx="63185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10867644" y="3310128"/>
            <a:ext cx="819302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 txBox="1"/>
          <p:nvPr/>
        </p:nvSpPr>
        <p:spPr>
          <a:xfrm>
            <a:off x="10981944" y="3043123"/>
            <a:ext cx="4882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6107278" y="3319272"/>
            <a:ext cx="5572354" cy="4288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6107278" y="3738982"/>
            <a:ext cx="1057046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 txBox="1"/>
          <p:nvPr/>
        </p:nvSpPr>
        <p:spPr>
          <a:xfrm>
            <a:off x="6221578" y="3438144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jsmith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7157923" y="3738982"/>
            <a:ext cx="129570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 txBox="1"/>
          <p:nvPr/>
        </p:nvSpPr>
        <p:spPr>
          <a:xfrm>
            <a:off x="7272223" y="3438144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203.0.113.45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8450885" y="3738982"/>
            <a:ext cx="694944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8565185" y="3463747"/>
            <a:ext cx="105156" cy="123444"/>
          </a:xfrm>
          <a:prstGeom prst="rect">
            <a:avLst/>
          </a:prstGeom>
        </p:spPr>
      </p:pic>
      <p:sp>
        <p:nvSpPr>
          <p:cNvPr id="59" name="Text 54"/>
          <p:cNvSpPr txBox="1"/>
          <p:nvPr/>
        </p:nvSpPr>
        <p:spPr>
          <a:xfrm>
            <a:off x="8669426" y="3438144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9140342" y="3738982"/>
            <a:ext cx="895198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6"/>
          <p:cNvSpPr txBox="1"/>
          <p:nvPr/>
        </p:nvSpPr>
        <p:spPr>
          <a:xfrm>
            <a:off x="9254642" y="3438144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04:12:30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10030968" y="3738982"/>
            <a:ext cx="83850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8"/>
          <p:cNvSpPr txBox="1"/>
          <p:nvPr/>
        </p:nvSpPr>
        <p:spPr>
          <a:xfrm>
            <a:off x="10145268" y="3438144"/>
            <a:ext cx="1691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10867644" y="3738982"/>
            <a:ext cx="819302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0"/>
          <p:cNvSpPr txBox="1"/>
          <p:nvPr/>
        </p:nvSpPr>
        <p:spPr>
          <a:xfrm>
            <a:off x="10981944" y="3438144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900" dirty="0"/>
          </a:p>
        </p:txBody>
      </p:sp>
      <p:sp>
        <p:nvSpPr>
          <p:cNvPr id="66" name="Shape 61"/>
          <p:cNvSpPr/>
          <p:nvPr/>
        </p:nvSpPr>
        <p:spPr>
          <a:xfrm>
            <a:off x="6107278" y="3743554"/>
            <a:ext cx="5572354" cy="4288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2"/>
          <p:cNvSpPr/>
          <p:nvPr/>
        </p:nvSpPr>
        <p:spPr>
          <a:xfrm>
            <a:off x="6107278" y="4163263"/>
            <a:ext cx="1057046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3"/>
          <p:cNvSpPr txBox="1"/>
          <p:nvPr/>
        </p:nvSpPr>
        <p:spPr>
          <a:xfrm>
            <a:off x="6221578" y="3862426"/>
            <a:ext cx="3977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adoe</a:t>
            </a:r>
            <a:endParaRPr lang="en-US" sz="900" dirty="0"/>
          </a:p>
        </p:txBody>
      </p:sp>
      <p:sp>
        <p:nvSpPr>
          <p:cNvPr id="69" name="Shape 64"/>
          <p:cNvSpPr/>
          <p:nvPr/>
        </p:nvSpPr>
        <p:spPr>
          <a:xfrm>
            <a:off x="7157923" y="4163263"/>
            <a:ext cx="129570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5"/>
          <p:cNvSpPr txBox="1"/>
          <p:nvPr/>
        </p:nvSpPr>
        <p:spPr>
          <a:xfrm>
            <a:off x="7272223" y="3862426"/>
            <a:ext cx="10652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198.51.100.22</a:t>
            </a:r>
            <a:endParaRPr lang="en-US" sz="900" dirty="0"/>
          </a:p>
        </p:txBody>
      </p:sp>
      <p:sp>
        <p:nvSpPr>
          <p:cNvPr id="71" name="Shape 66"/>
          <p:cNvSpPr/>
          <p:nvPr/>
        </p:nvSpPr>
        <p:spPr>
          <a:xfrm>
            <a:off x="8450885" y="4163263"/>
            <a:ext cx="694944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2" name="Image 3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8565185" y="3887114"/>
            <a:ext cx="105156" cy="123444"/>
          </a:xfrm>
          <a:prstGeom prst="rect">
            <a:avLst/>
          </a:prstGeom>
        </p:spPr>
      </p:pic>
      <p:sp>
        <p:nvSpPr>
          <p:cNvPr id="73" name="Text 67"/>
          <p:cNvSpPr txBox="1"/>
          <p:nvPr/>
        </p:nvSpPr>
        <p:spPr>
          <a:xfrm>
            <a:off x="8669426" y="3862426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DEU</a:t>
            </a:r>
            <a:endParaRPr lang="en-US" sz="900" dirty="0"/>
          </a:p>
        </p:txBody>
      </p:sp>
      <p:sp>
        <p:nvSpPr>
          <p:cNvPr id="74" name="Shape 68"/>
          <p:cNvSpPr/>
          <p:nvPr/>
        </p:nvSpPr>
        <p:spPr>
          <a:xfrm>
            <a:off x="9140342" y="4163263"/>
            <a:ext cx="895198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9"/>
          <p:cNvSpPr txBox="1"/>
          <p:nvPr/>
        </p:nvSpPr>
        <p:spPr>
          <a:xfrm>
            <a:off x="9254642" y="3862426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00:45:10</a:t>
            </a:r>
            <a:endParaRPr lang="en-US" sz="900" dirty="0"/>
          </a:p>
        </p:txBody>
      </p:sp>
      <p:sp>
        <p:nvSpPr>
          <p:cNvPr id="76" name="Shape 70"/>
          <p:cNvSpPr/>
          <p:nvPr/>
        </p:nvSpPr>
        <p:spPr>
          <a:xfrm>
            <a:off x="10030968" y="4163263"/>
            <a:ext cx="83850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 txBox="1"/>
          <p:nvPr/>
        </p:nvSpPr>
        <p:spPr>
          <a:xfrm>
            <a:off x="10145268" y="3862426"/>
            <a:ext cx="1691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78" name="Shape 72"/>
          <p:cNvSpPr/>
          <p:nvPr/>
        </p:nvSpPr>
        <p:spPr>
          <a:xfrm>
            <a:off x="10867644" y="4163263"/>
            <a:ext cx="819302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3"/>
          <p:cNvSpPr txBox="1"/>
          <p:nvPr/>
        </p:nvSpPr>
        <p:spPr>
          <a:xfrm>
            <a:off x="10981944" y="3862426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900" dirty="0"/>
          </a:p>
        </p:txBody>
      </p:sp>
      <p:sp>
        <p:nvSpPr>
          <p:cNvPr id="80" name="Shape 74"/>
          <p:cNvSpPr/>
          <p:nvPr/>
        </p:nvSpPr>
        <p:spPr>
          <a:xfrm>
            <a:off x="6107278" y="4166921"/>
            <a:ext cx="5572354" cy="428854"/>
          </a:xfrm>
          <a:prstGeom prst="rect">
            <a:avLst/>
          </a:prstGeom>
          <a:solidFill>
            <a:srgbClr val="F59E0B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5"/>
          <p:cNvSpPr/>
          <p:nvPr/>
        </p:nvSpPr>
        <p:spPr>
          <a:xfrm>
            <a:off x="6107278" y="4586630"/>
            <a:ext cx="1057046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6"/>
          <p:cNvSpPr txBox="1"/>
          <p:nvPr/>
        </p:nvSpPr>
        <p:spPr>
          <a:xfrm>
            <a:off x="6221578" y="4286707"/>
            <a:ext cx="3977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mlee</a:t>
            </a:r>
            <a:endParaRPr lang="en-US" sz="900" dirty="0"/>
          </a:p>
        </p:txBody>
      </p:sp>
      <p:sp>
        <p:nvSpPr>
          <p:cNvPr id="83" name="Shape 77"/>
          <p:cNvSpPr/>
          <p:nvPr/>
        </p:nvSpPr>
        <p:spPr>
          <a:xfrm>
            <a:off x="7157923" y="4586630"/>
            <a:ext cx="129570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78"/>
          <p:cNvSpPr txBox="1"/>
          <p:nvPr/>
        </p:nvSpPr>
        <p:spPr>
          <a:xfrm>
            <a:off x="7272223" y="4286707"/>
            <a:ext cx="8458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192.0.2.88</a:t>
            </a:r>
            <a:endParaRPr lang="en-US" sz="900" dirty="0"/>
          </a:p>
        </p:txBody>
      </p:sp>
      <p:sp>
        <p:nvSpPr>
          <p:cNvPr id="85" name="Shape 79"/>
          <p:cNvSpPr/>
          <p:nvPr/>
        </p:nvSpPr>
        <p:spPr>
          <a:xfrm>
            <a:off x="8450885" y="4586630"/>
            <a:ext cx="694944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65185" y="4311396"/>
            <a:ext cx="123444" cy="123444"/>
          </a:xfrm>
          <a:prstGeom prst="rect">
            <a:avLst/>
          </a:prstGeom>
        </p:spPr>
      </p:pic>
      <p:sp>
        <p:nvSpPr>
          <p:cNvPr id="87" name="Text 80"/>
          <p:cNvSpPr txBox="1"/>
          <p:nvPr/>
        </p:nvSpPr>
        <p:spPr>
          <a:xfrm>
            <a:off x="8688629" y="4286707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CHN</a:t>
            </a:r>
            <a:endParaRPr lang="en-US" sz="900" dirty="0"/>
          </a:p>
        </p:txBody>
      </p:sp>
      <p:sp>
        <p:nvSpPr>
          <p:cNvPr id="88" name="Shape 81"/>
          <p:cNvSpPr/>
          <p:nvPr/>
        </p:nvSpPr>
        <p:spPr>
          <a:xfrm>
            <a:off x="9140342" y="4586630"/>
            <a:ext cx="895198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2"/>
          <p:cNvSpPr txBox="1"/>
          <p:nvPr/>
        </p:nvSpPr>
        <p:spPr>
          <a:xfrm>
            <a:off x="9254642" y="4286707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00:02:15</a:t>
            </a:r>
            <a:endParaRPr lang="en-US" sz="900" dirty="0"/>
          </a:p>
        </p:txBody>
      </p:sp>
      <p:sp>
        <p:nvSpPr>
          <p:cNvPr id="90" name="Shape 83"/>
          <p:cNvSpPr/>
          <p:nvPr/>
        </p:nvSpPr>
        <p:spPr>
          <a:xfrm>
            <a:off x="10030968" y="4586630"/>
            <a:ext cx="83850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4"/>
          <p:cNvSpPr txBox="1"/>
          <p:nvPr/>
        </p:nvSpPr>
        <p:spPr>
          <a:xfrm>
            <a:off x="10145268" y="4286707"/>
            <a:ext cx="1691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92" name="Shape 85"/>
          <p:cNvSpPr/>
          <p:nvPr/>
        </p:nvSpPr>
        <p:spPr>
          <a:xfrm>
            <a:off x="10867644" y="4586630"/>
            <a:ext cx="819302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86"/>
          <p:cNvSpPr txBox="1"/>
          <p:nvPr/>
        </p:nvSpPr>
        <p:spPr>
          <a:xfrm>
            <a:off x="10981944" y="4286707"/>
            <a:ext cx="6172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FLAGGED</a:t>
            </a:r>
            <a:endParaRPr lang="en-US" sz="900" dirty="0"/>
          </a:p>
        </p:txBody>
      </p:sp>
      <p:sp>
        <p:nvSpPr>
          <p:cNvPr id="94" name="Shape 87"/>
          <p:cNvSpPr/>
          <p:nvPr/>
        </p:nvSpPr>
        <p:spPr>
          <a:xfrm>
            <a:off x="6107278" y="4591202"/>
            <a:ext cx="5572354" cy="4288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88"/>
          <p:cNvSpPr/>
          <p:nvPr/>
        </p:nvSpPr>
        <p:spPr>
          <a:xfrm>
            <a:off x="6107278" y="5010912"/>
            <a:ext cx="1057046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89"/>
          <p:cNvSpPr txBox="1"/>
          <p:nvPr/>
        </p:nvSpPr>
        <p:spPr>
          <a:xfrm>
            <a:off x="6221578" y="4710074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kpatel</a:t>
            </a:r>
            <a:endParaRPr lang="en-US" sz="900" dirty="0"/>
          </a:p>
        </p:txBody>
      </p:sp>
      <p:sp>
        <p:nvSpPr>
          <p:cNvPr id="97" name="Shape 90"/>
          <p:cNvSpPr/>
          <p:nvPr/>
        </p:nvSpPr>
        <p:spPr>
          <a:xfrm>
            <a:off x="7157923" y="5010912"/>
            <a:ext cx="129570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1"/>
          <p:cNvSpPr txBox="1"/>
          <p:nvPr/>
        </p:nvSpPr>
        <p:spPr>
          <a:xfrm>
            <a:off x="7272223" y="4710074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203.0.113.99</a:t>
            </a:r>
            <a:endParaRPr lang="en-US" sz="900" dirty="0"/>
          </a:p>
        </p:txBody>
      </p:sp>
      <p:sp>
        <p:nvSpPr>
          <p:cNvPr id="99" name="Shape 92"/>
          <p:cNvSpPr/>
          <p:nvPr/>
        </p:nvSpPr>
        <p:spPr>
          <a:xfrm>
            <a:off x="8450885" y="5010912"/>
            <a:ext cx="694944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0" name="Image 5" descr="preencoded.png"/>
          <p:cNvPicPr>
            <a:picLocks noChangeAspect="1"/>
          </p:cNvPicPr>
          <p:nvPr/>
        </p:nvPicPr>
        <p:blipFill>
          <a:blip r:embed="rId5"/>
          <a:srcRect t="-1359" b="-1359"/>
          <a:stretch/>
        </p:blipFill>
        <p:spPr>
          <a:xfrm>
            <a:off x="8565185" y="4734763"/>
            <a:ext cx="105156" cy="123444"/>
          </a:xfrm>
          <a:prstGeom prst="rect">
            <a:avLst/>
          </a:prstGeom>
        </p:spPr>
      </p:pic>
      <p:sp>
        <p:nvSpPr>
          <p:cNvPr id="101" name="Text 93"/>
          <p:cNvSpPr txBox="1"/>
          <p:nvPr/>
        </p:nvSpPr>
        <p:spPr>
          <a:xfrm>
            <a:off x="8669426" y="4710074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</a:t>
            </a:r>
            <a:endParaRPr lang="en-US" sz="900" dirty="0"/>
          </a:p>
        </p:txBody>
      </p:sp>
      <p:sp>
        <p:nvSpPr>
          <p:cNvPr id="102" name="Shape 94"/>
          <p:cNvSpPr/>
          <p:nvPr/>
        </p:nvSpPr>
        <p:spPr>
          <a:xfrm>
            <a:off x="9140342" y="5010912"/>
            <a:ext cx="895198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95"/>
          <p:cNvSpPr txBox="1"/>
          <p:nvPr/>
        </p:nvSpPr>
        <p:spPr>
          <a:xfrm>
            <a:off x="9254642" y="4710074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01:20:00</a:t>
            </a:r>
            <a:endParaRPr lang="en-US" sz="900" dirty="0"/>
          </a:p>
        </p:txBody>
      </p:sp>
      <p:sp>
        <p:nvSpPr>
          <p:cNvPr id="104" name="Shape 96"/>
          <p:cNvSpPr/>
          <p:nvPr/>
        </p:nvSpPr>
        <p:spPr>
          <a:xfrm>
            <a:off x="10030968" y="5010912"/>
            <a:ext cx="83850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97"/>
          <p:cNvSpPr txBox="1"/>
          <p:nvPr/>
        </p:nvSpPr>
        <p:spPr>
          <a:xfrm>
            <a:off x="10145268" y="4710074"/>
            <a:ext cx="1691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06" name="Shape 98"/>
          <p:cNvSpPr/>
          <p:nvPr/>
        </p:nvSpPr>
        <p:spPr>
          <a:xfrm>
            <a:off x="10867644" y="5010912"/>
            <a:ext cx="819302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99"/>
          <p:cNvSpPr txBox="1"/>
          <p:nvPr/>
        </p:nvSpPr>
        <p:spPr>
          <a:xfrm>
            <a:off x="10981944" y="4710074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900" dirty="0"/>
          </a:p>
        </p:txBody>
      </p:sp>
      <p:sp>
        <p:nvSpPr>
          <p:cNvPr id="108" name="Shape 100"/>
          <p:cNvSpPr/>
          <p:nvPr/>
        </p:nvSpPr>
        <p:spPr>
          <a:xfrm>
            <a:off x="6107278" y="5014570"/>
            <a:ext cx="5572354" cy="418795"/>
          </a:xfrm>
          <a:prstGeom prst="rect">
            <a:avLst/>
          </a:prstGeom>
          <a:solidFill>
            <a:srgbClr val="EF4444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1"/>
          <p:cNvSpPr txBox="1"/>
          <p:nvPr/>
        </p:nvSpPr>
        <p:spPr>
          <a:xfrm>
            <a:off x="6221578" y="5134356"/>
            <a:ext cx="8458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root_admin</a:t>
            </a:r>
            <a:endParaRPr lang="en-US" sz="900" dirty="0"/>
          </a:p>
        </p:txBody>
      </p:sp>
      <p:sp>
        <p:nvSpPr>
          <p:cNvPr id="110" name="Text 102"/>
          <p:cNvSpPr txBox="1"/>
          <p:nvPr/>
        </p:nvSpPr>
        <p:spPr>
          <a:xfrm>
            <a:off x="7272223" y="5134356"/>
            <a:ext cx="9125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45.33.22.11</a:t>
            </a:r>
            <a:endParaRPr lang="en-US" sz="900" dirty="0"/>
          </a:p>
        </p:txBody>
      </p:sp>
      <p:pic>
        <p:nvPicPr>
          <p:cNvPr id="1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65185" y="5159045"/>
            <a:ext cx="123444" cy="123444"/>
          </a:xfrm>
          <a:prstGeom prst="rect">
            <a:avLst/>
          </a:prstGeom>
        </p:spPr>
      </p:pic>
      <p:sp>
        <p:nvSpPr>
          <p:cNvPr id="112" name="Text 103"/>
          <p:cNvSpPr txBox="1"/>
          <p:nvPr/>
        </p:nvSpPr>
        <p:spPr>
          <a:xfrm>
            <a:off x="8688629" y="5134356"/>
            <a:ext cx="3218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</a:t>
            </a:r>
            <a:endParaRPr lang="en-US" sz="900" dirty="0"/>
          </a:p>
        </p:txBody>
      </p:sp>
      <p:sp>
        <p:nvSpPr>
          <p:cNvPr id="113" name="Text 104"/>
          <p:cNvSpPr txBox="1"/>
          <p:nvPr/>
        </p:nvSpPr>
        <p:spPr>
          <a:xfrm>
            <a:off x="9254642" y="5134356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00:00:05</a:t>
            </a:r>
            <a:endParaRPr lang="en-US" sz="900" dirty="0"/>
          </a:p>
        </p:txBody>
      </p:sp>
      <p:sp>
        <p:nvSpPr>
          <p:cNvPr id="114" name="Text 105"/>
          <p:cNvSpPr txBox="1"/>
          <p:nvPr/>
        </p:nvSpPr>
        <p:spPr>
          <a:xfrm>
            <a:off x="10145268" y="5134356"/>
            <a:ext cx="1691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115" name="Text 106"/>
          <p:cNvSpPr txBox="1"/>
          <p:nvPr/>
        </p:nvSpPr>
        <p:spPr>
          <a:xfrm>
            <a:off x="10981944" y="5134356"/>
            <a:ext cx="4745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endParaRPr lang="en-US" sz="900" dirty="0"/>
          </a:p>
        </p:txBody>
      </p:sp>
      <p:sp>
        <p:nvSpPr>
          <p:cNvPr id="116" name="Shape 107"/>
          <p:cNvSpPr/>
          <p:nvPr/>
        </p:nvSpPr>
        <p:spPr>
          <a:xfrm>
            <a:off x="6098134" y="5596128"/>
            <a:ext cx="5591556" cy="914400"/>
          </a:xfrm>
          <a:prstGeom prst="roundRect">
            <a:avLst>
              <a:gd name="adj" fmla="val 4167"/>
            </a:avLst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08"/>
          <p:cNvSpPr txBox="1"/>
          <p:nvPr/>
        </p:nvSpPr>
        <p:spPr>
          <a:xfrm>
            <a:off x="6221578" y="5729630"/>
            <a:ext cx="24963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&gt; MONITORING SESSION CONCURRENCY...</a:t>
            </a:r>
            <a:endParaRPr lang="en-US" sz="900" dirty="0"/>
          </a:p>
        </p:txBody>
      </p:sp>
      <p:sp>
        <p:nvSpPr>
          <p:cNvPr id="118" name="Text 109"/>
          <p:cNvSpPr txBox="1"/>
          <p:nvPr/>
        </p:nvSpPr>
        <p:spPr>
          <a:xfrm>
            <a:off x="6221578" y="5881421"/>
            <a:ext cx="4277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[14:22:05] User 'jsmith' session validated. Geo: Chicago, IL.</a:t>
            </a:r>
            <a:endParaRPr lang="en-US" sz="900" dirty="0"/>
          </a:p>
        </p:txBody>
      </p:sp>
      <p:sp>
        <p:nvSpPr>
          <p:cNvPr id="119" name="Text 110"/>
          <p:cNvSpPr txBox="1"/>
          <p:nvPr/>
        </p:nvSpPr>
        <p:spPr>
          <a:xfrm>
            <a:off x="6221578" y="6034126"/>
            <a:ext cx="53062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[14:25:30] WARNING: User 'mlee' logged in from 2 distinct geos within 5 mins (Impossible Travel).</a:t>
            </a:r>
            <a:endParaRPr lang="en-US" sz="900" dirty="0"/>
          </a:p>
        </p:txBody>
      </p:sp>
      <p:sp>
        <p:nvSpPr>
          <p:cNvPr id="120" name="Text 111"/>
          <p:cNvSpPr txBox="1"/>
          <p:nvPr/>
        </p:nvSpPr>
        <p:spPr>
          <a:xfrm>
            <a:off x="6221578" y="6338621"/>
            <a:ext cx="50959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[14:26:12] CRITICAL: 'root_admin' rapid login failures detected from non-standard IP range.</a:t>
            </a:r>
            <a:endParaRPr lang="en-US" sz="900" dirty="0"/>
          </a:p>
        </p:txBody>
      </p:sp>
      <p:sp>
        <p:nvSpPr>
          <p:cNvPr id="121" name="Shape 11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1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14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124" name="Text 115"/>
          <p:cNvSpPr txBox="1"/>
          <p:nvPr/>
        </p:nvSpPr>
        <p:spPr>
          <a:xfrm>
            <a:off x="1578254" y="6329477"/>
            <a:ext cx="877732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'Risky' and 'Critical' rows. Why is 'Impossible Travel' or 5 concurrent sessions alarming?"</a:t>
            </a:r>
            <a:endParaRPr lang="en-US" sz="1300" dirty="0"/>
          </a:p>
        </p:txBody>
      </p:sp>
      <p:sp>
        <p:nvSpPr>
          <p:cNvPr id="125" name="Text 116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34 / 60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60012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Proxy vs Reverse Proxy: Concepts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199218" y="323698"/>
            <a:ext cx="1695298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322662" y="390449"/>
            <a:ext cx="15480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TRAFFIC COMPONENTS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4495" y="1257300"/>
            <a:ext cx="2752344" cy="1086307"/>
          </a:xfrm>
          <a:prstGeom prst="roundRect">
            <a:avLst>
              <a:gd name="adj" fmla="val 59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466344" y="1454810"/>
            <a:ext cx="142646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85800" y="1438351"/>
            <a:ext cx="11768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66344" y="1714500"/>
            <a:ext cx="23582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Intermediaries: Client proxy vs Server proxy.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47949" y="1257300"/>
            <a:ext cx="2752344" cy="1086307"/>
          </a:xfrm>
          <a:prstGeom prst="roundRect">
            <a:avLst>
              <a:gd name="adj" fmla="val 59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3409798" y="1454810"/>
            <a:ext cx="105156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90849" y="1438351"/>
            <a:ext cx="11859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EXISTS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409798" y="1714500"/>
            <a:ext cx="255757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points for filtering and protection.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91402" y="1257300"/>
            <a:ext cx="2752344" cy="1086307"/>
          </a:xfrm>
          <a:prstGeom prst="roundRect">
            <a:avLst>
              <a:gd name="adj" fmla="val 59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6353251" y="1454810"/>
            <a:ext cx="152705" cy="1335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81851" y="1438351"/>
            <a:ext cx="14721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OBSERVATION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6353251" y="1714500"/>
            <a:ext cx="218633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request metadata logs for usage.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134856" y="1257300"/>
            <a:ext cx="2752344" cy="1086307"/>
          </a:xfrm>
          <a:prstGeom prst="roundRect">
            <a:avLst>
              <a:gd name="adj" fmla="val 59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3425" r="-3425"/>
          <a:stretch/>
        </p:blipFill>
        <p:spPr>
          <a:xfrm>
            <a:off x="9296705" y="1454810"/>
            <a:ext cx="142646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515246" y="1438351"/>
            <a:ext cx="8430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9296705" y="1714500"/>
            <a:ext cx="241493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Safer external exposure and usage.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04495" y="2623414"/>
            <a:ext cx="5600700" cy="3362249"/>
          </a:xfrm>
          <a:prstGeom prst="roundRect">
            <a:avLst>
              <a:gd name="adj" fmla="val 9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14554" y="2632558"/>
            <a:ext cx="5581498" cy="49560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14554" y="3119018"/>
            <a:ext cx="5581498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591970" y="2789834"/>
            <a:ext cx="171907" cy="17190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839773" y="2746858"/>
            <a:ext cx="291053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 PROXY (Client-Side)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1990649" y="3959352"/>
            <a:ext cx="819302" cy="1920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3961181" y="3959352"/>
            <a:ext cx="819302" cy="1920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809244" y="4698187"/>
            <a:ext cx="4591202" cy="857707"/>
          </a:xfrm>
          <a:prstGeom prst="roundRect">
            <a:avLst>
              <a:gd name="adj" fmla="val 473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 txBox="1"/>
          <p:nvPr/>
        </p:nvSpPr>
        <p:spPr>
          <a:xfrm>
            <a:off x="972007" y="4878324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KEY FUNCTION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972007" y="5155387"/>
            <a:ext cx="3443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Protects clients &amp; filters outbound traffic.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6286500" y="2623414"/>
            <a:ext cx="5600700" cy="3362249"/>
          </a:xfrm>
          <a:prstGeom prst="roundRect">
            <a:avLst>
              <a:gd name="adj" fmla="val 9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295644" y="2632558"/>
            <a:ext cx="5581498" cy="495605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6295644" y="3119018"/>
            <a:ext cx="5581498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573975" y="2789834"/>
            <a:ext cx="171907" cy="171907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821778" y="2746858"/>
            <a:ext cx="291053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 PROXY (Server-Side)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7972654" y="3959352"/>
            <a:ext cx="504749" cy="1920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9702698" y="3959352"/>
            <a:ext cx="504749" cy="1920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6791249" y="4698187"/>
            <a:ext cx="4591202" cy="857707"/>
          </a:xfrm>
          <a:prstGeom prst="roundRect">
            <a:avLst>
              <a:gd name="adj" fmla="val 473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 txBox="1"/>
          <p:nvPr/>
        </p:nvSpPr>
        <p:spPr>
          <a:xfrm>
            <a:off x="6953098" y="4878324"/>
            <a:ext cx="10625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KEY FUNCTION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6953098" y="5155387"/>
            <a:ext cx="3672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Protects servers &amp; balances inbound traffic.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 txBox="1"/>
          <p:nvPr/>
        </p:nvSpPr>
        <p:spPr>
          <a:xfrm>
            <a:off x="304495" y="6329477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48" name="Text 40"/>
          <p:cNvSpPr txBox="1"/>
          <p:nvPr/>
        </p:nvSpPr>
        <p:spPr>
          <a:xfrm>
            <a:off x="304495" y="6329477"/>
            <a:ext cx="1050188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"Forward proxy acts on behalf of clients (you); Reverse proxy acts on behalf of servers (them)."</a:t>
            </a:r>
            <a:endParaRPr lang="en-US" sz="1300" dirty="0"/>
          </a:p>
        </p:txBody>
      </p:sp>
      <p:sp>
        <p:nvSpPr>
          <p:cNvPr id="49" name="Text 41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35 / 60</a:t>
            </a:r>
            <a:endParaRPr lang="en-US" sz="100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>
            <a:alphaModFix amt="10000"/>
          </a:blip>
          <a:srcRect l="-10024" r="-10024"/>
          <a:stretch/>
        </p:blipFill>
        <p:spPr>
          <a:xfrm>
            <a:off x="2533802" y="4168750"/>
            <a:ext cx="1143000" cy="761695"/>
          </a:xfrm>
          <a:prstGeom prst="rect">
            <a:avLst/>
          </a:prstGeom>
        </p:spPr>
      </p:pic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9">
            <a:alphaModFix amt="10000"/>
          </a:blip>
          <a:srcRect l="-10024" r="-10024"/>
          <a:stretch/>
        </p:blipFill>
        <p:spPr>
          <a:xfrm>
            <a:off x="8515807" y="4168750"/>
            <a:ext cx="1143000" cy="761695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1009498" y="3545129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1153058" y="3717036"/>
            <a:ext cx="286207" cy="228600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694944" y="4202582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Client</a:t>
            </a:r>
            <a:endParaRPr lang="en-US" sz="1000" dirty="0"/>
          </a:p>
        </p:txBody>
      </p:sp>
      <p:sp>
        <p:nvSpPr>
          <p:cNvPr id="55" name="Shape 44"/>
          <p:cNvSpPr/>
          <p:nvPr/>
        </p:nvSpPr>
        <p:spPr>
          <a:xfrm>
            <a:off x="3099816" y="3545129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270809" y="3717036"/>
            <a:ext cx="228600" cy="228600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2905049" y="4202582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 Server</a:t>
            </a:r>
            <a:endParaRPr lang="en-US" sz="1000" dirty="0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010205" y="2884932"/>
            <a:ext cx="190195" cy="190195"/>
          </a:xfrm>
          <a:prstGeom prst="rect">
            <a:avLst/>
          </a:prstGeom>
        </p:spPr>
      </p:pic>
      <p:sp>
        <p:nvSpPr>
          <p:cNvPr id="59" name="Shape 46"/>
          <p:cNvSpPr/>
          <p:nvPr/>
        </p:nvSpPr>
        <p:spPr>
          <a:xfrm>
            <a:off x="4909414" y="3545129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080406" y="3717036"/>
            <a:ext cx="228600" cy="228600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4874666" y="4202582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</a:t>
            </a:r>
            <a:endParaRPr lang="en-US" sz="1000" dirty="0"/>
          </a:p>
        </p:txBody>
      </p:sp>
      <p:sp>
        <p:nvSpPr>
          <p:cNvPr id="62" name="Shape 48"/>
          <p:cNvSpPr/>
          <p:nvPr/>
        </p:nvSpPr>
        <p:spPr>
          <a:xfrm>
            <a:off x="6991502" y="3545129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162495" y="3717036"/>
            <a:ext cx="228600" cy="228600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6676949" y="4202582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 Client</a:t>
            </a:r>
            <a:endParaRPr lang="en-US" sz="1000" dirty="0"/>
          </a:p>
        </p:txBody>
      </p:sp>
      <p:sp>
        <p:nvSpPr>
          <p:cNvPr id="65" name="Shape 50"/>
          <p:cNvSpPr/>
          <p:nvPr/>
        </p:nvSpPr>
        <p:spPr>
          <a:xfrm>
            <a:off x="8801100" y="3545129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0F172A"/>
          </a:solidFill>
          <a:ln w="25400">
            <a:solidFill>
              <a:srgbClr val="10B98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6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973007" y="3717036"/>
            <a:ext cx="228600" cy="228600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8567014" y="42025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 Proxy</a:t>
            </a:r>
            <a:endParaRPr lang="en-US" sz="1000" dirty="0"/>
          </a:p>
        </p:txBody>
      </p:sp>
      <p:pic>
        <p:nvPicPr>
          <p:cNvPr id="68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991295" y="2884932"/>
            <a:ext cx="190195" cy="190195"/>
          </a:xfrm>
          <a:prstGeom prst="rect">
            <a:avLst/>
          </a:prstGeom>
        </p:spPr>
      </p:pic>
      <p:sp>
        <p:nvSpPr>
          <p:cNvPr id="69" name="Shape 52"/>
          <p:cNvSpPr/>
          <p:nvPr/>
        </p:nvSpPr>
        <p:spPr>
          <a:xfrm>
            <a:off x="10610698" y="3545129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0" name="Image 15" descr="preencoded.png"/>
          <p:cNvPicPr>
            <a:picLocks noChangeAspect="1"/>
          </p:cNvPicPr>
          <p:nvPr/>
        </p:nvPicPr>
        <p:blipFill>
          <a:blip r:embed="rId16"/>
          <a:srcRect l="-57" r="-57"/>
          <a:stretch/>
        </p:blipFill>
        <p:spPr>
          <a:xfrm>
            <a:off x="10796321" y="3717036"/>
            <a:ext cx="200254" cy="228600"/>
          </a:xfrm>
          <a:prstGeom prst="rect">
            <a:avLst/>
          </a:prstGeom>
        </p:spPr>
      </p:pic>
      <p:sp>
        <p:nvSpPr>
          <p:cNvPr id="71" name="Text 53"/>
          <p:cNvSpPr txBox="1"/>
          <p:nvPr/>
        </p:nvSpPr>
        <p:spPr>
          <a:xfrm>
            <a:off x="10296144" y="4202582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Server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51151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Visibility: Proxy Logs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7087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8331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829800" y="352044"/>
            <a:ext cx="22101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TRAFFIC COMPONENTS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513435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record of every web request (URL) made by internal users or devices to the internet.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51252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understand user intent, enforce web policies, and categorize external destinations.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123809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934102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review log fields like URL, Category, and Action (Blocked/Allowed) to detect misuse trends.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124298"/>
            <a:ext cx="5219395" cy="857707"/>
          </a:xfrm>
          <a:prstGeom prst="roundRect">
            <a:avLst>
              <a:gd name="adj" fmla="val 947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467198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286146"/>
            <a:ext cx="473933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Informed response actions based on usage context.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6098134" y="1421892"/>
            <a:ext cx="152705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49924" y="1395374"/>
            <a:ext cx="19485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PROXY ACTIVITY LOGS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898734" y="1380744"/>
            <a:ext cx="790956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983773" y="1410005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FEED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2286000"/>
            <a:ext cx="857707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6212434" y="2018995"/>
            <a:ext cx="3977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949440" y="2286000"/>
            <a:ext cx="743407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7063740" y="2018995"/>
            <a:ext cx="3977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7687361" y="2286000"/>
            <a:ext cx="191475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7801661" y="2018995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/ DOMAIN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596628" y="2286000"/>
            <a:ext cx="1304849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9710928" y="2018995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10894162" y="2286000"/>
            <a:ext cx="80010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 txBox="1"/>
          <p:nvPr/>
        </p:nvSpPr>
        <p:spPr>
          <a:xfrm>
            <a:off x="11008462" y="2018995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6098134" y="2328977"/>
            <a:ext cx="857707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 txBox="1"/>
          <p:nvPr/>
        </p:nvSpPr>
        <p:spPr>
          <a:xfrm>
            <a:off x="6240780" y="2433218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10:45:12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6949440" y="2328977"/>
            <a:ext cx="743407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 txBox="1"/>
          <p:nvPr/>
        </p:nvSpPr>
        <p:spPr>
          <a:xfrm>
            <a:off x="7092086" y="2433218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jsmith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7687361" y="2328977"/>
            <a:ext cx="1914754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 txBox="1"/>
          <p:nvPr/>
        </p:nvSpPr>
        <p:spPr>
          <a:xfrm>
            <a:off x="7830922" y="2433218"/>
            <a:ext cx="14365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docs.microsoft.com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9596628" y="2328977"/>
            <a:ext cx="1304849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 txBox="1"/>
          <p:nvPr/>
        </p:nvSpPr>
        <p:spPr>
          <a:xfrm>
            <a:off x="9739274" y="2433218"/>
            <a:ext cx="11411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Tech/Reference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10894162" y="2328977"/>
            <a:ext cx="800100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 txBox="1"/>
          <p:nvPr/>
        </p:nvSpPr>
        <p:spPr>
          <a:xfrm>
            <a:off x="11036808" y="2433218"/>
            <a:ext cx="6172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6098134" y="2752344"/>
            <a:ext cx="857707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 txBox="1"/>
          <p:nvPr/>
        </p:nvSpPr>
        <p:spPr>
          <a:xfrm>
            <a:off x="6240780" y="2857500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10:45:15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6949440" y="2752344"/>
            <a:ext cx="743407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 txBox="1"/>
          <p:nvPr/>
        </p:nvSpPr>
        <p:spPr>
          <a:xfrm>
            <a:off x="7092086" y="2857500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jsmith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7687361" y="2752344"/>
            <a:ext cx="1914754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 txBox="1"/>
          <p:nvPr/>
        </p:nvSpPr>
        <p:spPr>
          <a:xfrm>
            <a:off x="7830922" y="2857500"/>
            <a:ext cx="12838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github.com/azure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9596628" y="2752344"/>
            <a:ext cx="1304849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 txBox="1"/>
          <p:nvPr/>
        </p:nvSpPr>
        <p:spPr>
          <a:xfrm>
            <a:off x="9739274" y="2857500"/>
            <a:ext cx="7699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Tools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10894162" y="2752344"/>
            <a:ext cx="800100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5"/>
          <p:cNvSpPr txBox="1"/>
          <p:nvPr/>
        </p:nvSpPr>
        <p:spPr>
          <a:xfrm>
            <a:off x="11036808" y="2857500"/>
            <a:ext cx="6172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6098134" y="3176626"/>
            <a:ext cx="857707" cy="390449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7"/>
          <p:cNvSpPr txBox="1"/>
          <p:nvPr/>
        </p:nvSpPr>
        <p:spPr>
          <a:xfrm>
            <a:off x="6240780" y="3281782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10:48:33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6949440" y="3176626"/>
            <a:ext cx="743407" cy="390449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9"/>
          <p:cNvSpPr txBox="1"/>
          <p:nvPr/>
        </p:nvSpPr>
        <p:spPr>
          <a:xfrm>
            <a:off x="7092086" y="3281782"/>
            <a:ext cx="3977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mdoe</a:t>
            </a:r>
            <a:endParaRPr lang="en-US" sz="900" dirty="0"/>
          </a:p>
        </p:txBody>
      </p:sp>
      <p:sp>
        <p:nvSpPr>
          <p:cNvPr id="64" name="Shape 60"/>
          <p:cNvSpPr/>
          <p:nvPr/>
        </p:nvSpPr>
        <p:spPr>
          <a:xfrm>
            <a:off x="7687361" y="3176626"/>
            <a:ext cx="1914754" cy="390449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1"/>
          <p:cNvSpPr txBox="1"/>
          <p:nvPr/>
        </p:nvSpPr>
        <p:spPr>
          <a:xfrm>
            <a:off x="7830922" y="3281782"/>
            <a:ext cx="135971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suspicious-dl.xyz</a:t>
            </a:r>
            <a:endParaRPr lang="en-US" sz="900" dirty="0"/>
          </a:p>
        </p:txBody>
      </p:sp>
      <p:sp>
        <p:nvSpPr>
          <p:cNvPr id="66" name="Shape 62"/>
          <p:cNvSpPr/>
          <p:nvPr/>
        </p:nvSpPr>
        <p:spPr>
          <a:xfrm>
            <a:off x="9596628" y="3176626"/>
            <a:ext cx="1304849" cy="390449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3"/>
          <p:cNvSpPr txBox="1"/>
          <p:nvPr/>
        </p:nvSpPr>
        <p:spPr>
          <a:xfrm>
            <a:off x="9739274" y="3281782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Malware/Risk</a:t>
            </a:r>
            <a:endParaRPr lang="en-US" sz="900" dirty="0"/>
          </a:p>
        </p:txBody>
      </p:sp>
      <p:sp>
        <p:nvSpPr>
          <p:cNvPr id="68" name="Shape 64"/>
          <p:cNvSpPr/>
          <p:nvPr/>
        </p:nvSpPr>
        <p:spPr>
          <a:xfrm>
            <a:off x="10894162" y="3176626"/>
            <a:ext cx="800100" cy="390449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5"/>
          <p:cNvSpPr txBox="1"/>
          <p:nvPr/>
        </p:nvSpPr>
        <p:spPr>
          <a:xfrm>
            <a:off x="11036808" y="3281782"/>
            <a:ext cx="6172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900" dirty="0"/>
          </a:p>
        </p:txBody>
      </p:sp>
      <p:sp>
        <p:nvSpPr>
          <p:cNvPr id="70" name="Shape 66"/>
          <p:cNvSpPr/>
          <p:nvPr/>
        </p:nvSpPr>
        <p:spPr>
          <a:xfrm>
            <a:off x="6098134" y="3600907"/>
            <a:ext cx="857707" cy="390449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7"/>
          <p:cNvSpPr txBox="1"/>
          <p:nvPr/>
        </p:nvSpPr>
        <p:spPr>
          <a:xfrm>
            <a:off x="6240780" y="3705149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10:48:34</a:t>
            </a:r>
            <a:endParaRPr lang="en-US" sz="900" dirty="0"/>
          </a:p>
        </p:txBody>
      </p:sp>
      <p:sp>
        <p:nvSpPr>
          <p:cNvPr id="72" name="Shape 68"/>
          <p:cNvSpPr/>
          <p:nvPr/>
        </p:nvSpPr>
        <p:spPr>
          <a:xfrm>
            <a:off x="6949440" y="3600907"/>
            <a:ext cx="743407" cy="390449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69"/>
          <p:cNvSpPr txBox="1"/>
          <p:nvPr/>
        </p:nvSpPr>
        <p:spPr>
          <a:xfrm>
            <a:off x="7092086" y="3705149"/>
            <a:ext cx="3977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mdoe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7687361" y="3600907"/>
            <a:ext cx="1914754" cy="390449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1"/>
          <p:cNvSpPr txBox="1"/>
          <p:nvPr/>
        </p:nvSpPr>
        <p:spPr>
          <a:xfrm>
            <a:off x="7830922" y="3705149"/>
            <a:ext cx="17318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192.0.2.10/payload.exe</a:t>
            </a:r>
            <a:endParaRPr lang="en-US" sz="900" dirty="0"/>
          </a:p>
        </p:txBody>
      </p:sp>
      <p:sp>
        <p:nvSpPr>
          <p:cNvPr id="76" name="Shape 72"/>
          <p:cNvSpPr/>
          <p:nvPr/>
        </p:nvSpPr>
        <p:spPr>
          <a:xfrm>
            <a:off x="9596628" y="3600907"/>
            <a:ext cx="1304849" cy="390449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3"/>
          <p:cNvSpPr txBox="1"/>
          <p:nvPr/>
        </p:nvSpPr>
        <p:spPr>
          <a:xfrm>
            <a:off x="9739274" y="3705149"/>
            <a:ext cx="7699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IP</a:t>
            </a:r>
            <a:endParaRPr lang="en-US" sz="900" dirty="0"/>
          </a:p>
        </p:txBody>
      </p:sp>
      <p:sp>
        <p:nvSpPr>
          <p:cNvPr id="78" name="Shape 74"/>
          <p:cNvSpPr/>
          <p:nvPr/>
        </p:nvSpPr>
        <p:spPr>
          <a:xfrm>
            <a:off x="10894162" y="3600907"/>
            <a:ext cx="800100" cy="390449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5"/>
          <p:cNvSpPr txBox="1"/>
          <p:nvPr/>
        </p:nvSpPr>
        <p:spPr>
          <a:xfrm>
            <a:off x="11036808" y="3705149"/>
            <a:ext cx="6172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900" dirty="0"/>
          </a:p>
        </p:txBody>
      </p:sp>
      <p:sp>
        <p:nvSpPr>
          <p:cNvPr id="80" name="Shape 76"/>
          <p:cNvSpPr/>
          <p:nvPr/>
        </p:nvSpPr>
        <p:spPr>
          <a:xfrm>
            <a:off x="6098134" y="4024274"/>
            <a:ext cx="857707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7"/>
          <p:cNvSpPr txBox="1"/>
          <p:nvPr/>
        </p:nvSpPr>
        <p:spPr>
          <a:xfrm>
            <a:off x="6240780" y="4129430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10:52:10</a:t>
            </a:r>
            <a:endParaRPr lang="en-US" sz="900" dirty="0"/>
          </a:p>
        </p:txBody>
      </p:sp>
      <p:sp>
        <p:nvSpPr>
          <p:cNvPr id="82" name="Shape 78"/>
          <p:cNvSpPr/>
          <p:nvPr/>
        </p:nvSpPr>
        <p:spPr>
          <a:xfrm>
            <a:off x="6949440" y="4024274"/>
            <a:ext cx="743407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9"/>
          <p:cNvSpPr txBox="1"/>
          <p:nvPr/>
        </p:nvSpPr>
        <p:spPr>
          <a:xfrm>
            <a:off x="7092086" y="4129430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ksmith</a:t>
            </a:r>
            <a:endParaRPr lang="en-US" sz="900" dirty="0"/>
          </a:p>
        </p:txBody>
      </p:sp>
      <p:sp>
        <p:nvSpPr>
          <p:cNvPr id="84" name="Shape 80"/>
          <p:cNvSpPr/>
          <p:nvPr/>
        </p:nvSpPr>
        <p:spPr>
          <a:xfrm>
            <a:off x="7687361" y="4024274"/>
            <a:ext cx="1914754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1"/>
          <p:cNvSpPr txBox="1"/>
          <p:nvPr/>
        </p:nvSpPr>
        <p:spPr>
          <a:xfrm>
            <a:off x="7830922" y="4129430"/>
            <a:ext cx="11411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salesforce.com</a:t>
            </a:r>
            <a:endParaRPr lang="en-US" sz="900" dirty="0"/>
          </a:p>
        </p:txBody>
      </p:sp>
      <p:sp>
        <p:nvSpPr>
          <p:cNvPr id="86" name="Shape 82"/>
          <p:cNvSpPr/>
          <p:nvPr/>
        </p:nvSpPr>
        <p:spPr>
          <a:xfrm>
            <a:off x="9596628" y="4024274"/>
            <a:ext cx="1304849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3"/>
          <p:cNvSpPr txBox="1"/>
          <p:nvPr/>
        </p:nvSpPr>
        <p:spPr>
          <a:xfrm>
            <a:off x="9739274" y="4129430"/>
            <a:ext cx="9884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App</a:t>
            </a:r>
            <a:endParaRPr lang="en-US" sz="900" dirty="0"/>
          </a:p>
        </p:txBody>
      </p:sp>
      <p:sp>
        <p:nvSpPr>
          <p:cNvPr id="88" name="Shape 84"/>
          <p:cNvSpPr/>
          <p:nvPr/>
        </p:nvSpPr>
        <p:spPr>
          <a:xfrm>
            <a:off x="10894162" y="4024274"/>
            <a:ext cx="800100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5"/>
          <p:cNvSpPr txBox="1"/>
          <p:nvPr/>
        </p:nvSpPr>
        <p:spPr>
          <a:xfrm>
            <a:off x="11036808" y="4129430"/>
            <a:ext cx="6172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</a:t>
            </a:r>
            <a:endParaRPr lang="en-US" sz="900" dirty="0"/>
          </a:p>
        </p:txBody>
      </p:sp>
      <p:sp>
        <p:nvSpPr>
          <p:cNvPr id="90" name="Shape 86"/>
          <p:cNvSpPr/>
          <p:nvPr/>
        </p:nvSpPr>
        <p:spPr>
          <a:xfrm>
            <a:off x="6098134" y="4448556"/>
            <a:ext cx="857707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7"/>
          <p:cNvSpPr txBox="1"/>
          <p:nvPr/>
        </p:nvSpPr>
        <p:spPr>
          <a:xfrm>
            <a:off x="6240780" y="4552798"/>
            <a:ext cx="693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10:53:22</a:t>
            </a:r>
            <a:endParaRPr lang="en-US" sz="900" dirty="0"/>
          </a:p>
        </p:txBody>
      </p:sp>
      <p:sp>
        <p:nvSpPr>
          <p:cNvPr id="92" name="Shape 88"/>
          <p:cNvSpPr/>
          <p:nvPr/>
        </p:nvSpPr>
        <p:spPr>
          <a:xfrm>
            <a:off x="6949440" y="4448556"/>
            <a:ext cx="743407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89"/>
          <p:cNvSpPr txBox="1"/>
          <p:nvPr/>
        </p:nvSpPr>
        <p:spPr>
          <a:xfrm>
            <a:off x="7092086" y="4552798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ksmith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7687361" y="4448556"/>
            <a:ext cx="1914754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1"/>
          <p:cNvSpPr txBox="1"/>
          <p:nvPr/>
        </p:nvSpPr>
        <p:spPr>
          <a:xfrm>
            <a:off x="7830922" y="4552798"/>
            <a:ext cx="135971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linkedin.com/feed</a:t>
            </a:r>
            <a:endParaRPr lang="en-US" sz="900" dirty="0"/>
          </a:p>
        </p:txBody>
      </p:sp>
      <p:sp>
        <p:nvSpPr>
          <p:cNvPr id="96" name="Shape 92"/>
          <p:cNvSpPr/>
          <p:nvPr/>
        </p:nvSpPr>
        <p:spPr>
          <a:xfrm>
            <a:off x="9596628" y="4448556"/>
            <a:ext cx="1304849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3"/>
          <p:cNvSpPr txBox="1"/>
          <p:nvPr/>
        </p:nvSpPr>
        <p:spPr>
          <a:xfrm>
            <a:off x="9739274" y="4552798"/>
            <a:ext cx="8458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Net</a:t>
            </a:r>
            <a:endParaRPr lang="en-US" sz="900" dirty="0"/>
          </a:p>
        </p:txBody>
      </p:sp>
      <p:sp>
        <p:nvSpPr>
          <p:cNvPr id="98" name="Shape 94"/>
          <p:cNvSpPr/>
          <p:nvPr/>
        </p:nvSpPr>
        <p:spPr>
          <a:xfrm>
            <a:off x="10894162" y="4448556"/>
            <a:ext cx="800100" cy="39044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5"/>
          <p:cNvSpPr txBox="1"/>
          <p:nvPr/>
        </p:nvSpPr>
        <p:spPr>
          <a:xfrm>
            <a:off x="11036808" y="4552798"/>
            <a:ext cx="6172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</a:t>
            </a:r>
            <a:endParaRPr lang="en-US" sz="900" dirty="0"/>
          </a:p>
        </p:txBody>
      </p:sp>
      <p:sp>
        <p:nvSpPr>
          <p:cNvPr id="100" name="Shape 96"/>
          <p:cNvSpPr/>
          <p:nvPr/>
        </p:nvSpPr>
        <p:spPr>
          <a:xfrm>
            <a:off x="6098134" y="5100523"/>
            <a:ext cx="559155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7"/>
          <p:cNvSpPr txBox="1"/>
          <p:nvPr/>
        </p:nvSpPr>
        <p:spPr>
          <a:xfrm>
            <a:off x="6098134" y="5272430"/>
            <a:ext cx="11914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FIELD BREAKDOWN:</a:t>
            </a:r>
            <a:endParaRPr lang="en-US" sz="900" dirty="0"/>
          </a:p>
        </p:txBody>
      </p:sp>
      <p:sp>
        <p:nvSpPr>
          <p:cNvPr id="102" name="Shape 98"/>
          <p:cNvSpPr/>
          <p:nvPr/>
        </p:nvSpPr>
        <p:spPr>
          <a:xfrm>
            <a:off x="6098134" y="5490972"/>
            <a:ext cx="1762049" cy="666598"/>
          </a:xfrm>
          <a:prstGeom prst="roundRect">
            <a:avLst>
              <a:gd name="adj" fmla="val 783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99"/>
          <p:cNvSpPr txBox="1"/>
          <p:nvPr/>
        </p:nvSpPr>
        <p:spPr>
          <a:xfrm>
            <a:off x="6183173" y="5576926"/>
            <a:ext cx="896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 / DOMAIN</a:t>
            </a:r>
            <a:endParaRPr lang="en-US" sz="900" dirty="0"/>
          </a:p>
        </p:txBody>
      </p:sp>
      <p:sp>
        <p:nvSpPr>
          <p:cNvPr id="104" name="Text 100"/>
          <p:cNvSpPr txBox="1"/>
          <p:nvPr/>
        </p:nvSpPr>
        <p:spPr>
          <a:xfrm>
            <a:off x="6183173" y="5767121"/>
            <a:ext cx="12481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exact destination requested.</a:t>
            </a:r>
            <a:endParaRPr lang="en-US" sz="900" dirty="0"/>
          </a:p>
        </p:txBody>
      </p:sp>
      <p:sp>
        <p:nvSpPr>
          <p:cNvPr id="105" name="Shape 101"/>
          <p:cNvSpPr/>
          <p:nvPr/>
        </p:nvSpPr>
        <p:spPr>
          <a:xfrm>
            <a:off x="8011973" y="5490972"/>
            <a:ext cx="1762049" cy="666598"/>
          </a:xfrm>
          <a:prstGeom prst="roundRect">
            <a:avLst>
              <a:gd name="adj" fmla="val 783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2"/>
          <p:cNvSpPr txBox="1"/>
          <p:nvPr/>
        </p:nvSpPr>
        <p:spPr>
          <a:xfrm>
            <a:off x="8097012" y="5576926"/>
            <a:ext cx="724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900" dirty="0"/>
          </a:p>
        </p:txBody>
      </p:sp>
      <p:sp>
        <p:nvSpPr>
          <p:cNvPr id="107" name="Text 103"/>
          <p:cNvSpPr txBox="1"/>
          <p:nvPr/>
        </p:nvSpPr>
        <p:spPr>
          <a:xfrm>
            <a:off x="8097012" y="5767121"/>
            <a:ext cx="14200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site type (e.g., Gambling, Tech).</a:t>
            </a:r>
            <a:endParaRPr lang="en-US" sz="900" dirty="0"/>
          </a:p>
        </p:txBody>
      </p:sp>
      <p:sp>
        <p:nvSpPr>
          <p:cNvPr id="108" name="Shape 104"/>
          <p:cNvSpPr/>
          <p:nvPr/>
        </p:nvSpPr>
        <p:spPr>
          <a:xfrm>
            <a:off x="9925812" y="5490972"/>
            <a:ext cx="1762049" cy="666598"/>
          </a:xfrm>
          <a:prstGeom prst="roundRect">
            <a:avLst>
              <a:gd name="adj" fmla="val 783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5"/>
          <p:cNvSpPr txBox="1"/>
          <p:nvPr/>
        </p:nvSpPr>
        <p:spPr>
          <a:xfrm>
            <a:off x="10011766" y="5576926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900" dirty="0"/>
          </a:p>
        </p:txBody>
      </p:sp>
      <p:sp>
        <p:nvSpPr>
          <p:cNvPr id="110" name="Text 106"/>
          <p:cNvSpPr txBox="1"/>
          <p:nvPr/>
        </p:nvSpPr>
        <p:spPr>
          <a:xfrm>
            <a:off x="10011766" y="5767121"/>
            <a:ext cx="15819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the proxy let it through?</a:t>
            </a:r>
            <a:endParaRPr lang="en-US" sz="900" dirty="0"/>
          </a:p>
        </p:txBody>
      </p:sp>
      <p:sp>
        <p:nvSpPr>
          <p:cNvPr id="111" name="Shape 107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08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09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114" name="Text 110"/>
          <p:cNvSpPr txBox="1"/>
          <p:nvPr/>
        </p:nvSpPr>
        <p:spPr>
          <a:xfrm>
            <a:off x="1558138" y="6329477"/>
            <a:ext cx="918697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logs. Notice the blocked attempt to a malware site. The 'Category' field is key for context."</a:t>
            </a:r>
            <a:endParaRPr lang="en-US" sz="1300" dirty="0"/>
          </a:p>
        </p:txBody>
      </p:sp>
      <p:sp>
        <p:nvSpPr>
          <p:cNvPr id="115" name="Text 111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36 / 60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473476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Balancer: Concept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7087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8331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829800" y="352044"/>
            <a:ext cx="22101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TRAFFIC COMPONENTS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12380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791456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device that distributes incoming network traffic across multiple backend servers or instances.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72216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73131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3017520"/>
            <a:ext cx="51252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reliability, high availability, and allows applications to scale horizontally.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86699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87614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4162349"/>
            <a:ext cx="47439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tie incoming client requests to specific backend server destinations.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335767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Accurate impact assessment.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6098134" y="1421892"/>
            <a:ext cx="171907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69126" y="1395374"/>
            <a:ext cx="29105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 CLUSTER STATUS - VIP: 192.0.2.20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1104474" y="1380744"/>
            <a:ext cx="590702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1189513" y="1410005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1904695"/>
            <a:ext cx="5591556" cy="400507"/>
          </a:xfrm>
          <a:prstGeom prst="roundRect">
            <a:avLst>
              <a:gd name="adj" fmla="val 3261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6221578" y="2026310"/>
            <a:ext cx="190195" cy="152705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507785" y="2009851"/>
            <a:ext cx="6172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802575" y="2093062"/>
            <a:ext cx="2180844" cy="1920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 txBox="1"/>
          <p:nvPr/>
        </p:nvSpPr>
        <p:spPr>
          <a:xfrm>
            <a:off x="8451799" y="1922069"/>
            <a:ext cx="96469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 Requests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7874813" y="2073859"/>
            <a:ext cx="57607" cy="57607"/>
          </a:xfrm>
          <a:prstGeom prst="ellipse">
            <a:avLst/>
          </a:prstGeom>
          <a:solidFill>
            <a:srgbClr val="8B5CF6">
              <a:alpha val="3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10330891" y="2009851"/>
            <a:ext cx="10652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Balancer</a:t>
            </a:r>
            <a:endParaRPr lang="en-US" sz="9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11391595" y="2026310"/>
            <a:ext cx="171907" cy="152705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6098134" y="2490826"/>
            <a:ext cx="5591556" cy="428854"/>
          </a:xfrm>
          <a:prstGeom prst="roundRect">
            <a:avLst>
              <a:gd name="adj" fmla="val 28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6526073" y="2626157"/>
            <a:ext cx="133502" cy="152705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7802575" y="2692908"/>
            <a:ext cx="2180844" cy="1920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 txBox="1"/>
          <p:nvPr/>
        </p:nvSpPr>
        <p:spPr>
          <a:xfrm>
            <a:off x="8672170" y="2521915"/>
            <a:ext cx="5266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A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7874813" y="2673706"/>
            <a:ext cx="57607" cy="57607"/>
          </a:xfrm>
          <a:prstGeom prst="ellipse">
            <a:avLst/>
          </a:prstGeom>
          <a:solidFill>
            <a:srgbClr val="10B981">
              <a:alpha val="3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10125151" y="2595982"/>
            <a:ext cx="580644" cy="219456"/>
          </a:xfrm>
          <a:prstGeom prst="roundRect">
            <a:avLst>
              <a:gd name="adj" fmla="val 72464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10191902" y="2624328"/>
            <a:ext cx="5266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800" dirty="0"/>
          </a:p>
        </p:txBody>
      </p:sp>
      <p:sp>
        <p:nvSpPr>
          <p:cNvPr id="45" name="Text 38"/>
          <p:cNvSpPr txBox="1"/>
          <p:nvPr/>
        </p:nvSpPr>
        <p:spPr>
          <a:xfrm>
            <a:off x="10869473" y="2609698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Svr_01</a:t>
            </a:r>
            <a:endParaRPr lang="en-US" sz="9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410798" y="2626157"/>
            <a:ext cx="152705" cy="152705"/>
          </a:xfrm>
          <a:prstGeom prst="rect">
            <a:avLst/>
          </a:prstGeom>
        </p:spPr>
      </p:pic>
      <p:sp>
        <p:nvSpPr>
          <p:cNvPr id="47" name="Shape 39"/>
          <p:cNvSpPr/>
          <p:nvPr/>
        </p:nvSpPr>
        <p:spPr>
          <a:xfrm>
            <a:off x="6098134" y="3029407"/>
            <a:ext cx="5591556" cy="428854"/>
          </a:xfrm>
          <a:prstGeom prst="roundRect">
            <a:avLst>
              <a:gd name="adj" fmla="val 28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6526073" y="3164738"/>
            <a:ext cx="133502" cy="152705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7802575" y="3231490"/>
            <a:ext cx="2180844" cy="1920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1"/>
          <p:cNvSpPr txBox="1"/>
          <p:nvPr/>
        </p:nvSpPr>
        <p:spPr>
          <a:xfrm>
            <a:off x="8672170" y="3059582"/>
            <a:ext cx="5266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B</a:t>
            </a:r>
            <a:endParaRPr lang="en-US" sz="800" dirty="0"/>
          </a:p>
        </p:txBody>
      </p:sp>
      <p:sp>
        <p:nvSpPr>
          <p:cNvPr id="51" name="Shape 42"/>
          <p:cNvSpPr/>
          <p:nvPr/>
        </p:nvSpPr>
        <p:spPr>
          <a:xfrm>
            <a:off x="7874813" y="3212287"/>
            <a:ext cx="57607" cy="57607"/>
          </a:xfrm>
          <a:prstGeom prst="ellipse">
            <a:avLst/>
          </a:prstGeom>
          <a:solidFill>
            <a:srgbClr val="10B981">
              <a:alpha val="3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3"/>
          <p:cNvSpPr/>
          <p:nvPr/>
        </p:nvSpPr>
        <p:spPr>
          <a:xfrm>
            <a:off x="10125151" y="3133649"/>
            <a:ext cx="580644" cy="219456"/>
          </a:xfrm>
          <a:prstGeom prst="roundRect">
            <a:avLst>
              <a:gd name="adj" fmla="val 72464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4"/>
          <p:cNvSpPr txBox="1"/>
          <p:nvPr/>
        </p:nvSpPr>
        <p:spPr>
          <a:xfrm>
            <a:off x="10191902" y="3161995"/>
            <a:ext cx="5266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800" dirty="0"/>
          </a:p>
        </p:txBody>
      </p:sp>
      <p:sp>
        <p:nvSpPr>
          <p:cNvPr id="54" name="Text 45"/>
          <p:cNvSpPr txBox="1"/>
          <p:nvPr/>
        </p:nvSpPr>
        <p:spPr>
          <a:xfrm>
            <a:off x="10869473" y="3148279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Svr_02</a:t>
            </a:r>
            <a:endParaRPr lang="en-US" sz="900" dirty="0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410798" y="3164738"/>
            <a:ext cx="152705" cy="152705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6098134" y="3567074"/>
            <a:ext cx="5591556" cy="428854"/>
          </a:xfrm>
          <a:prstGeom prst="roundRect">
            <a:avLst>
              <a:gd name="adj" fmla="val 2842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7"/>
          <p:cNvSpPr/>
          <p:nvPr/>
        </p:nvSpPr>
        <p:spPr>
          <a:xfrm>
            <a:off x="10313518" y="3672230"/>
            <a:ext cx="390449" cy="219456"/>
          </a:xfrm>
          <a:prstGeom prst="roundRect">
            <a:avLst>
              <a:gd name="adj" fmla="val 72464"/>
            </a:avLst>
          </a:prstGeom>
          <a:solidFill>
            <a:srgbClr val="EF4444">
              <a:alpha val="60000"/>
            </a:srgbClr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8">
            <a:alphaModFix amt="60000"/>
          </a:blip>
          <a:srcRect/>
          <a:stretch/>
        </p:blipFill>
        <p:spPr>
          <a:xfrm>
            <a:off x="11410798" y="3702406"/>
            <a:ext cx="152705" cy="152705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10380269" y="3700577"/>
            <a:ext cx="3364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7171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</a:t>
            </a:r>
            <a:endParaRPr lang="en-US" sz="800" dirty="0"/>
          </a:p>
        </p:txBody>
      </p:sp>
      <p:sp>
        <p:nvSpPr>
          <p:cNvPr id="60" name="Text 49"/>
          <p:cNvSpPr txBox="1"/>
          <p:nvPr/>
        </p:nvSpPr>
        <p:spPr>
          <a:xfrm>
            <a:off x="10869473" y="3685946"/>
            <a:ext cx="5413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Svr_03</a:t>
            </a:r>
            <a:endParaRPr lang="en-US" sz="900" dirty="0"/>
          </a:p>
        </p:txBody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7">
            <a:alphaModFix amt="60000"/>
          </a:blip>
          <a:srcRect t="-43" b="-43"/>
          <a:stretch/>
        </p:blipFill>
        <p:spPr>
          <a:xfrm>
            <a:off x="6526073" y="3702406"/>
            <a:ext cx="133502" cy="152705"/>
          </a:xfrm>
          <a:prstGeom prst="rect">
            <a:avLst/>
          </a:prstGeom>
        </p:spPr>
      </p:pic>
      <p:sp>
        <p:nvSpPr>
          <p:cNvPr id="62" name="Shape 50"/>
          <p:cNvSpPr/>
          <p:nvPr/>
        </p:nvSpPr>
        <p:spPr>
          <a:xfrm>
            <a:off x="7802575" y="3769157"/>
            <a:ext cx="2180844" cy="19202"/>
          </a:xfrm>
          <a:prstGeom prst="rect">
            <a:avLst/>
          </a:prstGeom>
          <a:solidFill>
            <a:srgbClr val="47556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1"/>
          <p:cNvSpPr txBox="1"/>
          <p:nvPr/>
        </p:nvSpPr>
        <p:spPr>
          <a:xfrm>
            <a:off x="8672170" y="3598164"/>
            <a:ext cx="5266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800" dirty="0"/>
          </a:p>
        </p:txBody>
      </p:sp>
      <p:pic>
        <p:nvPicPr>
          <p:cNvPr id="64" name="Image 10" descr="preencoded.png"/>
          <p:cNvPicPr>
            <a:picLocks noChangeAspect="1"/>
          </p:cNvPicPr>
          <p:nvPr/>
        </p:nvPicPr>
        <p:blipFill>
          <a:blip r:embed="rId9">
            <a:alphaModFix amt="60000"/>
          </a:blip>
          <a:srcRect t="-100" b="-100"/>
          <a:stretch/>
        </p:blipFill>
        <p:spPr>
          <a:xfrm>
            <a:off x="8892540" y="3731666"/>
            <a:ext cx="114300" cy="152705"/>
          </a:xfrm>
          <a:prstGeom prst="rect">
            <a:avLst/>
          </a:prstGeom>
        </p:spPr>
      </p:pic>
      <p:sp>
        <p:nvSpPr>
          <p:cNvPr id="65" name="Shape 52"/>
          <p:cNvSpPr/>
          <p:nvPr/>
        </p:nvSpPr>
        <p:spPr>
          <a:xfrm>
            <a:off x="6098134" y="4181551"/>
            <a:ext cx="5591556" cy="1600200"/>
          </a:xfrm>
          <a:prstGeom prst="roundRect">
            <a:avLst>
              <a:gd name="adj" fmla="val 1361"/>
            </a:avLst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3"/>
          <p:cNvSpPr txBox="1"/>
          <p:nvPr/>
        </p:nvSpPr>
        <p:spPr>
          <a:xfrm>
            <a:off x="6183173" y="4276649"/>
            <a:ext cx="3410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[14:02:01] LB_Algorithm: Round-Robin</a:t>
            </a:r>
            <a:endParaRPr lang="en-US" sz="1200" dirty="0"/>
          </a:p>
        </p:txBody>
      </p:sp>
      <p:sp>
        <p:nvSpPr>
          <p:cNvPr id="67" name="Text 54"/>
          <p:cNvSpPr txBox="1"/>
          <p:nvPr/>
        </p:nvSpPr>
        <p:spPr>
          <a:xfrm>
            <a:off x="6183173" y="4466844"/>
            <a:ext cx="4877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[14:02:02] ReqID:8821 -&gt; Routed to Svr_01 (10.0.1.5)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6183173" y="4657954"/>
            <a:ext cx="4877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[14:02:03] ReqID:8822 -&gt; Routed to Svr_02 (10.0.1.6)</a:t>
            </a:r>
            <a:endParaRPr lang="en-US" sz="1200" dirty="0"/>
          </a:p>
        </p:txBody>
      </p:sp>
      <p:sp>
        <p:nvSpPr>
          <p:cNvPr id="69" name="Text 56"/>
          <p:cNvSpPr txBox="1"/>
          <p:nvPr/>
        </p:nvSpPr>
        <p:spPr>
          <a:xfrm>
            <a:off x="6183173" y="4848149"/>
            <a:ext cx="49633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717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[14:02:04] HEALTH_CHECK: Svr_03 (10.0.1.7) connection refused. Removed from pool.</a:t>
            </a:r>
            <a:endParaRPr lang="en-US" sz="1200" dirty="0"/>
          </a:p>
        </p:txBody>
      </p:sp>
      <p:sp>
        <p:nvSpPr>
          <p:cNvPr id="70" name="Shape 57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58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59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73" name="Text 60"/>
          <p:cNvSpPr txBox="1"/>
          <p:nvPr/>
        </p:nvSpPr>
        <p:spPr>
          <a:xfrm>
            <a:off x="1686154" y="6329477"/>
            <a:ext cx="888248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how the single entry point (VIP) splits traffic to multiple servers based on health."</a:t>
            </a:r>
            <a:endParaRPr lang="en-US" sz="1300" dirty="0"/>
          </a:p>
        </p:txBody>
      </p:sp>
      <p:sp>
        <p:nvSpPr>
          <p:cNvPr id="74" name="Text 61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37 / 60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71826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Visibility: Load-Balanced Traffic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457286" y="323698"/>
            <a:ext cx="1457554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581644" y="390449"/>
            <a:ext cx="13103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SOC-L1 TRAINING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352044"/>
            <a:ext cx="1981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TRAFFIC ANALYSIS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3381451"/>
            <a:ext cx="1158270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04495" y="1276502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304495" y="1657807"/>
            <a:ext cx="105156" cy="17190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23951" y="1619402"/>
            <a:ext cx="34006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distribution with health checks and routes.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304495" y="2449678"/>
            <a:ext cx="105156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3951" y="2411273"/>
            <a:ext cx="3238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requests only reach operational servers.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267505" y="1276502"/>
            <a:ext cx="1877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EXIST?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4267505" y="1657807"/>
            <a:ext cx="105156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86046" y="1619402"/>
            <a:ext cx="30861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Explains intermittent errors users might report.</a:t>
            </a:r>
            <a:endParaRPr lang="en-US" sz="18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4267505" y="2449678"/>
            <a:ext cx="105156" cy="17190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486046" y="2411273"/>
            <a:ext cx="29343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Isolates failure to specific backend nodes.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0" y="1276502"/>
            <a:ext cx="1914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USE &amp; OUTCOME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8229600" y="1657807"/>
            <a:ext cx="190195" cy="17190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534095" y="1619402"/>
            <a:ext cx="29434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Correlate user errors with backend health logs.</a:t>
            </a:r>
            <a:endParaRPr lang="en-US" sz="18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9600" y="2449678"/>
            <a:ext cx="171907" cy="17190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515807" y="2411273"/>
            <a:ext cx="30861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Clearer incident scope and faster resolution.</a:t>
            </a:r>
            <a:endParaRPr lang="en-US" sz="1800" dirty="0"/>
          </a:p>
        </p:txBody>
      </p:sp>
      <p:sp>
        <p:nvSpPr>
          <p:cNvPr id="26" name="Shape 18"/>
          <p:cNvSpPr/>
          <p:nvPr/>
        </p:nvSpPr>
        <p:spPr>
          <a:xfrm>
            <a:off x="304495" y="3613709"/>
            <a:ext cx="11582705" cy="2371954"/>
          </a:xfrm>
          <a:prstGeom prst="roundRect">
            <a:avLst>
              <a:gd name="adj" fmla="val 185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466344" y="3792017"/>
            <a:ext cx="171907" cy="13350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14146" y="3794760"/>
            <a:ext cx="13103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LB TRAFFIC FLOW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10276942" y="3775558"/>
            <a:ext cx="866851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1"/>
          <p:cNvSpPr txBox="1"/>
          <p:nvPr/>
        </p:nvSpPr>
        <p:spPr>
          <a:xfrm>
            <a:off x="10362895" y="3832250"/>
            <a:ext cx="781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HEALTH: OK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11210544" y="3775558"/>
            <a:ext cx="523951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3"/>
          <p:cNvSpPr txBox="1"/>
          <p:nvPr/>
        </p:nvSpPr>
        <p:spPr>
          <a:xfrm>
            <a:off x="11296498" y="3832250"/>
            <a:ext cx="4389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LB-01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6"/>
          <p:cNvSpPr txBox="1"/>
          <p:nvPr/>
        </p:nvSpPr>
        <p:spPr>
          <a:xfrm>
            <a:off x="304495" y="6458407"/>
            <a:ext cx="1776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OBSERVATION: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2027225" y="6458407"/>
            <a:ext cx="7948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 often show the Load Balancer IP as the "Client" in backend server logs.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38 / 60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1019556" y="4778654"/>
            <a:ext cx="10153498" cy="384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1019556" y="4787798"/>
            <a:ext cx="10153498" cy="1920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1324051" y="4110228"/>
            <a:ext cx="571500" cy="5715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3B82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509674" y="4281221"/>
            <a:ext cx="200254" cy="2286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152144" y="4843577"/>
            <a:ext cx="103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REQ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994867" y="5138928"/>
            <a:ext cx="13386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sends request</a:t>
            </a:r>
            <a:endParaRPr lang="en-US" sz="1000" dirty="0"/>
          </a:p>
        </p:txBody>
      </p:sp>
      <p:sp>
        <p:nvSpPr>
          <p:cNvPr id="44" name="Text 34"/>
          <p:cNvSpPr txBox="1"/>
          <p:nvPr/>
        </p:nvSpPr>
        <p:spPr>
          <a:xfrm>
            <a:off x="1143914" y="5311750"/>
            <a:ext cx="10341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VIP Address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1283818" y="3728923"/>
            <a:ext cx="657454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6"/>
          <p:cNvSpPr txBox="1"/>
          <p:nvPr/>
        </p:nvSpPr>
        <p:spPr>
          <a:xfrm>
            <a:off x="1369771" y="378561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T+0.00s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3567074" y="4110228"/>
            <a:ext cx="571500" cy="5715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8B5C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3724351" y="4281221"/>
            <a:ext cx="256946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3258007" y="4843577"/>
            <a:ext cx="1305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BALANCER</a:t>
            </a:r>
            <a:endParaRPr lang="en-US" sz="1200" dirty="0"/>
          </a:p>
        </p:txBody>
      </p:sp>
      <p:sp>
        <p:nvSpPr>
          <p:cNvPr id="50" name="Text 39"/>
          <p:cNvSpPr txBox="1"/>
          <p:nvPr/>
        </p:nvSpPr>
        <p:spPr>
          <a:xfrm>
            <a:off x="3364992" y="5138928"/>
            <a:ext cx="10817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traffic</a:t>
            </a:r>
            <a:endParaRPr lang="en-US" sz="1000" dirty="0"/>
          </a:p>
        </p:txBody>
      </p:sp>
      <p:sp>
        <p:nvSpPr>
          <p:cNvPr id="51" name="Text 40"/>
          <p:cNvSpPr txBox="1"/>
          <p:nvPr/>
        </p:nvSpPr>
        <p:spPr>
          <a:xfrm>
            <a:off x="3358591" y="5311750"/>
            <a:ext cx="1090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checks policy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526841" y="3728923"/>
            <a:ext cx="657454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2"/>
          <p:cNvSpPr txBox="1"/>
          <p:nvPr/>
        </p:nvSpPr>
        <p:spPr>
          <a:xfrm>
            <a:off x="3612794" y="378561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T+0.02s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5810098" y="4110228"/>
            <a:ext cx="571500" cy="5715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F59E0B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82005" y="4281221"/>
            <a:ext cx="228600" cy="228600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5547665" y="4843577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CHECK</a:t>
            </a:r>
            <a:endParaRPr lang="en-US" sz="1200" dirty="0"/>
          </a:p>
        </p:txBody>
      </p:sp>
      <p:sp>
        <p:nvSpPr>
          <p:cNvPr id="57" name="Text 45"/>
          <p:cNvSpPr txBox="1"/>
          <p:nvPr/>
        </p:nvSpPr>
        <p:spPr>
          <a:xfrm>
            <a:off x="5620817" y="5138928"/>
            <a:ext cx="10533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backend</a:t>
            </a:r>
            <a:endParaRPr lang="en-US" sz="1000" dirty="0"/>
          </a:p>
        </p:txBody>
      </p:sp>
      <p:sp>
        <p:nvSpPr>
          <p:cNvPr id="58" name="Text 46"/>
          <p:cNvSpPr txBox="1"/>
          <p:nvPr/>
        </p:nvSpPr>
        <p:spPr>
          <a:xfrm>
            <a:off x="5748833" y="5311750"/>
            <a:ext cx="7955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available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5769864" y="3728923"/>
            <a:ext cx="657454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48"/>
          <p:cNvSpPr txBox="1"/>
          <p:nvPr/>
        </p:nvSpPr>
        <p:spPr>
          <a:xfrm>
            <a:off x="5855818" y="378561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T+0.03s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8053121" y="4110228"/>
            <a:ext cx="571500" cy="5715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10B981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225028" y="4281221"/>
            <a:ext cx="228600" cy="228600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8110728" y="4843577"/>
            <a:ext cx="5815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endParaRPr lang="en-US" sz="1200" dirty="0"/>
          </a:p>
        </p:txBody>
      </p:sp>
      <p:sp>
        <p:nvSpPr>
          <p:cNvPr id="64" name="Text 51"/>
          <p:cNvSpPr txBox="1"/>
          <p:nvPr/>
        </p:nvSpPr>
        <p:spPr>
          <a:xfrm>
            <a:off x="8000086" y="5138928"/>
            <a:ext cx="7863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 to</a:t>
            </a:r>
            <a:endParaRPr lang="en-US" sz="1000" dirty="0"/>
          </a:p>
        </p:txBody>
      </p:sp>
      <p:sp>
        <p:nvSpPr>
          <p:cNvPr id="65" name="Text 52"/>
          <p:cNvSpPr txBox="1"/>
          <p:nvPr/>
        </p:nvSpPr>
        <p:spPr>
          <a:xfrm>
            <a:off x="7805318" y="5311750"/>
            <a:ext cx="11768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 Backend</a:t>
            </a:r>
            <a:endParaRPr lang="en-US" sz="1000" dirty="0"/>
          </a:p>
        </p:txBody>
      </p:sp>
      <p:sp>
        <p:nvSpPr>
          <p:cNvPr id="66" name="Shape 53"/>
          <p:cNvSpPr/>
          <p:nvPr/>
        </p:nvSpPr>
        <p:spPr>
          <a:xfrm>
            <a:off x="8012887" y="3728923"/>
            <a:ext cx="657454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4"/>
          <p:cNvSpPr txBox="1"/>
          <p:nvPr/>
        </p:nvSpPr>
        <p:spPr>
          <a:xfrm>
            <a:off x="8098841" y="378561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T+0.05s</a:t>
            </a:r>
            <a:endParaRPr lang="en-US" sz="900" dirty="0"/>
          </a:p>
        </p:txBody>
      </p:sp>
      <p:sp>
        <p:nvSpPr>
          <p:cNvPr id="68" name="Shape 55"/>
          <p:cNvSpPr/>
          <p:nvPr/>
        </p:nvSpPr>
        <p:spPr>
          <a:xfrm>
            <a:off x="10296144" y="4110228"/>
            <a:ext cx="571500" cy="5715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3B82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9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468051" y="4281221"/>
            <a:ext cx="228600" cy="228600"/>
          </a:xfrm>
          <a:prstGeom prst="rect">
            <a:avLst/>
          </a:prstGeom>
        </p:spPr>
      </p:pic>
      <p:sp>
        <p:nvSpPr>
          <p:cNvPr id="70" name="Text 56"/>
          <p:cNvSpPr txBox="1"/>
          <p:nvPr/>
        </p:nvSpPr>
        <p:spPr>
          <a:xfrm>
            <a:off x="10216591" y="4843577"/>
            <a:ext cx="8485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200" dirty="0"/>
          </a:p>
        </p:txBody>
      </p:sp>
      <p:sp>
        <p:nvSpPr>
          <p:cNvPr id="71" name="Text 57"/>
          <p:cNvSpPr txBox="1"/>
          <p:nvPr/>
        </p:nvSpPr>
        <p:spPr>
          <a:xfrm>
            <a:off x="10145268" y="5138928"/>
            <a:ext cx="976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replies</a:t>
            </a:r>
            <a:endParaRPr lang="en-US" sz="1000" dirty="0"/>
          </a:p>
        </p:txBody>
      </p:sp>
      <p:sp>
        <p:nvSpPr>
          <p:cNvPr id="72" name="Text 58"/>
          <p:cNvSpPr txBox="1"/>
          <p:nvPr/>
        </p:nvSpPr>
        <p:spPr>
          <a:xfrm>
            <a:off x="10111435" y="5311750"/>
            <a:ext cx="1043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 LB to Client</a:t>
            </a:r>
            <a:endParaRPr lang="en-US" sz="1000" dirty="0"/>
          </a:p>
        </p:txBody>
      </p:sp>
      <p:sp>
        <p:nvSpPr>
          <p:cNvPr id="73" name="Shape 59"/>
          <p:cNvSpPr/>
          <p:nvPr/>
        </p:nvSpPr>
        <p:spPr>
          <a:xfrm>
            <a:off x="10255910" y="3728923"/>
            <a:ext cx="657454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0"/>
          <p:cNvSpPr txBox="1"/>
          <p:nvPr/>
        </p:nvSpPr>
        <p:spPr>
          <a:xfrm>
            <a:off x="10341864" y="378561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T+0.08s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486735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CDN: Concept and Value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9373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0617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352044"/>
            <a:ext cx="1981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TRAFFIC &amp; ACCESS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7823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distributed network of servers delivering content based on user location.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496336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improve speed by caching content closer to users and offloading the origin server.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123809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381805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identify provider domains in logs to distinguish legitimate CDN traffic from anomalies.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33201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Correct attribution decisions.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8134" y="1421892"/>
            <a:ext cx="133502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30722" y="1395374"/>
            <a:ext cx="25868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CONTENT DELIVERY NETWORK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1104474" y="1380744"/>
            <a:ext cx="590702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1189513" y="1410005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1904695"/>
            <a:ext cx="5591556" cy="3877056"/>
          </a:xfrm>
          <a:prstGeom prst="roundRect">
            <a:avLst>
              <a:gd name="adj" fmla="val 464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10677449" y="1867205"/>
            <a:ext cx="1057046" cy="552298"/>
          </a:xfrm>
          <a:prstGeom prst="roundRect">
            <a:avLst>
              <a:gd name="adj" fmla="val 1141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10763402" y="1971446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10953598" y="1962302"/>
            <a:ext cx="5056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ORIGIN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10763402" y="2200046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10953598" y="2190902"/>
            <a:ext cx="781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EDGE CACHE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1608430" y="6329477"/>
            <a:ext cx="90827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"Notice how users connect to the blue Edge servers, not the red Origin. This is why you see CDN IPs."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39 / 60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7427671" y="3436315"/>
            <a:ext cx="1571854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7401154" y="4055364"/>
            <a:ext cx="2238451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7439558" y="3533242"/>
            <a:ext cx="3247949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8054035" y="3300984"/>
            <a:ext cx="57607" cy="57607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8612734" y="3920947"/>
            <a:ext cx="57607" cy="57607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2"/>
          <p:cNvSpPr/>
          <p:nvPr/>
        </p:nvSpPr>
        <p:spPr>
          <a:xfrm>
            <a:off x="9171432" y="3493922"/>
            <a:ext cx="57607" cy="57607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7459675" y="345551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7583119" y="3569818"/>
            <a:ext cx="133502" cy="152705"/>
          </a:xfrm>
          <a:prstGeom prst="rect">
            <a:avLst/>
          </a:prstGeom>
        </p:spPr>
      </p:pic>
      <p:sp>
        <p:nvSpPr>
          <p:cNvPr id="49" name="Shape 44"/>
          <p:cNvSpPr/>
          <p:nvPr/>
        </p:nvSpPr>
        <p:spPr>
          <a:xfrm>
            <a:off x="7215530" y="3893515"/>
            <a:ext cx="875995" cy="209398"/>
          </a:xfrm>
          <a:prstGeom prst="roundRect">
            <a:avLst>
              <a:gd name="adj" fmla="val 7939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 txBox="1"/>
          <p:nvPr/>
        </p:nvSpPr>
        <p:spPr>
          <a:xfrm>
            <a:off x="7273138" y="3922776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(US)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9068105" y="306781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82405" y="3182112"/>
            <a:ext cx="152705" cy="152705"/>
          </a:xfrm>
          <a:prstGeom prst="rect">
            <a:avLst/>
          </a:prstGeom>
        </p:spPr>
      </p:pic>
      <p:sp>
        <p:nvSpPr>
          <p:cNvPr id="53" name="Shape 47"/>
          <p:cNvSpPr/>
          <p:nvPr/>
        </p:nvSpPr>
        <p:spPr>
          <a:xfrm>
            <a:off x="8892540" y="3505810"/>
            <a:ext cx="733349" cy="209398"/>
          </a:xfrm>
          <a:prstGeom prst="roundRect">
            <a:avLst>
              <a:gd name="adj" fmla="val 7939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8"/>
          <p:cNvSpPr txBox="1"/>
          <p:nvPr/>
        </p:nvSpPr>
        <p:spPr>
          <a:xfrm>
            <a:off x="8949233" y="3535070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(EU)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9626803" y="423092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741103" y="4345229"/>
            <a:ext cx="152705" cy="152705"/>
          </a:xfrm>
          <a:prstGeom prst="rect">
            <a:avLst/>
          </a:prstGeom>
        </p:spPr>
      </p:pic>
      <p:sp>
        <p:nvSpPr>
          <p:cNvPr id="57" name="Shape 50"/>
          <p:cNvSpPr/>
          <p:nvPr/>
        </p:nvSpPr>
        <p:spPr>
          <a:xfrm>
            <a:off x="9451238" y="4668926"/>
            <a:ext cx="733349" cy="209398"/>
          </a:xfrm>
          <a:prstGeom prst="roundRect">
            <a:avLst>
              <a:gd name="adj" fmla="val 7939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1"/>
          <p:cNvSpPr txBox="1"/>
          <p:nvPr/>
        </p:nvSpPr>
        <p:spPr>
          <a:xfrm>
            <a:off x="9508846" y="4697273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(AF)</a:t>
            </a:r>
            <a:endParaRPr lang="en-US" sz="900" dirty="0"/>
          </a:p>
        </p:txBody>
      </p:sp>
      <p:sp>
        <p:nvSpPr>
          <p:cNvPr id="59" name="Shape 52"/>
          <p:cNvSpPr/>
          <p:nvPr/>
        </p:nvSpPr>
        <p:spPr>
          <a:xfrm>
            <a:off x="10812780" y="345551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27080" y="3569818"/>
            <a:ext cx="152705" cy="152705"/>
          </a:xfrm>
          <a:prstGeom prst="rect">
            <a:avLst/>
          </a:prstGeom>
        </p:spPr>
      </p:pic>
      <p:sp>
        <p:nvSpPr>
          <p:cNvPr id="61" name="Shape 53"/>
          <p:cNvSpPr/>
          <p:nvPr/>
        </p:nvSpPr>
        <p:spPr>
          <a:xfrm>
            <a:off x="10569550" y="3893515"/>
            <a:ext cx="875995" cy="209398"/>
          </a:xfrm>
          <a:prstGeom prst="roundRect">
            <a:avLst>
              <a:gd name="adj" fmla="val 7939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4"/>
          <p:cNvSpPr txBox="1"/>
          <p:nvPr/>
        </p:nvSpPr>
        <p:spPr>
          <a:xfrm>
            <a:off x="10626242" y="3922776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(ASIA)</a:t>
            </a:r>
            <a:endParaRPr lang="en-US" sz="900" dirty="0"/>
          </a:p>
        </p:txBody>
      </p:sp>
      <p:sp>
        <p:nvSpPr>
          <p:cNvPr id="63" name="Shape 55"/>
          <p:cNvSpPr/>
          <p:nvPr/>
        </p:nvSpPr>
        <p:spPr>
          <a:xfrm>
            <a:off x="6206033" y="5324551"/>
            <a:ext cx="5381244" cy="4572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6"/>
          <p:cNvSpPr/>
          <p:nvPr/>
        </p:nvSpPr>
        <p:spPr>
          <a:xfrm>
            <a:off x="6577279" y="5619902"/>
            <a:ext cx="3400654" cy="57607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6310274" y="5443423"/>
            <a:ext cx="171907" cy="190195"/>
          </a:xfrm>
          <a:prstGeom prst="rect">
            <a:avLst/>
          </a:prstGeom>
        </p:spPr>
      </p:pic>
      <p:sp>
        <p:nvSpPr>
          <p:cNvPr id="66" name="Text 57"/>
          <p:cNvSpPr txBox="1"/>
          <p:nvPr/>
        </p:nvSpPr>
        <p:spPr>
          <a:xfrm>
            <a:off x="6577279" y="5438851"/>
            <a:ext cx="20098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USER REQUEST: GET /image.png</a:t>
            </a:r>
            <a:endParaRPr lang="en-US" sz="900" dirty="0"/>
          </a:p>
        </p:txBody>
      </p:sp>
      <p:sp>
        <p:nvSpPr>
          <p:cNvPr id="67" name="Text 58"/>
          <p:cNvSpPr txBox="1"/>
          <p:nvPr/>
        </p:nvSpPr>
        <p:spPr>
          <a:xfrm>
            <a:off x="10350094" y="5438851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HIT (CACHE)</a:t>
            </a:r>
            <a:endParaRPr lang="en-US" sz="900" dirty="0"/>
          </a:p>
        </p:txBody>
      </p:sp>
      <p:sp>
        <p:nvSpPr>
          <p:cNvPr id="68" name="Text 59"/>
          <p:cNvSpPr txBox="1"/>
          <p:nvPr/>
        </p:nvSpPr>
        <p:spPr>
          <a:xfrm>
            <a:off x="11199571" y="5486400"/>
            <a:ext cx="3621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15ms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521025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Visibility: CDN Traffic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457286" y="323698"/>
            <a:ext cx="1457554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581644" y="390449"/>
            <a:ext cx="13103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SOC-L1 TRAINING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352044"/>
            <a:ext cx="1981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TRAFFIC ANALYSIS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3381451"/>
            <a:ext cx="1158270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04495" y="1276502"/>
            <a:ext cx="13432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&amp; WHY?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304495" y="1657807"/>
            <a:ext cx="105156" cy="17190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23951" y="1619402"/>
            <a:ext cx="33247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Observing DNS redirects and edge server responses.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304495" y="2449678"/>
            <a:ext cx="105156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3951" y="2411273"/>
            <a:ext cx="36009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often terminates at CDN, rarely hitting origin.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267505" y="1276502"/>
            <a:ext cx="857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USE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4267505" y="1657807"/>
            <a:ext cx="105156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86046" y="1619402"/>
            <a:ext cx="277246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authorized CDN providers in logs.</a:t>
            </a:r>
            <a:endParaRPr lang="en-US" sz="18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rcRect t="-1087" b="-1087"/>
          <a:stretch/>
        </p:blipFill>
        <p:spPr>
          <a:xfrm>
            <a:off x="4267505" y="2449678"/>
            <a:ext cx="105156" cy="17190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486046" y="2411273"/>
            <a:ext cx="33339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Differentiate CDN traffic from direct server attacks.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0" y="1276502"/>
            <a:ext cx="972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29600" y="1657807"/>
            <a:ext cx="171907" cy="17190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515807" y="1619402"/>
            <a:ext cx="32772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 investigation routing based on CDN identification.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304495" y="3613709"/>
            <a:ext cx="11582705" cy="2371954"/>
          </a:xfrm>
          <a:prstGeom prst="roundRect">
            <a:avLst>
              <a:gd name="adj" fmla="val 185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466344" y="3792017"/>
            <a:ext cx="171907" cy="13350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4146" y="3794760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CDN REQUEST LIFECYCLE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9522562" y="3775558"/>
            <a:ext cx="866851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 txBox="1"/>
          <p:nvPr/>
        </p:nvSpPr>
        <p:spPr>
          <a:xfrm>
            <a:off x="9608515" y="3832250"/>
            <a:ext cx="781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CACHE: HIT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10456164" y="3775558"/>
            <a:ext cx="1276502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 txBox="1"/>
          <p:nvPr/>
        </p:nvSpPr>
        <p:spPr>
          <a:xfrm>
            <a:off x="10542118" y="3832250"/>
            <a:ext cx="11914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PROV: CLOUDFLARE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 txBox="1"/>
          <p:nvPr/>
        </p:nvSpPr>
        <p:spPr>
          <a:xfrm>
            <a:off x="304495" y="6329477"/>
            <a:ext cx="1776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OBSERVATION: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304495" y="6329477"/>
            <a:ext cx="1059698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user traffic ends at step 3. Seeing traffic go to Step 4 (Origin) might indicate cache bypass attacks.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40 / 60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1019556" y="4778654"/>
            <a:ext cx="10153498" cy="38405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1019556" y="4787798"/>
            <a:ext cx="10153498" cy="1920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1476756" y="4110228"/>
            <a:ext cx="571500" cy="5715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3B82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47749" y="4281221"/>
            <a:ext cx="228600" cy="22860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350569" y="4843577"/>
            <a:ext cx="9436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 QUERY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1288390" y="5138928"/>
            <a:ext cx="10533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requests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1163117" y="5311750"/>
            <a:ext cx="13002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www.example.com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1436522" y="3728923"/>
            <a:ext cx="657454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5"/>
          <p:cNvSpPr txBox="1"/>
          <p:nvPr/>
        </p:nvSpPr>
        <p:spPr>
          <a:xfrm>
            <a:off x="1521562" y="378561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T+0.01s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4365346" y="4110228"/>
            <a:ext cx="571500" cy="5715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A855F7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37253" y="4281221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4147718" y="4843577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CNAME → CDN</a:t>
            </a:r>
            <a:endParaRPr lang="en-US" sz="1200" dirty="0"/>
          </a:p>
        </p:txBody>
      </p:sp>
      <p:sp>
        <p:nvSpPr>
          <p:cNvPr id="48" name="Text 38"/>
          <p:cNvSpPr txBox="1"/>
          <p:nvPr/>
        </p:nvSpPr>
        <p:spPr>
          <a:xfrm>
            <a:off x="4310482" y="5138928"/>
            <a:ext cx="7863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 to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4136746" y="5311750"/>
            <a:ext cx="11384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cdn.provider.net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4325112" y="3728923"/>
            <a:ext cx="657454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1"/>
          <p:cNvSpPr txBox="1"/>
          <p:nvPr/>
        </p:nvSpPr>
        <p:spPr>
          <a:xfrm>
            <a:off x="4411066" y="378561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T+0.04s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7254850" y="4110228"/>
            <a:ext cx="571500" cy="5715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10B981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25842" y="4281221"/>
            <a:ext cx="228600" cy="228600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6945782" y="4843577"/>
            <a:ext cx="1305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RESPONSE</a:t>
            </a:r>
            <a:endParaRPr lang="en-US" sz="1200" dirty="0"/>
          </a:p>
        </p:txBody>
      </p:sp>
      <p:sp>
        <p:nvSpPr>
          <p:cNvPr id="55" name="Text 44"/>
          <p:cNvSpPr txBox="1"/>
          <p:nvPr/>
        </p:nvSpPr>
        <p:spPr>
          <a:xfrm>
            <a:off x="7039966" y="5138928"/>
            <a:ext cx="11100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Cached content</a:t>
            </a:r>
            <a:endParaRPr lang="en-US" sz="1000" dirty="0"/>
          </a:p>
        </p:txBody>
      </p:sp>
      <p:sp>
        <p:nvSpPr>
          <p:cNvPr id="56" name="Text 45"/>
          <p:cNvSpPr txBox="1"/>
          <p:nvPr/>
        </p:nvSpPr>
        <p:spPr>
          <a:xfrm>
            <a:off x="6904634" y="5311750"/>
            <a:ext cx="13770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from Edge</a:t>
            </a:r>
            <a:endParaRPr lang="en-US" sz="1000" dirty="0"/>
          </a:p>
        </p:txBody>
      </p:sp>
      <p:sp>
        <p:nvSpPr>
          <p:cNvPr id="57" name="Shape 46"/>
          <p:cNvSpPr/>
          <p:nvPr/>
        </p:nvSpPr>
        <p:spPr>
          <a:xfrm>
            <a:off x="7214616" y="3728923"/>
            <a:ext cx="657454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7"/>
          <p:cNvSpPr txBox="1"/>
          <p:nvPr/>
        </p:nvSpPr>
        <p:spPr>
          <a:xfrm>
            <a:off x="7300570" y="378561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T+0.08s</a:t>
            </a:r>
            <a:endParaRPr lang="en-US" sz="900" dirty="0"/>
          </a:p>
        </p:txBody>
      </p:sp>
      <p:sp>
        <p:nvSpPr>
          <p:cNvPr id="59" name="Shape 48"/>
          <p:cNvSpPr/>
          <p:nvPr/>
        </p:nvSpPr>
        <p:spPr>
          <a:xfrm>
            <a:off x="10144354" y="4110228"/>
            <a:ext cx="571500" cy="57150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64748B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10329977" y="4281221"/>
            <a:ext cx="200254" cy="228600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9881006" y="4843577"/>
            <a:ext cx="12198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FETCH</a:t>
            </a:r>
            <a:endParaRPr lang="en-US" sz="1200" dirty="0"/>
          </a:p>
        </p:txBody>
      </p:sp>
      <p:sp>
        <p:nvSpPr>
          <p:cNvPr id="62" name="Text 50"/>
          <p:cNvSpPr txBox="1"/>
          <p:nvPr/>
        </p:nvSpPr>
        <p:spPr>
          <a:xfrm>
            <a:off x="9850831" y="5138928"/>
            <a:ext cx="12627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if cache miss</a:t>
            </a:r>
            <a:endParaRPr lang="en-US" sz="1000" dirty="0"/>
          </a:p>
        </p:txBody>
      </p:sp>
      <p:sp>
        <p:nvSpPr>
          <p:cNvPr id="63" name="Text 51"/>
          <p:cNvSpPr txBox="1"/>
          <p:nvPr/>
        </p:nvSpPr>
        <p:spPr>
          <a:xfrm>
            <a:off x="9937699" y="5311750"/>
            <a:ext cx="1090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(Back to Origin)</a:t>
            </a:r>
            <a:endParaRPr lang="en-US" sz="1000" dirty="0"/>
          </a:p>
        </p:txBody>
      </p:sp>
      <p:sp>
        <p:nvSpPr>
          <p:cNvPr id="64" name="Shape 52"/>
          <p:cNvSpPr/>
          <p:nvPr/>
        </p:nvSpPr>
        <p:spPr>
          <a:xfrm>
            <a:off x="10069373" y="3728923"/>
            <a:ext cx="724205" cy="267005"/>
          </a:xfrm>
          <a:prstGeom prst="roundRect">
            <a:avLst>
              <a:gd name="adj" fmla="val 489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3"/>
          <p:cNvSpPr txBox="1"/>
          <p:nvPr/>
        </p:nvSpPr>
        <p:spPr>
          <a:xfrm>
            <a:off x="10155326" y="3785616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67729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Orientation: Safe Observation First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280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404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401300" y="352044"/>
            <a:ext cx="1638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HANDS-ON LABS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4058107" cy="12573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4495" y="1257300"/>
            <a:ext cx="38405" cy="12573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4000" r="-4000"/>
          <a:stretch/>
        </p:blipFill>
        <p:spPr>
          <a:xfrm>
            <a:off x="495605" y="1442923"/>
            <a:ext cx="123444" cy="1143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19049" y="1419149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OBJECTIVE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95605" y="1657807"/>
            <a:ext cx="38057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to identify network behaviors by observing standard outputs, not by launching attacks.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4495" y="2711196"/>
            <a:ext cx="1733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CHECKLIST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04495" y="2968142"/>
            <a:ext cx="171907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90702" y="2948940"/>
            <a:ext cx="2477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labs with zero exploitation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4495" y="3311042"/>
            <a:ext cx="15270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71500" y="3291840"/>
            <a:ext cx="2848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by observing outcomes directly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4495" y="3653942"/>
            <a:ext cx="15270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" y="3634740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command outputs to dashboards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04495" y="4972507"/>
            <a:ext cx="4058107" cy="1009498"/>
          </a:xfrm>
          <a:prstGeom prst="roundRect">
            <a:avLst>
              <a:gd name="adj" fmla="val 6836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4000" r="-4000"/>
          <a:stretch/>
        </p:blipFill>
        <p:spPr>
          <a:xfrm>
            <a:off x="466344" y="5167274"/>
            <a:ext cx="123444" cy="1143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90702" y="5143500"/>
            <a:ext cx="1267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PROTOCOL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466344" y="5372100"/>
            <a:ext cx="31107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labs are performed in isolated environments.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466344" y="5639105"/>
            <a:ext cx="31107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Reversible changes only. No production impact.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663440" y="1257300"/>
            <a:ext cx="7229246" cy="4724705"/>
          </a:xfrm>
          <a:prstGeom prst="roundRect">
            <a:avLst>
              <a:gd name="adj" fmla="val 46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4672584" y="1266444"/>
            <a:ext cx="7210044" cy="4288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4672584" y="1686154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4863694" y="1398118"/>
            <a:ext cx="114300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977994" y="1399946"/>
            <a:ext cx="2024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LAB ENVIRONMENT OVERVIEW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10169957" y="1399946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10872216" y="1380744"/>
            <a:ext cx="819302" cy="190195"/>
          </a:xfrm>
          <a:prstGeom prst="roundRect">
            <a:avLst>
              <a:gd name="adj" fmla="val 96154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 txBox="1"/>
          <p:nvPr/>
        </p:nvSpPr>
        <p:spPr>
          <a:xfrm>
            <a:off x="10948111" y="1399946"/>
            <a:ext cx="752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MODE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863694" y="1886407"/>
            <a:ext cx="3323844" cy="1857146"/>
          </a:xfrm>
          <a:prstGeom prst="roundRect">
            <a:avLst>
              <a:gd name="adj" fmla="val 202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6236208" y="2116836"/>
            <a:ext cx="571500" cy="5715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07201" y="2288743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090818" y="2821838"/>
            <a:ext cx="981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OBSERVE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5127041" y="3126334"/>
            <a:ext cx="289133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at the initial state. What is the IP? What is the route? Establish a baseline.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370418" y="1886407"/>
            <a:ext cx="3323844" cy="1857146"/>
          </a:xfrm>
          <a:prstGeom prst="roundRect">
            <a:avLst>
              <a:gd name="adj" fmla="val 202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9742932" y="2116836"/>
            <a:ext cx="571500" cy="5715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9900209" y="2288743"/>
            <a:ext cx="256946" cy="22860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640519" y="2821838"/>
            <a:ext cx="896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ACTION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8599932" y="3126334"/>
            <a:ext cx="29580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a standard command (ping, ipconfig, nslookup). No hacker tools required.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4863694" y="3929177"/>
            <a:ext cx="3323844" cy="1857146"/>
          </a:xfrm>
          <a:prstGeom prst="roundRect">
            <a:avLst>
              <a:gd name="adj" fmla="val 202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6"/>
          <p:cNvSpPr/>
          <p:nvPr/>
        </p:nvSpPr>
        <p:spPr>
          <a:xfrm>
            <a:off x="6236208" y="4159606"/>
            <a:ext cx="571500" cy="5715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07201" y="4331513"/>
            <a:ext cx="228600" cy="2286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6100877" y="4864608"/>
            <a:ext cx="962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CHANGE</a:t>
            </a:r>
            <a:endParaRPr lang="en-US" sz="1200" dirty="0"/>
          </a:p>
        </p:txBody>
      </p:sp>
      <p:sp>
        <p:nvSpPr>
          <p:cNvPr id="49" name="Text 38"/>
          <p:cNvSpPr txBox="1"/>
          <p:nvPr/>
        </p:nvSpPr>
        <p:spPr>
          <a:xfrm>
            <a:off x="5151730" y="5170018"/>
            <a:ext cx="28437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what changed visually in the output or dashboard. Connect cause and effect.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8370418" y="3929177"/>
            <a:ext cx="3323844" cy="1857146"/>
          </a:xfrm>
          <a:prstGeom prst="roundRect">
            <a:avLst>
              <a:gd name="adj" fmla="val 202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0"/>
          <p:cNvSpPr/>
          <p:nvPr/>
        </p:nvSpPr>
        <p:spPr>
          <a:xfrm>
            <a:off x="9742932" y="4159606"/>
            <a:ext cx="571500" cy="5715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rcRect l="-57" r="-57"/>
          <a:stretch/>
        </p:blipFill>
        <p:spPr>
          <a:xfrm>
            <a:off x="9928555" y="4331513"/>
            <a:ext cx="200254" cy="228600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9663379" y="4864608"/>
            <a:ext cx="848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VERIFY</a:t>
            </a:r>
            <a:endParaRPr lang="en-US" sz="1200" dirty="0"/>
          </a:p>
        </p:txBody>
      </p:sp>
      <p:sp>
        <p:nvSpPr>
          <p:cNvPr id="54" name="Text 42"/>
          <p:cNvSpPr txBox="1"/>
          <p:nvPr/>
        </p:nvSpPr>
        <p:spPr>
          <a:xfrm>
            <a:off x="8571586" y="5170018"/>
            <a:ext cx="302483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 result matches SOC expectations. Is the traffic flow visible?</a:t>
            </a:r>
            <a:endParaRPr lang="en-US" sz="1000" dirty="0"/>
          </a:p>
        </p:txBody>
      </p:sp>
      <p:sp>
        <p:nvSpPr>
          <p:cNvPr id="55" name="Shape 43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4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45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58" name="Text 46"/>
          <p:cNvSpPr txBox="1"/>
          <p:nvPr/>
        </p:nvSpPr>
        <p:spPr>
          <a:xfrm>
            <a:off x="1640434" y="6329477"/>
            <a:ext cx="897757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 don't need to break things to understand them. We just need to look closely at how they work."</a:t>
            </a:r>
            <a:endParaRPr lang="en-US" sz="1300" dirty="0"/>
          </a:p>
        </p:txBody>
      </p:sp>
      <p:sp>
        <p:nvSpPr>
          <p:cNvPr id="59" name="Text 47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41 / 60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65C9AB-9EE5-4C98-AD98-5CD44E339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08"/>
            <a:ext cx="12192000" cy="668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847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70107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2: Ensure Same Network &amp; Test Ping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280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404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401300" y="352044"/>
            <a:ext cx="1638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HANDS-ON LABS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4058107" cy="12573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4495" y="1257300"/>
            <a:ext cx="38405" cy="12573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4000" r="-4000"/>
          <a:stretch/>
        </p:blipFill>
        <p:spPr>
          <a:xfrm>
            <a:off x="495605" y="1442923"/>
            <a:ext cx="123444" cy="1143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19049" y="1419149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OBJECTIVE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95605" y="1657807"/>
            <a:ext cx="35012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that two machines are on the same subnet and can communicate using ICMP (Ping).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4495" y="2711196"/>
            <a:ext cx="1733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CHECKLIST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04495" y="2968142"/>
            <a:ext cx="171907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90702" y="2948940"/>
            <a:ext cx="3620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Observe: Both IPs share the network prefix (e.g., 192.168.1.x)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4495" y="3539642"/>
            <a:ext cx="15270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71500" y="3520440"/>
            <a:ext cx="3067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Change: Send ICMP Echo Request (Ping)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4495" y="3882542"/>
            <a:ext cx="15270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" y="3863340"/>
            <a:ext cx="3439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Verify: Receive "Reply from..." with time &lt; 1ms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04495" y="5048402"/>
            <a:ext cx="4058107" cy="933602"/>
          </a:xfrm>
          <a:prstGeom prst="roundRect">
            <a:avLst>
              <a:gd name="adj" fmla="val 799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4000" r="-4000"/>
          <a:stretch/>
        </p:blipFill>
        <p:spPr>
          <a:xfrm>
            <a:off x="466344" y="5243170"/>
            <a:ext cx="123444" cy="1143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90702" y="5219395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CONTEXT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466344" y="5447995"/>
            <a:ext cx="36722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Ping is the simplest way to check visibility. If Ping works, Layer 3 routing is correct.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663440" y="1257300"/>
            <a:ext cx="7229246" cy="4724705"/>
          </a:xfrm>
          <a:prstGeom prst="roundRect">
            <a:avLst>
              <a:gd name="adj" fmla="val 46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4672584" y="1266444"/>
            <a:ext cx="7210044" cy="5806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4672584" y="1837944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4863694" y="1474013"/>
            <a:ext cx="171907" cy="13350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034686" y="1476756"/>
            <a:ext cx="16248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KALI LINUX TERMINAL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10494569" y="1380744"/>
            <a:ext cx="1200607" cy="342900"/>
          </a:xfrm>
          <a:prstGeom prst="roundRect">
            <a:avLst>
              <a:gd name="adj" fmla="val 44444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10618013" y="1495044"/>
            <a:ext cx="142646" cy="1143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837469" y="1466698"/>
            <a:ext cx="819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4672584" y="1848002"/>
            <a:ext cx="7210044" cy="1714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6"/>
          <p:cNvSpPr/>
          <p:nvPr/>
        </p:nvSpPr>
        <p:spPr>
          <a:xfrm>
            <a:off x="4672584" y="3553358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7"/>
          <p:cNvSpPr/>
          <p:nvPr/>
        </p:nvSpPr>
        <p:spPr>
          <a:xfrm>
            <a:off x="6482182" y="2195474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rcRect l="-57" r="-57"/>
          <a:stretch/>
        </p:blipFill>
        <p:spPr>
          <a:xfrm>
            <a:off x="6667805" y="2367382"/>
            <a:ext cx="200254" cy="2286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356909" y="2872130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 (SRC)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6356909" y="3043123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192.168.1.50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7561174" y="2691079"/>
            <a:ext cx="1429207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1"/>
          <p:cNvSpPr/>
          <p:nvPr/>
        </p:nvSpPr>
        <p:spPr>
          <a:xfrm>
            <a:off x="8275320" y="2643530"/>
            <a:ext cx="114300" cy="114300"/>
          </a:xfrm>
          <a:prstGeom prst="ellipse">
            <a:avLst/>
          </a:prstGeom>
          <a:solidFill>
            <a:srgbClr val="4ADE80"/>
          </a:solidFill>
          <a:ln/>
          <a:effectLst>
            <a:outerShdw blurRad="101600" dist="12700" dir="16200000" algn="bl" rotWithShape="0">
              <a:srgbClr val="4ADE80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2"/>
          <p:cNvSpPr/>
          <p:nvPr/>
        </p:nvSpPr>
        <p:spPr>
          <a:xfrm>
            <a:off x="9496044" y="2195474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9682582" y="2367382"/>
            <a:ext cx="200254" cy="2286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370771" y="2872130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WIN10 (DST)</a:t>
            </a:r>
            <a:endParaRPr lang="en-US" sz="900" dirty="0"/>
          </a:p>
        </p:txBody>
      </p:sp>
      <p:sp>
        <p:nvSpPr>
          <p:cNvPr id="45" name="Text 34"/>
          <p:cNvSpPr txBox="1"/>
          <p:nvPr/>
        </p:nvSpPr>
        <p:spPr>
          <a:xfrm>
            <a:off x="9370771" y="3043123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4672584" y="3562502"/>
            <a:ext cx="7210044" cy="240944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6"/>
          <p:cNvSpPr txBox="1"/>
          <p:nvPr/>
        </p:nvSpPr>
        <p:spPr>
          <a:xfrm>
            <a:off x="4863694" y="3762756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kali@soc-lab:~$</a:t>
            </a:r>
            <a:endParaRPr lang="en-US" sz="1000" dirty="0"/>
          </a:p>
        </p:txBody>
      </p:sp>
      <p:sp>
        <p:nvSpPr>
          <p:cNvPr id="48" name="Text 37"/>
          <p:cNvSpPr txBox="1"/>
          <p:nvPr/>
        </p:nvSpPr>
        <p:spPr>
          <a:xfrm>
            <a:off x="6178601" y="3762756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-c 4 192.168.1.10</a:t>
            </a:r>
            <a:endParaRPr lang="en-US" sz="1000" dirty="0"/>
          </a:p>
        </p:txBody>
      </p:sp>
      <p:sp>
        <p:nvSpPr>
          <p:cNvPr id="49" name="Text 38"/>
          <p:cNvSpPr txBox="1"/>
          <p:nvPr/>
        </p:nvSpPr>
        <p:spPr>
          <a:xfrm>
            <a:off x="4863694" y="4076395"/>
            <a:ext cx="44247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192.168.1.10 (192.168.1.10) 56(84) bytes of data.</a:t>
            </a:r>
            <a:endParaRPr lang="en-US" sz="1000" dirty="0"/>
          </a:p>
        </p:txBody>
      </p:sp>
      <p:sp>
        <p:nvSpPr>
          <p:cNvPr id="50" name="Text 39"/>
          <p:cNvSpPr txBox="1"/>
          <p:nvPr/>
        </p:nvSpPr>
        <p:spPr>
          <a:xfrm>
            <a:off x="4863694" y="4390949"/>
            <a:ext cx="49103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bytes from 192.168.1.10: icmp_seq=1 ttl=128 time=0.482 ms</a:t>
            </a:r>
            <a:endParaRPr lang="en-US" sz="1000" dirty="0"/>
          </a:p>
        </p:txBody>
      </p:sp>
      <p:sp>
        <p:nvSpPr>
          <p:cNvPr id="51" name="Text 40"/>
          <p:cNvSpPr txBox="1"/>
          <p:nvPr/>
        </p:nvSpPr>
        <p:spPr>
          <a:xfrm>
            <a:off x="9665208" y="4390949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REPLY</a:t>
            </a:r>
            <a:endParaRPr lang="en-US" sz="1000" dirty="0"/>
          </a:p>
        </p:txBody>
      </p:sp>
      <p:sp>
        <p:nvSpPr>
          <p:cNvPr id="52" name="Text 41"/>
          <p:cNvSpPr txBox="1"/>
          <p:nvPr/>
        </p:nvSpPr>
        <p:spPr>
          <a:xfrm>
            <a:off x="4863694" y="4705502"/>
            <a:ext cx="49103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bytes from 192.168.1.10: icmp_seq=2 ttl=128 time=0.512 ms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9665208" y="4705502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REPLY</a:t>
            </a:r>
            <a:endParaRPr lang="en-US" sz="1000" dirty="0"/>
          </a:p>
        </p:txBody>
      </p:sp>
      <p:sp>
        <p:nvSpPr>
          <p:cNvPr id="54" name="Text 43"/>
          <p:cNvSpPr txBox="1"/>
          <p:nvPr/>
        </p:nvSpPr>
        <p:spPr>
          <a:xfrm>
            <a:off x="4863694" y="5020056"/>
            <a:ext cx="49103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bytes from 192.168.1.10: icmp_seq=3 ttl=128 time=0.495 ms</a:t>
            </a:r>
            <a:endParaRPr lang="en-US" sz="1000" dirty="0"/>
          </a:p>
        </p:txBody>
      </p:sp>
      <p:sp>
        <p:nvSpPr>
          <p:cNvPr id="55" name="Text 44"/>
          <p:cNvSpPr txBox="1"/>
          <p:nvPr/>
        </p:nvSpPr>
        <p:spPr>
          <a:xfrm>
            <a:off x="9665208" y="5020056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REPLY</a:t>
            </a:r>
            <a:endParaRPr lang="en-US" sz="1000" dirty="0"/>
          </a:p>
        </p:txBody>
      </p:sp>
      <p:sp>
        <p:nvSpPr>
          <p:cNvPr id="56" name="Text 45"/>
          <p:cNvSpPr txBox="1"/>
          <p:nvPr/>
        </p:nvSpPr>
        <p:spPr>
          <a:xfrm>
            <a:off x="4863694" y="5333695"/>
            <a:ext cx="29864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--- 192.168.1.10 ping statistics ---</a:t>
            </a:r>
            <a:endParaRPr lang="en-US" sz="1000" dirty="0"/>
          </a:p>
        </p:txBody>
      </p:sp>
      <p:sp>
        <p:nvSpPr>
          <p:cNvPr id="57" name="Text 46"/>
          <p:cNvSpPr txBox="1"/>
          <p:nvPr/>
        </p:nvSpPr>
        <p:spPr>
          <a:xfrm>
            <a:off x="4863694" y="5648249"/>
            <a:ext cx="50630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packets transmitted, 4 received, 0% packet loss, time 3005ms</a:t>
            </a:r>
            <a:endParaRPr lang="en-US" sz="1000" dirty="0"/>
          </a:p>
        </p:txBody>
      </p:sp>
      <p:sp>
        <p:nvSpPr>
          <p:cNvPr id="58" name="Text 47"/>
          <p:cNvSpPr txBox="1"/>
          <p:nvPr/>
        </p:nvSpPr>
        <p:spPr>
          <a:xfrm>
            <a:off x="4863694" y="5962802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kali@soc-lab:~$</a:t>
            </a:r>
            <a:endParaRPr lang="en-US" sz="1000" dirty="0"/>
          </a:p>
        </p:txBody>
      </p:sp>
      <p:sp>
        <p:nvSpPr>
          <p:cNvPr id="59" name="Text 48"/>
          <p:cNvSpPr txBox="1"/>
          <p:nvPr/>
        </p:nvSpPr>
        <p:spPr>
          <a:xfrm>
            <a:off x="6178601" y="59628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000" dirty="0"/>
          </a:p>
        </p:txBody>
      </p:sp>
      <p:sp>
        <p:nvSpPr>
          <p:cNvPr id="60" name="Shape 49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0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1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3" name="Text 52"/>
          <p:cNvSpPr txBox="1"/>
          <p:nvPr/>
        </p:nvSpPr>
        <p:spPr>
          <a:xfrm>
            <a:off x="1394460" y="6329477"/>
            <a:ext cx="9292133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'time=' value. It's under 1ms because they are on the same local network. If it failed, we'd check the IP range."</a:t>
            </a:r>
            <a:endParaRPr lang="en-US" sz="1300" dirty="0"/>
          </a:p>
        </p:txBody>
      </p:sp>
      <p:sp>
        <p:nvSpPr>
          <p:cNvPr id="64" name="Text 53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43 / 60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46387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3: View IP Information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280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404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401300" y="352044"/>
            <a:ext cx="1638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HANDS-ON LABS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4058107" cy="12573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4495" y="1257300"/>
            <a:ext cx="38405" cy="12573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4000" r="-4000"/>
          <a:stretch/>
        </p:blipFill>
        <p:spPr>
          <a:xfrm>
            <a:off x="495605" y="1442923"/>
            <a:ext cx="123444" cy="1143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19049" y="1419149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OBJECTIVE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95605" y="1657807"/>
            <a:ext cx="34719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key identity markers (IP address, MAC address, Gateway) directly from the host operating system.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4495" y="2711196"/>
            <a:ext cx="1733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CHECKLIST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04495" y="2968142"/>
            <a:ext cx="171907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90702" y="2948940"/>
            <a:ext cx="2039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Windows: Run ipconfig /all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304495" y="3311042"/>
            <a:ext cx="171907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90702" y="3291840"/>
            <a:ext cx="1838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Linux: Run ip addr show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4495" y="3653942"/>
            <a:ext cx="15270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" y="3634740"/>
            <a:ext cx="1886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Locate the IPv4 Address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4495" y="3996842"/>
            <a:ext cx="152705" cy="1527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71500" y="3977640"/>
            <a:ext cx="1914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Locate the MAC Address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04495" y="5048402"/>
            <a:ext cx="4058107" cy="933602"/>
          </a:xfrm>
          <a:prstGeom prst="roundRect">
            <a:avLst>
              <a:gd name="adj" fmla="val 799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4000" r="-4000"/>
          <a:stretch/>
        </p:blipFill>
        <p:spPr>
          <a:xfrm>
            <a:off x="466344" y="5243170"/>
            <a:ext cx="123444" cy="1143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90702" y="5219395"/>
            <a:ext cx="1267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PROTOCOL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466344" y="5447995"/>
            <a:ext cx="372983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standard read-only commands. Zero impact on system configuration.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663440" y="1257300"/>
            <a:ext cx="7229246" cy="4724705"/>
          </a:xfrm>
          <a:prstGeom prst="roundRect">
            <a:avLst>
              <a:gd name="adj" fmla="val 46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4672584" y="1266444"/>
            <a:ext cx="7210044" cy="4288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4672584" y="1686154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4863694" y="1398118"/>
            <a:ext cx="152705" cy="13350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015484" y="1399946"/>
            <a:ext cx="1786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HOST TERMINAL OUTPUTS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10376611" y="1380744"/>
            <a:ext cx="743407" cy="190195"/>
          </a:xfrm>
          <a:prstGeom prst="roundRect">
            <a:avLst>
              <a:gd name="adj" fmla="val 96154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5"/>
          <p:cNvSpPr txBox="1"/>
          <p:nvPr/>
        </p:nvSpPr>
        <p:spPr>
          <a:xfrm>
            <a:off x="10452506" y="1399946"/>
            <a:ext cx="676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11190427" y="1380744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 txBox="1"/>
          <p:nvPr/>
        </p:nvSpPr>
        <p:spPr>
          <a:xfrm>
            <a:off x="11266322" y="1399946"/>
            <a:ext cx="4389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4863694" y="1886407"/>
            <a:ext cx="6829654" cy="1876349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9"/>
          <p:cNvSpPr/>
          <p:nvPr/>
        </p:nvSpPr>
        <p:spPr>
          <a:xfrm>
            <a:off x="4872838" y="1895551"/>
            <a:ext cx="6810451" cy="29535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4872838" y="2181758"/>
            <a:ext cx="681045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4987138" y="1981505"/>
            <a:ext cx="105156" cy="1143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168189" y="1952244"/>
            <a:ext cx="1047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Prompt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5025542" y="2352751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C:\Users\Analyst&gt;</a:t>
            </a:r>
            <a:endParaRPr lang="en-US" sz="1000" dirty="0"/>
          </a:p>
        </p:txBody>
      </p:sp>
      <p:sp>
        <p:nvSpPr>
          <p:cNvPr id="43" name="Text 33"/>
          <p:cNvSpPr txBox="1"/>
          <p:nvPr/>
        </p:nvSpPr>
        <p:spPr>
          <a:xfrm>
            <a:off x="6386170" y="2352751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ipconfig /all</a:t>
            </a:r>
            <a:endParaRPr lang="en-US" sz="1000" dirty="0"/>
          </a:p>
        </p:txBody>
      </p:sp>
      <p:sp>
        <p:nvSpPr>
          <p:cNvPr id="44" name="Text 34"/>
          <p:cNvSpPr txBox="1"/>
          <p:nvPr/>
        </p:nvSpPr>
        <p:spPr>
          <a:xfrm>
            <a:off x="5025542" y="2628900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Ethernet adapter Ethernet0: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5177333" y="2829154"/>
            <a:ext cx="55485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 . . . . . . . . . . : Intel(R) 82574L Gigabit Connection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5177333" y="3029407"/>
            <a:ext cx="27486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Address. . . . . . . . :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7818120" y="3029407"/>
            <a:ext cx="1438351" cy="181051"/>
          </a:xfrm>
          <a:prstGeom prst="roundRect">
            <a:avLst>
              <a:gd name="adj" fmla="val 53163"/>
            </a:avLst>
          </a:prstGeom>
          <a:solidFill>
            <a:srgbClr val="EAB30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38"/>
          <p:cNvSpPr txBox="1"/>
          <p:nvPr/>
        </p:nvSpPr>
        <p:spPr>
          <a:xfrm>
            <a:off x="7856525" y="3029407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00-0C-29-AB-CD-EF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5177333" y="3228746"/>
            <a:ext cx="27486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IPv4 Address. . . . . . . . . . :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818120" y="3228746"/>
            <a:ext cx="2085746" cy="181051"/>
          </a:xfrm>
          <a:prstGeom prst="roundRect">
            <a:avLst>
              <a:gd name="adj" fmla="val 53163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1"/>
          <p:cNvSpPr txBox="1"/>
          <p:nvPr/>
        </p:nvSpPr>
        <p:spPr>
          <a:xfrm>
            <a:off x="7856525" y="3228746"/>
            <a:ext cx="21104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192.168.10.105(Preferred)</a:t>
            </a:r>
            <a:endParaRPr lang="en-US" sz="1000" dirty="0"/>
          </a:p>
        </p:txBody>
      </p:sp>
      <p:sp>
        <p:nvSpPr>
          <p:cNvPr id="52" name="Text 42"/>
          <p:cNvSpPr txBox="1"/>
          <p:nvPr/>
        </p:nvSpPr>
        <p:spPr>
          <a:xfrm>
            <a:off x="5177333" y="3429000"/>
            <a:ext cx="38624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Subnet Mask . . . . . . . . . . : 255.255.255.0</a:t>
            </a:r>
            <a:endParaRPr lang="en-US" sz="1000" dirty="0"/>
          </a:p>
        </p:txBody>
      </p:sp>
      <p:sp>
        <p:nvSpPr>
          <p:cNvPr id="53" name="Text 43"/>
          <p:cNvSpPr txBox="1"/>
          <p:nvPr/>
        </p:nvSpPr>
        <p:spPr>
          <a:xfrm>
            <a:off x="5177333" y="3629254"/>
            <a:ext cx="37865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Gateway . . . . . . . . : 192.168.10.1</a:t>
            </a:r>
            <a:endParaRPr lang="en-US" sz="1000" dirty="0"/>
          </a:p>
        </p:txBody>
      </p:sp>
      <p:sp>
        <p:nvSpPr>
          <p:cNvPr id="54" name="Shape 44"/>
          <p:cNvSpPr/>
          <p:nvPr/>
        </p:nvSpPr>
        <p:spPr>
          <a:xfrm>
            <a:off x="4863694" y="3909974"/>
            <a:ext cx="6829654" cy="1876349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5"/>
          <p:cNvSpPr/>
          <p:nvPr/>
        </p:nvSpPr>
        <p:spPr>
          <a:xfrm>
            <a:off x="4872838" y="3919118"/>
            <a:ext cx="6810451" cy="29535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6"/>
          <p:cNvSpPr/>
          <p:nvPr/>
        </p:nvSpPr>
        <p:spPr>
          <a:xfrm>
            <a:off x="4872838" y="4205326"/>
            <a:ext cx="681045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4987138" y="4005072"/>
            <a:ext cx="105156" cy="114300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5168189" y="3976726"/>
            <a:ext cx="9811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 Terminal</a:t>
            </a:r>
            <a:endParaRPr lang="en-US" sz="900" dirty="0"/>
          </a:p>
        </p:txBody>
      </p:sp>
      <p:sp>
        <p:nvSpPr>
          <p:cNvPr id="59" name="Text 48"/>
          <p:cNvSpPr txBox="1"/>
          <p:nvPr/>
        </p:nvSpPr>
        <p:spPr>
          <a:xfrm>
            <a:off x="5025542" y="4376318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analyst@kali:~$</a:t>
            </a:r>
            <a:endParaRPr lang="en-US" sz="1000" dirty="0"/>
          </a:p>
        </p:txBody>
      </p:sp>
      <p:sp>
        <p:nvSpPr>
          <p:cNvPr id="60" name="Text 49"/>
          <p:cNvSpPr txBox="1"/>
          <p:nvPr/>
        </p:nvSpPr>
        <p:spPr>
          <a:xfrm>
            <a:off x="6226150" y="4376318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addr show eth0</a:t>
            </a:r>
            <a:endParaRPr lang="en-US" sz="1000" dirty="0"/>
          </a:p>
        </p:txBody>
      </p:sp>
      <p:sp>
        <p:nvSpPr>
          <p:cNvPr id="61" name="Text 50"/>
          <p:cNvSpPr txBox="1"/>
          <p:nvPr/>
        </p:nvSpPr>
        <p:spPr>
          <a:xfrm>
            <a:off x="5025542" y="4653382"/>
            <a:ext cx="44247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eth0: &lt;BROADCAST,MULTICAST,UP,LOWER_UP&gt; mtu 1500...</a:t>
            </a:r>
            <a:endParaRPr lang="en-US" sz="1000" dirty="0"/>
          </a:p>
        </p:txBody>
      </p:sp>
      <p:sp>
        <p:nvSpPr>
          <p:cNvPr id="62" name="Text 51"/>
          <p:cNvSpPr txBox="1"/>
          <p:nvPr/>
        </p:nvSpPr>
        <p:spPr>
          <a:xfrm>
            <a:off x="5177333" y="4852721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link/ether</a:t>
            </a:r>
            <a:endParaRPr lang="en-US" sz="1000" dirty="0"/>
          </a:p>
        </p:txBody>
      </p:sp>
      <p:sp>
        <p:nvSpPr>
          <p:cNvPr id="63" name="Shape 52"/>
          <p:cNvSpPr/>
          <p:nvPr/>
        </p:nvSpPr>
        <p:spPr>
          <a:xfrm>
            <a:off x="5978347" y="4852721"/>
            <a:ext cx="1438351" cy="181051"/>
          </a:xfrm>
          <a:prstGeom prst="roundRect">
            <a:avLst>
              <a:gd name="adj" fmla="val 53163"/>
            </a:avLst>
          </a:prstGeom>
          <a:solidFill>
            <a:srgbClr val="EAB30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3"/>
          <p:cNvSpPr txBox="1"/>
          <p:nvPr/>
        </p:nvSpPr>
        <p:spPr>
          <a:xfrm>
            <a:off x="6015838" y="4852721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00:0c:29:68:22:56</a:t>
            </a:r>
            <a:endParaRPr lang="en-US" sz="1000" dirty="0"/>
          </a:p>
        </p:txBody>
      </p:sp>
      <p:sp>
        <p:nvSpPr>
          <p:cNvPr id="65" name="Text 54"/>
          <p:cNvSpPr txBox="1"/>
          <p:nvPr/>
        </p:nvSpPr>
        <p:spPr>
          <a:xfrm>
            <a:off x="7414870" y="4852721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brd ff:ff:ff:ff:ff:ff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5177333" y="5052974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inet</a:t>
            </a:r>
            <a:endParaRPr lang="en-US" sz="1000" dirty="0"/>
          </a:p>
        </p:txBody>
      </p:sp>
      <p:sp>
        <p:nvSpPr>
          <p:cNvPr id="67" name="Shape 56"/>
          <p:cNvSpPr/>
          <p:nvPr/>
        </p:nvSpPr>
        <p:spPr>
          <a:xfrm>
            <a:off x="5498287" y="5052974"/>
            <a:ext cx="1438351" cy="181051"/>
          </a:xfrm>
          <a:prstGeom prst="roundRect">
            <a:avLst>
              <a:gd name="adj" fmla="val 53163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57"/>
          <p:cNvSpPr txBox="1"/>
          <p:nvPr/>
        </p:nvSpPr>
        <p:spPr>
          <a:xfrm>
            <a:off x="5535778" y="5052974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192.168.10.106/24</a:t>
            </a:r>
            <a:endParaRPr lang="en-US" sz="1000" dirty="0"/>
          </a:p>
        </p:txBody>
      </p:sp>
      <p:sp>
        <p:nvSpPr>
          <p:cNvPr id="69" name="Text 58"/>
          <p:cNvSpPr txBox="1"/>
          <p:nvPr/>
        </p:nvSpPr>
        <p:spPr>
          <a:xfrm>
            <a:off x="6934810" y="5052974"/>
            <a:ext cx="29864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brd 192.168.10.255 scope global eth0</a:t>
            </a:r>
            <a:endParaRPr lang="en-US" sz="1000" dirty="0"/>
          </a:p>
        </p:txBody>
      </p:sp>
      <p:sp>
        <p:nvSpPr>
          <p:cNvPr id="70" name="Text 59"/>
          <p:cNvSpPr txBox="1"/>
          <p:nvPr/>
        </p:nvSpPr>
        <p:spPr>
          <a:xfrm>
            <a:off x="5330038" y="5253228"/>
            <a:ext cx="32250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valid_lft forever preferred_lft forever</a:t>
            </a:r>
            <a:endParaRPr lang="en-US" sz="1000" dirty="0"/>
          </a:p>
        </p:txBody>
      </p:sp>
      <p:sp>
        <p:nvSpPr>
          <p:cNvPr id="71" name="Shape 60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1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2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74" name="Text 63"/>
          <p:cNvSpPr txBox="1"/>
          <p:nvPr/>
        </p:nvSpPr>
        <p:spPr>
          <a:xfrm>
            <a:off x="1423721" y="6329477"/>
            <a:ext cx="939728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"Notice the difference. Windows says 'Physical Address', Linux says 'link/ether'. But both tell us the hardware identity."</a:t>
            </a:r>
            <a:endParaRPr lang="en-US" sz="1300" dirty="0"/>
          </a:p>
        </p:txBody>
      </p:sp>
      <p:sp>
        <p:nvSpPr>
          <p:cNvPr id="75" name="Text 64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44 / 60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40489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4: Observe Routes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280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404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401300" y="352044"/>
            <a:ext cx="1638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HANDS-ON LABS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4058107" cy="101955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4495" y="1257300"/>
            <a:ext cx="38405" cy="101955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4000" r="-4000"/>
          <a:stretch/>
        </p:blipFill>
        <p:spPr>
          <a:xfrm>
            <a:off x="495605" y="1442923"/>
            <a:ext cx="123444" cy="1143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19049" y="1419149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OBJECTIVE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95605" y="1657807"/>
            <a:ext cx="370057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the routing table to understand how your machine decides where to send traffic.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4495" y="2470709"/>
            <a:ext cx="1733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CHECKLIST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04495" y="2727655"/>
            <a:ext cx="171907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90702" y="2709367"/>
            <a:ext cx="3086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Observe: The "Active Routes" list and the "Gateway" address.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304495" y="3299155"/>
            <a:ext cx="19019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9905" y="3280867"/>
            <a:ext cx="33339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 Run route print (Windows) or ip route (Linux).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4495" y="3870655"/>
            <a:ext cx="15270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" y="3852367"/>
            <a:ext cx="33723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Verify: Identify the default route (0.0.0.0) that handles internet traffic.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04495" y="5048402"/>
            <a:ext cx="4058107" cy="933602"/>
          </a:xfrm>
          <a:prstGeom prst="roundRect">
            <a:avLst>
              <a:gd name="adj" fmla="val 799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4000" r="-4000"/>
          <a:stretch/>
        </p:blipFill>
        <p:spPr>
          <a:xfrm>
            <a:off x="466344" y="5243170"/>
            <a:ext cx="123444" cy="1143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90702" y="5219395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RELEVANCE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466344" y="5447995"/>
            <a:ext cx="35679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explain why traffic goes to a firewall vs. internal server. Critical for tracing attacks.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663440" y="1257300"/>
            <a:ext cx="7229246" cy="4724705"/>
          </a:xfrm>
          <a:prstGeom prst="roundRect">
            <a:avLst>
              <a:gd name="adj" fmla="val 46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4672584" y="1266444"/>
            <a:ext cx="7210044" cy="4288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4672584" y="1686154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4863694" y="1398118"/>
            <a:ext cx="114300" cy="13350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977994" y="1399946"/>
            <a:ext cx="18626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WINDOWS COMMAND PROMPT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10705795" y="1399946"/>
            <a:ext cx="1000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TABLE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4672584" y="1695298"/>
            <a:ext cx="7210044" cy="294345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 txBox="1"/>
          <p:nvPr/>
        </p:nvSpPr>
        <p:spPr>
          <a:xfrm>
            <a:off x="4863694" y="1895551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C:\Users\Analyst&gt;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6337706" y="1895551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print -4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5053889" y="2210105"/>
            <a:ext cx="580406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=========================================================================== Interface List 14...00 0c 29 3e 5a 8b ......Intel(R) 82574L Gigabit Network Connection =========================================================================== IPv4 Route Table =========================================================================== Active Routes: Network Destination Netmask Gateway Interface Metric 0.0.0.0 0.0.0.0 192.168.1.1 192.168.1.105 25 127.0.0.0 255.0.0.0 On-link 127.0.0.1 331 192.168.1.0 255.255.255.0 On-link 192.168.1.105 281 192.168.1.105 255.255.255.255 On-link 192.168.1.105 281 255.255.255.255 255.255.255.255 On-link 127.0.0.1 331 ===========================================================================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4863694" y="2523744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C:\Users\Analyst&gt;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6337706" y="2523744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4672584" y="4638751"/>
            <a:ext cx="7210044" cy="133319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1"/>
          <p:cNvSpPr/>
          <p:nvPr/>
        </p:nvSpPr>
        <p:spPr>
          <a:xfrm>
            <a:off x="4672584" y="4638751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1608430" y="6329477"/>
            <a:ext cx="897757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"See the 0.0.0.0 entry? That is the 'Default Route'. It means 'send everything else to the Gateway'."</a:t>
            </a:r>
            <a:endParaRPr lang="en-US" sz="1300" dirty="0"/>
          </a:p>
        </p:txBody>
      </p:sp>
      <p:sp>
        <p:nvSpPr>
          <p:cNvPr id="44" name="Text 36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45 / 60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5148986" y="5029200"/>
            <a:ext cx="6258154" cy="1920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4967935" y="4848149"/>
            <a:ext cx="457200" cy="4572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77663" y="4981651"/>
            <a:ext cx="237744" cy="190195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4984394" y="5391302"/>
            <a:ext cx="514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PC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4825289" y="5639105"/>
            <a:ext cx="8293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192.168.1.105</a:t>
            </a:r>
            <a:endParaRPr lang="en-US" sz="800" dirty="0"/>
          </a:p>
        </p:txBody>
      </p:sp>
      <p:sp>
        <p:nvSpPr>
          <p:cNvPr id="50" name="Shape 41"/>
          <p:cNvSpPr/>
          <p:nvPr/>
        </p:nvSpPr>
        <p:spPr>
          <a:xfrm>
            <a:off x="8161020" y="4848149"/>
            <a:ext cx="457200" cy="4572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270748" y="4981651"/>
            <a:ext cx="237744" cy="190195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7908646" y="5391302"/>
            <a:ext cx="10579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 (Router)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8075066" y="5639105"/>
            <a:ext cx="7150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</a:t>
            </a:r>
            <a:endParaRPr lang="en-US" sz="800" dirty="0"/>
          </a:p>
        </p:txBody>
      </p:sp>
      <p:sp>
        <p:nvSpPr>
          <p:cNvPr id="54" name="Shape 44"/>
          <p:cNvSpPr/>
          <p:nvPr/>
        </p:nvSpPr>
        <p:spPr>
          <a:xfrm>
            <a:off x="11238890" y="4848149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372393" y="4981651"/>
            <a:ext cx="190195" cy="190195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11251692" y="5391302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</a:t>
            </a:r>
            <a:endParaRPr lang="en-US" sz="900" dirty="0"/>
          </a:p>
        </p:txBody>
      </p:sp>
      <p:sp>
        <p:nvSpPr>
          <p:cNvPr id="57" name="Text 46"/>
          <p:cNvSpPr txBox="1"/>
          <p:nvPr/>
        </p:nvSpPr>
        <p:spPr>
          <a:xfrm>
            <a:off x="11210544" y="5639105"/>
            <a:ext cx="6007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0.0.0.0/0</a:t>
            </a:r>
            <a:endParaRPr lang="en-US" sz="800" dirty="0"/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6768389" y="5043830"/>
            <a:ext cx="105156" cy="114300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6872630" y="5029200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Hop</a:t>
            </a:r>
            <a:endParaRPr lang="en-US" sz="900" dirty="0"/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9229954" y="5043830"/>
            <a:ext cx="105156" cy="114300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9334195" y="5029200"/>
            <a:ext cx="476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7049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5: Build Small Network Using Docker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280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404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401300" y="352044"/>
            <a:ext cx="1638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HANDS-ON LABS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4058107" cy="12573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4495" y="1257300"/>
            <a:ext cx="38405" cy="12573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4000" r="-4000"/>
          <a:stretch/>
        </p:blipFill>
        <p:spPr>
          <a:xfrm>
            <a:off x="495605" y="1442923"/>
            <a:ext cx="123444" cy="1143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19049" y="1419149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OBJECTIVE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95605" y="1657807"/>
            <a:ext cx="34052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how creating a Docker network establishes an isolated communication environment.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4495" y="2711196"/>
            <a:ext cx="1733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CHECKLIST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04495" y="2968142"/>
            <a:ext cx="171907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90702" y="2948940"/>
            <a:ext cx="3781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Observe: A new isolated virtual network is created.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4495" y="3311042"/>
            <a:ext cx="15270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71500" y="3291840"/>
            <a:ext cx="36768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Change: Start multiple containers attached to this network.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304495" y="3882542"/>
            <a:ext cx="19019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9905" y="3863340"/>
            <a:ext cx="3820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Each container gets a unique internal IP.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4495" y="4225442"/>
            <a:ext cx="152705" cy="1527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71500" y="4206240"/>
            <a:ext cx="36393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Verify: Ping works between containers within the network.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04495" y="4972507"/>
            <a:ext cx="4058107" cy="1009498"/>
          </a:xfrm>
          <a:prstGeom prst="roundRect">
            <a:avLst>
              <a:gd name="adj" fmla="val 6836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4000" r="-4000"/>
          <a:stretch/>
        </p:blipFill>
        <p:spPr>
          <a:xfrm>
            <a:off x="466344" y="5167274"/>
            <a:ext cx="123444" cy="1143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90702" y="5143500"/>
            <a:ext cx="1267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PROTOCOL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466344" y="5372100"/>
            <a:ext cx="31674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networks are isolated from the host LAN.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466344" y="5639105"/>
            <a:ext cx="2233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external traffic exposure risks.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663440" y="1257300"/>
            <a:ext cx="7229246" cy="4724705"/>
          </a:xfrm>
          <a:prstGeom prst="roundRect">
            <a:avLst>
              <a:gd name="adj" fmla="val 46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4672584" y="1266444"/>
            <a:ext cx="7210044" cy="4288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4672584" y="1686154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4863694" y="1398118"/>
            <a:ext cx="171907" cy="13350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034686" y="1399946"/>
            <a:ext cx="21104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DOCKER NETWORK SIMULATION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8768182" y="1380744"/>
            <a:ext cx="1257300" cy="190195"/>
          </a:xfrm>
          <a:prstGeom prst="roundRect">
            <a:avLst>
              <a:gd name="adj" fmla="val 96154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6"/>
          <p:cNvSpPr txBox="1"/>
          <p:nvPr/>
        </p:nvSpPr>
        <p:spPr>
          <a:xfrm>
            <a:off x="8844077" y="1410005"/>
            <a:ext cx="11914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net: soc-lab-net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10170871" y="1410005"/>
            <a:ext cx="15343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subnet: 172.18.0.0/16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4672584" y="1695298"/>
            <a:ext cx="7210044" cy="188640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 txBox="1"/>
          <p:nvPr/>
        </p:nvSpPr>
        <p:spPr>
          <a:xfrm>
            <a:off x="4863694" y="1895551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student@soc-lab:~$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6418174" y="1895551"/>
            <a:ext cx="27486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network create soc-lab-net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5053889" y="2247595"/>
            <a:ext cx="2348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c4f9a2e3b1d8... (Network ID)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4863694" y="2600554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student@soc-lab:~$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6418174" y="2600554"/>
            <a:ext cx="5148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--net soc-lab-net --name host-1 alpine sleep 3600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4863694" y="2952598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student@soc-lab:~$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6418174" y="2952598"/>
            <a:ext cx="5148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--net soc-lab-net --name host-2 alpine sleep 3600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4672584" y="3577133"/>
            <a:ext cx="7210044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7"/>
          <p:cNvSpPr/>
          <p:nvPr/>
        </p:nvSpPr>
        <p:spPr>
          <a:xfrm>
            <a:off x="4672584" y="3577133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8"/>
          <p:cNvSpPr txBox="1"/>
          <p:nvPr/>
        </p:nvSpPr>
        <p:spPr>
          <a:xfrm>
            <a:off x="4768596" y="3691433"/>
            <a:ext cx="1534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 TOPOLOGY VIEW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7203643" y="3872484"/>
            <a:ext cx="22768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Docker_Network_172.18.0.0/16</a:t>
            </a:r>
            <a:endParaRPr lang="en-US" sz="1200" dirty="0"/>
          </a:p>
        </p:txBody>
      </p:sp>
      <p:sp>
        <p:nvSpPr>
          <p:cNvPr id="49" name="Text 40"/>
          <p:cNvSpPr txBox="1"/>
          <p:nvPr/>
        </p:nvSpPr>
        <p:spPr>
          <a:xfrm>
            <a:off x="8204911" y="6787591"/>
            <a:ext cx="8668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ICMP Ping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7729423" y="4372661"/>
            <a:ext cx="743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7717536" y="4601261"/>
            <a:ext cx="771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172.18.0.1</a:t>
            </a:r>
            <a:endParaRPr lang="en-US" sz="1200" dirty="0"/>
          </a:p>
        </p:txBody>
      </p:sp>
      <p:sp>
        <p:nvSpPr>
          <p:cNvPr id="52" name="Text 43"/>
          <p:cNvSpPr txBox="1"/>
          <p:nvPr/>
        </p:nvSpPr>
        <p:spPr>
          <a:xfrm>
            <a:off x="8322869" y="5830214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Host-1</a:t>
            </a:r>
            <a:endParaRPr lang="en-US" sz="1200" dirty="0"/>
          </a:p>
        </p:txBody>
      </p:sp>
      <p:sp>
        <p:nvSpPr>
          <p:cNvPr id="53" name="Text 44"/>
          <p:cNvSpPr txBox="1"/>
          <p:nvPr/>
        </p:nvSpPr>
        <p:spPr>
          <a:xfrm>
            <a:off x="8207654" y="6058814"/>
            <a:ext cx="810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172.18.0.2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7818120" y="7516368"/>
            <a:ext cx="609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Host-2</a:t>
            </a:r>
            <a:endParaRPr lang="en-US" sz="1200" dirty="0"/>
          </a:p>
        </p:txBody>
      </p:sp>
      <p:sp>
        <p:nvSpPr>
          <p:cNvPr id="55" name="Text 46"/>
          <p:cNvSpPr txBox="1"/>
          <p:nvPr/>
        </p:nvSpPr>
        <p:spPr>
          <a:xfrm>
            <a:off x="7717536" y="7744968"/>
            <a:ext cx="810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172.18.0.3</a:t>
            </a:r>
            <a:endParaRPr lang="en-US" sz="1200" dirty="0"/>
          </a:p>
        </p:txBody>
      </p:sp>
      <p:sp>
        <p:nvSpPr>
          <p:cNvPr id="56" name="Shape 47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48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49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59" name="Text 50"/>
          <p:cNvSpPr txBox="1"/>
          <p:nvPr/>
        </p:nvSpPr>
        <p:spPr>
          <a:xfrm>
            <a:off x="1504188" y="6329477"/>
            <a:ext cx="90827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what you see. We created a private network inside the host. Containers get IPs just like real servers."</a:t>
            </a:r>
            <a:endParaRPr lang="en-US" sz="1300" dirty="0"/>
          </a:p>
        </p:txBody>
      </p:sp>
      <p:sp>
        <p:nvSpPr>
          <p:cNvPr id="60" name="Text 51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46 / 60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70582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06: Docker Network Communication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280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404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401300" y="352044"/>
            <a:ext cx="1638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HANDS-ON LABS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4058107" cy="12573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4495" y="1257300"/>
            <a:ext cx="38405" cy="12573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4000" r="-4000"/>
          <a:stretch/>
        </p:blipFill>
        <p:spPr>
          <a:xfrm>
            <a:off x="495605" y="1442923"/>
            <a:ext cx="123444" cy="1143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19049" y="1419149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OBJECTIVE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95605" y="1657807"/>
            <a:ext cx="36630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how isolated containers communicate over a private bridge network using internal IPs.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4495" y="2711196"/>
            <a:ext cx="1733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CHECKLIST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04495" y="2968142"/>
            <a:ext cx="171907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90702" y="2948940"/>
            <a:ext cx="3238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Observe: Isolated 'bridge' network creation (172.18.0.0/16).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304495" y="3539642"/>
            <a:ext cx="114300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3095" y="3520440"/>
            <a:ext cx="35341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Change: Start two containers (Web &amp; DB) in the network.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304495" y="4111142"/>
            <a:ext cx="19019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9905" y="4091940"/>
            <a:ext cx="29718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Unique internal IPs assigned automatically.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4495" y="4682642"/>
            <a:ext cx="152705" cy="1527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71500" y="4663440"/>
            <a:ext cx="3296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Verify: Successful ping between containers.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04495" y="5178247"/>
            <a:ext cx="4058107" cy="933602"/>
          </a:xfrm>
          <a:prstGeom prst="roundRect">
            <a:avLst>
              <a:gd name="adj" fmla="val 799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4000" r="-4000"/>
          <a:stretch/>
        </p:blipFill>
        <p:spPr>
          <a:xfrm>
            <a:off x="466344" y="5373014"/>
            <a:ext cx="123444" cy="1143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90702" y="5349240"/>
            <a:ext cx="1267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PROTOCOL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466344" y="5577840"/>
            <a:ext cx="29297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is contained within the Docker bridge.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466344" y="5768035"/>
            <a:ext cx="30723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routing to the host LAN or Internet required.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663440" y="1257300"/>
            <a:ext cx="7229246" cy="4724705"/>
          </a:xfrm>
          <a:prstGeom prst="roundRect">
            <a:avLst>
              <a:gd name="adj" fmla="val 46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4672584" y="1266444"/>
            <a:ext cx="7210044" cy="4288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4672584" y="1686154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4863694" y="1398118"/>
            <a:ext cx="171907" cy="13350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034686" y="1399946"/>
            <a:ext cx="19485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DOCKER NETWORK TOPOLOGY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10083089" y="1399946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DRIVER: BRIDGE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11124590" y="1380744"/>
            <a:ext cx="571500" cy="190195"/>
          </a:xfrm>
          <a:prstGeom prst="roundRect">
            <a:avLst>
              <a:gd name="adj" fmla="val 96154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 txBox="1"/>
          <p:nvPr/>
        </p:nvSpPr>
        <p:spPr>
          <a:xfrm>
            <a:off x="11200486" y="1399946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4863694" y="1886407"/>
            <a:ext cx="6829654" cy="2371954"/>
          </a:xfrm>
          <a:prstGeom prst="roundRect">
            <a:avLst>
              <a:gd name="adj" fmla="val 1858"/>
            </a:avLst>
          </a:prstGeom>
          <a:solidFill>
            <a:srgbClr val="3B82F6">
              <a:alpha val="5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9"/>
          <p:cNvSpPr/>
          <p:nvPr/>
        </p:nvSpPr>
        <p:spPr>
          <a:xfrm>
            <a:off x="5073091" y="1790395"/>
            <a:ext cx="2734056" cy="171907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0"/>
          <p:cNvSpPr txBox="1"/>
          <p:nvPr/>
        </p:nvSpPr>
        <p:spPr>
          <a:xfrm>
            <a:off x="5168189" y="1800454"/>
            <a:ext cx="2628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BRIDGE NETWORK (172.18.0.0/16)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5168189" y="2486254"/>
            <a:ext cx="1333195" cy="1171346"/>
          </a:xfrm>
          <a:prstGeom prst="roundRect">
            <a:avLst>
              <a:gd name="adj" fmla="val 507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 l="-90" r="-90"/>
          <a:stretch/>
        </p:blipFill>
        <p:spPr>
          <a:xfrm>
            <a:off x="5644591" y="2638044"/>
            <a:ext cx="381305" cy="30449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595214" y="3038551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web-01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5435194" y="3295498"/>
            <a:ext cx="809244" cy="20939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4"/>
          <p:cNvSpPr txBox="1"/>
          <p:nvPr/>
        </p:nvSpPr>
        <p:spPr>
          <a:xfrm>
            <a:off x="5491886" y="3323844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172.18.0.2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7922362" y="2872130"/>
            <a:ext cx="714146" cy="142646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6"/>
          <p:cNvSpPr txBox="1"/>
          <p:nvPr/>
        </p:nvSpPr>
        <p:spPr>
          <a:xfrm>
            <a:off x="7960766" y="2881274"/>
            <a:ext cx="7150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ICMP (PING)</a:t>
            </a:r>
            <a:endParaRPr lang="en-US" sz="800" dirty="0"/>
          </a:p>
        </p:txBody>
      </p:sp>
      <p:sp>
        <p:nvSpPr>
          <p:cNvPr id="47" name="Shape 37"/>
          <p:cNvSpPr/>
          <p:nvPr/>
        </p:nvSpPr>
        <p:spPr>
          <a:xfrm>
            <a:off x="10049256" y="2486254"/>
            <a:ext cx="1333195" cy="1171346"/>
          </a:xfrm>
          <a:prstGeom prst="roundRect">
            <a:avLst>
              <a:gd name="adj" fmla="val 507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rcRect l="-107" r="-107"/>
          <a:stretch/>
        </p:blipFill>
        <p:spPr>
          <a:xfrm>
            <a:off x="10582351" y="2638044"/>
            <a:ext cx="267005" cy="304495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0529316" y="3038551"/>
            <a:ext cx="4818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db-01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10315346" y="3295498"/>
            <a:ext cx="809244" cy="20939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0"/>
          <p:cNvSpPr txBox="1"/>
          <p:nvPr/>
        </p:nvSpPr>
        <p:spPr>
          <a:xfrm>
            <a:off x="10372954" y="3323844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172.18.0.3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4863694" y="4448556"/>
            <a:ext cx="6829654" cy="1333195"/>
          </a:xfrm>
          <a:prstGeom prst="roundRect">
            <a:avLst>
              <a:gd name="adj" fmla="val 293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2"/>
          <p:cNvSpPr txBox="1"/>
          <p:nvPr/>
        </p:nvSpPr>
        <p:spPr>
          <a:xfrm>
            <a:off x="5025542" y="4500677"/>
            <a:ext cx="11411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root@web-01:/#</a:t>
            </a:r>
            <a:endParaRPr lang="en-US" sz="900" dirty="0"/>
          </a:p>
        </p:txBody>
      </p:sp>
      <p:sp>
        <p:nvSpPr>
          <p:cNvPr id="54" name="Text 43"/>
          <p:cNvSpPr txBox="1"/>
          <p:nvPr/>
        </p:nvSpPr>
        <p:spPr>
          <a:xfrm>
            <a:off x="6142025" y="4500677"/>
            <a:ext cx="12170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-c 2 db-01</a:t>
            </a:r>
            <a:endParaRPr lang="en-US" sz="900" dirty="0"/>
          </a:p>
        </p:txBody>
      </p:sp>
      <p:sp>
        <p:nvSpPr>
          <p:cNvPr id="55" name="Text 44"/>
          <p:cNvSpPr txBox="1"/>
          <p:nvPr/>
        </p:nvSpPr>
        <p:spPr>
          <a:xfrm>
            <a:off x="5215738" y="4724705"/>
            <a:ext cx="34463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db-01 (172.18.0.3) 56(84) bytes of data.</a:t>
            </a:r>
            <a:endParaRPr lang="en-US" sz="900" dirty="0"/>
          </a:p>
        </p:txBody>
      </p:sp>
      <p:sp>
        <p:nvSpPr>
          <p:cNvPr id="56" name="Text 45"/>
          <p:cNvSpPr txBox="1"/>
          <p:nvPr/>
        </p:nvSpPr>
        <p:spPr>
          <a:xfrm>
            <a:off x="5215738" y="4947818"/>
            <a:ext cx="53702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bytes from db-01.docker_net (172.18.0.3): seq=1 ttl=64 time=0.041 ms</a:t>
            </a:r>
            <a:endParaRPr lang="en-US" sz="900" dirty="0"/>
          </a:p>
        </p:txBody>
      </p:sp>
      <p:sp>
        <p:nvSpPr>
          <p:cNvPr id="57" name="Text 46"/>
          <p:cNvSpPr txBox="1"/>
          <p:nvPr/>
        </p:nvSpPr>
        <p:spPr>
          <a:xfrm>
            <a:off x="5215738" y="5171846"/>
            <a:ext cx="53702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bytes from db-01.docker_net (172.18.0.3): seq=2 ttl=64 time=0.038 ms</a:t>
            </a:r>
            <a:endParaRPr lang="en-US" sz="900" dirty="0"/>
          </a:p>
        </p:txBody>
      </p:sp>
      <p:sp>
        <p:nvSpPr>
          <p:cNvPr id="58" name="Text 47"/>
          <p:cNvSpPr txBox="1"/>
          <p:nvPr/>
        </p:nvSpPr>
        <p:spPr>
          <a:xfrm>
            <a:off x="5025542" y="5395874"/>
            <a:ext cx="11411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root@web-01:/#</a:t>
            </a:r>
            <a:endParaRPr lang="en-US" sz="900" dirty="0"/>
          </a:p>
        </p:txBody>
      </p:sp>
      <p:sp>
        <p:nvSpPr>
          <p:cNvPr id="59" name="Text 48"/>
          <p:cNvSpPr txBox="1"/>
          <p:nvPr/>
        </p:nvSpPr>
        <p:spPr>
          <a:xfrm>
            <a:off x="6142025" y="5395874"/>
            <a:ext cx="1691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900" dirty="0"/>
          </a:p>
        </p:txBody>
      </p:sp>
      <p:sp>
        <p:nvSpPr>
          <p:cNvPr id="60" name="Shape 49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0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1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3" name="Text 52"/>
          <p:cNvSpPr txBox="1"/>
          <p:nvPr/>
        </p:nvSpPr>
        <p:spPr>
          <a:xfrm>
            <a:off x="1478585" y="6329477"/>
            <a:ext cx="939728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"Notice how containers get their own private IP range. To the SOC, this looks like a mini-network inside the host."</a:t>
            </a:r>
            <a:endParaRPr lang="en-US" sz="1300" dirty="0"/>
          </a:p>
        </p:txBody>
      </p:sp>
      <p:sp>
        <p:nvSpPr>
          <p:cNvPr id="64" name="Text 53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47 / 60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60771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7: DNS Resolution Observation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280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404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401300" y="352044"/>
            <a:ext cx="1638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HANDS-ON LABS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4058107" cy="101955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4495" y="1257300"/>
            <a:ext cx="38405" cy="101955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4000" r="-4000"/>
          <a:stretch/>
        </p:blipFill>
        <p:spPr>
          <a:xfrm>
            <a:off x="495605" y="1442923"/>
            <a:ext cx="123444" cy="1143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19049" y="1419149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OBJECTIVE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95605" y="1657807"/>
            <a:ext cx="356798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the Name-to-IP mapping process using standard lookup tools.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4495" y="2470709"/>
            <a:ext cx="1733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CHECKLIST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5356" r="-5356"/>
          <a:stretch/>
        </p:blipFill>
        <p:spPr>
          <a:xfrm>
            <a:off x="304495" y="2727655"/>
            <a:ext cx="190195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09905" y="2709367"/>
            <a:ext cx="2895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Observe: Name to IP mapping process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5356" r="-5356"/>
          <a:stretch/>
        </p:blipFill>
        <p:spPr>
          <a:xfrm>
            <a:off x="304495" y="3070555"/>
            <a:ext cx="19019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9905" y="3052267"/>
            <a:ext cx="3572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Change: Query public names (e.g., google.com)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12275" r="-12275"/>
          <a:stretch/>
        </p:blipFill>
        <p:spPr>
          <a:xfrm>
            <a:off x="304495" y="3413455"/>
            <a:ext cx="19019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9905" y="3395167"/>
            <a:ext cx="3648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Resolver logs show the query request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l="-12275" r="-12275"/>
          <a:stretch/>
        </p:blipFill>
        <p:spPr>
          <a:xfrm>
            <a:off x="304495" y="3756355"/>
            <a:ext cx="190195" cy="1527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09905" y="3738067"/>
            <a:ext cx="3134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Verify: Returned addresses are consistent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04495" y="4972507"/>
            <a:ext cx="4058107" cy="1009498"/>
          </a:xfrm>
          <a:prstGeom prst="roundRect">
            <a:avLst>
              <a:gd name="adj" fmla="val 6836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4000" r="-4000"/>
          <a:stretch/>
        </p:blipFill>
        <p:spPr>
          <a:xfrm>
            <a:off x="466344" y="5167274"/>
            <a:ext cx="123444" cy="1143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90702" y="5143500"/>
            <a:ext cx="1267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PROTOCOL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466344" y="5372100"/>
            <a:ext cx="27770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lookup tools only (nslookup/dig).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466344" y="5639105"/>
            <a:ext cx="22814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Passive observation. No scanning.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663440" y="1257300"/>
            <a:ext cx="7229246" cy="4724705"/>
          </a:xfrm>
          <a:prstGeom prst="roundRect">
            <a:avLst>
              <a:gd name="adj" fmla="val 46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4672584" y="1266444"/>
            <a:ext cx="7210044" cy="4288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4672584" y="1686154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4863694" y="1398118"/>
            <a:ext cx="152705" cy="13350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015484" y="1399946"/>
            <a:ext cx="25100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TERMINAL - ANALYST WORKSTATION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10200132" y="1399946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CMD.EXE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10865815" y="1380744"/>
            <a:ext cx="828446" cy="190195"/>
          </a:xfrm>
          <a:prstGeom prst="roundRect">
            <a:avLst>
              <a:gd name="adj" fmla="val 96154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 txBox="1"/>
          <p:nvPr/>
        </p:nvSpPr>
        <p:spPr>
          <a:xfrm>
            <a:off x="10941710" y="1399946"/>
            <a:ext cx="762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DNS-TOOLS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4672584" y="1695298"/>
            <a:ext cx="7210044" cy="4276649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 txBox="1"/>
          <p:nvPr/>
        </p:nvSpPr>
        <p:spPr>
          <a:xfrm>
            <a:off x="4901184" y="1933956"/>
            <a:ext cx="1677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C:\Users\Analyst&gt;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456578" y="1933956"/>
            <a:ext cx="1858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nslookup google.com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4901184" y="2314346"/>
            <a:ext cx="762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Server: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5618074" y="2314346"/>
            <a:ext cx="762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4901184" y="2581351"/>
            <a:ext cx="8485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Address: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5709514" y="2581351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4901184" y="3114446"/>
            <a:ext cx="2410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Non-authoritative answer: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4901184" y="3448202"/>
            <a:ext cx="6752844" cy="838505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7"/>
          <p:cNvSpPr/>
          <p:nvPr/>
        </p:nvSpPr>
        <p:spPr>
          <a:xfrm>
            <a:off x="4901184" y="3448202"/>
            <a:ext cx="28346" cy="8385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8"/>
          <p:cNvSpPr txBox="1"/>
          <p:nvPr/>
        </p:nvSpPr>
        <p:spPr>
          <a:xfrm>
            <a:off x="5044745" y="3534156"/>
            <a:ext cx="5815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endParaRPr lang="en-US" sz="1200" dirty="0"/>
          </a:p>
        </p:txBody>
      </p:sp>
      <p:sp>
        <p:nvSpPr>
          <p:cNvPr id="48" name="Text 39"/>
          <p:cNvSpPr txBox="1"/>
          <p:nvPr/>
        </p:nvSpPr>
        <p:spPr>
          <a:xfrm>
            <a:off x="5577840" y="3534156"/>
            <a:ext cx="103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google.com</a:t>
            </a:r>
            <a:endParaRPr lang="en-US" sz="1200" dirty="0"/>
          </a:p>
        </p:txBody>
      </p:sp>
      <p:sp>
        <p:nvSpPr>
          <p:cNvPr id="49" name="Text 40"/>
          <p:cNvSpPr txBox="1"/>
          <p:nvPr/>
        </p:nvSpPr>
        <p:spPr>
          <a:xfrm>
            <a:off x="5044745" y="3762756"/>
            <a:ext cx="103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Addresses: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6035040" y="3762756"/>
            <a:ext cx="23152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2607:f8b0:4009:80b::200e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6035040" y="3991356"/>
            <a:ext cx="14008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142.250.190.46</a:t>
            </a:r>
            <a:endParaRPr lang="en-US" sz="1200" dirty="0"/>
          </a:p>
        </p:txBody>
      </p:sp>
      <p:sp>
        <p:nvSpPr>
          <p:cNvPr id="52" name="Text 43"/>
          <p:cNvSpPr txBox="1"/>
          <p:nvPr/>
        </p:nvSpPr>
        <p:spPr>
          <a:xfrm>
            <a:off x="4901184" y="4677156"/>
            <a:ext cx="1677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C:\Users\Analyst&gt;</a:t>
            </a:r>
            <a:endParaRPr lang="en-US" sz="1200" dirty="0"/>
          </a:p>
        </p:txBody>
      </p:sp>
      <p:sp>
        <p:nvSpPr>
          <p:cNvPr id="53" name="Text 44"/>
          <p:cNvSpPr txBox="1"/>
          <p:nvPr/>
        </p:nvSpPr>
        <p:spPr>
          <a:xfrm>
            <a:off x="6456578" y="4677156"/>
            <a:ext cx="2103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200" dirty="0"/>
          </a:p>
        </p:txBody>
      </p:sp>
      <p:sp>
        <p:nvSpPr>
          <p:cNvPr id="54" name="Shape 45"/>
          <p:cNvSpPr/>
          <p:nvPr/>
        </p:nvSpPr>
        <p:spPr>
          <a:xfrm>
            <a:off x="9210751" y="4276649"/>
            <a:ext cx="2438705" cy="1466698"/>
          </a:xfrm>
          <a:prstGeom prst="roundRect">
            <a:avLst>
              <a:gd name="adj" fmla="val 1619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46"/>
          <p:cNvSpPr txBox="1"/>
          <p:nvPr/>
        </p:nvSpPr>
        <p:spPr>
          <a:xfrm>
            <a:off x="9372600" y="4448556"/>
            <a:ext cx="1267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OBSERVATION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9372600" y="4667098"/>
            <a:ext cx="21534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"Query" (yellow) is what the user asked for. The "Answer" (blue box) is what the network returned. SOC logs capture both to build a history of visited sites.</a:t>
            </a:r>
            <a:endParaRPr lang="en-US" sz="900" dirty="0"/>
          </a:p>
        </p:txBody>
      </p:sp>
      <p:sp>
        <p:nvSpPr>
          <p:cNvPr id="57" name="Shape 48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9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0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0" name="Text 51"/>
          <p:cNvSpPr txBox="1"/>
          <p:nvPr/>
        </p:nvSpPr>
        <p:spPr>
          <a:xfrm>
            <a:off x="1409090" y="6329477"/>
            <a:ext cx="918697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'Non-authoritative answer'. This means our local DNS resolver had to go ask the internet for this information."</a:t>
            </a:r>
            <a:endParaRPr lang="en-US" sz="1300" dirty="0"/>
          </a:p>
        </p:txBody>
      </p:sp>
      <p:sp>
        <p:nvSpPr>
          <p:cNvPr id="61" name="Text 52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48 / 60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65919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8: Identify CDN Providers via DNS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280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404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401300" y="352044"/>
            <a:ext cx="1638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HANDS-ON LABS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4058107" cy="12573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4495" y="1257300"/>
            <a:ext cx="38405" cy="12573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4000" r="-4000"/>
          <a:stretch/>
        </p:blipFill>
        <p:spPr>
          <a:xfrm>
            <a:off x="495605" y="1442923"/>
            <a:ext cx="123444" cy="1143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19049" y="1419149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OBJECTIVE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95605" y="1657807"/>
            <a:ext cx="35012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DNS queries to look behind a domain name and identify if a Content Delivery Network (CDN) is being used.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4495" y="2711196"/>
            <a:ext cx="1733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CHECKLIST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4495" y="2968142"/>
            <a:ext cx="152705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71500" y="2948940"/>
            <a:ext cx="3572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for CNAME records (Aliases) in the output.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4495" y="3311042"/>
            <a:ext cx="15270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71500" y="3291840"/>
            <a:ext cx="31912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provider suffixes (e.g., akamai.net, cloudfront.net).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304495" y="3882542"/>
            <a:ext cx="19019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9905" y="3863340"/>
            <a:ext cx="36768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 final IP belongs to the CDN edge, not the origin.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04495" y="5048402"/>
            <a:ext cx="4058107" cy="933602"/>
          </a:xfrm>
          <a:prstGeom prst="roundRect">
            <a:avLst>
              <a:gd name="adj" fmla="val 799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4000" r="-4000"/>
          <a:stretch/>
        </p:blipFill>
        <p:spPr>
          <a:xfrm>
            <a:off x="466344" y="5243170"/>
            <a:ext cx="123444" cy="1143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90702" y="5219395"/>
            <a:ext cx="1267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PROTOCOL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466344" y="5447995"/>
            <a:ext cx="37005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public DNS resolution only. No port scanning or active probing.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663440" y="1257300"/>
            <a:ext cx="7229246" cy="4724705"/>
          </a:xfrm>
          <a:prstGeom prst="roundRect">
            <a:avLst>
              <a:gd name="adj" fmla="val 46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4672584" y="1266444"/>
            <a:ext cx="7210044" cy="4288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4672584" y="1686154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4863694" y="1398118"/>
            <a:ext cx="152705" cy="13350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015484" y="1399946"/>
            <a:ext cx="24249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TERMINAL: ANALYST WORKSTATION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10947197" y="1399946"/>
            <a:ext cx="752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 QUERY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4672584" y="1695298"/>
            <a:ext cx="7210044" cy="263804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 txBox="1"/>
          <p:nvPr/>
        </p:nvSpPr>
        <p:spPr>
          <a:xfrm>
            <a:off x="4901184" y="1933956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analyst@soc-lab:~$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6662318" y="1933956"/>
            <a:ext cx="26773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nslookup www.global-shop.com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4901184" y="2238451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Server: 8.8.8.8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4901184" y="2542946"/>
            <a:ext cx="1858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Address: 8.8.8.8#53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4901184" y="2924251"/>
            <a:ext cx="2410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Non-authoritative answer: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4901184" y="3228746"/>
            <a:ext cx="2410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www.global-shop.com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4901184" y="3534156"/>
            <a:ext cx="20391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Address: 104.18.22.10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4901184" y="3857854"/>
            <a:ext cx="8485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Aliases: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5632704" y="3829507"/>
            <a:ext cx="3590849" cy="267005"/>
          </a:xfrm>
          <a:prstGeom prst="roundRect">
            <a:avLst>
              <a:gd name="adj" fmla="val 48924"/>
            </a:avLst>
          </a:prstGeom>
          <a:solidFill>
            <a:srgbClr val="EAB308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 txBox="1"/>
          <p:nvPr/>
        </p:nvSpPr>
        <p:spPr>
          <a:xfrm>
            <a:off x="5690311" y="3857854"/>
            <a:ext cx="35917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www.global-shop.com.cdn.cloudflare.net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4672584" y="4325112"/>
            <a:ext cx="7210044" cy="1647749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4672584" y="4325112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 l="-5467" r="-5467"/>
          <a:stretch/>
        </p:blipFill>
        <p:spPr>
          <a:xfrm>
            <a:off x="4863694" y="4559198"/>
            <a:ext cx="142646" cy="1143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5006340" y="4534510"/>
            <a:ext cx="2514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VISUALIZING THE RESOLUTION PATH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5053889" y="4906670"/>
            <a:ext cx="1086307" cy="609905"/>
          </a:xfrm>
          <a:prstGeom prst="roundRect">
            <a:avLst>
              <a:gd name="adj" fmla="val 14055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9"/>
          <p:cNvSpPr txBox="1"/>
          <p:nvPr/>
        </p:nvSpPr>
        <p:spPr>
          <a:xfrm>
            <a:off x="5394960" y="5020970"/>
            <a:ext cx="5102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5365699" y="5601614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</a:t>
            </a:r>
            <a:endParaRPr lang="en-US" sz="9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rcRect l="-760" r="-760"/>
          <a:stretch/>
        </p:blipFill>
        <p:spPr>
          <a:xfrm>
            <a:off x="6135624" y="5249570"/>
            <a:ext cx="152705" cy="171907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6288329" y="4906670"/>
            <a:ext cx="1781251" cy="609905"/>
          </a:xfrm>
          <a:prstGeom prst="roundRect">
            <a:avLst>
              <a:gd name="adj" fmla="val 14055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2"/>
          <p:cNvSpPr txBox="1"/>
          <p:nvPr/>
        </p:nvSpPr>
        <p:spPr>
          <a:xfrm>
            <a:off x="6735470" y="5020970"/>
            <a:ext cx="9866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www.global-shop.com</a:t>
            </a:r>
            <a:endParaRPr lang="en-US" sz="1000" dirty="0"/>
          </a:p>
        </p:txBody>
      </p:sp>
      <p:sp>
        <p:nvSpPr>
          <p:cNvPr id="53" name="Text 43"/>
          <p:cNvSpPr txBox="1"/>
          <p:nvPr/>
        </p:nvSpPr>
        <p:spPr>
          <a:xfrm>
            <a:off x="6780276" y="5601614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Domain</a:t>
            </a:r>
            <a:endParaRPr lang="en-US" sz="900" dirty="0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10"/>
          <a:srcRect l="-760" r="-760"/>
          <a:stretch/>
        </p:blipFill>
        <p:spPr>
          <a:xfrm>
            <a:off x="8063179" y="5249570"/>
            <a:ext cx="152705" cy="171907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8215884" y="5006340"/>
            <a:ext cx="1848002" cy="409651"/>
          </a:xfrm>
          <a:prstGeom prst="roundRect">
            <a:avLst>
              <a:gd name="adj" fmla="val 3114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5"/>
          <p:cNvSpPr txBox="1"/>
          <p:nvPr/>
        </p:nvSpPr>
        <p:spPr>
          <a:xfrm>
            <a:off x="8377733" y="5120640"/>
            <a:ext cx="16248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.cdn.cloudflare.net</a:t>
            </a:r>
            <a:endParaRPr lang="en-US" sz="1000" dirty="0"/>
          </a:p>
        </p:txBody>
      </p:sp>
      <p:sp>
        <p:nvSpPr>
          <p:cNvPr id="57" name="Text 46"/>
          <p:cNvSpPr txBox="1"/>
          <p:nvPr/>
        </p:nvSpPr>
        <p:spPr>
          <a:xfrm>
            <a:off x="8730691" y="5501945"/>
            <a:ext cx="9052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CNAME (Alias)</a:t>
            </a:r>
            <a:endParaRPr lang="en-US" sz="900" dirty="0"/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10"/>
          <a:srcRect l="-760" r="-760"/>
          <a:stretch/>
        </p:blipFill>
        <p:spPr>
          <a:xfrm>
            <a:off x="10060229" y="5249570"/>
            <a:ext cx="152705" cy="171907"/>
          </a:xfrm>
          <a:prstGeom prst="rect">
            <a:avLst/>
          </a:prstGeom>
        </p:spPr>
      </p:pic>
      <p:sp>
        <p:nvSpPr>
          <p:cNvPr id="59" name="Shape 47"/>
          <p:cNvSpPr/>
          <p:nvPr/>
        </p:nvSpPr>
        <p:spPr>
          <a:xfrm>
            <a:off x="10212019" y="5006340"/>
            <a:ext cx="1285646" cy="409651"/>
          </a:xfrm>
          <a:prstGeom prst="roundRect">
            <a:avLst>
              <a:gd name="adj" fmla="val 3114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48"/>
          <p:cNvSpPr txBox="1"/>
          <p:nvPr/>
        </p:nvSpPr>
        <p:spPr>
          <a:xfrm>
            <a:off x="10374782" y="5120640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104.18.22.10</a:t>
            </a:r>
            <a:endParaRPr lang="en-US" sz="1000" dirty="0"/>
          </a:p>
        </p:txBody>
      </p:sp>
      <p:sp>
        <p:nvSpPr>
          <p:cNvPr id="61" name="Text 49"/>
          <p:cNvSpPr txBox="1"/>
          <p:nvPr/>
        </p:nvSpPr>
        <p:spPr>
          <a:xfrm>
            <a:off x="10506456" y="5501945"/>
            <a:ext cx="790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CDN Edge IP</a:t>
            </a:r>
            <a:endParaRPr lang="en-US" sz="900" dirty="0"/>
          </a:p>
        </p:txBody>
      </p:sp>
      <p:sp>
        <p:nvSpPr>
          <p:cNvPr id="62" name="Shape 50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51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2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5" name="Text 53"/>
          <p:cNvSpPr txBox="1"/>
          <p:nvPr/>
        </p:nvSpPr>
        <p:spPr>
          <a:xfrm>
            <a:off x="1367028" y="6329477"/>
            <a:ext cx="90827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"Notice the 'Aliases' line. This tells the SOC that traffic is going to Cloudflare, not directly to the company's private server."</a:t>
            </a:r>
            <a:endParaRPr lang="en-US" sz="1300" dirty="0"/>
          </a:p>
        </p:txBody>
      </p:sp>
      <p:sp>
        <p:nvSpPr>
          <p:cNvPr id="66" name="Text 54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49 / 60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5524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9: Access Open FTP Server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280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404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401300" y="352044"/>
            <a:ext cx="1638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HANDS-ON LABS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4058107" cy="101955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4495" y="1257300"/>
            <a:ext cx="38405" cy="101955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4000" r="-4000"/>
          <a:stretch/>
        </p:blipFill>
        <p:spPr>
          <a:xfrm>
            <a:off x="495605" y="1442923"/>
            <a:ext cx="123444" cy="1143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19049" y="1419149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OBJECTIVE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95605" y="1657807"/>
            <a:ext cx="358627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to a safe, read-only FTP server to observe plain-text file transfer behavior.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4495" y="2470709"/>
            <a:ext cx="1733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CHECKLIST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04495" y="2727655"/>
            <a:ext cx="171907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90702" y="2709367"/>
            <a:ext cx="33055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Observe: Successful login banner (230) and directory listing output.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4495" y="3299155"/>
            <a:ext cx="15270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71500" y="3280867"/>
            <a:ext cx="36768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Change: None. Simply browse directory structure using standard commands.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4495" y="3870655"/>
            <a:ext cx="15270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" y="3852367"/>
            <a:ext cx="36393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Notice lack of encryption. Credentials sent in clear text (port 21).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04495" y="4972507"/>
            <a:ext cx="4058107" cy="1009498"/>
          </a:xfrm>
          <a:prstGeom prst="roundRect">
            <a:avLst>
              <a:gd name="adj" fmla="val 6836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4000" r="-4000"/>
          <a:stretch/>
        </p:blipFill>
        <p:spPr>
          <a:xfrm>
            <a:off x="466344" y="5167274"/>
            <a:ext cx="123444" cy="1143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90702" y="5143500"/>
            <a:ext cx="1267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PROTOCOL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466344" y="5372100"/>
            <a:ext cx="23481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to internal lab FTP only.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466344" y="5639105"/>
            <a:ext cx="31391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upload sensitive data. Read-only access.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663440" y="1257300"/>
            <a:ext cx="7229246" cy="4724705"/>
          </a:xfrm>
          <a:prstGeom prst="roundRect">
            <a:avLst>
              <a:gd name="adj" fmla="val 46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4672584" y="1266444"/>
            <a:ext cx="7210044" cy="504749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4672584" y="1762049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4863694" y="1435608"/>
            <a:ext cx="152705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015484" y="1438351"/>
            <a:ext cx="21863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FTP SESSION: ftp.lab.local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10670134" y="1380744"/>
            <a:ext cx="1019556" cy="267005"/>
          </a:xfrm>
          <a:prstGeom prst="roundRect">
            <a:avLst>
              <a:gd name="adj" fmla="val 489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10793578" y="1476756"/>
            <a:ext cx="75895" cy="75895"/>
          </a:xfrm>
          <a:prstGeom prst="ellipse">
            <a:avLst/>
          </a:prstGeom>
          <a:solidFill>
            <a:srgbClr val="10B981"/>
          </a:solidFill>
          <a:ln/>
          <a:effectLst>
            <a:outerShdw blurRad="12700" dist="12700" dir="16200000" algn="bl" rotWithShape="0">
              <a:srgbClr val="10B981">
                <a:alpha val="686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 txBox="1"/>
          <p:nvPr/>
        </p:nvSpPr>
        <p:spPr>
          <a:xfrm>
            <a:off x="10946282" y="1438351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672584" y="1772107"/>
            <a:ext cx="7210044" cy="420075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 txBox="1"/>
          <p:nvPr/>
        </p:nvSpPr>
        <p:spPr>
          <a:xfrm>
            <a:off x="4863694" y="1971446"/>
            <a:ext cx="21863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analyst@soc-workstation:~$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7058254" y="1971446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ftp 192.168.10.50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4863694" y="2324405"/>
            <a:ext cx="104259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 to 192.168.10.50. 220 (vsFTPd 3.0.3) Name (192.168.10.50:analyst): anonymous 331 Please specify the password. Password: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15186355" y="2324405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 Login successful.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6867022" y="2324405"/>
            <a:ext cx="52248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 system type is UNIX. Using binary mode to transfer files.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4863694" y="2676449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ftp&gt;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5298034" y="2676449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4863694" y="3029407"/>
            <a:ext cx="145115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PORT command successful. Consider using PASV. 150 Here comes the directory listing. -rw-r--r-- 1 ftp ftp 451 Jan 15 08:00 welcome.msg drwxr-xr-x 2 ftp ftp 4096 Jan 15 09:30 pub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19267322" y="3029407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226 Directory send OK.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4863694" y="33814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ftp&gt;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5298034" y="3381451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pub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4863694" y="3733495"/>
            <a:ext cx="29105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 Directory successfully changed.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4863694" y="4086454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ftp&gt;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5298034" y="4086454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53" name="Text 45"/>
          <p:cNvSpPr txBox="1"/>
          <p:nvPr/>
        </p:nvSpPr>
        <p:spPr>
          <a:xfrm>
            <a:off x="1568196" y="6329477"/>
            <a:ext cx="90827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"Notice the status codes (220, 230, 226). In a packet capture, we would see 'anonymous' clearly visible."</a:t>
            </a:r>
            <a:endParaRPr lang="en-US" sz="1300" dirty="0"/>
          </a:p>
        </p:txBody>
      </p:sp>
      <p:sp>
        <p:nvSpPr>
          <p:cNvPr id="54" name="Text 46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50 / 60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67254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10: FTP Upload/Download Practice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280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404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401300" y="352044"/>
            <a:ext cx="1638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HANDS-ON LABS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4058107" cy="12573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4495" y="1257300"/>
            <a:ext cx="38405" cy="12573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4000" r="-4000"/>
          <a:stretch/>
        </p:blipFill>
        <p:spPr>
          <a:xfrm>
            <a:off x="495605" y="1442923"/>
            <a:ext cx="123444" cy="1143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19049" y="1419149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OBJECTIVE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95605" y="1657807"/>
            <a:ext cx="37965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file transfer behavior using standard FTP commands to understand data movement logs.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4495" y="2711196"/>
            <a:ext cx="1733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CHECKLIST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04495" y="2968142"/>
            <a:ext cx="171907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90702" y="2948940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Observe: Directory listing changes before/after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4495" y="3311042"/>
            <a:ext cx="15270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71500" y="3291840"/>
            <a:ext cx="36676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Change: Upload 'report.txt', download 'config.bk'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4495" y="3653942"/>
            <a:ext cx="15270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" y="3634740"/>
            <a:ext cx="3724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Correlate commands with transfer logs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4495" y="3996842"/>
            <a:ext cx="152705" cy="1527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71500" y="3977640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Verify: Files transfer correctly round-trip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04495" y="4972507"/>
            <a:ext cx="4058107" cy="1009498"/>
          </a:xfrm>
          <a:prstGeom prst="roundRect">
            <a:avLst>
              <a:gd name="adj" fmla="val 6836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4000" r="-4000"/>
          <a:stretch/>
        </p:blipFill>
        <p:spPr>
          <a:xfrm>
            <a:off x="466344" y="5167274"/>
            <a:ext cx="123444" cy="1143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90702" y="5143500"/>
            <a:ext cx="1267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PROTOCOL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466344" y="5372100"/>
            <a:ext cx="2167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isolated lab FTP server only.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466344" y="5639105"/>
            <a:ext cx="23582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sensitive data. Use dummy files.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663440" y="1257300"/>
            <a:ext cx="7229246" cy="4724705"/>
          </a:xfrm>
          <a:prstGeom prst="roundRect">
            <a:avLst>
              <a:gd name="adj" fmla="val 46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4672584" y="1266444"/>
            <a:ext cx="7210044" cy="4288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4672584" y="1686154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4863694" y="1398118"/>
            <a:ext cx="152705" cy="13350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015484" y="1399946"/>
            <a:ext cx="27486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FTP CLIENT SESSION (192.168.1.10)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10189159" y="1399946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CONNECTED: 192.168.1.50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4672584" y="1695298"/>
            <a:ext cx="7210044" cy="4276649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 txBox="1"/>
          <p:nvPr/>
        </p:nvSpPr>
        <p:spPr>
          <a:xfrm>
            <a:off x="4863694" y="18955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ftp&gt;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5298034" y="1895551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5053889" y="2210105"/>
            <a:ext cx="113111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PORT command successful. 150 Here comes the directory listing. -rw-r--r-- 1 1000 1000 4096 Jan 15 09:00 config.bk 226 Directory send OK.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4863694" y="2523744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ftp&gt;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5298034" y="2523744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report.txt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5053889" y="2838298"/>
            <a:ext cx="121880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local: report.txt remote: report.txt 200 PORT command successful. 150 Ok to send data. 226 Transfer complete. 1542 bytes sent in 0.00 secs (18.42 MB/s)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4863694" y="31528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ftp&gt;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5298034" y="3152851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config.bk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5053889" y="3467405"/>
            <a:ext cx="8425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local: config.bk remote: config.bk 200 PORT command successful. 150 Opening BINARY mode data connection.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5244084" y="3696005"/>
            <a:ext cx="1904695" cy="57607"/>
          </a:xfrm>
          <a:prstGeom prst="roundRect">
            <a:avLst>
              <a:gd name="adj" fmla="val 793654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7"/>
          <p:cNvSpPr/>
          <p:nvPr/>
        </p:nvSpPr>
        <p:spPr>
          <a:xfrm>
            <a:off x="5244084" y="3696005"/>
            <a:ext cx="1904695" cy="57607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8"/>
          <p:cNvSpPr txBox="1"/>
          <p:nvPr/>
        </p:nvSpPr>
        <p:spPr>
          <a:xfrm>
            <a:off x="5053889" y="3762756"/>
            <a:ext cx="56253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226 Transfer complete. 4096 bytes received in 0.01 secs (400.00 kB/s)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4863694" y="407639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ftp&gt;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5298034" y="407639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000" dirty="0"/>
          </a:p>
        </p:txBody>
      </p:sp>
      <p:sp>
        <p:nvSpPr>
          <p:cNvPr id="50" name="Text 41"/>
          <p:cNvSpPr txBox="1"/>
          <p:nvPr/>
        </p:nvSpPr>
        <p:spPr>
          <a:xfrm>
            <a:off x="5053889" y="4390949"/>
            <a:ext cx="154734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PORT command successful. 150 Here comes the directory listing. -rw-r--r-- 1 1000 1000 4096 Jan 15 09:00 config.bk -rw-r--r-- 1 1000 1000 1542 Jan 16 14:32 report.txt 226 Directory send OK.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4863694" y="4705502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ftp&gt;</a:t>
            </a:r>
            <a:endParaRPr lang="en-US" sz="1000" dirty="0"/>
          </a:p>
        </p:txBody>
      </p:sp>
      <p:sp>
        <p:nvSpPr>
          <p:cNvPr id="52" name="Text 43"/>
          <p:cNvSpPr txBox="1"/>
          <p:nvPr/>
        </p:nvSpPr>
        <p:spPr>
          <a:xfrm>
            <a:off x="5298034" y="47055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4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6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56" name="Text 47"/>
          <p:cNvSpPr txBox="1"/>
          <p:nvPr/>
        </p:nvSpPr>
        <p:spPr>
          <a:xfrm>
            <a:off x="1478585" y="6329477"/>
            <a:ext cx="939728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difference between 'put' (upload) and 'get' (download). In logs, we see bytes sent vs bytes received."</a:t>
            </a:r>
            <a:endParaRPr lang="en-US" sz="1300" dirty="0"/>
          </a:p>
        </p:txBody>
      </p:sp>
      <p:sp>
        <p:nvSpPr>
          <p:cNvPr id="57" name="Text 48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51 / 60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84015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11: Change NTP Server &amp; Observe Time Sync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2802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4046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401300" y="352044"/>
            <a:ext cx="1638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HANDS-ON LABS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4058107" cy="101955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4495" y="1257300"/>
            <a:ext cx="38405" cy="101955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4000" r="-4000"/>
          <a:stretch/>
        </p:blipFill>
        <p:spPr>
          <a:xfrm>
            <a:off x="495605" y="1442923"/>
            <a:ext cx="123444" cy="1143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19049" y="1419149"/>
            <a:ext cx="1105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OBJECTIVE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95605" y="1657807"/>
            <a:ext cx="351952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the Network Time Protocol (NTP) source and observe synchronization logs.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4495" y="2470709"/>
            <a:ext cx="1733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CHECKLIST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304495" y="2727655"/>
            <a:ext cx="171907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90702" y="2709367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Observe: Current time offset and sync status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304495" y="3070555"/>
            <a:ext cx="95098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4807" y="3052267"/>
            <a:ext cx="3219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Change: Point to new NTP IP (pool.ntp.org)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4495" y="3413455"/>
            <a:ext cx="15270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" y="3395167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Logs reflect new time source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4495" y="3756355"/>
            <a:ext cx="152705" cy="1527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71500" y="3738067"/>
            <a:ext cx="2686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Verify: Clocks align after sync cycle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04495" y="4972507"/>
            <a:ext cx="4058107" cy="1009498"/>
          </a:xfrm>
          <a:prstGeom prst="roundRect">
            <a:avLst>
              <a:gd name="adj" fmla="val 6836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4000" r="-4000"/>
          <a:stretch/>
        </p:blipFill>
        <p:spPr>
          <a:xfrm>
            <a:off x="466344" y="5167274"/>
            <a:ext cx="123444" cy="1143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90702" y="5143500"/>
            <a:ext cx="1267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PROTOCOL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466344" y="5372100"/>
            <a:ext cx="1757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VM instance only.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466344" y="5639105"/>
            <a:ext cx="20528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impact to host system time.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663440" y="1257300"/>
            <a:ext cx="7229246" cy="4724705"/>
          </a:xfrm>
          <a:prstGeom prst="roundRect">
            <a:avLst>
              <a:gd name="adj" fmla="val 46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4672584" y="1266444"/>
            <a:ext cx="7210044" cy="4288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4672584" y="1686154"/>
            <a:ext cx="7210044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863694" y="1398118"/>
            <a:ext cx="133502" cy="13350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4997196" y="1399946"/>
            <a:ext cx="2024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NTP CONFIGURATION &amp; LOGS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9830714" y="1399946"/>
            <a:ext cx="876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TIMEDATECTL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10771632" y="1380744"/>
            <a:ext cx="923544" cy="190195"/>
          </a:xfrm>
          <a:prstGeom prst="roundRect">
            <a:avLst>
              <a:gd name="adj" fmla="val 96154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 txBox="1"/>
          <p:nvPr/>
        </p:nvSpPr>
        <p:spPr>
          <a:xfrm>
            <a:off x="10847527" y="1399946"/>
            <a:ext cx="8577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 ACTIVE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4672584" y="3048610"/>
            <a:ext cx="7210044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29"/>
          <p:cNvSpPr/>
          <p:nvPr/>
        </p:nvSpPr>
        <p:spPr>
          <a:xfrm>
            <a:off x="4825289" y="1848002"/>
            <a:ext cx="6905549" cy="857707"/>
          </a:xfrm>
          <a:prstGeom prst="roundRect">
            <a:avLst>
              <a:gd name="adj" fmla="val 947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987138" y="2133295"/>
            <a:ext cx="286207" cy="286207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5463540" y="2018995"/>
            <a:ext cx="12573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SYSTEM TIME (UTC)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5463540" y="2219249"/>
            <a:ext cx="31437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2023-10-24 14:30:45</a:t>
            </a:r>
            <a:endParaRPr lang="en-US" sz="1800" dirty="0"/>
          </a:p>
        </p:txBody>
      </p:sp>
      <p:sp>
        <p:nvSpPr>
          <p:cNvPr id="42" name="Shape 32"/>
          <p:cNvSpPr/>
          <p:nvPr/>
        </p:nvSpPr>
        <p:spPr>
          <a:xfrm>
            <a:off x="10081260" y="2037283"/>
            <a:ext cx="1485900" cy="295351"/>
          </a:xfrm>
          <a:prstGeom prst="roundRect">
            <a:avLst>
              <a:gd name="adj" fmla="val 119844"/>
            </a:avLst>
          </a:prstGeom>
          <a:solidFill>
            <a:srgbClr val="064E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86416" y="2066544"/>
            <a:ext cx="200254" cy="200254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0376611" y="2105863"/>
            <a:ext cx="11768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SYNCHRONIZED</a:t>
            </a:r>
            <a:endParaRPr lang="en-US" sz="1000" dirty="0"/>
          </a:p>
        </p:txBody>
      </p:sp>
      <p:sp>
        <p:nvSpPr>
          <p:cNvPr id="45" name="Text 34"/>
          <p:cNvSpPr txBox="1"/>
          <p:nvPr/>
        </p:nvSpPr>
        <p:spPr>
          <a:xfrm>
            <a:off x="10877702" y="2372868"/>
            <a:ext cx="781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Stratum: 2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4672584" y="3057754"/>
            <a:ext cx="7210044" cy="2915107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6"/>
          <p:cNvSpPr txBox="1"/>
          <p:nvPr/>
        </p:nvSpPr>
        <p:spPr>
          <a:xfrm>
            <a:off x="4863694" y="3258007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user@soc-lab:~$</a:t>
            </a:r>
            <a:endParaRPr lang="en-US" sz="1000" dirty="0"/>
          </a:p>
        </p:txBody>
      </p:sp>
      <p:sp>
        <p:nvSpPr>
          <p:cNvPr id="48" name="Text 37"/>
          <p:cNvSpPr txBox="1"/>
          <p:nvPr/>
        </p:nvSpPr>
        <p:spPr>
          <a:xfrm>
            <a:off x="6178601" y="3258007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timedatectl set-ntp true</a:t>
            </a:r>
            <a:endParaRPr lang="en-US" sz="1000" dirty="0"/>
          </a:p>
        </p:txBody>
      </p:sp>
      <p:sp>
        <p:nvSpPr>
          <p:cNvPr id="49" name="Text 38"/>
          <p:cNvSpPr txBox="1"/>
          <p:nvPr/>
        </p:nvSpPr>
        <p:spPr>
          <a:xfrm>
            <a:off x="4863694" y="3648456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user@soc-lab:~$</a:t>
            </a:r>
            <a:endParaRPr lang="en-US" sz="1000" dirty="0"/>
          </a:p>
        </p:txBody>
      </p:sp>
      <p:sp>
        <p:nvSpPr>
          <p:cNvPr id="50" name="Text 39"/>
          <p:cNvSpPr txBox="1"/>
          <p:nvPr/>
        </p:nvSpPr>
        <p:spPr>
          <a:xfrm>
            <a:off x="6178601" y="3648456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timedatectl status</a:t>
            </a:r>
            <a:endParaRPr lang="en-US" sz="1000" dirty="0"/>
          </a:p>
        </p:txBody>
      </p:sp>
      <p:sp>
        <p:nvSpPr>
          <p:cNvPr id="51" name="Text 40"/>
          <p:cNvSpPr txBox="1"/>
          <p:nvPr/>
        </p:nvSpPr>
        <p:spPr>
          <a:xfrm>
            <a:off x="5053889" y="4038905"/>
            <a:ext cx="6749186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time: Tue 2023-10-24 14:30:45 UTC Universal time: Tue 2023-10-24 14:30:45 UTC RTC time: Tue 2023-10-24 14:30:45 Time zone: Etc/UTC (UTC, +0000) System clock synchronized:</a:t>
            </a:r>
            <a:endParaRPr lang="en-US" sz="1000" dirty="0"/>
          </a:p>
        </p:txBody>
      </p:sp>
      <p:sp>
        <p:nvSpPr>
          <p:cNvPr id="52" name="Text 41"/>
          <p:cNvSpPr txBox="1"/>
          <p:nvPr/>
        </p:nvSpPr>
        <p:spPr>
          <a:xfrm>
            <a:off x="6094476" y="4438498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6334049" y="4438498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NTP service:</a:t>
            </a:r>
            <a:endParaRPr lang="en-US" sz="1000" dirty="0"/>
          </a:p>
        </p:txBody>
      </p:sp>
      <p:sp>
        <p:nvSpPr>
          <p:cNvPr id="54" name="Text 43"/>
          <p:cNvSpPr txBox="1"/>
          <p:nvPr/>
        </p:nvSpPr>
        <p:spPr>
          <a:xfrm>
            <a:off x="7295083" y="4438498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1000" dirty="0"/>
          </a:p>
        </p:txBody>
      </p:sp>
      <p:sp>
        <p:nvSpPr>
          <p:cNvPr id="55" name="Text 44"/>
          <p:cNvSpPr txBox="1"/>
          <p:nvPr/>
        </p:nvSpPr>
        <p:spPr>
          <a:xfrm>
            <a:off x="7775143" y="4438498"/>
            <a:ext cx="16248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RTC in local TZ: no</a:t>
            </a:r>
            <a:endParaRPr lang="en-US" sz="1000" dirty="0"/>
          </a:p>
        </p:txBody>
      </p:sp>
      <p:sp>
        <p:nvSpPr>
          <p:cNvPr id="56" name="Text 45"/>
          <p:cNvSpPr txBox="1"/>
          <p:nvPr/>
        </p:nvSpPr>
        <p:spPr>
          <a:xfrm>
            <a:off x="4863694" y="4828946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user@soc-lab:~$</a:t>
            </a:r>
            <a:endParaRPr lang="en-US" sz="1000" dirty="0"/>
          </a:p>
        </p:txBody>
      </p:sp>
      <p:sp>
        <p:nvSpPr>
          <p:cNvPr id="57" name="Text 46"/>
          <p:cNvSpPr txBox="1"/>
          <p:nvPr/>
        </p:nvSpPr>
        <p:spPr>
          <a:xfrm>
            <a:off x="6178601" y="4828946"/>
            <a:ext cx="29864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-n 3 /var/log/syslog | grep ntp</a:t>
            </a:r>
            <a:endParaRPr lang="en-US" sz="1000" dirty="0"/>
          </a:p>
        </p:txBody>
      </p:sp>
      <p:sp>
        <p:nvSpPr>
          <p:cNvPr id="58" name="Text 47"/>
          <p:cNvSpPr txBox="1"/>
          <p:nvPr/>
        </p:nvSpPr>
        <p:spPr>
          <a:xfrm>
            <a:off x="5053889" y="5219395"/>
            <a:ext cx="56253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 24 14:30:12 soc-lab systemd-timesyncd[682]: Synchronized to time server</a:t>
            </a:r>
            <a:endParaRPr lang="en-US" sz="1000" dirty="0"/>
          </a:p>
        </p:txBody>
      </p:sp>
      <p:sp>
        <p:nvSpPr>
          <p:cNvPr id="59" name="Text 48"/>
          <p:cNvSpPr txBox="1"/>
          <p:nvPr/>
        </p:nvSpPr>
        <p:spPr>
          <a:xfrm>
            <a:off x="5533949" y="5419649"/>
            <a:ext cx="16248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162.159.200.123:123</a:t>
            </a:r>
            <a:endParaRPr lang="en-US" sz="1000" dirty="0"/>
          </a:p>
        </p:txBody>
      </p:sp>
      <p:sp>
        <p:nvSpPr>
          <p:cNvPr id="60" name="Text 49"/>
          <p:cNvSpPr txBox="1"/>
          <p:nvPr/>
        </p:nvSpPr>
        <p:spPr>
          <a:xfrm>
            <a:off x="5053889" y="5419649"/>
            <a:ext cx="61109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(0.pool.ntp.org). Oct 24 14:30:45 soc-lab systemd-timesyncd[682]: Network configuration changed, new address</a:t>
            </a:r>
            <a:endParaRPr lang="en-US" sz="1000" dirty="0"/>
          </a:p>
        </p:txBody>
      </p:sp>
      <p:sp>
        <p:nvSpPr>
          <p:cNvPr id="61" name="Text 50"/>
          <p:cNvSpPr txBox="1"/>
          <p:nvPr/>
        </p:nvSpPr>
        <p:spPr>
          <a:xfrm>
            <a:off x="9695383" y="5619902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10.0.2.15</a:t>
            </a:r>
            <a:endParaRPr lang="en-US" sz="1000" dirty="0"/>
          </a:p>
        </p:txBody>
      </p:sp>
      <p:sp>
        <p:nvSpPr>
          <p:cNvPr id="62" name="Text 51"/>
          <p:cNvSpPr txBox="1"/>
          <p:nvPr/>
        </p:nvSpPr>
        <p:spPr>
          <a:xfrm>
            <a:off x="10415930" y="56199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</p:txBody>
      </p:sp>
      <p:sp>
        <p:nvSpPr>
          <p:cNvPr id="63" name="Shape 5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5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54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6" name="Text 55"/>
          <p:cNvSpPr txBox="1"/>
          <p:nvPr/>
        </p:nvSpPr>
        <p:spPr>
          <a:xfrm>
            <a:off x="1651406" y="6329477"/>
            <a:ext cx="918697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what you see. Time is critical for SOC. If logs don't match, we can't correlate events."</a:t>
            </a:r>
            <a:endParaRPr lang="en-US" sz="1300" dirty="0"/>
          </a:p>
        </p:txBody>
      </p:sp>
      <p:sp>
        <p:nvSpPr>
          <p:cNvPr id="67" name="Text 56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52 / 60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70390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Recap: End-to-End Communication Flow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966960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904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08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87100" y="352044"/>
            <a:ext cx="952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SUMMARY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12380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886554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complete lifecycle of a network conversation from initial lookup to final data transfer.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72216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73131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3017520"/>
            <a:ext cx="49725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represents a critical dependency where communication can succeed or fail.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86699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87614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4162349"/>
            <a:ext cx="49249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map alerts to specific lifecycle stages to quickly identify the root cause.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27678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Faster flow reasoning.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6098134" y="1421892"/>
            <a:ext cx="152705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49924" y="1395374"/>
            <a:ext cx="21863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LIFECYCLE MONITOR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898734" y="1380744"/>
            <a:ext cx="790956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983773" y="1410005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VIEW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93410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1530706" y="6329477"/>
            <a:ext cx="90827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what you see. We trace the flow from the initial DNS lookup all the way to the final data response."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53 / 60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488582" y="2190902"/>
            <a:ext cx="19202" cy="398129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6193231" y="2000707"/>
            <a:ext cx="5400446" cy="819302"/>
          </a:xfrm>
          <a:prstGeom prst="roundRect">
            <a:avLst>
              <a:gd name="adj" fmla="val 103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55080" y="2257654"/>
            <a:ext cx="304495" cy="304495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 txBox="1"/>
          <p:nvPr/>
        </p:nvSpPr>
        <p:spPr>
          <a:xfrm>
            <a:off x="6461150" y="2295144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10019995" y="2276856"/>
            <a:ext cx="1037844" cy="267005"/>
          </a:xfrm>
          <a:prstGeom prst="roundRect">
            <a:avLst>
              <a:gd name="adj" fmla="val 48924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105949" y="2352751"/>
            <a:ext cx="114300" cy="11430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10276942" y="2324405"/>
            <a:ext cx="7818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LOGS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11048695" y="221924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144707" y="2314346"/>
            <a:ext cx="190195" cy="190195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6812280" y="2190902"/>
            <a:ext cx="1433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 Resolution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812280" y="2467051"/>
            <a:ext cx="33101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"Where is example.com?" -&gt; 93.184.216.34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6193231" y="3047695"/>
            <a:ext cx="5400446" cy="1019556"/>
          </a:xfrm>
          <a:prstGeom prst="roundRect">
            <a:avLst>
              <a:gd name="adj" fmla="val 6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6355080" y="3405226"/>
            <a:ext cx="304495" cy="304495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 txBox="1"/>
          <p:nvPr/>
        </p:nvSpPr>
        <p:spPr>
          <a:xfrm>
            <a:off x="6461150" y="3443630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Shape 43"/>
          <p:cNvSpPr/>
          <p:nvPr/>
        </p:nvSpPr>
        <p:spPr>
          <a:xfrm>
            <a:off x="9785909" y="3424428"/>
            <a:ext cx="1266444" cy="267005"/>
          </a:xfrm>
          <a:prstGeom prst="roundRect">
            <a:avLst>
              <a:gd name="adj" fmla="val 48924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rcRect t="-80" b="-80"/>
          <a:stretch/>
        </p:blipFill>
        <p:spPr>
          <a:xfrm>
            <a:off x="9871862" y="3500323"/>
            <a:ext cx="142646" cy="114300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10071202" y="3471977"/>
            <a:ext cx="9811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 LOGS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11048695" y="336682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168482" y="3461918"/>
            <a:ext cx="142646" cy="190195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6812280" y="3238805"/>
            <a:ext cx="14621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TCP Handshake</a:t>
            </a:r>
            <a:endParaRPr lang="en-US" sz="1300" dirty="0"/>
          </a:p>
        </p:txBody>
      </p:sp>
      <p:sp>
        <p:nvSpPr>
          <p:cNvPr id="55" name="Text 47"/>
          <p:cNvSpPr txBox="1"/>
          <p:nvPr/>
        </p:nvSpPr>
        <p:spPr>
          <a:xfrm>
            <a:off x="6812280" y="3514954"/>
            <a:ext cx="27486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 -&gt; SYN-ACK -&gt; ACK (Connection Established)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6193231" y="4295851"/>
            <a:ext cx="5400446" cy="1019556"/>
          </a:xfrm>
          <a:prstGeom prst="roundRect">
            <a:avLst>
              <a:gd name="adj" fmla="val 6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9"/>
          <p:cNvSpPr/>
          <p:nvPr/>
        </p:nvSpPr>
        <p:spPr>
          <a:xfrm>
            <a:off x="6355080" y="4653382"/>
            <a:ext cx="304495" cy="30449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0"/>
          <p:cNvSpPr txBox="1"/>
          <p:nvPr/>
        </p:nvSpPr>
        <p:spPr>
          <a:xfrm>
            <a:off x="6461150" y="4690872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59" name="Shape 51"/>
          <p:cNvSpPr/>
          <p:nvPr/>
        </p:nvSpPr>
        <p:spPr>
          <a:xfrm>
            <a:off x="10030054" y="4671670"/>
            <a:ext cx="1028700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10115093" y="4748479"/>
            <a:ext cx="105156" cy="114300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10276942" y="4719218"/>
            <a:ext cx="7818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 LOGS</a:t>
            </a:r>
            <a:endParaRPr lang="en-US" sz="900" dirty="0"/>
          </a:p>
        </p:txBody>
      </p:sp>
      <p:sp>
        <p:nvSpPr>
          <p:cNvPr id="62" name="Shape 53"/>
          <p:cNvSpPr/>
          <p:nvPr/>
        </p:nvSpPr>
        <p:spPr>
          <a:xfrm>
            <a:off x="11048695" y="461497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144707" y="4710074"/>
            <a:ext cx="190195" cy="190195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6812280" y="4486046"/>
            <a:ext cx="18242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Request</a:t>
            </a:r>
            <a:endParaRPr lang="en-US" sz="1300" dirty="0"/>
          </a:p>
        </p:txBody>
      </p:sp>
      <p:sp>
        <p:nvSpPr>
          <p:cNvPr id="65" name="Text 55"/>
          <p:cNvSpPr txBox="1"/>
          <p:nvPr/>
        </p:nvSpPr>
        <p:spPr>
          <a:xfrm>
            <a:off x="6812280" y="4762195"/>
            <a:ext cx="30623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/index.html HTTP/1.1 (Client asks for data)</a:t>
            </a:r>
            <a:endParaRPr lang="en-US" sz="1000" dirty="0"/>
          </a:p>
        </p:txBody>
      </p:sp>
      <p:sp>
        <p:nvSpPr>
          <p:cNvPr id="66" name="Shape 56"/>
          <p:cNvSpPr/>
          <p:nvPr/>
        </p:nvSpPr>
        <p:spPr>
          <a:xfrm>
            <a:off x="6193231" y="5544007"/>
            <a:ext cx="5400446" cy="819302"/>
          </a:xfrm>
          <a:prstGeom prst="roundRect">
            <a:avLst>
              <a:gd name="adj" fmla="val 103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57"/>
          <p:cNvSpPr/>
          <p:nvPr/>
        </p:nvSpPr>
        <p:spPr>
          <a:xfrm>
            <a:off x="6355080" y="5800954"/>
            <a:ext cx="304495" cy="304495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58"/>
          <p:cNvSpPr txBox="1"/>
          <p:nvPr/>
        </p:nvSpPr>
        <p:spPr>
          <a:xfrm>
            <a:off x="6461150" y="5838444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69" name="Shape 59"/>
          <p:cNvSpPr/>
          <p:nvPr/>
        </p:nvSpPr>
        <p:spPr>
          <a:xfrm>
            <a:off x="9882835" y="5820156"/>
            <a:ext cx="1171346" cy="267005"/>
          </a:xfrm>
          <a:prstGeom prst="roundRect">
            <a:avLst>
              <a:gd name="adj" fmla="val 48924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968789" y="5896051"/>
            <a:ext cx="114300" cy="114300"/>
          </a:xfrm>
          <a:prstGeom prst="rect">
            <a:avLst/>
          </a:prstGeom>
        </p:spPr>
      </p:pic>
      <p:sp>
        <p:nvSpPr>
          <p:cNvPr id="71" name="Text 60"/>
          <p:cNvSpPr txBox="1"/>
          <p:nvPr/>
        </p:nvSpPr>
        <p:spPr>
          <a:xfrm>
            <a:off x="10139782" y="5867705"/>
            <a:ext cx="9144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RECORDS</a:t>
            </a:r>
            <a:endParaRPr lang="en-US" sz="900" dirty="0"/>
          </a:p>
        </p:txBody>
      </p:sp>
      <p:sp>
        <p:nvSpPr>
          <p:cNvPr id="72" name="Shape 61"/>
          <p:cNvSpPr/>
          <p:nvPr/>
        </p:nvSpPr>
        <p:spPr>
          <a:xfrm>
            <a:off x="11048695" y="576254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144707" y="5857646"/>
            <a:ext cx="190195" cy="190195"/>
          </a:xfrm>
          <a:prstGeom prst="rect">
            <a:avLst/>
          </a:prstGeom>
        </p:spPr>
      </p:pic>
      <p:sp>
        <p:nvSpPr>
          <p:cNvPr id="74" name="Text 62"/>
          <p:cNvSpPr txBox="1"/>
          <p:nvPr/>
        </p:nvSpPr>
        <p:spPr>
          <a:xfrm>
            <a:off x="6812280" y="5734202"/>
            <a:ext cx="15581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Response</a:t>
            </a:r>
            <a:endParaRPr lang="en-US" sz="1300" dirty="0"/>
          </a:p>
        </p:txBody>
      </p:sp>
      <p:sp>
        <p:nvSpPr>
          <p:cNvPr id="75" name="Text 63"/>
          <p:cNvSpPr txBox="1"/>
          <p:nvPr/>
        </p:nvSpPr>
        <p:spPr>
          <a:xfrm>
            <a:off x="6812280" y="6010351"/>
            <a:ext cx="30623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200 OK (Server delivers content)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2096" y="-492862"/>
            <a:ext cx="12079376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473476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Recap: Identity Markers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966960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904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08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87100" y="352044"/>
            <a:ext cx="952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SUMMARY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12380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867351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combination of MAC address, IP address, and Port numbers that define a communicating entity.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72216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73131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3017520"/>
            <a:ext cx="4924958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definitively tie network events to specific devices, services, and physical hardware.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86699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87614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4162349"/>
            <a:ext cx="502005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pivot between these markers to correlate activity across different monitoring tools.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35487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Consistent attribution of events.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35624" y="1781251"/>
            <a:ext cx="551474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135624" y="1524305"/>
            <a:ext cx="18434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IDENTITY PIVOT CHAIN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723169" y="1495044"/>
            <a:ext cx="933602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10809122" y="1533449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CORRELATION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135624" y="1943100"/>
            <a:ext cx="5514746" cy="1257300"/>
          </a:xfrm>
          <a:prstGeom prst="roundRect">
            <a:avLst>
              <a:gd name="adj" fmla="val 440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335878" y="2143354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4C1D95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50178" y="2257654"/>
            <a:ext cx="228600" cy="22860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945782" y="2152498"/>
            <a:ext cx="2591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 IDENTITY (LAYER 2)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6945782" y="2428646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MAC: 00:50:56:C0:00:08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6945782" y="2790749"/>
            <a:ext cx="3838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interface. Ties activity to a specific device.</a:t>
            </a:r>
            <a:endParaRPr lang="en-US" sz="12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8806586" y="3343046"/>
            <a:ext cx="171907" cy="22860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6135624" y="3348533"/>
            <a:ext cx="5514746" cy="1257300"/>
          </a:xfrm>
          <a:prstGeom prst="roundRect">
            <a:avLst>
              <a:gd name="adj" fmla="val 440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279642" y="353821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30976" y="3645713"/>
            <a:ext cx="228600" cy="2286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945782" y="3595420"/>
            <a:ext cx="24963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 IDENTITY (LAYER 3)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6974586" y="3842766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IP: 192.168.10.50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6927951" y="4137660"/>
            <a:ext cx="3525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location. Ties activity to a routed path.</a:t>
            </a:r>
            <a:endParaRPr lang="en-US" sz="12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8806586" y="5134356"/>
            <a:ext cx="171907" cy="228600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6135624" y="4667098"/>
            <a:ext cx="5514746" cy="1257300"/>
          </a:xfrm>
          <a:prstGeom prst="roundRect">
            <a:avLst>
              <a:gd name="adj" fmla="val 440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6273289" y="4801637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64E3B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6335878" y="4933188"/>
            <a:ext cx="256946" cy="22860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6993331" y="4801637"/>
            <a:ext cx="24963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IDENTITY (LAYER 4)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6935928" y="5143142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PORT: 443 (HTTPS)</a:t>
            </a:r>
            <a:endParaRPr lang="en-US" sz="1500" dirty="0"/>
          </a:p>
        </p:txBody>
      </p:sp>
      <p:sp>
        <p:nvSpPr>
          <p:cNvPr id="46" name="Text 38"/>
          <p:cNvSpPr txBox="1"/>
          <p:nvPr/>
        </p:nvSpPr>
        <p:spPr>
          <a:xfrm>
            <a:off x="6779159" y="5464455"/>
            <a:ext cx="3781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type. Ties activity to a specific service.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39776" y="6258154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0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 txBox="1"/>
          <p:nvPr/>
        </p:nvSpPr>
        <p:spPr>
          <a:xfrm>
            <a:off x="304495" y="6458407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50" name="Text 42"/>
          <p:cNvSpPr txBox="1"/>
          <p:nvPr/>
        </p:nvSpPr>
        <p:spPr>
          <a:xfrm>
            <a:off x="1756562" y="6458407"/>
            <a:ext cx="8368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how we combine MAC, IP, and Port to build a complete identity profile."</a:t>
            </a:r>
            <a:endParaRPr lang="en-US" sz="1300" dirty="0"/>
          </a:p>
        </p:txBody>
      </p:sp>
      <p:sp>
        <p:nvSpPr>
          <p:cNvPr id="51" name="Text 43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54 / 60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64776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Recap: IPv4 and IPv6 Confidence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966960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904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08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87100" y="352044"/>
            <a:ext cx="952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SUMMARY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37266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address families serving the same purpose: logical identification.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505846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Dual-stack environments are now common in modern enterprise networks.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6863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normalize investigations regardless of address format.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223387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No fear of IPv6.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35624" y="1914754"/>
            <a:ext cx="5514746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35624" y="1533449"/>
            <a:ext cx="237744" cy="19019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488582" y="1533449"/>
            <a:ext cx="2710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ADDRESS FAMILY COMPARISON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10311689" y="1505102"/>
            <a:ext cx="1343254" cy="247802"/>
          </a:xfrm>
          <a:prstGeom prst="roundRect">
            <a:avLst>
              <a:gd name="adj" fmla="val 56770"/>
            </a:avLst>
          </a:prstGeom>
          <a:solidFill>
            <a:srgbClr val="064E3B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10397642" y="1561795"/>
            <a:ext cx="12573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DUAL-STACK ACTIVE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135624" y="2152498"/>
            <a:ext cx="5514746" cy="1218895"/>
          </a:xfrm>
          <a:prstGeom prst="roundRect">
            <a:avLst>
              <a:gd name="adj" fmla="val 468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335878" y="2533802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6427318" y="2628900"/>
            <a:ext cx="448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v4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6945782" y="2376526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 Standard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10897819" y="2352751"/>
            <a:ext cx="552298" cy="267005"/>
          </a:xfrm>
          <a:prstGeom prst="roundRect">
            <a:avLst>
              <a:gd name="adj" fmla="val 48924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10983773" y="2409444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32-BIT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6945782" y="2676449"/>
            <a:ext cx="1638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192.168.10.50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6945782" y="3029407"/>
            <a:ext cx="16002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Format: Dotted Decimal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135624" y="3524098"/>
            <a:ext cx="5514746" cy="1218895"/>
          </a:xfrm>
          <a:prstGeom prst="roundRect">
            <a:avLst>
              <a:gd name="adj" fmla="val 468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335878" y="3905402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 txBox="1"/>
          <p:nvPr/>
        </p:nvSpPr>
        <p:spPr>
          <a:xfrm>
            <a:off x="6427318" y="4000500"/>
            <a:ext cx="448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v6</a:t>
            </a:r>
            <a:endParaRPr lang="en-US" sz="1800" dirty="0"/>
          </a:p>
        </p:txBody>
      </p:sp>
      <p:sp>
        <p:nvSpPr>
          <p:cNvPr id="39" name="Text 35"/>
          <p:cNvSpPr txBox="1"/>
          <p:nvPr/>
        </p:nvSpPr>
        <p:spPr>
          <a:xfrm>
            <a:off x="6945782" y="3748126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Modern Standard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10849356" y="3724351"/>
            <a:ext cx="599846" cy="267005"/>
          </a:xfrm>
          <a:prstGeom prst="roundRect">
            <a:avLst>
              <a:gd name="adj" fmla="val 48924"/>
            </a:avLst>
          </a:prstGeom>
          <a:solidFill>
            <a:srgbClr val="4C1D95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 txBox="1"/>
          <p:nvPr/>
        </p:nvSpPr>
        <p:spPr>
          <a:xfrm>
            <a:off x="10934395" y="3781044"/>
            <a:ext cx="514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128-BIT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6945782" y="4048049"/>
            <a:ext cx="1410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2001:db8::1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6945782" y="4401007"/>
            <a:ext cx="13908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Format: Hexadecimal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6135624" y="4895698"/>
            <a:ext cx="5514746" cy="972007"/>
          </a:xfrm>
          <a:prstGeom prst="roundRect">
            <a:avLst>
              <a:gd name="adj" fmla="val 737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97473" y="5095951"/>
            <a:ext cx="152705" cy="152705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6564478" y="5076749"/>
            <a:ext cx="15151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Builder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6564478" y="5333695"/>
            <a:ext cx="49295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identify a unique device. SOC tools handle parsing automatically. Focus on the source and destination, not the syntax.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4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5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51" name="Text 46"/>
          <p:cNvSpPr txBox="1"/>
          <p:nvPr/>
        </p:nvSpPr>
        <p:spPr>
          <a:xfrm>
            <a:off x="1640434" y="6329477"/>
            <a:ext cx="9292133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what you see. Two formats, one purpose: Identity. [PAUSE] What changed? Just the length."</a:t>
            </a:r>
            <a:endParaRPr lang="en-US" sz="1300" dirty="0"/>
          </a:p>
        </p:txBody>
      </p:sp>
      <p:sp>
        <p:nvSpPr>
          <p:cNvPr id="52" name="Text 47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55 / 60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56866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Recap: Addressing Concepts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4801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045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08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0" y="352044"/>
            <a:ext cx="24387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SUMMARY &amp; CONFIDENCE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4010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unified view of Private/Public IP, NAT translation, and APIPA behaviors.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48774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explain traffic paths and why internal IPs are hidden from the internet.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5537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interpret address translations to map external traffic back to internal hosts.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293888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Clearer triage decisions.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8134" y="1421892"/>
            <a:ext cx="133502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30722" y="1395374"/>
            <a:ext cx="24249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ADDRESSING CONTEXT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692994" y="1380744"/>
            <a:ext cx="1000354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778033" y="1410005"/>
            <a:ext cx="914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VIEW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46684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135624" y="1943100"/>
            <a:ext cx="5514746" cy="990295"/>
          </a:xfrm>
          <a:prstGeom prst="roundRect">
            <a:avLst>
              <a:gd name="adj" fmla="val 7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297473" y="221010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7201" y="2343607"/>
            <a:ext cx="237744" cy="190195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907378" y="2115007"/>
            <a:ext cx="1677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vs PUBLIC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6907378" y="2391156"/>
            <a:ext cx="412943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(10.x, 192.168.x) vs Internet Routable. Boundaries define exposure risk.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135624" y="3124505"/>
            <a:ext cx="5514746" cy="990295"/>
          </a:xfrm>
          <a:prstGeom prst="roundRect">
            <a:avLst>
              <a:gd name="adj" fmla="val 71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6297473" y="339059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30975" y="3524098"/>
            <a:ext cx="190195" cy="190195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6907378" y="3295498"/>
            <a:ext cx="16770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 (TRANSLATION)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6907378" y="3571646"/>
            <a:ext cx="407273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 maps many private IPs to one public IP. Hides internal topology.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6135624" y="4304995"/>
            <a:ext cx="5514746" cy="790956"/>
          </a:xfrm>
          <a:prstGeom prst="roundRect">
            <a:avLst>
              <a:gd name="adj" fmla="val 11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6297473" y="4472330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30975" y="4604918"/>
            <a:ext cx="190195" cy="190195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6907378" y="4476902"/>
            <a:ext cx="1858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APIPA (169.254.x.x)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6907378" y="4753051"/>
            <a:ext cx="42720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Auto-assigned when DHCP fails. Signals local connectivity issues.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6135624" y="5362956"/>
            <a:ext cx="5514746" cy="590702"/>
          </a:xfrm>
          <a:prstGeom prst="roundRect">
            <a:avLst>
              <a:gd name="adj" fmla="val 9987"/>
            </a:avLst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 txBox="1"/>
          <p:nvPr/>
        </p:nvSpPr>
        <p:spPr>
          <a:xfrm>
            <a:off x="6297473" y="5505602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INTERNAL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6389827" y="5676595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10.0.1.50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8514893" y="5562295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NAT GATEWAY</a:t>
            </a:r>
            <a:endParaRPr lang="en-US" sz="90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rcRect l="-3120" r="-3120"/>
          <a:stretch/>
        </p:blipFill>
        <p:spPr>
          <a:xfrm>
            <a:off x="10618013" y="5695798"/>
            <a:ext cx="75895" cy="114300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10846613" y="5505602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INTERNET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10849356" y="5676595"/>
            <a:ext cx="724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203.0.113.10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6"/>
          <p:cNvSpPr txBox="1"/>
          <p:nvPr/>
        </p:nvSpPr>
        <p:spPr>
          <a:xfrm>
            <a:off x="304495" y="6458407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55" name="Text 47"/>
          <p:cNvSpPr txBox="1"/>
          <p:nvPr/>
        </p:nvSpPr>
        <p:spPr>
          <a:xfrm>
            <a:off x="1756562" y="6458407"/>
            <a:ext cx="89775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addressing flow. Private IPs stay inside; NAT handles the external talk."</a:t>
            </a:r>
            <a:endParaRPr lang="en-US" sz="1300" dirty="0"/>
          </a:p>
        </p:txBody>
      </p:sp>
      <p:sp>
        <p:nvSpPr>
          <p:cNvPr id="56" name="Text 48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56 / 60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28600"/>
            <a:ext cx="60396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Recap: CIDR, Subnet, Supernet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9373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0617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352044"/>
            <a:ext cx="1981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NETWORK CONCEPTS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12380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2719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743907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 for grouping IP addresses (CIDR) and organizing networks into segments (Subnet) or aggregates (Supernet).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72216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731313"/>
            <a:ext cx="17199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DOES IT EXIST?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3017520"/>
            <a:ext cx="49816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create efficient, clear, and manageable IP address ranges for routing and filtering.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86699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87614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4162349"/>
            <a:ext cx="48198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use CIDR notation to build strong filters and define investigation scopes quickly.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41294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Repeatable, accurate triage workflows.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6098134" y="1421892"/>
            <a:ext cx="171907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69126" y="1395374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CIDR RANGE CALCULATOR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761574" y="1380744"/>
            <a:ext cx="933602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846613" y="1410005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 MODE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098134" y="1904695"/>
            <a:ext cx="5591556" cy="761695"/>
          </a:xfrm>
          <a:prstGeom prst="roundRect">
            <a:avLst>
              <a:gd name="adj" fmla="val 120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6259982" y="2085746"/>
            <a:ext cx="1752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192.168.1.0/24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6259982" y="2361895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Standard LAN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8012887" y="2257654"/>
            <a:ext cx="705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Start: .1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9803282" y="2257654"/>
            <a:ext cx="705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End: .254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0965485" y="2195474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254 IPs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098134" y="2819095"/>
            <a:ext cx="5591556" cy="761695"/>
          </a:xfrm>
          <a:prstGeom prst="roundRect">
            <a:avLst>
              <a:gd name="adj" fmla="val 120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6259982" y="3000146"/>
            <a:ext cx="1410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10.0.0.0/16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6259982" y="3276295"/>
            <a:ext cx="9811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Corporate WAN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7745882" y="3172054"/>
            <a:ext cx="11247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Start: 10.0.0.1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9254642" y="3172054"/>
            <a:ext cx="12573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End: 10.0.255.254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10885018" y="310987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65k+ IPs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6098134" y="3733495"/>
            <a:ext cx="5591556" cy="761695"/>
          </a:xfrm>
          <a:prstGeom prst="roundRect">
            <a:avLst>
              <a:gd name="adj" fmla="val 120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 txBox="1"/>
          <p:nvPr/>
        </p:nvSpPr>
        <p:spPr>
          <a:xfrm>
            <a:off x="6259982" y="3914546"/>
            <a:ext cx="1867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192.168.1.50/32</a:t>
            </a:r>
            <a:endParaRPr lang="en-US" sz="1500" dirty="0"/>
          </a:p>
        </p:txBody>
      </p:sp>
      <p:sp>
        <p:nvSpPr>
          <p:cNvPr id="44" name="Text 40"/>
          <p:cNvSpPr txBox="1"/>
          <p:nvPr/>
        </p:nvSpPr>
        <p:spPr>
          <a:xfrm>
            <a:off x="6259982" y="4190695"/>
            <a:ext cx="9811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Specific Host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8127187" y="4086454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Target Only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11205058" y="4024274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IP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6098134" y="4858207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SOC FILTER USAGE: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6098134" y="5105095"/>
            <a:ext cx="5591556" cy="448056"/>
          </a:xfrm>
          <a:prstGeom prst="roundRect">
            <a:avLst>
              <a:gd name="adj" fmla="val 2605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 txBox="1"/>
          <p:nvPr/>
        </p:nvSpPr>
        <p:spPr>
          <a:xfrm>
            <a:off x="6221578" y="5238598"/>
            <a:ext cx="38624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source_ip IN 192.168.1.0/24 AND dest_port = 443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 txBox="1"/>
          <p:nvPr/>
        </p:nvSpPr>
        <p:spPr>
          <a:xfrm>
            <a:off x="304495" y="6458407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53" name="Text 49"/>
          <p:cNvSpPr txBox="1"/>
          <p:nvPr/>
        </p:nvSpPr>
        <p:spPr>
          <a:xfrm>
            <a:off x="1756562" y="6458407"/>
            <a:ext cx="8882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how CIDR /24 covers a whole network, while /32 targets exactly one machine."</a:t>
            </a:r>
            <a:endParaRPr lang="en-US" sz="1300" dirty="0"/>
          </a:p>
        </p:txBody>
      </p:sp>
      <p:sp>
        <p:nvSpPr>
          <p:cNvPr id="54" name="Text 50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57 / 60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256946"/>
            <a:ext cx="68680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Recap: VPN, Proxy, Load Balancer, CDN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08746" y="323698"/>
            <a:ext cx="972007" cy="286207"/>
          </a:xfrm>
          <a:prstGeom prst="roundRect">
            <a:avLst>
              <a:gd name="adj" fmla="val 42599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833104" y="390449"/>
            <a:ext cx="8247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08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829800" y="352044"/>
            <a:ext cx="22101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TRAFFIC COMPONENTS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4495" y="1257300"/>
            <a:ext cx="38405" cy="9235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5605" y="1266444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ARE THEY?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95605" y="1552651"/>
            <a:ext cx="4572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and delivery helpers that secure, accelerate, or distribute traffic flow.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4495" y="2402129"/>
            <a:ext cx="38405" cy="9235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95605" y="2411273"/>
            <a:ext cx="13578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THEY EXIST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5605" y="2697480"/>
            <a:ext cx="50676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security boundaries, scaling applications, and improving global performance.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4495" y="3546958"/>
            <a:ext cx="38405" cy="9235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5605" y="3556102"/>
            <a:ext cx="19860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SOC OBSERVES THEM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5605" y="3842309"/>
            <a:ext cx="47631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read their specific logs to spot misuse, attacks, or availability issues.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4495" y="5391302"/>
            <a:ext cx="5219395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" y="5600700"/>
            <a:ext cx="171907" cy="17190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52551" y="5553151"/>
            <a:ext cx="35679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Right questions, faster answers.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97880" y="1257300"/>
            <a:ext cx="5991149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07024" y="1266444"/>
            <a:ext cx="5971946" cy="4480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907024" y="1705356"/>
            <a:ext cx="5971946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6098134" y="1421892"/>
            <a:ext cx="171907" cy="13350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69126" y="1395374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REFERENCE VIEW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761574" y="1380744"/>
            <a:ext cx="933602" cy="209398"/>
          </a:xfrm>
          <a:prstGeom prst="roundRect">
            <a:avLst>
              <a:gd name="adj" fmla="val 79396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10846613" y="1410005"/>
            <a:ext cx="848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STATUS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907024" y="1714500"/>
            <a:ext cx="5971946" cy="425744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135624" y="1970532"/>
            <a:ext cx="5514746" cy="895198"/>
          </a:xfrm>
          <a:prstGeom prst="roundRect">
            <a:avLst>
              <a:gd name="adj" fmla="val 869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297473" y="2132381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6464808" y="2285086"/>
            <a:ext cx="237744" cy="267005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060082" y="2199132"/>
            <a:ext cx="12627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VPN Gateway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7060082" y="2475281"/>
            <a:ext cx="29105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Logs: Session Start, User, Duration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10827410" y="2285086"/>
            <a:ext cx="666598" cy="267005"/>
          </a:xfrm>
          <a:prstGeom prst="roundRect">
            <a:avLst>
              <a:gd name="adj" fmla="val 48924"/>
            </a:avLst>
          </a:prstGeom>
          <a:solidFill>
            <a:srgbClr val="064E3B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10951769" y="2341778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135624" y="2920594"/>
            <a:ext cx="5514746" cy="895198"/>
          </a:xfrm>
          <a:prstGeom prst="roundRect">
            <a:avLst>
              <a:gd name="adj" fmla="val 869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6297473" y="3082442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50178" y="3235147"/>
            <a:ext cx="267005" cy="26700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060082" y="3149194"/>
            <a:ext cx="10241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Proxy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7060082" y="3425342"/>
            <a:ext cx="33869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Logs: URL, Category, Action (Allow/Block)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10622585" y="3235147"/>
            <a:ext cx="866851" cy="267005"/>
          </a:xfrm>
          <a:prstGeom prst="roundRect">
            <a:avLst>
              <a:gd name="adj" fmla="val 48924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 txBox="1"/>
          <p:nvPr/>
        </p:nvSpPr>
        <p:spPr>
          <a:xfrm>
            <a:off x="10746029" y="3291840"/>
            <a:ext cx="705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FILTERING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135624" y="3870655"/>
            <a:ext cx="5514746" cy="895198"/>
          </a:xfrm>
          <a:prstGeom prst="roundRect">
            <a:avLst>
              <a:gd name="adj" fmla="val 869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6297473" y="4032504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17259" y="4185209"/>
            <a:ext cx="333756" cy="267005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7060082" y="4099255"/>
            <a:ext cx="13103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Balancer</a:t>
            </a:r>
            <a:endParaRPr lang="en-US" sz="1300" dirty="0"/>
          </a:p>
        </p:txBody>
      </p:sp>
      <p:sp>
        <p:nvSpPr>
          <p:cNvPr id="48" name="Text 41"/>
          <p:cNvSpPr txBox="1"/>
          <p:nvPr/>
        </p:nvSpPr>
        <p:spPr>
          <a:xfrm>
            <a:off x="7060082" y="4375404"/>
            <a:ext cx="30623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Logs: Backend Health, Route Decisions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10691165" y="4185209"/>
            <a:ext cx="800100" cy="267005"/>
          </a:xfrm>
          <a:prstGeom prst="roundRect">
            <a:avLst>
              <a:gd name="adj" fmla="val 48924"/>
            </a:avLst>
          </a:prstGeom>
          <a:solidFill>
            <a:srgbClr val="064E3B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 txBox="1"/>
          <p:nvPr/>
        </p:nvSpPr>
        <p:spPr>
          <a:xfrm>
            <a:off x="10814609" y="4241902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6135624" y="4820717"/>
            <a:ext cx="5514746" cy="895198"/>
          </a:xfrm>
          <a:prstGeom prst="roundRect">
            <a:avLst>
              <a:gd name="adj" fmla="val 869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5"/>
          <p:cNvSpPr/>
          <p:nvPr/>
        </p:nvSpPr>
        <p:spPr>
          <a:xfrm>
            <a:off x="6297473" y="4982566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50178" y="5135270"/>
            <a:ext cx="267005" cy="267005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7060082" y="5049317"/>
            <a:ext cx="12527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CDN Provider</a:t>
            </a:r>
            <a:endParaRPr lang="en-US" sz="1300" dirty="0"/>
          </a:p>
        </p:txBody>
      </p:sp>
      <p:sp>
        <p:nvSpPr>
          <p:cNvPr id="55" name="Text 47"/>
          <p:cNvSpPr txBox="1"/>
          <p:nvPr/>
        </p:nvSpPr>
        <p:spPr>
          <a:xfrm>
            <a:off x="7060082" y="5325466"/>
            <a:ext cx="35487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Logs: Edge Hits, Cache Status, Origin Fetch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10827410" y="5135270"/>
            <a:ext cx="666598" cy="267005"/>
          </a:xfrm>
          <a:prstGeom prst="roundRect">
            <a:avLst>
              <a:gd name="adj" fmla="val 48924"/>
            </a:avLst>
          </a:prstGeom>
          <a:solidFill>
            <a:srgbClr val="064E3B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9"/>
          <p:cNvSpPr txBox="1"/>
          <p:nvPr/>
        </p:nvSpPr>
        <p:spPr>
          <a:xfrm>
            <a:off x="10951769" y="5191963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CACHED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1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2"/>
          <p:cNvSpPr txBox="1"/>
          <p:nvPr/>
        </p:nvSpPr>
        <p:spPr>
          <a:xfrm>
            <a:off x="304495" y="6329477"/>
            <a:ext cx="85313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NOTE:</a:t>
            </a:r>
            <a:endParaRPr lang="en-US" sz="1300" dirty="0"/>
          </a:p>
        </p:txBody>
      </p:sp>
      <p:sp>
        <p:nvSpPr>
          <p:cNvPr id="61" name="Text 53"/>
          <p:cNvSpPr txBox="1"/>
          <p:nvPr/>
        </p:nvSpPr>
        <p:spPr>
          <a:xfrm>
            <a:off x="1478585" y="6329477"/>
            <a:ext cx="949238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"Observe the distinct role of each component. VPN secures access, Proxy filters content, LB scales, CDN speeds up."</a:t>
            </a:r>
            <a:endParaRPr lang="en-US" sz="1300" dirty="0"/>
          </a:p>
        </p:txBody>
      </p:sp>
      <p:sp>
        <p:nvSpPr>
          <p:cNvPr id="62" name="Text 54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58 / 60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2C29AF-CACC-97A5-07AB-58AE2DFF0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0"/>
            <a:ext cx="1203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570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4495" y="-161849"/>
            <a:ext cx="9125712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Complete: Networking &amp; IP Addressing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891979" y="228600"/>
            <a:ext cx="1333195" cy="476402"/>
          </a:xfrm>
          <a:prstGeom prst="roundRect">
            <a:avLst>
              <a:gd name="adj" fmla="val 15355"/>
            </a:avLst>
          </a:prstGeom>
          <a:solidFill>
            <a:srgbClr val="064E3B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15423" y="295351"/>
            <a:ext cx="7479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MODULE FINISHED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372393" y="219456"/>
            <a:ext cx="4956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DAY 4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38705" y="2018995"/>
            <a:ext cx="75895" cy="75895"/>
          </a:xfrm>
          <a:prstGeom prst="ellipse">
            <a:avLst/>
          </a:prstGeom>
          <a:solidFill>
            <a:srgbClr val="EF444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287000" y="2286000"/>
            <a:ext cx="75895" cy="75895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18895" y="4610405"/>
            <a:ext cx="75895" cy="75895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068105" y="5143500"/>
            <a:ext cx="75895" cy="75895"/>
          </a:xfrm>
          <a:prstGeom prst="ellipse">
            <a:avLst/>
          </a:prstGeom>
          <a:solidFill>
            <a:srgbClr val="8B5CF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96305" y="1752905"/>
            <a:ext cx="75895" cy="75895"/>
          </a:xfrm>
          <a:prstGeom prst="ellipse">
            <a:avLst/>
          </a:prstGeom>
          <a:solidFill>
            <a:srgbClr val="3B82F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13599" y="975895"/>
            <a:ext cx="1143000" cy="533095"/>
          </a:xfrm>
          <a:prstGeom prst="ellipse">
            <a:avLst/>
          </a:prstGeom>
          <a:solidFill>
            <a:srgbClr val="0F172A"/>
          </a:solidFill>
          <a:ln w="50800">
            <a:solidFill>
              <a:srgbClr val="3B82F6"/>
            </a:solidFill>
            <a:prstDash val="solid"/>
          </a:ln>
          <a:effectLst>
            <a:outerShdw blurRad="292100" dist="12700" dir="162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78980" y="1012471"/>
            <a:ext cx="5715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993392" y="1373429"/>
            <a:ext cx="8610905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now understand how network communication works and how SOC observes it.</a:t>
            </a:r>
            <a:endParaRPr lang="en-US" sz="4200" dirty="0"/>
          </a:p>
        </p:txBody>
      </p:sp>
      <p:sp>
        <p:nvSpPr>
          <p:cNvPr id="18" name="Shape 15"/>
          <p:cNvSpPr/>
          <p:nvPr/>
        </p:nvSpPr>
        <p:spPr>
          <a:xfrm>
            <a:off x="1848460" y="3665896"/>
            <a:ext cx="1904695" cy="2553005"/>
          </a:xfrm>
          <a:prstGeom prst="roundRect">
            <a:avLst>
              <a:gd name="adj" fmla="val 3841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  <a:effectLst>
            <a:outerShdw blurRad="2413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400300" y="4693615"/>
            <a:ext cx="761695" cy="761695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28900" y="4922215"/>
            <a:ext cx="304495" cy="30449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000958" y="3665895"/>
            <a:ext cx="1904695" cy="2553005"/>
          </a:xfrm>
          <a:prstGeom prst="roundRect">
            <a:avLst>
              <a:gd name="adj" fmla="val 3841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  <a:effectLst>
            <a:outerShdw blurRad="2413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610405" y="4693615"/>
            <a:ext cx="761695" cy="761695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4819802" y="4922215"/>
            <a:ext cx="342900" cy="30449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191631" y="3690518"/>
            <a:ext cx="1904695" cy="2553005"/>
          </a:xfrm>
          <a:prstGeom prst="roundRect">
            <a:avLst>
              <a:gd name="adj" fmla="val 3841"/>
            </a:avLst>
          </a:prstGeom>
          <a:solidFill>
            <a:srgbClr val="3B82F6">
              <a:alpha val="10000"/>
            </a:srgbClr>
          </a:solidFill>
          <a:ln w="25400">
            <a:solidFill>
              <a:srgbClr val="3B82F6"/>
            </a:solidFill>
            <a:prstDash val="solid"/>
          </a:ln>
          <a:effectLst>
            <a:outerShdw blurRad="2413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819595" y="4693615"/>
            <a:ext cx="761695" cy="761695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7067398" y="4922215"/>
            <a:ext cx="267005" cy="30449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484717" y="3711997"/>
            <a:ext cx="1904695" cy="2553005"/>
          </a:xfrm>
          <a:prstGeom prst="roundRect">
            <a:avLst>
              <a:gd name="adj" fmla="val 3841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  <a:effectLst>
            <a:outerShdw blurRad="2413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9029700" y="4693615"/>
            <a:ext cx="761695" cy="761695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9239098" y="4922215"/>
            <a:ext cx="342900" cy="3044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2415845" y="5693969"/>
            <a:ext cx="8485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 ACQUIRED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2152498" y="6208776"/>
            <a:ext cx="952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Analysis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4625035" y="5693969"/>
            <a:ext cx="8485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 ACQUIRED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4362602" y="6208776"/>
            <a:ext cx="9628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Tracking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6926580" y="5693969"/>
            <a:ext cx="667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6754101" y="5735117"/>
            <a:ext cx="130810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SOC-L1 Ready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9045245" y="5693969"/>
            <a:ext cx="8485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 ACQUIRED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8781898" y="6208776"/>
            <a:ext cx="1219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Addressing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206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 txBox="1"/>
          <p:nvPr/>
        </p:nvSpPr>
        <p:spPr>
          <a:xfrm>
            <a:off x="304495" y="6458407"/>
            <a:ext cx="1776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COMPLETE: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2027225" y="6458407"/>
            <a:ext cx="82634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Congratulations! You have built the foundation for network security monitoring.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10846613" y="648218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60 / 60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9576</Words>
  <Application>Microsoft Office PowerPoint</Application>
  <PresentationFormat>Widescreen</PresentationFormat>
  <Paragraphs>1894</Paragraphs>
  <Slides>60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Courier New</vt:lpstr>
      <vt:lpstr>Inter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Naveen Yadav</cp:lastModifiedBy>
  <cp:revision>2</cp:revision>
  <dcterms:created xsi:type="dcterms:W3CDTF">2026-01-16T23:58:41Z</dcterms:created>
  <dcterms:modified xsi:type="dcterms:W3CDTF">2026-01-17T01:34:19Z</dcterms:modified>
</cp:coreProperties>
</file>
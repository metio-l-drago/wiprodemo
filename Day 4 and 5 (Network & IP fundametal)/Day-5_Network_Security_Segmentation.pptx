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image" Target="../media/image-42-9.png"/><Relationship Id="rId10" Type="http://schemas.openxmlformats.org/officeDocument/2006/relationships/image" Target="../media/image-42-10.png"/><Relationship Id="rId11" Type="http://schemas.openxmlformats.org/officeDocument/2006/relationships/image" Target="../media/image-42-11.png"/><Relationship Id="rId12" Type="http://schemas.openxmlformats.org/officeDocument/2006/relationships/image" Target="../media/image-42-12.png"/><Relationship Id="rId13" Type="http://schemas.openxmlformats.org/officeDocument/2006/relationships/image" Target="../media/image-4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image" Target="../media/image-54-8.png"/><Relationship Id="rId9" Type="http://schemas.openxmlformats.org/officeDocument/2006/relationships/image" Target="../media/image-54-9.png"/><Relationship Id="rId10" Type="http://schemas.openxmlformats.org/officeDocument/2006/relationships/image" Target="../media/image-5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image" Target="../media/image-56-7.png"/><Relationship Id="rId8" Type="http://schemas.openxmlformats.org/officeDocument/2006/relationships/image" Target="../media/image-5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image" Target="../media/image-5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image" Target="../media/image-5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9473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Welcome: Day 5 – Network Security &amp; Segmentation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2862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focus and mindset.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786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segmentation basics.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networks from attacks.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424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safe business operations.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3376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security dashboards.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maps and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110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OVERVIEW DASHBOARD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529791"/>
            <a:ext cx="2762402" cy="1876349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72200" y="1663294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Threats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172200" y="1891894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172200" y="2282342"/>
            <a:ext cx="2514600" cy="57607"/>
          </a:xfrm>
          <a:prstGeom prst="roundRect">
            <a:avLst>
              <a:gd name="adj" fmla="val 793654"/>
            </a:avLst>
          </a:prstGeom>
          <a:solidFill>
            <a:srgbClr val="E2E8F0"/>
          </a:solidFill>
          <a:ln/>
        </p:spPr>
      </p:sp>
      <p:sp>
        <p:nvSpPr>
          <p:cNvPr id="27" name="Shape 22"/>
          <p:cNvSpPr/>
          <p:nvPr/>
        </p:nvSpPr>
        <p:spPr>
          <a:xfrm>
            <a:off x="8924544" y="1529791"/>
            <a:ext cx="2762402" cy="1876349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048902" y="1663294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Health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9048902" y="1891894"/>
            <a:ext cx="819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048902" y="2282342"/>
            <a:ext cx="2514600" cy="57607"/>
          </a:xfrm>
          <a:prstGeom prst="roundRect">
            <a:avLst>
              <a:gd name="adj" fmla="val 793654"/>
            </a:avLst>
          </a:prstGeom>
          <a:solidFill>
            <a:srgbClr val="E2E8F0"/>
          </a:solidFill>
          <a:ln/>
        </p:spPr>
      </p:sp>
      <p:sp>
        <p:nvSpPr>
          <p:cNvPr id="31" name="Shape 26"/>
          <p:cNvSpPr/>
          <p:nvPr/>
        </p:nvSpPr>
        <p:spPr>
          <a:xfrm>
            <a:off x="9048902" y="2282342"/>
            <a:ext cx="2514600" cy="57607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27"/>
          <p:cNvSpPr/>
          <p:nvPr/>
        </p:nvSpPr>
        <p:spPr>
          <a:xfrm>
            <a:off x="6048756" y="3513125"/>
            <a:ext cx="5639105" cy="218084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172200" y="3645713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Visibility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648602" y="4551883"/>
            <a:ext cx="1933956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0"/>
          <p:cNvSpPr/>
          <p:nvPr/>
        </p:nvSpPr>
        <p:spPr>
          <a:xfrm>
            <a:off x="7615123" y="4523537"/>
            <a:ext cx="75895" cy="7589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Shape 31"/>
          <p:cNvSpPr/>
          <p:nvPr/>
        </p:nvSpPr>
        <p:spPr>
          <a:xfrm>
            <a:off x="9153144" y="4551883"/>
            <a:ext cx="1933956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2"/>
          <p:cNvSpPr/>
          <p:nvPr/>
        </p:nvSpPr>
        <p:spPr>
          <a:xfrm>
            <a:off x="10120579" y="4523537"/>
            <a:ext cx="75895" cy="7589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149133" y="5400446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→ DMZ → Internal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575797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1543386" y="6238951"/>
            <a:ext cx="452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60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172200" y="4370832"/>
            <a:ext cx="381305" cy="3813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95644" y="4495190"/>
            <a:ext cx="133502" cy="133502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8677656" y="4370832"/>
            <a:ext cx="381305" cy="3813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01100" y="4495190"/>
            <a:ext cx="133502" cy="133502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11182198" y="4370832"/>
            <a:ext cx="381305" cy="3813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11287354" y="4495190"/>
            <a:ext cx="171907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4062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Mindset for SOC Analysts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929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Calm, curious, evidence-first thinking.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4091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from assumption to verification.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298277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3453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alarm fatigue and noise.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596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critical analysis mistakes.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617720"/>
            <a:ext cx="237744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8505" y="4570171"/>
            <a:ext cx="20098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uses this?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2767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alerts methodically.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3462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data with multiple sources.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967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ANALYST WORKFLOW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420356" y="3188513"/>
            <a:ext cx="685800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629546" y="3188513"/>
            <a:ext cx="685800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744261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1515954" y="6238951"/>
            <a:ext cx="471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60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277356" y="2809037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07" r="-107" t="0" b="0"/>
          <a:stretch/>
        </p:blipFill>
        <p:spPr>
          <a:xfrm>
            <a:off x="6524244" y="3037637"/>
            <a:ext cx="26700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98387" y="3751783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Detect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130138" y="4008730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the signal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8486546" y="2809037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15146" y="3037637"/>
            <a:ext cx="304495" cy="304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426196" y="3751783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Analyze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336585" y="4008730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evidence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696651" y="2809037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25251" y="3037637"/>
            <a:ext cx="304495" cy="3044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685678" y="3751783"/>
            <a:ext cx="919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Decide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10716768" y="4008730"/>
            <a:ext cx="824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2444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and Safety for This Module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Observation-only learning environment.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8724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without engineering risk.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686154"/>
          </a:xfrm>
          <a:prstGeom prst="roundRect">
            <a:avLst>
              <a:gd name="adj" fmla="val 245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5387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confidence without breaking configurations.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826764"/>
            <a:ext cx="4368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analysis rather than engineering.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472330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682642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635094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015484"/>
            <a:ext cx="3605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data and logs passively.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365699"/>
            <a:ext cx="4348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changing live settings during triage.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757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SCOPE BOUNDARY DIAGRAM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434694"/>
            <a:ext cx="5562295" cy="2018995"/>
          </a:xfrm>
          <a:prstGeom prst="roundRect">
            <a:avLst>
              <a:gd name="adj" fmla="val 170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95644" y="1977847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24244" y="1940357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AUTHORIZED: OBSERVATION ONLY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95644" y="2283257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7005218" y="2387498"/>
            <a:ext cx="219456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728155" y="2654503"/>
            <a:ext cx="881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Traffic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8549" y="2283257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96528" y="2387498"/>
            <a:ext cx="142646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31352" y="2654503"/>
            <a:ext cx="776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Logs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801454" y="2283257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10511028" y="2387498"/>
            <a:ext cx="219456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219334" y="2654503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Maps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086246" y="3636569"/>
            <a:ext cx="5562295" cy="2018995"/>
          </a:xfrm>
          <a:prstGeom prst="roundRect">
            <a:avLst>
              <a:gd name="adj" fmla="val 1709"/>
            </a:avLst>
          </a:prstGeom>
          <a:solidFill>
            <a:srgbClr val="FEF2F2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rcRect l="0" r="0" t="0" b="0"/>
          <a:stretch/>
        </p:blipFill>
        <p:spPr>
          <a:xfrm>
            <a:off x="6295644" y="4180637"/>
            <a:ext cx="152705" cy="152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524244" y="4142232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 SCOPE: DO NOT TOUCH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295644" y="4485132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0" r="0" t="0" b="0"/>
          <a:stretch/>
        </p:blipFill>
        <p:spPr>
          <a:xfrm>
            <a:off x="6996074" y="4590288"/>
            <a:ext cx="237744" cy="19019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8048549" y="4485132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-1282" r="-1282" t="0" b="0"/>
          <a:stretch/>
        </p:blipFill>
        <p:spPr>
          <a:xfrm>
            <a:off x="8758123" y="4590288"/>
            <a:ext cx="219456" cy="190195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9801454" y="4485132"/>
            <a:ext cx="1638605" cy="657454"/>
          </a:xfrm>
          <a:prstGeom prst="roundRect">
            <a:avLst>
              <a:gd name="adj" fmla="val 12094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rcRect l="0" r="0" t="0" b="0"/>
          <a:stretch/>
        </p:blipFill>
        <p:spPr>
          <a:xfrm>
            <a:off x="10524744" y="4590288"/>
            <a:ext cx="190195" cy="19019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6595567" y="4856378"/>
            <a:ext cx="1148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Changes</a:t>
            </a:r>
            <a:endParaRPr lang="en-US" sz="1000" dirty="0"/>
          </a:p>
        </p:txBody>
      </p:sp>
      <p:sp>
        <p:nvSpPr>
          <p:cNvPr id="45" name="Text 32"/>
          <p:cNvSpPr txBox="1"/>
          <p:nvPr/>
        </p:nvSpPr>
        <p:spPr>
          <a:xfrm>
            <a:off x="8378647" y="4856378"/>
            <a:ext cx="1081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Commands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10240366" y="4856378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Exploitation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3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9" name="Text 36"/>
          <p:cNvSpPr txBox="1"/>
          <p:nvPr/>
        </p:nvSpPr>
        <p:spPr>
          <a:xfrm>
            <a:off x="574334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11515039" y="62389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60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0913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Network Diagrams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729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of systems, zones, and paths.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205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guide to network layout.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trust boundaries quickly.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2342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potential attack routes.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567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source to destination traffic.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139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alerts with topology.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100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NETWORK MAP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43854" y="2012594"/>
            <a:ext cx="1438351" cy="2667305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73368" y="1917497"/>
            <a:ext cx="981151" cy="2002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468466" y="1936699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73645" y="3332074"/>
            <a:ext cx="381305" cy="283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2"/>
          <p:cNvSpPr/>
          <p:nvPr/>
        </p:nvSpPr>
        <p:spPr>
          <a:xfrm>
            <a:off x="8150047" y="2012594"/>
            <a:ext cx="1438351" cy="2667305"/>
          </a:xfrm>
          <a:prstGeom prst="roundRect">
            <a:avLst>
              <a:gd name="adj" fmla="val 5052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03590" y="1917497"/>
            <a:ext cx="533095" cy="2002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698687" y="1936699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9680753" y="3332074"/>
            <a:ext cx="381305" cy="283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6"/>
          <p:cNvSpPr/>
          <p:nvPr/>
        </p:nvSpPr>
        <p:spPr>
          <a:xfrm>
            <a:off x="10157155" y="2012594"/>
            <a:ext cx="1438351" cy="2667305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404043" y="1917497"/>
            <a:ext cx="942746" cy="2002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10500055" y="1936699"/>
            <a:ext cx="853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495337" y="5572354"/>
            <a:ext cx="190195" cy="283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762342" y="5486400"/>
            <a:ext cx="2586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Highlighted Path: Source → Destination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74151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1511382" y="62389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60</a:t>
            </a:r>
            <a:endParaRPr lang="en-US" sz="10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4" b="-24"/>
          <a:stretch/>
        </p:blipFill>
        <p:spPr>
          <a:xfrm>
            <a:off x="6622999" y="2627071"/>
            <a:ext cx="476402" cy="38130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644945" y="307421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9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-881" r="-881" t="0" b="0"/>
          <a:stretch/>
        </p:blipFill>
        <p:spPr>
          <a:xfrm>
            <a:off x="6741871" y="3569818"/>
            <a:ext cx="237744" cy="26700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469380" y="3903574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Source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77656" y="3041294"/>
            <a:ext cx="381305" cy="38130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545068" y="3489350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Server</a:t>
            </a:r>
            <a:endParaRPr lang="en-US" sz="9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-17" r="-17" t="0" b="0"/>
          <a:stretch/>
        </p:blipFill>
        <p:spPr>
          <a:xfrm>
            <a:off x="10707624" y="3041294"/>
            <a:ext cx="333756" cy="38130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0612526" y="3489350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7731252" y="3170225"/>
            <a:ext cx="267005" cy="352044"/>
          </a:xfrm>
          <a:prstGeom prst="roundRect">
            <a:avLst>
              <a:gd name="adj" fmla="val 489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78801" y="3258007"/>
            <a:ext cx="171907" cy="171907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9737446" y="3170225"/>
            <a:ext cx="267005" cy="352044"/>
          </a:xfrm>
          <a:prstGeom prst="roundRect">
            <a:avLst>
              <a:gd name="adj" fmla="val 489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784994" y="3258007"/>
            <a:ext cx="171907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7104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This Module Is Structured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2186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logical sections.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2567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clear idea per slide.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2862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cognitive overload.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2300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zero overflow.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19431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benefits?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2882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clear mental models.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072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analysis patterns.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6246" y="1281989"/>
            <a:ext cx="2520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ROADMAP (10 SECTIONS)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568196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48095" y="1796796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353251" y="1829714"/>
            <a:ext cx="167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629400" y="1835201"/>
            <a:ext cx="115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&amp; Mindset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924544" y="1568196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87307" y="1796796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177833" y="1829714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467698" y="1835201"/>
            <a:ext cx="14886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Security Exists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086246" y="2406701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48095" y="2635301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338621" y="2669134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629400" y="2673706"/>
            <a:ext cx="1564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Basics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924544" y="2406701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087307" y="2635301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175090" y="2669134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9467698" y="2673706"/>
            <a:ext cx="115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Zones &amp; Traffic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086246" y="3245206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248095" y="3474720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340450" y="350763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629400" y="3512210"/>
            <a:ext cx="12792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Devices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8924544" y="3245206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9087307" y="3474720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9176918" y="3507638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9467698" y="3512210"/>
            <a:ext cx="10789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086246" y="4084625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248095" y="4313225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343193" y="434705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6629400" y="4351630"/>
            <a:ext cx="11649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8924544" y="4084625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9087307" y="4313225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176918" y="4347058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9467698" y="4351630"/>
            <a:ext cx="14319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&amp; Visibility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6086246" y="4923130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6248095" y="5152644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6338621" y="5185562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6629400" y="5191049"/>
            <a:ext cx="1326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Labs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8924544" y="4923130"/>
            <a:ext cx="2723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60" name="Shape 55"/>
          <p:cNvSpPr/>
          <p:nvPr/>
        </p:nvSpPr>
        <p:spPr>
          <a:xfrm>
            <a:off x="9087307" y="5152644"/>
            <a:ext cx="267005" cy="267005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9146743" y="5185562"/>
            <a:ext cx="253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9467698" y="5191049"/>
            <a:ext cx="7744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Text 5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5745175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11517782" y="6238951"/>
            <a:ext cx="471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60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796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Network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10005"/>
          </a:xfrm>
          <a:prstGeom prst="roundRect">
            <a:avLst>
              <a:gd name="adj" fmla="val 350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546" y="1329538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1754" y="1281989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4146" y="1682496"/>
            <a:ext cx="3615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Practices protecting data in transit.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4146" y="2051914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secure communication paths.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97480"/>
            <a:ext cx="5238598" cy="1410005"/>
          </a:xfrm>
          <a:prstGeom prst="roundRect">
            <a:avLst>
              <a:gd name="adj" fmla="val 350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546" y="2926080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1754" y="2878531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14146" y="3278124"/>
            <a:ext cx="3719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unauthorized access attempts.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4146" y="3647542"/>
            <a:ext cx="3186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disruption of services.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294022"/>
            <a:ext cx="5238598" cy="1410005"/>
          </a:xfrm>
          <a:prstGeom prst="roundRect">
            <a:avLst>
              <a:gd name="adj" fmla="val 350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5546" y="4522622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1754" y="4475074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4146" y="4874666"/>
            <a:ext cx="3729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traffic flows and volume.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14146" y="5244084"/>
            <a:ext cx="3748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boundary alerts and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PROTECTED PATH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612026" y="3955694"/>
            <a:ext cx="4515307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7041794" y="4155948"/>
            <a:ext cx="114300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47027" y="4136746"/>
            <a:ext cx="4163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Security sits between the user and the destination to inspect, filter, and validate every request.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74334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514125" y="62389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60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87184" y="2798064"/>
            <a:ext cx="1209751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5"/>
          <p:cNvSpPr/>
          <p:nvPr/>
        </p:nvSpPr>
        <p:spPr>
          <a:xfrm>
            <a:off x="7637069" y="2665476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7732166" y="2750515"/>
            <a:ext cx="114300" cy="13350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344254" y="2798064"/>
            <a:ext cx="1209751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27"/>
          <p:cNvSpPr/>
          <p:nvPr/>
        </p:nvSpPr>
        <p:spPr>
          <a:xfrm>
            <a:off x="9793224" y="2665476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9870034" y="2750515"/>
            <a:ext cx="152705" cy="13350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330391" y="2441448"/>
            <a:ext cx="761695" cy="761695"/>
          </a:xfrm>
          <a:prstGeom prst="ellipse">
            <a:avLst/>
          </a:prstGeom>
          <a:solidFill>
            <a:srgbClr val="DBEAFE"/>
          </a:solidFill>
          <a:ln w="254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107" r="-107" t="0" b="0"/>
          <a:stretch/>
        </p:blipFill>
        <p:spPr>
          <a:xfrm>
            <a:off x="6578194" y="2670048"/>
            <a:ext cx="267005" cy="3044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516014" y="3345790"/>
            <a:ext cx="5193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486546" y="2441448"/>
            <a:ext cx="761695" cy="761695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715146" y="2670048"/>
            <a:ext cx="304495" cy="30449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562442" y="3345790"/>
            <a:ext cx="7479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10643616" y="2441448"/>
            <a:ext cx="761695" cy="761695"/>
          </a:xfrm>
          <a:prstGeom prst="ellipse">
            <a:avLst/>
          </a:prstGeom>
          <a:solidFill>
            <a:srgbClr val="D1FAE5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872216" y="2670048"/>
            <a:ext cx="304495" cy="3044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709453" y="3345790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4251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Network Security Exists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519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needs safe connectivity.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2520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ensures trust.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225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exploit open networks.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110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Unsecured data is vulnerable.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2738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risk indicators.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2548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threat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233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 GOALS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53235"/>
            <a:ext cx="1809598" cy="1190549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36054" y="1862633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97396" y="2253996"/>
            <a:ext cx="8055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645859" y="2472538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D1FAE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721754" y="2500884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966253" y="1653235"/>
            <a:ext cx="1809598" cy="1190549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8767267" y="1862633"/>
            <a:ext cx="200254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430768" y="2253996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536838" y="2472538"/>
            <a:ext cx="666598" cy="209398"/>
          </a:xfrm>
          <a:prstGeom prst="roundRect">
            <a:avLst>
              <a:gd name="adj" fmla="val 238189"/>
            </a:avLst>
          </a:prstGeom>
          <a:solidFill>
            <a:srgbClr val="DBEAFE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612734" y="2500884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883750" y="1653235"/>
            <a:ext cx="1809598" cy="1190549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10642702" y="1862633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293401" y="2253996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10398557" y="2472538"/>
            <a:ext cx="780898" cy="209398"/>
          </a:xfrm>
          <a:prstGeom prst="roundRect">
            <a:avLst>
              <a:gd name="adj" fmla="val 238189"/>
            </a:avLst>
          </a:prstGeom>
          <a:solidFill>
            <a:srgbClr val="EDE9FE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10474452" y="2500884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048756" y="3034894"/>
            <a:ext cx="5639105" cy="2657246"/>
          </a:xfrm>
          <a:prstGeom prst="roundRect">
            <a:avLst>
              <a:gd name="adj" fmla="val 7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904988" y="3605479"/>
            <a:ext cx="2033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TRAFFIC FLOW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7861097" y="4453128"/>
            <a:ext cx="19906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779362" y="4957877"/>
            <a:ext cx="42748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controls (center) filter threats before they reach critical assets.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5747004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521440" y="6238951"/>
            <a:ext cx="471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60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135978" y="401513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269480" y="4148633"/>
            <a:ext cx="190195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963156" y="4558284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Internet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10130638" y="401513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287914" y="4148633"/>
            <a:ext cx="142646" cy="1901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945929" y="4558284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Assets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8713318" y="4319626"/>
            <a:ext cx="286207" cy="286207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789213" y="439643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4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Targeting Networks: Conceptual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767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Malware, phishing, misuse, outages.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2767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Attacks on data or uptime.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519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disrupt business operations.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destroy user trust.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alerts and anomalies.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2815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attack patterns.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THREAT FLOW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420356" y="2331720"/>
            <a:ext cx="2276856" cy="437998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48956" y="2474366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953451" y="2455164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420356" y="2959913"/>
            <a:ext cx="2276856" cy="437998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48956" y="3103474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53451" y="3084271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420356" y="3589020"/>
            <a:ext cx="2276856" cy="437998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7629754" y="3731666"/>
            <a:ext cx="19019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953451" y="3712464"/>
            <a:ext cx="648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Misuse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7420356" y="4217213"/>
            <a:ext cx="2276856" cy="437998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48956" y="4360774"/>
            <a:ext cx="152705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953451" y="4341571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Outage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574334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11515039" y="62389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60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277356" y="2926994"/>
            <a:ext cx="761695" cy="761695"/>
          </a:xfrm>
          <a:prstGeom prst="roundRect">
            <a:avLst>
              <a:gd name="adj" fmla="val 18007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90" r="-90" t="0" b="0"/>
          <a:stretch/>
        </p:blipFill>
        <p:spPr>
          <a:xfrm>
            <a:off x="6467551" y="3155594"/>
            <a:ext cx="381305" cy="30449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333134" y="3832250"/>
            <a:ext cx="786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10385755" y="2926994"/>
            <a:ext cx="761695" cy="761695"/>
          </a:xfrm>
          <a:prstGeom prst="roundRect">
            <a:avLst>
              <a:gd name="adj" fmla="val 18007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-50" r="-50" t="0" b="0"/>
          <a:stretch/>
        </p:blipFill>
        <p:spPr>
          <a:xfrm>
            <a:off x="10652760" y="3155594"/>
            <a:ext cx="228600" cy="3044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075774" y="3832250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Network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2632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Goals for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415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data confidential, accurate, available.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2882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"CIA Triad" of security.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624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reliable business services.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2843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leaks and outages.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2929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integrity checks.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uptime and availability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008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SECURITY OBJECTIVES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192110" y="5124298"/>
            <a:ext cx="14529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Network Path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74334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514125" y="62389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60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429146" y="3474720"/>
            <a:ext cx="4876495" cy="38405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59007" y="3398825"/>
            <a:ext cx="95098" cy="19019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238951" y="2636215"/>
            <a:ext cx="1524305" cy="1714500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715354" y="2898648"/>
            <a:ext cx="571500" cy="5715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6900977" y="3069641"/>
            <a:ext cx="200254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378854" y="3651199"/>
            <a:ext cx="1377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366053" y="3927348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authorized access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106156" y="2636215"/>
            <a:ext cx="1524305" cy="1714500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581644" y="2898648"/>
            <a:ext cx="571500" cy="571500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8738921" y="3069641"/>
            <a:ext cx="256946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511235" y="3651199"/>
            <a:ext cx="843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193938" y="3927348"/>
            <a:ext cx="1438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remains unchanged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9972446" y="2636215"/>
            <a:ext cx="1524305" cy="1714500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448849" y="2898648"/>
            <a:ext cx="571500" cy="571500"/>
          </a:xfrm>
          <a:prstGeom prst="ellipse">
            <a:avLst/>
          </a:prstGeom>
          <a:solidFill>
            <a:srgbClr val="FEFCE8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620756" y="3069641"/>
            <a:ext cx="228600" cy="2286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271455" y="3651199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10118750" y="3927348"/>
            <a:ext cx="1324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are reachable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662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Alone Is Not Enough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053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risks still exist inside.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7965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boundary is not bulletproof.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4187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and users can be compromised.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786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move laterally once inside.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3320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internal traffic flows.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139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authentication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57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MONITORING STRATEGY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30391" y="1749247"/>
            <a:ext cx="5076749" cy="3362249"/>
          </a:xfrm>
          <a:prstGeom prst="roundRect">
            <a:avLst>
              <a:gd name="adj" fmla="val 925"/>
            </a:avLst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79638" y="1644091"/>
            <a:ext cx="1580998" cy="200254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174736" y="1677924"/>
            <a:ext cx="114300" cy="1335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346643" y="1644091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Perimeter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>
            <a:alphaModFix amt="99000"/>
          </a:blip>
          <a:srcRect l="0" r="0" t="0" b="0"/>
          <a:stretch/>
        </p:blipFill>
        <p:spPr>
          <a:xfrm>
            <a:off x="11077042" y="1157630"/>
            <a:ext cx="237744" cy="23774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910474" y="5333695"/>
            <a:ext cx="152705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2"/>
          <p:cNvSpPr/>
          <p:nvPr/>
        </p:nvSpPr>
        <p:spPr>
          <a:xfrm>
            <a:off x="7910474" y="5333695"/>
            <a:ext cx="152705" cy="1920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119872" y="5257800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795614" y="5295290"/>
            <a:ext cx="95098" cy="950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948318" y="5257800"/>
            <a:ext cx="972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Sensors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715914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1458346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60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012534" y="3417113"/>
            <a:ext cx="3715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Shape 31"/>
          <p:cNvSpPr/>
          <p:nvPr/>
        </p:nvSpPr>
        <p:spPr>
          <a:xfrm>
            <a:off x="6740042" y="3065069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6878117" y="3188513"/>
            <a:ext cx="200254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755587" y="3627425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PC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609076" y="3065069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32520" y="3188513"/>
            <a:ext cx="228600" cy="2286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444484" y="3627425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Server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10498226" y="3065069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10636301" y="3188513"/>
            <a:ext cx="200254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0478110" y="3627425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940650" y="3293669"/>
            <a:ext cx="267005" cy="267005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8007401" y="3369564"/>
            <a:ext cx="133502" cy="114300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9528048" y="3293669"/>
            <a:ext cx="267005" cy="267005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9594799" y="3369564"/>
            <a:ext cx="13350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805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SOC’s Role in Network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466344" y="1310335"/>
            <a:ext cx="219456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053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Monitor, detect, and escalate incidents.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5862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as the central nervous system.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986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Rapidly limit attack impact and spread.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824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 defense across all zones.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466344" y="4274820"/>
            <a:ext cx="21945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1695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33485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Correlated security dashboards.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prioritized cases and alerts.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3434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CONSOLE: ALERT TRIAGE &amp; CONTEXT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15745"/>
            <a:ext cx="5639105" cy="2210105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72200" y="1748333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ALERTS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172200" y="2378354"/>
            <a:ext cx="53913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1"/>
          <p:cNvSpPr/>
          <p:nvPr/>
        </p:nvSpPr>
        <p:spPr>
          <a:xfrm>
            <a:off x="6172200" y="2062886"/>
            <a:ext cx="638251" cy="237744"/>
          </a:xfrm>
          <a:prstGeom prst="roundRect">
            <a:avLst>
              <a:gd name="adj" fmla="val 61538"/>
            </a:avLst>
          </a:prstGeom>
          <a:solidFill>
            <a:srgbClr val="FEE2E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48095" y="2110435"/>
            <a:ext cx="5650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922008" y="2098548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C2 Beacon Detected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0970971" y="2103120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mins ago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172200" y="2773375"/>
            <a:ext cx="53913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6"/>
          <p:cNvSpPr/>
          <p:nvPr/>
        </p:nvSpPr>
        <p:spPr>
          <a:xfrm>
            <a:off x="6172200" y="2457907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FFEDD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325819" y="2506370"/>
            <a:ext cx="3456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6858000" y="2494483"/>
            <a:ext cx="1786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Brute Force: HR-Server-01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926166" y="2499055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mins ago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172200" y="2853842"/>
            <a:ext cx="571500" cy="237744"/>
          </a:xfrm>
          <a:prstGeom prst="roundRect">
            <a:avLst>
              <a:gd name="adj" fmla="val 61538"/>
            </a:avLst>
          </a:prstGeom>
          <a:solidFill>
            <a:srgbClr val="DBEAFE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332220" y="2901391"/>
            <a:ext cx="3364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6858000" y="2889504"/>
            <a:ext cx="1815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Device Added to DMZ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1002975" y="289407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hour ago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048756" y="3972154"/>
            <a:ext cx="5639105" cy="17145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172200" y="4105656"/>
            <a:ext cx="2057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CONTEXT: HR-Server-01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5730545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1488522" y="6238951"/>
            <a:ext cx="500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60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473952" y="4943246"/>
            <a:ext cx="14191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6" name="Shape 41"/>
          <p:cNvSpPr/>
          <p:nvPr/>
        </p:nvSpPr>
        <p:spPr>
          <a:xfrm>
            <a:off x="8093354" y="4943246"/>
            <a:ext cx="14191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42"/>
          <p:cNvSpPr/>
          <p:nvPr/>
        </p:nvSpPr>
        <p:spPr>
          <a:xfrm>
            <a:off x="9830714" y="4943246"/>
            <a:ext cx="14191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3"/>
          <p:cNvSpPr/>
          <p:nvPr/>
        </p:nvSpPr>
        <p:spPr>
          <a:xfrm>
            <a:off x="6180430" y="466526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4671" y="4769510"/>
            <a:ext cx="171907" cy="171907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6172200" y="5093208"/>
            <a:ext cx="4791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7802575" y="466526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06817" y="4769510"/>
            <a:ext cx="171907" cy="171907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7797089" y="5093208"/>
            <a:ext cx="4791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9480499" y="466526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85655" y="4769510"/>
            <a:ext cx="171907" cy="171907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9416491" y="5093208"/>
            <a:ext cx="5934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Server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11168482" y="466526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rcRect l="-1064" r="-1064" t="0" b="0"/>
          <a:stretch/>
        </p:blipFill>
        <p:spPr>
          <a:xfrm>
            <a:off x="11248949" y="4769510"/>
            <a:ext cx="219456" cy="171907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11153851" y="5093208"/>
            <a:ext cx="4882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7771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Network Segmentation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472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Dividing a large network into smaller zones.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319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systems by function or trust level.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4319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the spread of attacks (blast radius).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805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control over sensitive data.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4482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logs tagged by zone (e.g., DMZ).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4548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traffic crossing zone boundaries.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882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NETWORK ARCHITECTURE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63156" y="1831543"/>
            <a:ext cx="3810305" cy="685800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254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10044" y="2050999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29754" y="2074774"/>
            <a:ext cx="16532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(Internet)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045598" y="2098548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1B1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Trust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858707" y="2517343"/>
            <a:ext cx="19202" cy="3813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2"/>
          <p:cNvSpPr/>
          <p:nvPr/>
        </p:nvSpPr>
        <p:spPr>
          <a:xfrm>
            <a:off x="6963156" y="2898648"/>
            <a:ext cx="3810305" cy="685800"/>
          </a:xfrm>
          <a:prstGeom prst="roundRect">
            <a:avLst>
              <a:gd name="adj" fmla="val 14815"/>
            </a:avLst>
          </a:prstGeom>
          <a:solidFill>
            <a:srgbClr val="FFEDD5"/>
          </a:solidFill>
          <a:ln w="25400">
            <a:solidFill>
              <a:srgbClr val="FDBA7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10044" y="311719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29754" y="3140964"/>
            <a:ext cx="1996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(Public Services)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900209" y="3164738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3412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Trust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858707" y="3584448"/>
            <a:ext cx="19202" cy="3813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Shape 26"/>
          <p:cNvSpPr/>
          <p:nvPr/>
        </p:nvSpPr>
        <p:spPr>
          <a:xfrm>
            <a:off x="6963156" y="3964838"/>
            <a:ext cx="3810305" cy="68580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25400">
            <a:solidFill>
              <a:srgbClr val="86EFAC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7181698" y="4184294"/>
            <a:ext cx="286207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629754" y="4208069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(Private)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0042855" y="4231843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Trust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433158" y="4999025"/>
            <a:ext cx="114300" cy="1143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7623353" y="4975250"/>
            <a:ext cx="1405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Boundary</a:t>
            </a:r>
            <a:endParaRPr lang="en-US" sz="10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9150401" y="4988966"/>
            <a:ext cx="152705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379001" y="497525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Zones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1462004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60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781898" y="2574950"/>
            <a:ext cx="171907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801100" y="2641702"/>
            <a:ext cx="133502" cy="133502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8781898" y="3641141"/>
            <a:ext cx="171907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801100" y="3707892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3967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Segmentation Is Critical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the "blast radius" of attacks.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139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lateral movement between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415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threats to a single area.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critical business operations.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853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Seeing blocked cross-zone attempts.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176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alerts spreading widely.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224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BLAST RADIUS CONTAINMENT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25489" y="2260397"/>
            <a:ext cx="1714500" cy="1714500"/>
          </a:xfrm>
          <a:prstGeom prst="roundRect">
            <a:avLst>
              <a:gd name="adj" fmla="val 3556"/>
            </a:avLst>
          </a:prstGeom>
          <a:solidFill>
            <a:srgbClr val="FEF2F2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6989" y="2612441"/>
            <a:ext cx="5715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17106" y="3203143"/>
            <a:ext cx="648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A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785762" y="3460090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Workstations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26910" y="4089197"/>
            <a:ext cx="914400" cy="247802"/>
          </a:xfrm>
          <a:prstGeom prst="roundRect">
            <a:avLst>
              <a:gd name="adj" fmla="val 283849"/>
            </a:avLst>
          </a:prstGeom>
          <a:solidFill>
            <a:srgbClr val="FEE2E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41210" y="4151376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55510" y="4136746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INFECTED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8330184" y="3279038"/>
            <a:ext cx="1076249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31" name="Shape 24"/>
          <p:cNvSpPr/>
          <p:nvPr/>
        </p:nvSpPr>
        <p:spPr>
          <a:xfrm>
            <a:off x="8330184" y="3279038"/>
            <a:ext cx="536753" cy="38405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Shape 25"/>
          <p:cNvSpPr/>
          <p:nvPr/>
        </p:nvSpPr>
        <p:spPr>
          <a:xfrm>
            <a:off x="8867851" y="3298241"/>
            <a:ext cx="381305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9595714" y="2260397"/>
            <a:ext cx="1714500" cy="1714500"/>
          </a:xfrm>
          <a:prstGeom prst="roundRect">
            <a:avLst>
              <a:gd name="adj" fmla="val 3556"/>
            </a:avLst>
          </a:prstGeom>
          <a:solidFill>
            <a:srgbClr val="F0FDF4"/>
          </a:solidFill>
          <a:ln w="381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223906" y="2612441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193731" y="3203143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B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9941357" y="3460090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Database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10052914" y="4089197"/>
            <a:ext cx="800100" cy="247802"/>
          </a:xfrm>
          <a:prstGeom prst="roundRect">
            <a:avLst>
              <a:gd name="adj" fmla="val 283849"/>
            </a:avLst>
          </a:prstGeom>
          <a:solidFill>
            <a:srgbClr val="DCFCE7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67214" y="4151376"/>
            <a:ext cx="114300" cy="1143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281514" y="413674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826910" y="5075834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6997903" y="5042916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Traffic</a:t>
            </a:r>
            <a:endParaRPr lang="en-US" sz="10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071409" y="5057546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280806" y="5042916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Block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9768535" y="5075834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9939528" y="5042916"/>
            <a:ext cx="10716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Zone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11460175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60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8101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vs Physical Segmentation: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639105" cy="3666744"/>
          </a:xfrm>
          <a:prstGeom prst="roundRect">
            <a:avLst>
              <a:gd name="adj" fmla="val 777"/>
            </a:avLst>
          </a:prstGeom>
          <a:solidFill>
            <a:srgbClr val="F9FAFB"/>
          </a:solidFill>
          <a:ln w="762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775" r="-775" t="0" b="0"/>
          <a:stretch/>
        </p:blipFill>
        <p:spPr>
          <a:xfrm>
            <a:off x="543154" y="1448410"/>
            <a:ext cx="314554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2007" y="1387145"/>
            <a:ext cx="28154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Segmentation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939442"/>
            <a:ext cx="4710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Software-based rules group systems virtually.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2368296"/>
            <a:ext cx="4443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separation without rewiring cables.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3154" y="3191256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54910" y="3610051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85746" y="3943807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DBEAF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143354" y="3972154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937967" y="3743554"/>
            <a:ext cx="381305" cy="228600"/>
          </a:xfrm>
          <a:prstGeom prst="roundRect">
            <a:avLst>
              <a:gd name="adj" fmla="val 66667"/>
            </a:avLst>
          </a:prstGeom>
          <a:solidFill>
            <a:srgbClr val="E2E8F0"/>
          </a:solidFill>
          <a:ln w="25400">
            <a:solidFill>
              <a:srgbClr val="64748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69157" y="3610051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04565" y="3943807"/>
            <a:ext cx="562356" cy="209398"/>
          </a:xfrm>
          <a:prstGeom prst="roundRect">
            <a:avLst>
              <a:gd name="adj" fmla="val 79396"/>
            </a:avLst>
          </a:prstGeom>
          <a:solidFill>
            <a:srgbClr val="FEE2E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3661258" y="3972154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B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2263140" y="4276649"/>
            <a:ext cx="1810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Hardware, Different Rules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248095" y="1100938"/>
            <a:ext cx="5639105" cy="3666744"/>
          </a:xfrm>
          <a:prstGeom prst="roundRect">
            <a:avLst>
              <a:gd name="adj" fmla="val 777"/>
            </a:avLst>
          </a:prstGeom>
          <a:solidFill>
            <a:srgbClr val="F9FAFB"/>
          </a:solidFill>
          <a:ln w="762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6754" y="1448410"/>
            <a:ext cx="247802" cy="2478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48856" y="1387145"/>
            <a:ext cx="29672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Segmentation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6752844" y="1939442"/>
            <a:ext cx="4767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hardware paths, switches, and ports.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752844" y="2368296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isolation by design (“Air Gap”).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86754" y="3191256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76818" y="3524098"/>
            <a:ext cx="228600" cy="2286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481974" y="3819449"/>
            <a:ext cx="19202" cy="190195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1"/>
          <p:cNvSpPr/>
          <p:nvPr/>
        </p:nvSpPr>
        <p:spPr>
          <a:xfrm>
            <a:off x="8300923" y="4009644"/>
            <a:ext cx="381305" cy="228600"/>
          </a:xfrm>
          <a:prstGeom prst="roundRect">
            <a:avLst>
              <a:gd name="adj" fmla="val 66667"/>
            </a:avLst>
          </a:prstGeom>
          <a:solidFill>
            <a:srgbClr val="E2E8F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062618" y="3476549"/>
            <a:ext cx="9144" cy="7616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3"/>
          <p:cNvSpPr/>
          <p:nvPr/>
        </p:nvSpPr>
        <p:spPr>
          <a:xfrm>
            <a:off x="9062618" y="3476549"/>
            <a:ext cx="9144" cy="761695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29877" y="3524098"/>
            <a:ext cx="228600" cy="2286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634118" y="3819449"/>
            <a:ext cx="19202" cy="190195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Shape 25"/>
          <p:cNvSpPr/>
          <p:nvPr/>
        </p:nvSpPr>
        <p:spPr>
          <a:xfrm>
            <a:off x="9453982" y="4009644"/>
            <a:ext cx="381305" cy="228600"/>
          </a:xfrm>
          <a:prstGeom prst="roundRect">
            <a:avLst>
              <a:gd name="adj" fmla="val 66667"/>
            </a:avLst>
          </a:prstGeom>
          <a:solidFill>
            <a:srgbClr val="E2E8F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352130" y="4276649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Totally Separate Hardware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04495" y="4990795"/>
            <a:ext cx="11582705" cy="895198"/>
          </a:xfrm>
          <a:prstGeom prst="roundRect">
            <a:avLst>
              <a:gd name="adj" fmla="val 86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543154" y="5352898"/>
            <a:ext cx="190195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9244" y="5309921"/>
            <a:ext cx="1634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2540203" y="5181905"/>
            <a:ext cx="85350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see tags, labels, and zone boundaries in security tools regardless of the underlying method.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571500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11456518" y="6238951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60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739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Segmentation: Concept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376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group systems logically.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453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defines the boundaries.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738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separation without rewiring.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643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Adapts easily to business changes.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434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tags and asset labels.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policy decision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SEPARATION DIAGRAM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740396" y="2431390"/>
            <a:ext cx="19202" cy="2862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976104" y="2431390"/>
            <a:ext cx="19202" cy="2862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7000646" y="2907792"/>
            <a:ext cx="1714500" cy="1762049"/>
          </a:xfrm>
          <a:prstGeom prst="roundRect">
            <a:avLst>
              <a:gd name="adj" fmla="val 237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274966" y="3136392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GROUP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7667244" y="3412541"/>
            <a:ext cx="381305" cy="304495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107" r="-107" t="0" b="0"/>
          <a:stretch/>
        </p:blipFill>
        <p:spPr>
          <a:xfrm>
            <a:off x="7724851" y="3813048"/>
            <a:ext cx="267005" cy="3044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70064" y="42985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Access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9020556" y="2907792"/>
            <a:ext cx="1714500" cy="1762049"/>
          </a:xfrm>
          <a:prstGeom prst="roundRect">
            <a:avLst>
              <a:gd name="adj" fmla="val 2370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511589" y="3136392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GROUP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9687154" y="3412541"/>
            <a:ext cx="381305" cy="304495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24644" y="3813048"/>
            <a:ext cx="304495" cy="3044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452153" y="4298594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Access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6931152" y="5012741"/>
            <a:ext cx="3877056" cy="409651"/>
          </a:xfrm>
          <a:prstGeom prst="roundRect">
            <a:avLst>
              <a:gd name="adj" fmla="val 207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036308" y="5150815"/>
            <a:ext cx="133502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245706" y="5137099"/>
            <a:ext cx="3557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controlled by policy tags, not physical cables.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571865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11463833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60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6612026" y="1755648"/>
            <a:ext cx="4515307" cy="485546"/>
          </a:xfrm>
          <a:prstGeom prst="roundRect">
            <a:avLst>
              <a:gd name="adj" fmla="val 221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-1064" r="-1064" t="0" b="0"/>
          <a:stretch/>
        </p:blipFill>
        <p:spPr>
          <a:xfrm>
            <a:off x="7534656" y="1912925"/>
            <a:ext cx="219456" cy="1719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848295" y="1898294"/>
            <a:ext cx="2481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Policy Control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958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Segmentation: Concept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710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hardware paths and ports.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053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Totally distinct infrastructure.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2786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isolation by design.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2376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risk of crossover.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2967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boundaries in maps.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shared connection points.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453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HARDWARE ISOLATION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858707" y="1587398"/>
            <a:ext cx="19202" cy="3819449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19"/>
          <p:cNvSpPr/>
          <p:nvPr/>
        </p:nvSpPr>
        <p:spPr>
          <a:xfrm>
            <a:off x="6612026" y="1930298"/>
            <a:ext cx="2066544" cy="3323844"/>
          </a:xfrm>
          <a:prstGeom prst="roundRect">
            <a:avLst>
              <a:gd name="adj" fmla="val 2447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21424" y="2158898"/>
            <a:ext cx="1077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OPS NETWORK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7254850" y="3291840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Rack 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626096" y="3454603"/>
            <a:ext cx="38405" cy="3840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01154" y="4084625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A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626096" y="4246474"/>
            <a:ext cx="38405" cy="3840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7253021" y="4876495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Workstation A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058046" y="1930298"/>
            <a:ext cx="2066544" cy="3323844"/>
          </a:xfrm>
          <a:prstGeom prst="roundRect">
            <a:avLst>
              <a:gd name="adj" fmla="val 244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17406" y="2158898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NETWORK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9705442" y="3063240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Rack B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0071202" y="3226003"/>
            <a:ext cx="38405" cy="15270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850831" y="3970325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B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0071202" y="4132174"/>
            <a:ext cx="38405" cy="15270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702698" y="4876495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Workstation B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11460175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60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06640" y="269199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30084" y="2816352"/>
            <a:ext cx="228600" cy="22860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7406640" y="348386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7501738" y="3608222"/>
            <a:ext cx="286207" cy="228600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7406640" y="4276649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7501738" y="4400093"/>
            <a:ext cx="286207" cy="22860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9852660" y="246339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4444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976104" y="2587752"/>
            <a:ext cx="228600" cy="2286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9852660" y="336956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4444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9947758" y="3493922"/>
            <a:ext cx="286207" cy="22860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9852660" y="4276649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4444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rcRect l="-80" r="-80" t="0" b="0"/>
          <a:stretch/>
        </p:blipFill>
        <p:spPr>
          <a:xfrm>
            <a:off x="9947758" y="4400093"/>
            <a:ext cx="286207" cy="228600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7887614" y="3112618"/>
            <a:ext cx="1962302" cy="761695"/>
          </a:xfrm>
          <a:prstGeom prst="roundRect">
            <a:avLst>
              <a:gd name="adj" fmla="val 300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8725205" y="3265322"/>
            <a:ext cx="286207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086954" y="3608222"/>
            <a:ext cx="1648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CONNECTION (AIR GAP)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1204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and Attack Containment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672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 that impede movement.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329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Prevention of free access between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"East-West" spread of attacks.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4262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the "blast radius" of an incident.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4262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showing blocked cross-zone traffic.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663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Deny events at internal boundaries.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310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MOVEMENT ATTEMPT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106156" y="3131820"/>
            <a:ext cx="1524305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19"/>
          <p:cNvSpPr/>
          <p:nvPr/>
        </p:nvSpPr>
        <p:spPr>
          <a:xfrm>
            <a:off x="8106156" y="313182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0"/>
          <p:cNvSpPr/>
          <p:nvPr/>
        </p:nvSpPr>
        <p:spPr>
          <a:xfrm>
            <a:off x="8867851" y="3074213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68819" y="4389120"/>
            <a:ext cx="2800807" cy="400507"/>
          </a:xfrm>
          <a:prstGeom prst="roundRect">
            <a:avLst>
              <a:gd name="adj" fmla="val 108719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7630668" y="4512564"/>
            <a:ext cx="133502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40066" y="4475074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BLOCKED BY POLICY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72048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467490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60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676949" y="2388413"/>
            <a:ext cx="1333195" cy="1524305"/>
          </a:xfrm>
          <a:prstGeom prst="roundRect">
            <a:avLst>
              <a:gd name="adj" fmla="val 391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4" b="-24"/>
          <a:stretch/>
        </p:blipFill>
        <p:spPr>
          <a:xfrm>
            <a:off x="7105802" y="2941625"/>
            <a:ext cx="476402" cy="3813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965899" y="2683764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SEGMENT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972300" y="3474720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Infected Host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9724644" y="2388413"/>
            <a:ext cx="1333195" cy="1524305"/>
          </a:xfrm>
          <a:prstGeom prst="roundRect">
            <a:avLst>
              <a:gd name="adj" fmla="val 391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201046" y="2941625"/>
            <a:ext cx="381305" cy="3813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839858" y="2683764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SEGMENT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0029139" y="3474720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DB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630107" y="2912364"/>
            <a:ext cx="476402" cy="47640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53551" y="303672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1100938"/>
            <a:ext cx="5238598" cy="1686154"/>
          </a:xfrm>
          <a:prstGeom prst="roundRect">
            <a:avLst>
              <a:gd name="adj" fmla="val 245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4495" y="2933395"/>
            <a:ext cx="5238598" cy="1686154"/>
          </a:xfrm>
          <a:prstGeom prst="roundRect">
            <a:avLst>
              <a:gd name="adj" fmla="val 245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142793"/>
            <a:ext cx="190195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3349" y="309524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04495" y="476585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975250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3349" y="4927702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04495" y="295351"/>
            <a:ext cx="66348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and Access Requests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460175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60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1644091"/>
            <a:ext cx="37106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deliberately crossing trust boundaries.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2287829"/>
            <a:ext cx="4881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seeking access between secured zones.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57454" y="3476549"/>
            <a:ext cx="39584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strictly necessary business flows permitted.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57454" y="4120286"/>
            <a:ext cx="4205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unauthorized lateral movement.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57454" y="5309006"/>
            <a:ext cx="4796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approved vs. denied firewall events.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57454" y="5659222"/>
            <a:ext cx="4196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unexpected blocked traffic.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086246" y="1357884"/>
            <a:ext cx="3081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VISUALIZATION &amp; LOGS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86246" y="1691640"/>
            <a:ext cx="5562295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619695" y="2096719"/>
            <a:ext cx="2495398" cy="283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10030054" y="1872691"/>
            <a:ext cx="85954" cy="133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396935" y="1586484"/>
            <a:ext cx="942746" cy="1719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472830" y="1596542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Policy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086246" y="2758745"/>
            <a:ext cx="5562295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619695" y="3162910"/>
            <a:ext cx="1248156" cy="283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Shape 28"/>
          <p:cNvSpPr/>
          <p:nvPr/>
        </p:nvSpPr>
        <p:spPr>
          <a:xfrm>
            <a:off x="6086246" y="3824935"/>
            <a:ext cx="556229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096305" y="3834994"/>
            <a:ext cx="1143000" cy="4005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0"/>
          <p:cNvSpPr/>
          <p:nvPr/>
        </p:nvSpPr>
        <p:spPr>
          <a:xfrm>
            <a:off x="6096305" y="4226357"/>
            <a:ext cx="1143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6248095" y="3949294"/>
            <a:ext cx="824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7238390" y="3834994"/>
            <a:ext cx="1505102" cy="4005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8390" y="4226357"/>
            <a:ext cx="15051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391095" y="3949294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734349" y="3834994"/>
            <a:ext cx="1324051" cy="4005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36"/>
          <p:cNvSpPr/>
          <p:nvPr/>
        </p:nvSpPr>
        <p:spPr>
          <a:xfrm>
            <a:off x="8734349" y="4226357"/>
            <a:ext cx="13240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887054" y="3949294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10051999" y="3834994"/>
            <a:ext cx="790956" cy="4005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39"/>
          <p:cNvSpPr/>
          <p:nvPr/>
        </p:nvSpPr>
        <p:spPr>
          <a:xfrm>
            <a:off x="10051999" y="4226357"/>
            <a:ext cx="790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10204704" y="3949294"/>
            <a:ext cx="452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10835640" y="3834994"/>
            <a:ext cx="809244" cy="4005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2"/>
          <p:cNvSpPr/>
          <p:nvPr/>
        </p:nvSpPr>
        <p:spPr>
          <a:xfrm>
            <a:off x="10835640" y="4226357"/>
            <a:ext cx="80924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10988345" y="3949294"/>
            <a:ext cx="519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096305" y="4621378"/>
            <a:ext cx="11430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6248095" y="4348886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10:42:05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7238390" y="4621378"/>
            <a:ext cx="1505102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7391095" y="4348886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192.168.10.55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8734349" y="4621378"/>
            <a:ext cx="13240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8887054" y="4348886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172.16.20.5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10051999" y="4621378"/>
            <a:ext cx="790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10204704" y="4348886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10835640" y="4621378"/>
            <a:ext cx="80924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10988345" y="4348886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096305" y="5020970"/>
            <a:ext cx="11430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6248095" y="4749394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10:42:08</a:t>
            </a:r>
            <a:endParaRPr lang="en-US" sz="1000" dirty="0"/>
          </a:p>
        </p:txBody>
      </p:sp>
      <p:sp>
        <p:nvSpPr>
          <p:cNvPr id="62" name="Shape 56"/>
          <p:cNvSpPr/>
          <p:nvPr/>
        </p:nvSpPr>
        <p:spPr>
          <a:xfrm>
            <a:off x="7238390" y="5020970"/>
            <a:ext cx="1505102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7"/>
          <p:cNvSpPr txBox="1"/>
          <p:nvPr/>
        </p:nvSpPr>
        <p:spPr>
          <a:xfrm>
            <a:off x="7391095" y="4749394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192.168.10.99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8734349" y="5020970"/>
            <a:ext cx="13240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8887054" y="4749394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172.16.20.5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10051999" y="5020970"/>
            <a:ext cx="7909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10204704" y="4749394"/>
            <a:ext cx="348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10835640" y="5020970"/>
            <a:ext cx="80924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10988345" y="4749394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00" dirty="0"/>
          </a:p>
        </p:txBody>
      </p:sp>
      <p:sp>
        <p:nvSpPr>
          <p:cNvPr id="70" name="Shape 64"/>
          <p:cNvSpPr/>
          <p:nvPr/>
        </p:nvSpPr>
        <p:spPr>
          <a:xfrm>
            <a:off x="8867851" y="1700784"/>
            <a:ext cx="19202" cy="81930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1" name="Shape 65"/>
          <p:cNvSpPr/>
          <p:nvPr/>
        </p:nvSpPr>
        <p:spPr>
          <a:xfrm>
            <a:off x="8867851" y="2767889"/>
            <a:ext cx="19202" cy="81930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2" name="Shape 66"/>
          <p:cNvSpPr/>
          <p:nvPr/>
        </p:nvSpPr>
        <p:spPr>
          <a:xfrm>
            <a:off x="6286500" y="1891894"/>
            <a:ext cx="1143000" cy="437998"/>
          </a:xfrm>
          <a:prstGeom prst="roundRect">
            <a:avLst>
              <a:gd name="adj" fmla="val 2723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6577279" y="2015338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00" dirty="0"/>
          </a:p>
        </p:txBody>
      </p:sp>
      <p:sp>
        <p:nvSpPr>
          <p:cNvPr id="74" name="Shape 68"/>
          <p:cNvSpPr/>
          <p:nvPr/>
        </p:nvSpPr>
        <p:spPr>
          <a:xfrm>
            <a:off x="10306202" y="1891894"/>
            <a:ext cx="1143000" cy="437998"/>
          </a:xfrm>
          <a:prstGeom prst="roundRect">
            <a:avLst>
              <a:gd name="adj" fmla="val 2723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10702138" y="2015338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200" dirty="0"/>
          </a:p>
        </p:txBody>
      </p:sp>
      <p:sp>
        <p:nvSpPr>
          <p:cNvPr id="76" name="Shape 70"/>
          <p:cNvSpPr/>
          <p:nvPr/>
        </p:nvSpPr>
        <p:spPr>
          <a:xfrm>
            <a:off x="6286500" y="2958084"/>
            <a:ext cx="1143000" cy="437998"/>
          </a:xfrm>
          <a:prstGeom prst="roundRect">
            <a:avLst>
              <a:gd name="adj" fmla="val 2723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6577279" y="3082442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00" dirty="0"/>
          </a:p>
        </p:txBody>
      </p:sp>
      <p:sp>
        <p:nvSpPr>
          <p:cNvPr id="78" name="Shape 72"/>
          <p:cNvSpPr/>
          <p:nvPr/>
        </p:nvSpPr>
        <p:spPr>
          <a:xfrm>
            <a:off x="10306202" y="2958084"/>
            <a:ext cx="1143000" cy="437998"/>
          </a:xfrm>
          <a:prstGeom prst="roundRect">
            <a:avLst>
              <a:gd name="adj" fmla="val 2723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9" name="Text 73"/>
          <p:cNvSpPr txBox="1"/>
          <p:nvPr/>
        </p:nvSpPr>
        <p:spPr>
          <a:xfrm>
            <a:off x="10530230" y="3082442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2</a:t>
            </a:r>
            <a:endParaRPr lang="en-US" sz="1200" dirty="0"/>
          </a:p>
        </p:txBody>
      </p:sp>
      <p:sp>
        <p:nvSpPr>
          <p:cNvPr id="80" name="Shape 74"/>
          <p:cNvSpPr/>
          <p:nvPr/>
        </p:nvSpPr>
        <p:spPr>
          <a:xfrm>
            <a:off x="8715146" y="1958645"/>
            <a:ext cx="304495" cy="304495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810244" y="2043684"/>
            <a:ext cx="114300" cy="133502"/>
          </a:xfrm>
          <a:prstGeom prst="rect">
            <a:avLst/>
          </a:prstGeom>
        </p:spPr>
      </p:pic>
      <p:sp>
        <p:nvSpPr>
          <p:cNvPr id="82" name="Shape 75"/>
          <p:cNvSpPr/>
          <p:nvPr/>
        </p:nvSpPr>
        <p:spPr>
          <a:xfrm>
            <a:off x="8715146" y="3024835"/>
            <a:ext cx="304495" cy="304495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01100" y="3110789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86922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Segmentation: Internal, DMZ, External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900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conceptual trust zones.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043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assets by risk and exposure.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719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high-risk exposed services.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719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private internal data layers.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653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zone-based traffic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633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filters to see zone crossings.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ZONE ARCHITECTURE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529791"/>
            <a:ext cx="5562295" cy="1276502"/>
          </a:xfrm>
          <a:prstGeom prst="roundRect">
            <a:avLst>
              <a:gd name="adj" fmla="val 4277"/>
            </a:avLst>
          </a:prstGeom>
          <a:solidFill>
            <a:srgbClr val="FEF2F2"/>
          </a:solidFill>
          <a:ln w="25400">
            <a:solidFill>
              <a:srgbClr val="FEE2E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34049" y="1880006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6754" y="2031797"/>
            <a:ext cx="267005" cy="2670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95744" y="1945843"/>
            <a:ext cx="2910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ZONE (UNTRUSTED)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095744" y="2232050"/>
            <a:ext cx="2738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Internet • High Exposure • Zero Trust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086246" y="2953512"/>
            <a:ext cx="5562295" cy="1276502"/>
          </a:xfrm>
          <a:prstGeom prst="roundRect">
            <a:avLst>
              <a:gd name="adj" fmla="val 4277"/>
            </a:avLst>
          </a:prstGeom>
          <a:solidFill>
            <a:srgbClr val="FFFBEB"/>
          </a:solidFill>
          <a:ln w="25400">
            <a:solidFill>
              <a:srgbClr val="FEF3C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334049" y="3302813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86754" y="3455518"/>
            <a:ext cx="267005" cy="2670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095744" y="3369564"/>
            <a:ext cx="2643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(DEMILITARIZED ZONE)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095744" y="3655771"/>
            <a:ext cx="2862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Servers • Limited Access • Web/Mail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86246" y="4377233"/>
            <a:ext cx="5562295" cy="1276502"/>
          </a:xfrm>
          <a:prstGeom prst="roundRect">
            <a:avLst>
              <a:gd name="adj" fmla="val 4277"/>
            </a:avLst>
          </a:prstGeom>
          <a:solidFill>
            <a:srgbClr val="EFF6FF"/>
          </a:solidFill>
          <a:ln w="25400">
            <a:solidFill>
              <a:srgbClr val="DBEAF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334049" y="472653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52921" y="4879238"/>
            <a:ext cx="333756" cy="2670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095744" y="4793285"/>
            <a:ext cx="2595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ZONE (TRUSTED)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7095744" y="5079492"/>
            <a:ext cx="2662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Data • Workstations • Databases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11460175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60</a:t>
            </a:r>
            <a:endParaRPr lang="en-US" sz="10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-8945" r="-8945" t="0" b="0"/>
          <a:stretch/>
        </p:blipFill>
        <p:spPr>
          <a:xfrm>
            <a:off x="6620256" y="2667305"/>
            <a:ext cx="286207" cy="323698"/>
          </a:xfrm>
          <a:prstGeom prst="rect">
            <a:avLst/>
          </a:prstGeom>
        </p:spPr>
      </p:pic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-8945" r="-8945" t="0" b="0"/>
          <a:stretch/>
        </p:blipFill>
        <p:spPr>
          <a:xfrm>
            <a:off x="6620256" y="4091026"/>
            <a:ext cx="286207" cy="3236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7199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and Monitoring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596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placed at key boundaries.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396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Capturing traffic crossing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139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cross-zone traffic clearly.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176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lateral movement early.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2405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sensor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405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mirrored traffic views.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395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VISIBILITY CONCEPT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15046" y="3088843"/>
            <a:ext cx="1904695" cy="384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473745" y="2907792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Flow →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330391" y="4914900"/>
            <a:ext cx="5076749" cy="771754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546897" y="5057546"/>
            <a:ext cx="7479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488022" y="5315407"/>
            <a:ext cx="1009498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564831" y="5362956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Internal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569757" y="5315407"/>
            <a:ext cx="724205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646566" y="5362956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Dest: DMZ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368028" y="5315407"/>
            <a:ext cx="886054" cy="247802"/>
          </a:xfrm>
          <a:prstGeom prst="roundRect">
            <a:avLst>
              <a:gd name="adj" fmla="val 56770"/>
            </a:avLst>
          </a:prstGeom>
          <a:solidFill>
            <a:srgbClr val="DBEAFE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444838" y="5362956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Allow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60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486754" y="2631643"/>
            <a:ext cx="133319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7024421" y="2841041"/>
            <a:ext cx="256946" cy="2286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872630" y="3164738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9915754" y="2631643"/>
            <a:ext cx="1333195" cy="952805"/>
          </a:xfrm>
          <a:prstGeom prst="roundRect">
            <a:avLst>
              <a:gd name="adj" fmla="val 7678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68051" y="2841041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0407701" y="3164738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8581644" y="2821838"/>
            <a:ext cx="571500" cy="5715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8738921" y="2993746"/>
            <a:ext cx="256946" cy="2286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8406079" y="2508199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1E40AF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520379" y="2555748"/>
            <a:ext cx="781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/ Tap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9205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View: Segmentation in Dashboards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672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that organize traffic by zone.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072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showing traffic direction/service.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777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speeds up investigations.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719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relevant traffic immediately.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4301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saved zone views (e.g., DMZ Only).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748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Pivoting from maps to logs instantly.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6246" y="1281989"/>
            <a:ext cx="3262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SECURITY DASHBOARD INTERFACE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568196"/>
            <a:ext cx="5562295" cy="580644"/>
          </a:xfrm>
          <a:prstGeom prst="roundRect">
            <a:avLst>
              <a:gd name="adj" fmla="val 15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0605" y="1794053"/>
            <a:ext cx="133502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44107" y="1777594"/>
            <a:ext cx="547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Filters: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939382" y="1691640"/>
            <a:ext cx="1591056" cy="333756"/>
          </a:xfrm>
          <a:prstGeom prst="roundRect">
            <a:avLst>
              <a:gd name="adj" fmla="val 1252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063740" y="1758391"/>
            <a:ext cx="719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 Zone: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733081" y="1777594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89950" y="1801368"/>
            <a:ext cx="114300" cy="1143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641994" y="1691640"/>
            <a:ext cx="1399946" cy="333756"/>
          </a:xfrm>
          <a:prstGeom prst="roundRect">
            <a:avLst>
              <a:gd name="adj" fmla="val 1252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766353" y="1758391"/>
            <a:ext cx="719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Dst Zone: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9437522" y="1777594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03282" y="1801368"/>
            <a:ext cx="114300" cy="1143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0156241" y="1691640"/>
            <a:ext cx="1028700" cy="333756"/>
          </a:xfrm>
          <a:prstGeom prst="roundRect">
            <a:avLst>
              <a:gd name="adj" fmla="val 1252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10279685" y="1801368"/>
            <a:ext cx="105156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441534" y="1758391"/>
            <a:ext cx="719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Filter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086246" y="2301545"/>
            <a:ext cx="5562295" cy="3552444"/>
          </a:xfrm>
          <a:prstGeom prst="roundRect">
            <a:avLst>
              <a:gd name="adj" fmla="val 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6248095" y="2482596"/>
            <a:ext cx="1386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Context Map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0388498" y="2472538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Showing 1 hr of data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248095" y="2815438"/>
            <a:ext cx="5238598" cy="952805"/>
          </a:xfrm>
          <a:prstGeom prst="roundRect">
            <a:avLst>
              <a:gd name="adj" fmla="val 3839"/>
            </a:avLst>
          </a:prstGeom>
          <a:solidFill>
            <a:srgbClr val="F1F5F9"/>
          </a:solidFill>
          <a:ln/>
        </p:spPr>
      </p:sp>
      <p:sp>
        <p:nvSpPr>
          <p:cNvPr id="41" name="Shape 32"/>
          <p:cNvSpPr/>
          <p:nvPr/>
        </p:nvSpPr>
        <p:spPr>
          <a:xfrm>
            <a:off x="7172554" y="3011119"/>
            <a:ext cx="761695" cy="562356"/>
          </a:xfrm>
          <a:prstGeom prst="roundRect">
            <a:avLst>
              <a:gd name="adj" fmla="val 1653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12700" dir="16200000">
              <a:srgbClr val="3b82f6">
                <a:alpha val="20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7467905" y="3106217"/>
            <a:ext cx="171907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307885" y="3277210"/>
            <a:ext cx="596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124444" y="3205886"/>
            <a:ext cx="171907" cy="171907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8486546" y="3011119"/>
            <a:ext cx="761695" cy="562356"/>
          </a:xfrm>
          <a:prstGeom prst="roundRect">
            <a:avLst>
              <a:gd name="adj" fmla="val 1653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12700" dir="16200000">
              <a:srgbClr val="3b82f6">
                <a:alpha val="20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801100" y="3106217"/>
            <a:ext cx="133502" cy="133502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8714232" y="3277210"/>
            <a:ext cx="415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439351" y="3205886"/>
            <a:ext cx="171907" cy="171907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9801454" y="3011119"/>
            <a:ext cx="761695" cy="562356"/>
          </a:xfrm>
          <a:prstGeom prst="roundRect">
            <a:avLst>
              <a:gd name="adj" fmla="val 16536"/>
            </a:avLst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116007" y="3106217"/>
            <a:ext cx="133502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916668" y="3277210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6248095" y="4016045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Filtered Events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6248095" y="4348886"/>
            <a:ext cx="5238598" cy="390449"/>
          </a:xfrm>
          <a:prstGeom prst="roundRect">
            <a:avLst>
              <a:gd name="adj" fmla="val 22848"/>
            </a:avLst>
          </a:prstGeom>
          <a:solidFill>
            <a:srgbClr val="F0FDF4"/>
          </a:solidFill>
          <a:ln/>
        </p:spPr>
      </p:sp>
      <p:sp>
        <p:nvSpPr>
          <p:cNvPr id="54" name="Shape 40"/>
          <p:cNvSpPr/>
          <p:nvPr/>
        </p:nvSpPr>
        <p:spPr>
          <a:xfrm>
            <a:off x="6248095" y="4348886"/>
            <a:ext cx="28346" cy="390449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372454" y="4461358"/>
            <a:ext cx="133502" cy="133502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6505956" y="4463186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7265822" y="4463186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192.168.10.5</a:t>
            </a:r>
            <a:endParaRPr lang="en-US" sz="10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-1648" r="-1648" t="0" b="0"/>
          <a:stretch/>
        </p:blipFill>
        <p:spPr>
          <a:xfrm>
            <a:off x="8585302" y="4497019"/>
            <a:ext cx="85954" cy="95098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9030614" y="4463186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10.0.50.20 (Web)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10671048" y="4463186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HTTPS/443</a:t>
            </a:r>
            <a:endParaRPr lang="en-US" sz="1000" dirty="0"/>
          </a:p>
        </p:txBody>
      </p:sp>
      <p:sp>
        <p:nvSpPr>
          <p:cNvPr id="61" name="Shape 45"/>
          <p:cNvSpPr/>
          <p:nvPr/>
        </p:nvSpPr>
        <p:spPr>
          <a:xfrm>
            <a:off x="6248095" y="4816145"/>
            <a:ext cx="5238598" cy="390449"/>
          </a:xfrm>
          <a:prstGeom prst="roundRect">
            <a:avLst>
              <a:gd name="adj" fmla="val 22848"/>
            </a:avLst>
          </a:prstGeom>
          <a:solidFill>
            <a:srgbClr val="FEF2F2"/>
          </a:solidFill>
          <a:ln/>
        </p:spPr>
      </p:sp>
      <p:sp>
        <p:nvSpPr>
          <p:cNvPr id="62" name="Shape 46"/>
          <p:cNvSpPr/>
          <p:nvPr/>
        </p:nvSpPr>
        <p:spPr>
          <a:xfrm>
            <a:off x="6248095" y="4816145"/>
            <a:ext cx="28346" cy="390449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372454" y="4927702"/>
            <a:ext cx="133502" cy="133502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6505956" y="493044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00" dirty="0"/>
          </a:p>
        </p:txBody>
      </p:sp>
      <p:sp>
        <p:nvSpPr>
          <p:cNvPr id="65" name="Text 48"/>
          <p:cNvSpPr txBox="1"/>
          <p:nvPr/>
        </p:nvSpPr>
        <p:spPr>
          <a:xfrm>
            <a:off x="7265822" y="4930445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192.168.10.5</a:t>
            </a:r>
            <a:endParaRPr lang="en-US" sz="1000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rcRect l="-1648" r="-1648" t="0" b="0"/>
          <a:stretch/>
        </p:blipFill>
        <p:spPr>
          <a:xfrm>
            <a:off x="8665769" y="4963363"/>
            <a:ext cx="85954" cy="95098"/>
          </a:xfrm>
          <a:prstGeom prst="rect">
            <a:avLst/>
          </a:prstGeom>
        </p:spPr>
      </p:pic>
      <p:sp>
        <p:nvSpPr>
          <p:cNvPr id="67" name="Text 49"/>
          <p:cNvSpPr txBox="1"/>
          <p:nvPr/>
        </p:nvSpPr>
        <p:spPr>
          <a:xfrm>
            <a:off x="9191549" y="4930445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10.0.50.20 (Web)</a:t>
            </a:r>
            <a:endParaRPr lang="en-US" sz="1000" dirty="0"/>
          </a:p>
        </p:txBody>
      </p:sp>
      <p:sp>
        <p:nvSpPr>
          <p:cNvPr id="68" name="Text 50"/>
          <p:cNvSpPr txBox="1"/>
          <p:nvPr/>
        </p:nvSpPr>
        <p:spPr>
          <a:xfrm>
            <a:off x="10911535" y="4930445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SSH/22</a:t>
            </a:r>
            <a:endParaRPr lang="en-US" sz="1000" dirty="0"/>
          </a:p>
        </p:txBody>
      </p:sp>
      <p:sp>
        <p:nvSpPr>
          <p:cNvPr id="69" name="Shape 51"/>
          <p:cNvSpPr/>
          <p:nvPr/>
        </p:nvSpPr>
        <p:spPr>
          <a:xfrm>
            <a:off x="6248095" y="5282489"/>
            <a:ext cx="5238598" cy="409651"/>
          </a:xfrm>
          <a:prstGeom prst="roundRect">
            <a:avLst>
              <a:gd name="adj" fmla="val 207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52"/>
          <p:cNvSpPr txBox="1"/>
          <p:nvPr/>
        </p:nvSpPr>
        <p:spPr>
          <a:xfrm>
            <a:off x="7987284" y="5405933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45 more events ...</a:t>
            </a:r>
            <a:endParaRPr lang="en-US" sz="1000" dirty="0"/>
          </a:p>
        </p:txBody>
      </p:sp>
      <p:sp>
        <p:nvSpPr>
          <p:cNvPr id="71" name="Shape 53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54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3" name="Text 55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4" name="Text 56"/>
          <p:cNvSpPr txBox="1"/>
          <p:nvPr/>
        </p:nvSpPr>
        <p:spPr>
          <a:xfrm>
            <a:off x="11462004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60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8911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Zones: Definition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37723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Areas that group systems with similar trust levels.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4634179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where network traffic can flow freely vs. restricted.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22691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43631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388766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770071"/>
            <a:ext cx="46917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Organizes security controls based on specific risk.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4413809"/>
            <a:ext cx="444398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low-trust systems from accessing critical assets.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5352898"/>
            <a:ext cx="5238598" cy="1686154"/>
          </a:xfrm>
          <a:prstGeom prst="roundRect">
            <a:avLst>
              <a:gd name="adj" fmla="val 245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556229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5514746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896051"/>
            <a:ext cx="47393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are tagged with source and destination zones.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6539789"/>
            <a:ext cx="4653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filters logs by "Zone" to spot context.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662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ZONE MAP &amp; EVENT TAGS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24498" y="1866290"/>
            <a:ext cx="4286707" cy="590702"/>
          </a:xfrm>
          <a:prstGeom prst="roundRect">
            <a:avLst>
              <a:gd name="adj" fmla="val 1997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24498" y="1866290"/>
            <a:ext cx="57607" cy="59070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6489" r="-16489" t="0" b="0"/>
          <a:stretch/>
        </p:blipFill>
        <p:spPr>
          <a:xfrm>
            <a:off x="6972300" y="2073859"/>
            <a:ext cx="228600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95998" y="2030882"/>
            <a:ext cx="18342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(Untrusted)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530791" y="2018995"/>
            <a:ext cx="1295705" cy="286207"/>
          </a:xfrm>
          <a:prstGeom prst="roundRect">
            <a:avLst>
              <a:gd name="adj" fmla="val 4259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30791" y="2018995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9749333" y="2066544"/>
            <a:ext cx="1065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zone=External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96528" y="2604211"/>
            <a:ext cx="142646" cy="19019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724498" y="2947111"/>
            <a:ext cx="4286707" cy="590702"/>
          </a:xfrm>
          <a:prstGeom prst="roundRect">
            <a:avLst>
              <a:gd name="adj" fmla="val 19974"/>
            </a:avLst>
          </a:prstGeom>
          <a:solidFill>
            <a:srgbClr val="FFFBEB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724498" y="2947111"/>
            <a:ext cx="57607" cy="59070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16489" r="-16489" t="0" b="0"/>
          <a:stretch/>
        </p:blipFill>
        <p:spPr>
          <a:xfrm>
            <a:off x="6972300" y="3154680"/>
            <a:ext cx="228600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95998" y="3111703"/>
            <a:ext cx="18342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(Semi-Trusted)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9902038" y="3099816"/>
            <a:ext cx="923544" cy="286207"/>
          </a:xfrm>
          <a:prstGeom prst="roundRect">
            <a:avLst>
              <a:gd name="adj" fmla="val 4259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902038" y="3099816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10121494" y="3147365"/>
            <a:ext cx="6931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zone=DMZ</a:t>
            </a:r>
            <a:endParaRPr lang="en-US" sz="9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96528" y="3685946"/>
            <a:ext cx="142646" cy="19019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6724498" y="4028846"/>
            <a:ext cx="4286707" cy="590702"/>
          </a:xfrm>
          <a:prstGeom prst="roundRect">
            <a:avLst>
              <a:gd name="adj" fmla="val 1997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724498" y="4028846"/>
            <a:ext cx="57607" cy="5907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-3192" r="-3192" t="0" b="0"/>
          <a:stretch/>
        </p:blipFill>
        <p:spPr>
          <a:xfrm>
            <a:off x="6972300" y="4235501"/>
            <a:ext cx="228600" cy="17190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295998" y="4192524"/>
            <a:ext cx="15956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(Trusted)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9530791" y="4180637"/>
            <a:ext cx="1295705" cy="286207"/>
          </a:xfrm>
          <a:prstGeom prst="roundRect">
            <a:avLst>
              <a:gd name="adj" fmla="val 4259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530791" y="4180637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9749333" y="4229100"/>
            <a:ext cx="10652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zone=Internal</a:t>
            </a:r>
            <a:endParaRPr lang="en-US" sz="9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837" r="-837" t="0" b="0"/>
          <a:stretch/>
        </p:blipFill>
        <p:spPr>
          <a:xfrm>
            <a:off x="6975043" y="4869180"/>
            <a:ext cx="152705" cy="1335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203643" y="4852721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7325258" y="4852721"/>
            <a:ext cx="35387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log entry carries a "Zone" tag, instantly telling analysts the risk level of the traffic source.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3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11434572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60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3296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Zone: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463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organization’s private, trusted network.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310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employee devices and data reside.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4396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critical assets from public internet.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881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sensitive internal operations.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4415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East-West (internal) traffic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4310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Watching for lateral movement anomalies.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701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EAST-WEST TRAFFIC VISUALIZATION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71209" y="2274113"/>
            <a:ext cx="4800600" cy="1809598"/>
          </a:xfrm>
          <a:prstGeom prst="roundRect">
            <a:avLst>
              <a:gd name="adj" fmla="val 3191"/>
            </a:avLst>
          </a:prstGeom>
          <a:solidFill>
            <a:srgbClr val="EFF6FF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90665" y="2169871"/>
            <a:ext cx="1962302" cy="276149"/>
          </a:xfrm>
          <a:prstGeom prst="roundRect">
            <a:avLst>
              <a:gd name="adj" fmla="val 45672"/>
            </a:avLst>
          </a:prstGeom>
          <a:solidFill>
            <a:srgbClr val="3B82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804965" y="2226564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TRUSTED ZONE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3733" y="3483864"/>
            <a:ext cx="381305" cy="38130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745882" y="3026664"/>
            <a:ext cx="5806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823606" y="2798064"/>
            <a:ext cx="5148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Flow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437522" y="3026664"/>
            <a:ext cx="5806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521647" y="2798064"/>
            <a:ext cx="4956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716268" y="4331513"/>
            <a:ext cx="44055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stays within the perimeter boundaries. This is known as East-West traffic.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1433658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60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908292" y="2683764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90" r="-90" t="0" b="0"/>
          <a:stretch/>
        </p:blipFill>
        <p:spPr>
          <a:xfrm>
            <a:off x="7050938" y="2864815"/>
            <a:ext cx="381305" cy="30449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880860" y="3465576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546897" y="2683764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27034" y="2864815"/>
            <a:ext cx="304495" cy="3044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465515" y="3465576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Server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10172700" y="2683764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-107" r="-107" t="0" b="0"/>
          <a:stretch/>
        </p:blipFill>
        <p:spPr>
          <a:xfrm>
            <a:off x="10372039" y="2864815"/>
            <a:ext cx="267005" cy="30449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157155" y="3465576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38148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Zone: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672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services with limited trust.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091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Public-facing servers (Web, Mail, DNS).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7965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between Internal and Internet.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4653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direct external attacks on core data.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139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access and service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700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traffic crossing boundaries.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3119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SEGMENTATION ARCHITECTURE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191756" y="3226918"/>
            <a:ext cx="1009498" cy="384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8143646" y="3188513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72554" y="3188513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534449" y="3226918"/>
            <a:ext cx="1009498" cy="384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2"/>
          <p:cNvSpPr/>
          <p:nvPr/>
        </p:nvSpPr>
        <p:spPr>
          <a:xfrm>
            <a:off x="10487254" y="3188513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515246" y="3188513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94399" y="5027371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547104" y="4999025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Zone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616038" y="5027371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768742" y="4999025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Semi-Trusted Zone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026957" y="5027371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9179662" y="4999025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Zone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10393070" y="4999025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Boundary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60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048756" y="2617013"/>
            <a:ext cx="1143000" cy="12573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7551" y="2855671"/>
            <a:ext cx="304495" cy="30449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362395" y="334121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397142" y="3569818"/>
            <a:ext cx="5239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8201254" y="2579522"/>
            <a:ext cx="1333195" cy="1333195"/>
          </a:xfrm>
          <a:prstGeom prst="roundRect">
            <a:avLst>
              <a:gd name="adj" fmla="val 391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15146" y="2784348"/>
            <a:ext cx="304495" cy="30449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713318" y="3269894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8566099" y="3498494"/>
            <a:ext cx="685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Semi-Trusted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8621878" y="3641141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(Web/Mail)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10543946" y="2545690"/>
            <a:ext cx="1143000" cy="1399946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10925251" y="2784348"/>
            <a:ext cx="381305" cy="30449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865815" y="3269894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10944454" y="3498494"/>
            <a:ext cx="4197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endParaRPr lang="en-US" sz="800" dirty="0"/>
          </a:p>
        </p:txBody>
      </p:sp>
      <p:sp>
        <p:nvSpPr>
          <p:cNvPr id="53" name="Text 45"/>
          <p:cNvSpPr txBox="1"/>
          <p:nvPr/>
        </p:nvSpPr>
        <p:spPr>
          <a:xfrm>
            <a:off x="10828325" y="3641141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(Users/Data)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7543800" y="3017520"/>
            <a:ext cx="304495" cy="457200"/>
          </a:xfrm>
          <a:prstGeom prst="roundRect">
            <a:avLst>
              <a:gd name="adj" fmla="val 37538"/>
            </a:avLst>
          </a:prstGeom>
          <a:solidFill>
            <a:srgbClr val="1E293B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-21172" r="-21172" t="0" b="0"/>
          <a:stretch/>
        </p:blipFill>
        <p:spPr>
          <a:xfrm>
            <a:off x="7601407" y="3170225"/>
            <a:ext cx="190195" cy="152705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9887407" y="3017520"/>
            <a:ext cx="304495" cy="457200"/>
          </a:xfrm>
          <a:prstGeom prst="roundRect">
            <a:avLst>
              <a:gd name="adj" fmla="val 37538"/>
            </a:avLst>
          </a:prstGeom>
          <a:solidFill>
            <a:srgbClr val="1E293B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-21172" r="-21172" t="0" b="0"/>
          <a:stretch/>
        </p:blipFill>
        <p:spPr>
          <a:xfrm>
            <a:off x="9944100" y="3170225"/>
            <a:ext cx="190195" cy="152705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10126066" y="4979822"/>
            <a:ext cx="152705" cy="190195"/>
          </a:xfrm>
          <a:prstGeom prst="roundRect">
            <a:avLst>
              <a:gd name="adj" fmla="val 149700"/>
            </a:avLst>
          </a:prstGeom>
          <a:solidFill>
            <a:srgbClr val="1E293B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10158984" y="5027371"/>
            <a:ext cx="85954" cy="950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Zone: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public Internet (untrusted).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510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network outside your control.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396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exposure and variability.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329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most random attacks.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339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edge perimeter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376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external threat trends.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882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ANALYSIS: INTERNET TO EDGE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91640"/>
            <a:ext cx="5639105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6307531" y="2255825"/>
            <a:ext cx="761695" cy="6099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48095" y="2922422"/>
            <a:ext cx="1191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Internet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509967" y="2674620"/>
            <a:ext cx="2657246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1"/>
          <p:cNvSpPr/>
          <p:nvPr/>
        </p:nvSpPr>
        <p:spPr>
          <a:xfrm>
            <a:off x="7729423" y="2638044"/>
            <a:ext cx="95098" cy="95098"/>
          </a:xfrm>
          <a:prstGeom prst="ellipse">
            <a:avLst/>
          </a:prstGeom>
          <a:solidFill>
            <a:srgbClr val="EF4444">
              <a:alpha val="73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8255203" y="2632558"/>
            <a:ext cx="105156" cy="105156"/>
          </a:xfrm>
          <a:prstGeom prst="ellipse">
            <a:avLst/>
          </a:prstGeom>
          <a:solidFill>
            <a:srgbClr val="22C55E">
              <a:alpha val="9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8791956" y="2638044"/>
            <a:ext cx="95098" cy="95098"/>
          </a:xfrm>
          <a:prstGeom prst="ellipse">
            <a:avLst/>
          </a:prstGeom>
          <a:solidFill>
            <a:srgbClr val="EF4444">
              <a:alpha val="73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9317736" y="2632558"/>
            <a:ext cx="105156" cy="105156"/>
          </a:xfrm>
          <a:prstGeom prst="ellipse">
            <a:avLst/>
          </a:prstGeom>
          <a:solidFill>
            <a:srgbClr val="EAB308">
              <a:alpha val="97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9849002" y="2632558"/>
            <a:ext cx="105156" cy="105156"/>
          </a:xfrm>
          <a:prstGeom prst="ellipse">
            <a:avLst/>
          </a:prstGeom>
          <a:solidFill>
            <a:srgbClr val="22C55E">
              <a:alpha val="95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92994" y="233172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356494" y="2845613"/>
            <a:ext cx="1248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Edge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048756" y="3905402"/>
            <a:ext cx="2719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EVENTS (EDGE FIREWALL)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48756" y="4352544"/>
            <a:ext cx="5639105" cy="1333195"/>
          </a:xfrm>
          <a:prstGeom prst="roundRect">
            <a:avLst>
              <a:gd name="adj" fmla="val 2939"/>
            </a:avLst>
          </a:prstGeom>
          <a:solidFill>
            <a:srgbClr val="1E293B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163056" y="4486046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10:42:01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898234" y="4486046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203.0.113.45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353958" y="4486046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198.51.100.2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809683" y="4486046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[BLOCKED]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6163056" y="4743907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10:42:03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898234" y="47439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198.51.100.8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353958" y="47439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198.51.100.2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809683" y="4743907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[ALLOWED]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6163056" y="5000854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10:42:05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6898234" y="5000854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45.33.22.11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8273491" y="5000854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198.51.100.2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9729216" y="5000854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[BLOCKED]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6163056" y="5257800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10:42:08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6898234" y="5257800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8.8.8.8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7953451" y="5257800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198.51.100.2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9409176" y="5257800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[ALLOWED]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5704942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1436401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60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3605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Flow Basics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4762195" cy="2038198"/>
          </a:xfrm>
          <a:prstGeom prst="roundRect">
            <a:avLst>
              <a:gd name="adj" fmla="val 16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80573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connection journey from Source to Destination.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363724"/>
            <a:ext cx="381487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packets follow specific network paths.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322015"/>
            <a:ext cx="4762195" cy="2038198"/>
          </a:xfrm>
          <a:prstGeom prst="roundRect">
            <a:avLst>
              <a:gd name="adj" fmla="val 16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356981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352226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921862"/>
            <a:ext cx="37773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distinguish authorized paths from suspicious ones.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4584802"/>
            <a:ext cx="390083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verify connectivity for business apps.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5543093"/>
            <a:ext cx="4762195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504749" y="5790895"/>
            <a:ext cx="21945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5743346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 this?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6142939"/>
            <a:ext cx="3948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Flow Records (NetFlow/IPFIX).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6513271"/>
            <a:ext cx="2996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timelines in SIEM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372100" y="1100938"/>
            <a:ext cx="6515100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72354" y="1281989"/>
            <a:ext cx="2224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CONNECTION PATH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039051" y="1962302"/>
            <a:ext cx="780898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439351" y="1962302"/>
            <a:ext cx="780898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5609844" y="3242462"/>
            <a:ext cx="6038698" cy="1181405"/>
          </a:xfrm>
          <a:prstGeom prst="roundRect">
            <a:avLst>
              <a:gd name="adj" fmla="val 37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772607" y="3642970"/>
            <a:ext cx="5715000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5772607" y="3439973"/>
            <a:ext cx="105156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876849" y="3423514"/>
            <a:ext cx="2129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Sample Flow Record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772607" y="3728009"/>
            <a:ext cx="5715000" cy="533095"/>
          </a:xfrm>
          <a:prstGeom prst="roundRect">
            <a:avLst>
              <a:gd name="adj" fmla="val 12252"/>
            </a:avLst>
          </a:prstGeom>
          <a:solidFill>
            <a:srgbClr val="F3F4F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867705" y="3823106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5867705" y="3984955"/>
            <a:ext cx="8028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10:42:05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162495" y="3823106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7162495" y="3984955"/>
            <a:ext cx="11457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8801100" y="3823106"/>
            <a:ext cx="4864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 IP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8801100" y="3984955"/>
            <a:ext cx="8028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10095890" y="3823106"/>
            <a:ext cx="3145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10095890" y="3984955"/>
            <a:ext cx="3739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10962742" y="3823106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10962742" y="3984955"/>
            <a:ext cx="5458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1432743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60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848502" y="1624889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-90" r="-90" t="0" b="0"/>
          <a:stretch/>
        </p:blipFill>
        <p:spPr>
          <a:xfrm>
            <a:off x="6038698" y="1853489"/>
            <a:ext cx="381305" cy="30449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932627" y="2530145"/>
            <a:ext cx="728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5746090" y="2787091"/>
            <a:ext cx="10716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(Initiator)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8248802" y="1624889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8438998" y="1853489"/>
            <a:ext cx="381305" cy="30449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439912" y="2530145"/>
            <a:ext cx="5102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8065008" y="2787091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443 (HTTPS)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10649102" y="1624889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877702" y="1853489"/>
            <a:ext cx="304495" cy="30449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0550347" y="2530145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10660990" y="2787091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Server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4534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North-South Traffic: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4558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moving vertically: Internal ↔ Internet.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3320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Entering or leaving the network.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298277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3053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controls apply here.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424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path for external threats.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6177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956" y="45701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2777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perimeter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firewall allow/deny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FLOW ORIENTATION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91856" y="3093415"/>
            <a:ext cx="571500" cy="209398"/>
          </a:xfrm>
          <a:prstGeom prst="roundRect">
            <a:avLst>
              <a:gd name="adj" fmla="val 79396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48549" y="3121762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8256118" y="2998318"/>
            <a:ext cx="38405" cy="114300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8199425" y="4102913"/>
            <a:ext cx="152705" cy="114300"/>
          </a:xfrm>
          <a:prstGeom prst="rect">
            <a:avLst/>
          </a:prstGeom>
          <a:noFill/>
          <a:ln w="152400">
            <a:solidFill>
              <a:srgbClr val="EF444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27541" y="3836822"/>
            <a:ext cx="666598" cy="209398"/>
          </a:xfrm>
          <a:prstGeom prst="roundRect">
            <a:avLst>
              <a:gd name="adj" fmla="val 79396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184234" y="386516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Outbound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440266" y="2998318"/>
            <a:ext cx="38405" cy="114300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9383573" y="2922422"/>
            <a:ext cx="152705" cy="114300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7067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1440058" y="6238951"/>
            <a:ext cx="547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60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03466" y="3569818"/>
            <a:ext cx="4334256" cy="283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1"/>
          <p:cNvSpPr/>
          <p:nvPr/>
        </p:nvSpPr>
        <p:spPr>
          <a:xfrm>
            <a:off x="6894576" y="1520647"/>
            <a:ext cx="3952951" cy="1104595"/>
          </a:xfrm>
          <a:prstGeom prst="roundRect">
            <a:avLst>
              <a:gd name="adj" fmla="val 5709"/>
            </a:avLst>
          </a:prstGeom>
          <a:solidFill>
            <a:srgbClr val="EEF2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81644" y="1691640"/>
            <a:ext cx="571500" cy="4572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005572" y="2243938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(INTERNET)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8030261" y="3393338"/>
            <a:ext cx="1676095" cy="352044"/>
          </a:xfrm>
          <a:prstGeom prst="roundRect">
            <a:avLst>
              <a:gd name="adj" fmla="val 1404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82051" y="3503066"/>
            <a:ext cx="133502" cy="13350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392363" y="3470148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Firewall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894576" y="4514393"/>
            <a:ext cx="3952951" cy="952805"/>
          </a:xfrm>
          <a:prstGeom prst="roundRect">
            <a:avLst>
              <a:gd name="adj" fmla="val 7678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8429854" y="4686300"/>
            <a:ext cx="381305" cy="30449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01354" y="4686300"/>
            <a:ext cx="304495" cy="30449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068666" y="5085893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NETWORK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0630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East-West Traffic: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686154"/>
          </a:xfrm>
          <a:prstGeom prst="roundRect">
            <a:avLst>
              <a:gd name="adj" fmla="val 245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12943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moving laterally between internal systems.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4843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Server-to-server or workstation-to-server flow.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933395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14279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09524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476549"/>
            <a:ext cx="4776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for multi-tier applications to function.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826764"/>
            <a:ext cx="4053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less visible than perimeter traffic.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472330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682642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635094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015484"/>
            <a:ext cx="4282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IPS/IDS sensors and firewall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365699"/>
            <a:ext cx="4453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Detection (EDR) and flow records.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719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MOVEMENT VISUALIZATION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30391" y="1749247"/>
            <a:ext cx="5076749" cy="3076956"/>
          </a:xfrm>
          <a:prstGeom prst="roundRect">
            <a:avLst>
              <a:gd name="adj" fmla="val 1104"/>
            </a:avLst>
          </a:prstGeom>
          <a:solidFill>
            <a:srgbClr val="EFF6FF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39789" y="1634947"/>
            <a:ext cx="1752905" cy="2002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34886" y="1654150"/>
            <a:ext cx="1662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TRUST ZONE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7188098" y="5028286"/>
            <a:ext cx="3477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Flow: Traffic stays inside the perimeter.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433658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/ 60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155180" y="3093415"/>
            <a:ext cx="1114654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27"/>
          <p:cNvSpPr/>
          <p:nvPr/>
        </p:nvSpPr>
        <p:spPr>
          <a:xfrm>
            <a:off x="9472270" y="3093415"/>
            <a:ext cx="1114654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Shape 28"/>
          <p:cNvSpPr/>
          <p:nvPr/>
        </p:nvSpPr>
        <p:spPr>
          <a:xfrm>
            <a:off x="7109460" y="2717597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607" r="-607" t="0" b="0"/>
          <a:stretch/>
        </p:blipFill>
        <p:spPr>
          <a:xfrm>
            <a:off x="7262165" y="2907792"/>
            <a:ext cx="362102" cy="2862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018020" y="3498494"/>
            <a:ext cx="957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PC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220102" y="3688690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10.10.x.x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8534095" y="2717597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25205" y="2907792"/>
            <a:ext cx="286207" cy="286207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504834" y="3498494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Server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8628278" y="3688690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10.20.x.x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9958730" y="2717597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530" b="-530"/>
          <a:stretch/>
        </p:blipFill>
        <p:spPr>
          <a:xfrm>
            <a:off x="10169042" y="2907792"/>
            <a:ext cx="247802" cy="2862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987077" y="3498494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0054742" y="3688690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10.30.x.x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7709306" y="2922422"/>
            <a:ext cx="342900" cy="3429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7804404" y="3026664"/>
            <a:ext cx="152705" cy="13350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508138" y="2713025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7574890" y="2750515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Sensor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9683496" y="2922422"/>
            <a:ext cx="342900" cy="3429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-837" r="-837" t="0" b="0"/>
          <a:stretch/>
        </p:blipFill>
        <p:spPr>
          <a:xfrm>
            <a:off x="9778594" y="3026664"/>
            <a:ext cx="152705" cy="133502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9467698" y="2713025"/>
            <a:ext cx="780898" cy="2286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9534449" y="2750515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Int. Firewall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415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Boundaries and Enforcement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2510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separating zones.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2434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Checkpoints for traffic.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allowed crossings.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untrusted flows.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alerts and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081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allow/deny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CROSSING POINT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01384" y="3722522"/>
            <a:ext cx="4733849" cy="1067105"/>
          </a:xfrm>
          <a:prstGeom prst="roundRect">
            <a:avLst>
              <a:gd name="adj" fmla="val 4591"/>
            </a:avLst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6501384" y="3722522"/>
            <a:ext cx="38405" cy="10671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54089" y="3856025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0021824" y="385602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 Crossing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654089" y="4065422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9816084" y="4065422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10.0.1.5 (Internal)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54089" y="4274820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Dest: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9610344" y="4274820"/>
            <a:ext cx="1600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203.0.113.8 (External)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6654089" y="4484218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9747504" y="4484218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 (Policy_Web)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1432743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60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848649" y="2008022"/>
            <a:ext cx="38405" cy="1524305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12700" dir="16200000">
              <a:srgbClr val="f59e0b">
                <a:alpha val="4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211312" y="1721815"/>
            <a:ext cx="1314907" cy="267005"/>
          </a:xfrm>
          <a:prstGeom prst="roundRect">
            <a:avLst>
              <a:gd name="adj" fmla="val 14677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334756" y="1779422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BOUNDARY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501384" y="2198218"/>
            <a:ext cx="1524305" cy="1143000"/>
          </a:xfrm>
          <a:prstGeom prst="roundRect">
            <a:avLst>
              <a:gd name="adj" fmla="val 5333"/>
            </a:avLst>
          </a:prstGeom>
          <a:solidFill>
            <a:srgbClr val="E0E7FF"/>
          </a:solidFill>
          <a:ln w="25400">
            <a:solidFill>
              <a:srgbClr val="6366F1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7072884" y="2465222"/>
            <a:ext cx="381305" cy="30449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983273" y="2864815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9710014" y="2198218"/>
            <a:ext cx="1524305" cy="11430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319004" y="2465222"/>
            <a:ext cx="304495" cy="3044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168128" y="2864815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8676742" y="2579522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81898" y="2683764"/>
            <a:ext cx="171907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2437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Firewall: Purpose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device that controls allowed traffic.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boundaries between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7197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unauthorized access requests.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2900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critical traffic flows.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3967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"Allowed" vs "Denied"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663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blocked traffic spikes.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367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AT TRUST BOUNDARY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15100" y="257495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79185" y="2917850"/>
            <a:ext cx="8055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05802" y="2821838"/>
            <a:ext cx="952805" cy="2834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0"/>
          <p:cNvSpPr/>
          <p:nvPr/>
        </p:nvSpPr>
        <p:spPr>
          <a:xfrm>
            <a:off x="9677095" y="2821838"/>
            <a:ext cx="952805" cy="2834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0963656" y="2574950"/>
            <a:ext cx="2862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72546" y="2917850"/>
            <a:ext cx="776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30391" y="3694176"/>
            <a:ext cx="2467051" cy="12573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6453835" y="3826764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 TRAFFIC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5200" b="-25200"/>
          <a:stretch/>
        </p:blipFill>
        <p:spPr>
          <a:xfrm>
            <a:off x="8553298" y="3817620"/>
            <a:ext cx="114300" cy="171907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453835" y="4065422"/>
            <a:ext cx="2219249" cy="761695"/>
          </a:xfrm>
          <a:prstGeom prst="roundRect">
            <a:avLst>
              <a:gd name="adj" fmla="val 6002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520586" y="4151376"/>
            <a:ext cx="9646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10:42:05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6520586" y="4307738"/>
            <a:ext cx="1155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192.168.1.50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6520586" y="4465015"/>
            <a:ext cx="841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8.8.8.8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6520586" y="4622292"/>
            <a:ext cx="897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ALLOW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8943746" y="3694176"/>
            <a:ext cx="2467051" cy="12573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9068105" y="3826764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TRAFFIC</a:t>
            </a:r>
            <a:endParaRPr lang="en-US" sz="9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5200" b="-25200"/>
          <a:stretch/>
        </p:blipFill>
        <p:spPr>
          <a:xfrm>
            <a:off x="11166653" y="3817620"/>
            <a:ext cx="114300" cy="171907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9068105" y="4065422"/>
            <a:ext cx="2219249" cy="761695"/>
          </a:xfrm>
          <a:prstGeom prst="roundRect">
            <a:avLst>
              <a:gd name="adj" fmla="val 6002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9133942" y="4151376"/>
            <a:ext cx="9646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10:42:12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9133942" y="4307738"/>
            <a:ext cx="1155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 203.0.113.88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9133942" y="4465015"/>
            <a:ext cx="897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 10.0.0.5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9133942" y="4622292"/>
            <a:ext cx="841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DENY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11430914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60</a:t>
            </a:r>
            <a:endParaRPr lang="en-US" sz="10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rcRect l="-3600" r="-3600" t="0" b="0"/>
          <a:stretch/>
        </p:blipFill>
        <p:spPr>
          <a:xfrm>
            <a:off x="8438998" y="2264969"/>
            <a:ext cx="857707" cy="9144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535010" y="3255264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8539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Placement: Conceptual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0535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placed strategically at network boundaries.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47393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Located at the perimeter and between internal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22691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43631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388766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770071"/>
            <a:ext cx="432968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inspect critical traffic flows before they enter.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4413809"/>
            <a:ext cx="46442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security policies apply to every zone crossing.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535289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556229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5514746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896051"/>
            <a:ext cx="4748479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aggregated logs from multiple firewall locations.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6539789"/>
            <a:ext cx="44156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Correlating "Perimeter" vs. "Internal" block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10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PLACEMENT DIAGRAM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858707" y="2598725"/>
            <a:ext cx="19202" cy="3813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8858707" y="4007815"/>
            <a:ext cx="19202" cy="3813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716829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1460175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/ 60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63156" y="1760220"/>
            <a:ext cx="38103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29246" y="1893722"/>
            <a:ext cx="381305" cy="381305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34402" y="1997964"/>
            <a:ext cx="171907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724851" y="1902866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(External)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724851" y="2122322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Public Network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963156" y="3170225"/>
            <a:ext cx="38103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229246" y="3302813"/>
            <a:ext cx="381305" cy="381305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34402" y="3407969"/>
            <a:ext cx="171907" cy="17190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724851" y="3312871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(Buffer)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7724851" y="3531413"/>
            <a:ext cx="1334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Public-Facing Services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963156" y="4579315"/>
            <a:ext cx="3810305" cy="647395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229246" y="4712818"/>
            <a:ext cx="381305" cy="381305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7310628" y="4817974"/>
            <a:ext cx="219456" cy="17190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24851" y="4722876"/>
            <a:ext cx="1362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Network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7724851" y="4941418"/>
            <a:ext cx="1505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Employees &amp; Data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8272577" y="2512771"/>
            <a:ext cx="1190549" cy="552298"/>
          </a:xfrm>
          <a:prstGeom prst="roundRect">
            <a:avLst>
              <a:gd name="adj" fmla="val 17127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43570" y="2722169"/>
            <a:ext cx="133502" cy="133502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653882" y="2607869"/>
            <a:ext cx="7388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FW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342071" y="3922776"/>
            <a:ext cx="1057046" cy="552298"/>
          </a:xfrm>
          <a:prstGeom prst="roundRect">
            <a:avLst>
              <a:gd name="adj" fmla="val 17127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13064" y="4132174"/>
            <a:ext cx="133502" cy="13350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723376" y="4017874"/>
            <a:ext cx="6053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FW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0054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vs IPS: Difference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639105" cy="3952951"/>
          </a:xfrm>
          <a:prstGeom prst="roundRect">
            <a:avLst>
              <a:gd name="adj" fmla="val 669"/>
            </a:avLst>
          </a:prstGeom>
          <a:solidFill>
            <a:srgbClr val="F9FAFB"/>
          </a:solidFill>
          <a:ln w="762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76" b="-476"/>
          <a:stretch/>
        </p:blipFill>
        <p:spPr>
          <a:xfrm>
            <a:off x="543154" y="1448410"/>
            <a:ext cx="276149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33602" y="1387145"/>
            <a:ext cx="31583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(Intrusion Detection)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929384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traffic copies ("Out-of-Band").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2337206"/>
            <a:ext cx="4301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alerts but cannot stop the flow.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3154" y="3381451"/>
            <a:ext cx="5162702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3653028"/>
            <a:ext cx="3886200" cy="38405"/>
          </a:xfrm>
          <a:prstGeom prst="roundRect">
            <a:avLst>
              <a:gd name="adj" fmla="val 1190470"/>
            </a:avLst>
          </a:prstGeom>
          <a:solidFill>
            <a:srgbClr val="94A3B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9998" y="3614623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14446" y="3767328"/>
            <a:ext cx="19202" cy="2862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328977" y="4562856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continues undisturbed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48095" y="1100938"/>
            <a:ext cx="5639105" cy="3952951"/>
          </a:xfrm>
          <a:prstGeom prst="roundRect">
            <a:avLst>
              <a:gd name="adj" fmla="val 669"/>
            </a:avLst>
          </a:prstGeom>
          <a:solidFill>
            <a:srgbClr val="F9FAFB"/>
          </a:solidFill>
          <a:ln w="762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6754" y="1448410"/>
            <a:ext cx="247802" cy="2478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848856" y="1387145"/>
            <a:ext cx="32726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 (Intrusion Prevention)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6752844" y="1929384"/>
            <a:ext cx="3262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Sits in the traffic path ("Inline").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752844" y="2337206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blocks malicious packets.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86754" y="3381451"/>
            <a:ext cx="5162702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38798" y="4076395"/>
            <a:ext cx="1800454" cy="38405"/>
          </a:xfrm>
          <a:prstGeom prst="roundRect">
            <a:avLst>
              <a:gd name="adj" fmla="val 1190470"/>
            </a:avLst>
          </a:prstGeom>
          <a:solidFill>
            <a:srgbClr val="FCA5A5"/>
          </a:solidFill>
          <a:ln/>
        </p:spPr>
      </p:sp>
      <p:sp>
        <p:nvSpPr>
          <p:cNvPr id="23" name="Shape 19"/>
          <p:cNvSpPr/>
          <p:nvPr/>
        </p:nvSpPr>
        <p:spPr>
          <a:xfrm>
            <a:off x="8619134" y="4038905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21063" y="4076395"/>
            <a:ext cx="1800454" cy="38405"/>
          </a:xfrm>
          <a:prstGeom prst="roundRect">
            <a:avLst>
              <a:gd name="adj" fmla="val 1190470"/>
            </a:avLst>
          </a:prstGeom>
          <a:solidFill>
            <a:srgbClr val="86EFAC"/>
          </a:solidFill>
          <a:ln/>
        </p:spPr>
      </p:sp>
      <p:sp>
        <p:nvSpPr>
          <p:cNvPr id="25" name="Shape 21"/>
          <p:cNvSpPr/>
          <p:nvPr/>
        </p:nvSpPr>
        <p:spPr>
          <a:xfrm>
            <a:off x="11201400" y="4038905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6351" y="3807562"/>
            <a:ext cx="133502" cy="13350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29854" y="3791102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277149" y="4562856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stopped before entry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04495" y="5277002"/>
            <a:ext cx="11582705" cy="609905"/>
          </a:xfrm>
          <a:prstGeom prst="roundRect">
            <a:avLst>
              <a:gd name="adj" fmla="val 1874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543154" y="5495544"/>
            <a:ext cx="190195" cy="1719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09244" y="5453482"/>
            <a:ext cx="1634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2540203" y="5467198"/>
            <a:ext cx="8439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generates investigation alerts (noise potential). IPS generates block logs (action taken).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1433658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/ 60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828239" y="4052621"/>
            <a:ext cx="599846" cy="523951"/>
          </a:xfrm>
          <a:prstGeom prst="roundRect">
            <a:avLst>
              <a:gd name="adj" fmla="val 19039"/>
            </a:avLst>
          </a:prstGeom>
          <a:solidFill>
            <a:srgbClr val="F1F5F9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047695" y="4147718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2961742" y="4347972"/>
            <a:ext cx="409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2916022" y="3881628"/>
            <a:ext cx="580644" cy="247802"/>
          </a:xfrm>
          <a:prstGeom prst="roundRect">
            <a:avLst>
              <a:gd name="adj" fmla="val 170310"/>
            </a:avLst>
          </a:prstGeom>
          <a:solidFill>
            <a:srgbClr val="FEE2E2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991917" y="3943807"/>
            <a:ext cx="114300" cy="1143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106217" y="3929177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Alert!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8810244" y="3834079"/>
            <a:ext cx="523951" cy="523951"/>
          </a:xfrm>
          <a:prstGeom prst="roundRect">
            <a:avLst>
              <a:gd name="adj" fmla="val 19039"/>
            </a:avLst>
          </a:prstGeom>
          <a:solidFill>
            <a:srgbClr val="F1F5F9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91295" y="3929177"/>
            <a:ext cx="152705" cy="152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942832" y="4129430"/>
            <a:ext cx="3337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2056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in Segmented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923898"/>
          </a:xfrm>
          <a:prstGeom prst="roundRect">
            <a:avLst>
              <a:gd name="adj" fmla="val 1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710989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that passively monitor network traffic copies.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455828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packets against signatures without blocking.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169310"/>
            <a:ext cx="5238598" cy="1923898"/>
          </a:xfrm>
          <a:prstGeom prst="roundRect">
            <a:avLst>
              <a:gd name="adj" fmla="val 1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379622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33207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712464"/>
            <a:ext cx="458663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suspicious patterns and known threat signatures.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4356202"/>
            <a:ext cx="43013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attacks crossing zone boundaries early.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5238598"/>
            <a:ext cx="5238598" cy="1628546"/>
          </a:xfrm>
          <a:prstGeom prst="roundRect">
            <a:avLst>
              <a:gd name="adj" fmla="val 262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544799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5400446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781751"/>
            <a:ext cx="40059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alerts tagged by source and destination zone.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6425489"/>
            <a:ext cx="4558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non-blocking detection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243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VISIBILITY ARCHITECTURE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53235"/>
            <a:ext cx="5639105" cy="1133856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68058" y="2077517"/>
            <a:ext cx="1666951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7284110" y="1886407"/>
            <a:ext cx="838505" cy="409651"/>
          </a:xfrm>
          <a:prstGeom prst="roundRect">
            <a:avLst>
              <a:gd name="adj" fmla="val 622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750" b="-1750"/>
          <a:stretch/>
        </p:blipFill>
        <p:spPr>
          <a:xfrm>
            <a:off x="7388352" y="2039112"/>
            <a:ext cx="114300" cy="1051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60259" y="1934870"/>
            <a:ext cx="5358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Sensor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690104" y="2296058"/>
            <a:ext cx="19202" cy="1901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3"/>
          <p:cNvSpPr/>
          <p:nvPr/>
        </p:nvSpPr>
        <p:spPr>
          <a:xfrm>
            <a:off x="9218066" y="2077517"/>
            <a:ext cx="1666951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4"/>
          <p:cNvSpPr/>
          <p:nvPr/>
        </p:nvSpPr>
        <p:spPr>
          <a:xfrm>
            <a:off x="9634118" y="1886407"/>
            <a:ext cx="838505" cy="409651"/>
          </a:xfrm>
          <a:prstGeom prst="roundRect">
            <a:avLst>
              <a:gd name="adj" fmla="val 622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750" b="-1750"/>
          <a:stretch/>
        </p:blipFill>
        <p:spPr>
          <a:xfrm>
            <a:off x="9739274" y="2039112"/>
            <a:ext cx="114300" cy="1051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910267" y="1934870"/>
            <a:ext cx="5358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Sensor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0041026" y="2296058"/>
            <a:ext cx="19202" cy="1901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7"/>
          <p:cNvSpPr/>
          <p:nvPr/>
        </p:nvSpPr>
        <p:spPr>
          <a:xfrm>
            <a:off x="6048756" y="3015691"/>
            <a:ext cx="5639105" cy="2676449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10605" y="3444545"/>
            <a:ext cx="5315407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-1358" r="-1358" t="0" b="0"/>
          <a:stretch/>
        </p:blipFill>
        <p:spPr>
          <a:xfrm>
            <a:off x="6210605" y="3202229"/>
            <a:ext cx="142646" cy="1234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353251" y="3186684"/>
            <a:ext cx="11503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IDS Alerts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0014509" y="3186684"/>
            <a:ext cx="5312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447020" y="3186684"/>
            <a:ext cx="11795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Monitoring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210605" y="3944722"/>
            <a:ext cx="5315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210605" y="3667658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10:42:01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972300" y="3667658"/>
            <a:ext cx="400507" cy="171907"/>
          </a:xfrm>
          <a:prstGeom prst="roundRect">
            <a:avLst>
              <a:gd name="adj" fmla="val 118203"/>
            </a:avLst>
          </a:prstGeom>
          <a:solidFill>
            <a:srgbClr val="FEE2E2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048195" y="3686861"/>
            <a:ext cx="3264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7925105" y="3677717"/>
            <a:ext cx="26270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WEB_SPECIFIC_APPS SQL Injection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11213287" y="3667658"/>
            <a:ext cx="4078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210605" y="4330598"/>
            <a:ext cx="5315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6210605" y="4053535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10:45:15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972300" y="4053535"/>
            <a:ext cx="400507" cy="171907"/>
          </a:xfrm>
          <a:prstGeom prst="roundRect">
            <a:avLst>
              <a:gd name="adj" fmla="val 118203"/>
            </a:avLst>
          </a:prstGeom>
          <a:solidFill>
            <a:srgbClr val="FEE2E2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7048195" y="4072738"/>
            <a:ext cx="3264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800" dirty="0"/>
          </a:p>
        </p:txBody>
      </p:sp>
      <p:sp>
        <p:nvSpPr>
          <p:cNvPr id="50" name="Text 42"/>
          <p:cNvSpPr txBox="1"/>
          <p:nvPr/>
        </p:nvSpPr>
        <p:spPr>
          <a:xfrm>
            <a:off x="7925105" y="4063594"/>
            <a:ext cx="21031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SCAN Potential Nmap Scan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11006633" y="4053535"/>
            <a:ext cx="6172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6210605" y="4439412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10:48:33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6972300" y="4439412"/>
            <a:ext cx="685800" cy="171907"/>
          </a:xfrm>
          <a:prstGeom prst="roundRect">
            <a:avLst>
              <a:gd name="adj" fmla="val 118203"/>
            </a:avLst>
          </a:prstGeom>
          <a:solidFill>
            <a:srgbClr val="DBEAFE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7048195" y="4458614"/>
            <a:ext cx="6126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7925105" y="4449470"/>
            <a:ext cx="26270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POLICY SMB2 Traffic - East/West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11228832" y="4439412"/>
            <a:ext cx="3977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11432743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/ 60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6271870" y="185348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05372" y="1986991"/>
            <a:ext cx="190195" cy="190195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6248095" y="2405786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4" name="Shape 55"/>
          <p:cNvSpPr/>
          <p:nvPr/>
        </p:nvSpPr>
        <p:spPr>
          <a:xfrm>
            <a:off x="8646566" y="185348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780069" y="1986991"/>
            <a:ext cx="190195" cy="190195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8721547" y="2405786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67" name="Shape 57"/>
          <p:cNvSpPr/>
          <p:nvPr/>
        </p:nvSpPr>
        <p:spPr>
          <a:xfrm>
            <a:off x="11013034" y="185348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122762" y="1986991"/>
            <a:ext cx="237744" cy="190195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996574" y="2405786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377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IPS in Segmented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967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device that sits directly in traffic.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624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Actively enforces "stop" decisions.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491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Stops harmful traffic immediately.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5387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attacks before they land.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948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IPS "Block" or "Drop"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4577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source IPs of dropped packets.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6246" y="1357884"/>
            <a:ext cx="2648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 ENFORCEMENT &amp; VISIBILITY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086246" y="1758391"/>
            <a:ext cx="5562295" cy="1248156"/>
          </a:xfrm>
          <a:prstGeom prst="roundRect">
            <a:avLst>
              <a:gd name="adj" fmla="val 44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52690" y="2362810"/>
            <a:ext cx="1000354" cy="38405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5" name="Shape 20"/>
          <p:cNvSpPr/>
          <p:nvPr/>
        </p:nvSpPr>
        <p:spPr>
          <a:xfrm>
            <a:off x="7352690" y="2134210"/>
            <a:ext cx="1000354" cy="418795"/>
          </a:xfrm>
          <a:prstGeom prst="roundRect">
            <a:avLst>
              <a:gd name="adj" fmla="val 19849"/>
            </a:avLst>
          </a:prstGeom>
          <a:solidFill>
            <a:srgbClr val="FEE2E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428586" y="2181758"/>
            <a:ext cx="6291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Payload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346997" y="2362810"/>
            <a:ext cx="1000354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3"/>
          <p:cNvSpPr/>
          <p:nvPr/>
        </p:nvSpPr>
        <p:spPr>
          <a:xfrm>
            <a:off x="9581998" y="2239366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9611258" y="2229307"/>
            <a:ext cx="228600" cy="30449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086246" y="3234233"/>
            <a:ext cx="5562295" cy="1666951"/>
          </a:xfrm>
          <a:prstGeom prst="roundRect">
            <a:avLst>
              <a:gd name="adj" fmla="val 18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238951" y="3634740"/>
            <a:ext cx="52578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38951" y="3406140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EVENT LOG (LIVE)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6238951" y="3739896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963156" y="3739896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2026-01-17 14:02:33 UTC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238951" y="3996842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963156" y="3996842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203.0.113.45 (External)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238951" y="4253789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Threat: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6963156" y="4253789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Injection Attempt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238951" y="451073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963156" y="4510735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/ DROPPED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7003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1429086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/ 60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505042" y="200619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6643116" y="2129638"/>
            <a:ext cx="200254" cy="22860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6286500" y="2577694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Source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8562442" y="1958645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5146" y="2110435"/>
            <a:ext cx="267005" cy="26700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503006" y="2625242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 (Inline)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10735056" y="200619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858500" y="2129638"/>
            <a:ext cx="228600" cy="228600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496398" y="2577694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Server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84344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 Firewall (WAF): Purpose Only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923898"/>
          </a:xfrm>
          <a:prstGeom prst="roundRect">
            <a:avLst>
              <a:gd name="adj" fmla="val 1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6155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firewall protecting web applications.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38441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Inspects HTTP/HTTPS traffic content specifically.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16931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379622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33207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712464"/>
            <a:ext cx="4776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risky web requests (e.g., SQL Injection).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4063594"/>
            <a:ext cx="4243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public-facing servers in the DMZ.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651553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86095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813402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194706"/>
            <a:ext cx="4062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WAF request and error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544922"/>
            <a:ext cx="4243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blocked application attacks.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729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 TRAFFIC FLOW &amp; LOG VISIBILITY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53235"/>
            <a:ext cx="5639105" cy="1705356"/>
          </a:xfrm>
          <a:prstGeom prst="roundRect">
            <a:avLst>
              <a:gd name="adj" fmla="val 1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72300" y="2493569"/>
            <a:ext cx="11905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9125712" y="2493569"/>
            <a:ext cx="1190549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1"/>
          <p:cNvSpPr/>
          <p:nvPr/>
        </p:nvSpPr>
        <p:spPr>
          <a:xfrm>
            <a:off x="6048756" y="3543300"/>
            <a:ext cx="5639105" cy="2143354"/>
          </a:xfrm>
          <a:prstGeom prst="roundRect">
            <a:avLst>
              <a:gd name="adj" fmla="val 1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10605" y="3982212"/>
            <a:ext cx="5315407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6210605" y="3740810"/>
            <a:ext cx="152705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62395" y="3724351"/>
            <a:ext cx="1377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WAF Events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1007547" y="3715207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View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10605" y="4448556"/>
            <a:ext cx="5315407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10605" y="4190695"/>
            <a:ext cx="3977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7423099" y="4190695"/>
            <a:ext cx="6647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IP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9195206" y="4190695"/>
            <a:ext cx="817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Type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0407701" y="4190695"/>
            <a:ext cx="4837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10605" y="4815230"/>
            <a:ext cx="5315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6210605" y="4552798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10:42:05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7423099" y="4562856"/>
            <a:ext cx="988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203.0.113.45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9195206" y="4552798"/>
            <a:ext cx="8933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10407701" y="4539082"/>
            <a:ext cx="619049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10464394" y="4567428"/>
            <a:ext cx="584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210605" y="5172761"/>
            <a:ext cx="53154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210605" y="4910328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10:42:08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7423099" y="4919472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198.51.100.12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195206" y="4910328"/>
            <a:ext cx="9509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Traffic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10407701" y="4895698"/>
            <a:ext cx="638251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10464394" y="4924044"/>
            <a:ext cx="6025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6210605" y="5266944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10:42:15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7423099" y="5277002"/>
            <a:ext cx="988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203.0.113.45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9195206" y="5266944"/>
            <a:ext cx="8549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XSS Attempt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10407701" y="5253228"/>
            <a:ext cx="619049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10464394" y="5281574"/>
            <a:ext cx="584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/ 60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248095" y="2079346"/>
            <a:ext cx="571500" cy="57150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20002" y="2250338"/>
            <a:ext cx="228600" cy="228600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6281928" y="2745943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8306410" y="2031797"/>
            <a:ext cx="666598" cy="666598"/>
          </a:xfrm>
          <a:prstGeom prst="ellipse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06663" y="2232050"/>
            <a:ext cx="267005" cy="267005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8488375" y="2793492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WAF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10687507" y="2079346"/>
            <a:ext cx="571500" cy="571500"/>
          </a:xfrm>
          <a:prstGeom prst="ellipse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858500" y="2250338"/>
            <a:ext cx="228600" cy="228600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10458907" y="2745943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 (DMZ)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672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DNS: Security Relevance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834079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Translates names (domain.com) to IP addresses.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363724"/>
            <a:ext cx="3434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"phonebook" of the internet.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028493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327629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3228746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629254"/>
            <a:ext cx="3405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Misuse can hide C2 or exfil data.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998671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need it to find their servers.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663440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911242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956" y="4863694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 this?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5263286"/>
            <a:ext cx="3758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query logs for bad domains.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632704"/>
            <a:ext cx="4205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high volumes or strange names.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RESOLUTION PATH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420356" y="2689250"/>
            <a:ext cx="685800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629546" y="2689250"/>
            <a:ext cx="685800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6364224" y="4453128"/>
            <a:ext cx="5009998" cy="857707"/>
          </a:xfrm>
          <a:prstGeom prst="roundRect">
            <a:avLst>
              <a:gd name="adj" fmla="val 71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64224" y="4453128"/>
            <a:ext cx="38405" cy="8577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516929" y="4586630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10:42:01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142378" y="4586630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7553858" y="4586630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malicious.com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8445398" y="4586630"/>
            <a:ext cx="20098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A (Client: 10.10.5.20)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6516929" y="4796028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10:42:01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142378" y="4796028"/>
            <a:ext cx="19431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RESP: 192.0.2.55 (TTL: 300)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16929" y="5005426"/>
            <a:ext cx="638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10:42:01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7142378" y="5005426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NOERROR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/ 60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324905" y="2308860"/>
            <a:ext cx="666598" cy="66659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1326" y="2509114"/>
            <a:ext cx="333756" cy="26700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439205" y="3108960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6323990" y="3346704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IP for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270041" y="3483864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malicious.com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8534095" y="2308860"/>
            <a:ext cx="666598" cy="66659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-685" r="-685" t="0" b="0"/>
          <a:stretch/>
        </p:blipFill>
        <p:spPr>
          <a:xfrm>
            <a:off x="8715146" y="2509114"/>
            <a:ext cx="304495" cy="2670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438083" y="3108960"/>
            <a:ext cx="981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Server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8450885" y="3346704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Resolves Name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8554212" y="3483864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Query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10744200" y="2308860"/>
            <a:ext cx="666598" cy="66659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10621" y="2509114"/>
            <a:ext cx="333756" cy="2670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651846" y="3108960"/>
            <a:ext cx="972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10751515" y="3346704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to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10799978" y="348386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192.0.2.55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9966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DNS Logs: What to Watch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466344" y="1310335"/>
            <a:ext cx="219456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596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Volume, unusual domains, or lookup failures.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291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of hostname resolution attempts.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682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Spikes indicate misuse or mistakes.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4301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domains may reveal malware C2.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4148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DNS dashboards &amp; query analysis.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4243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on "high entropy" or new domains.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701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VIEW: SAMPLE DNS QUERY LOG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15745"/>
            <a:ext cx="5639105" cy="2781605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57900" y="1624889"/>
            <a:ext cx="5619902" cy="3712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6057900" y="1986991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172200" y="173004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932981" y="1986991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047281" y="173004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291779" y="1986991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406079" y="1730045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NAME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10295230" y="1986991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10409530" y="173004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0801807" y="1986991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10916107" y="173004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057900" y="23829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172200" y="210129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14:02:11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932981" y="2382926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047281" y="210129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91779" y="2382926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406079" y="2101291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api.google.com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10295230" y="2382926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10409530" y="210129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10801807" y="23829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10916107" y="2101291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NOERROR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057900" y="2783434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172200" y="250088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14:02:12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932981" y="2783434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7047281" y="250088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8291779" y="2783434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406079" y="2500884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company-intranet.local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10295230" y="2783434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10409530" y="250088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10801807" y="2783434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10916107" y="250088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NOERROR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057900" y="2791663"/>
            <a:ext cx="5619902" cy="400507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6" name="Shape 51"/>
          <p:cNvSpPr/>
          <p:nvPr/>
        </p:nvSpPr>
        <p:spPr>
          <a:xfrm>
            <a:off x="6057900" y="31830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6172200" y="290139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14:02:15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6932981" y="3183026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7047281" y="290139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8291779" y="3183026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8406079" y="2901391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x8z-malware-c2.xyz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10295230" y="3183026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10409530" y="290139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10801807" y="31830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10916107" y="2901391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NOERROR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6057900" y="3583534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6172200" y="330098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14:02:18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6932981" y="3583534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7047281" y="3300984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192.168.10.102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8291779" y="3583534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8406079" y="3300984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update.microsoft.com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10295230" y="3583534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10409530" y="330098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10801807" y="3583534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70"/>
          <p:cNvSpPr txBox="1"/>
          <p:nvPr/>
        </p:nvSpPr>
        <p:spPr>
          <a:xfrm>
            <a:off x="10916107" y="330098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NOERROR</a:t>
            </a:r>
            <a:endParaRPr lang="en-US" sz="1000" dirty="0"/>
          </a:p>
        </p:txBody>
      </p:sp>
      <p:sp>
        <p:nvSpPr>
          <p:cNvPr id="76" name="Shape 71"/>
          <p:cNvSpPr/>
          <p:nvPr/>
        </p:nvSpPr>
        <p:spPr>
          <a:xfrm>
            <a:off x="6057900" y="39831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6172200" y="370149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14:02:22</a:t>
            </a:r>
            <a:endParaRPr lang="en-US" sz="1000" dirty="0"/>
          </a:p>
        </p:txBody>
      </p:sp>
      <p:sp>
        <p:nvSpPr>
          <p:cNvPr id="78" name="Shape 73"/>
          <p:cNvSpPr/>
          <p:nvPr/>
        </p:nvSpPr>
        <p:spPr>
          <a:xfrm>
            <a:off x="6932981" y="3983126"/>
            <a:ext cx="13624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7047281" y="370149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192.168.20.05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8291779" y="3983126"/>
            <a:ext cx="20098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6"/>
          <p:cNvSpPr txBox="1"/>
          <p:nvPr/>
        </p:nvSpPr>
        <p:spPr>
          <a:xfrm>
            <a:off x="8406079" y="3701491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typo-domian.com</a:t>
            </a:r>
            <a:endParaRPr lang="en-US" sz="1000" dirty="0"/>
          </a:p>
        </p:txBody>
      </p:sp>
      <p:sp>
        <p:nvSpPr>
          <p:cNvPr id="82" name="Shape 77"/>
          <p:cNvSpPr/>
          <p:nvPr/>
        </p:nvSpPr>
        <p:spPr>
          <a:xfrm>
            <a:off x="10295230" y="3983126"/>
            <a:ext cx="5148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10409530" y="370149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84" name="Shape 79"/>
          <p:cNvSpPr/>
          <p:nvPr/>
        </p:nvSpPr>
        <p:spPr>
          <a:xfrm>
            <a:off x="10801807" y="3983126"/>
            <a:ext cx="8759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0"/>
          <p:cNvSpPr txBox="1"/>
          <p:nvPr/>
        </p:nvSpPr>
        <p:spPr>
          <a:xfrm>
            <a:off x="10916107" y="370149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NXDOMAIN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6172200" y="410108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14:02:25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7047281" y="410108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8406079" y="410108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x8z-malware-c2.xyz</a:t>
            </a:r>
            <a:endParaRPr 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10409530" y="410108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10916107" y="410108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NOERROR</a:t>
            </a:r>
            <a:endParaRPr lang="en-US" sz="1000" dirty="0"/>
          </a:p>
        </p:txBody>
      </p:sp>
      <p:sp>
        <p:nvSpPr>
          <p:cNvPr id="91" name="Shape 86"/>
          <p:cNvSpPr/>
          <p:nvPr/>
        </p:nvSpPr>
        <p:spPr>
          <a:xfrm>
            <a:off x="6780276" y="4592117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2" name="Text 87"/>
          <p:cNvSpPr txBox="1"/>
          <p:nvPr/>
        </p:nvSpPr>
        <p:spPr>
          <a:xfrm>
            <a:off x="6970471" y="4568342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Domain (Anomaly)</a:t>
            </a:r>
            <a:endParaRPr lang="en-US" sz="1000" dirty="0"/>
          </a:p>
        </p:txBody>
      </p:sp>
      <p:sp>
        <p:nvSpPr>
          <p:cNvPr id="93" name="Shape 88"/>
          <p:cNvSpPr/>
          <p:nvPr/>
        </p:nvSpPr>
        <p:spPr>
          <a:xfrm>
            <a:off x="9010498" y="4592117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9201607" y="4568342"/>
            <a:ext cx="1862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Lookup (NXDOMAIN)</a:t>
            </a:r>
            <a:endParaRPr lang="en-US" sz="1000" dirty="0"/>
          </a:p>
        </p:txBody>
      </p:sp>
      <p:sp>
        <p:nvSpPr>
          <p:cNvPr id="95" name="Shape 9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Text 9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97" name="Text 92"/>
          <p:cNvSpPr txBox="1"/>
          <p:nvPr/>
        </p:nvSpPr>
        <p:spPr>
          <a:xfrm>
            <a:off x="570585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98" name="Text 93"/>
          <p:cNvSpPr txBox="1"/>
          <p:nvPr/>
        </p:nvSpPr>
        <p:spPr>
          <a:xfrm>
            <a:off x="11439144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/ 60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9295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DHCP: Security Relevance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237744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8505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34853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IP addresses to devices automatically.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363724"/>
            <a:ext cx="4272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network configuration centrally.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028493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327629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3228746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629254"/>
            <a:ext cx="3663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who used which address.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998671"/>
            <a:ext cx="3910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physical hardware (MAC) to IPs.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663440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911242"/>
            <a:ext cx="14264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3407" y="4863694"/>
            <a:ext cx="20098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uses this?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5263286"/>
            <a:ext cx="3529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DHCP lease logs for audit.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632704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IP activity to specific hosts.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6246" y="1357884"/>
            <a:ext cx="2100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PROCESS &amp; VISIBILITY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29246" y="2352751"/>
            <a:ext cx="10671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439351" y="2352751"/>
            <a:ext cx="10671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6364224" y="3728009"/>
            <a:ext cx="5009998" cy="1800454"/>
          </a:xfrm>
          <a:prstGeom prst="roundRect">
            <a:avLst>
              <a:gd name="adj" fmla="val 16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16929" y="3613709"/>
            <a:ext cx="1554480" cy="247802"/>
          </a:xfrm>
          <a:prstGeom prst="roundRect">
            <a:avLst>
              <a:gd name="adj" fmla="val 56770"/>
            </a:avLst>
          </a:prstGeom>
          <a:solidFill>
            <a:srgbClr val="2563EB"/>
          </a:solidFill>
          <a:ln/>
        </p:spPr>
      </p:sp>
      <p:sp>
        <p:nvSpPr>
          <p:cNvPr id="27" name="Shape 22"/>
          <p:cNvSpPr/>
          <p:nvPr/>
        </p:nvSpPr>
        <p:spPr>
          <a:xfrm>
            <a:off x="6564478" y="4271162"/>
            <a:ext cx="461040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564478" y="4013302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432950" y="4013302"/>
            <a:ext cx="1858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2026-01-17 09:14:22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564478" y="4623206"/>
            <a:ext cx="461040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564478" y="4366260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Address: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615830" y="4366260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AA:BB:CC:11:22:33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564478" y="4976165"/>
            <a:ext cx="461040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564478" y="4718304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 IP: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981590" y="4718304"/>
            <a:ext cx="1305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6564478" y="5071262"/>
            <a:ext cx="9436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Hostname: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9981590" y="5071262"/>
            <a:ext cx="1305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FIN-LAPTOP-04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/ 60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277356" y="2015338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6467551" y="2243938"/>
            <a:ext cx="381305" cy="304495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6230722" y="2920594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Request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278270" y="3177540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asks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8486546" y="2015338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15146" y="2243938"/>
            <a:ext cx="304495" cy="304495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477402" y="2920594"/>
            <a:ext cx="909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Assign</a:t>
            </a:r>
            <a:endParaRPr lang="en-US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8457286" y="3177540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offers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10696651" y="2015338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10906049" y="2243938"/>
            <a:ext cx="342900" cy="30449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728655" y="2920594"/>
            <a:ext cx="833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Lease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10595153" y="3177540"/>
            <a:ext cx="10716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created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0630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Logs: What to Watch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662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new or unknown devices appearing.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243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duplicate IP address conflicts.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986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unauthorized hardware access.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network availability conflicts.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4329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alerts for new MAC addresses.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948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lease history for anomalies.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29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LEASE EVENT LOG MONITOR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2098548"/>
            <a:ext cx="5562295" cy="2333549"/>
          </a:xfrm>
          <a:prstGeom prst="roundRect">
            <a:avLst>
              <a:gd name="adj" fmla="val 9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96305" y="2107692"/>
            <a:ext cx="5544007" cy="37124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6096305" y="2469794"/>
            <a:ext cx="5544007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210605" y="221284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972300" y="2212848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ADDR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8305495" y="2212848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9448495" y="2212848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0573207" y="2212848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096305" y="2860243"/>
            <a:ext cx="5544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210605" y="2576779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09:15:22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972300" y="2576779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A1:B2:C3:44:55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8305495" y="2576779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448495" y="2576779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HR-Laptop-01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0573207" y="2584094"/>
            <a:ext cx="448056" cy="181051"/>
          </a:xfrm>
          <a:prstGeom prst="roundRect">
            <a:avLst>
              <a:gd name="adj" fmla="val 318980"/>
            </a:avLst>
          </a:prstGeom>
          <a:solidFill>
            <a:srgbClr val="DCFCE7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10649102" y="2612441"/>
            <a:ext cx="3721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RENEW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096305" y="2870302"/>
            <a:ext cx="5544007" cy="390449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Shape 34"/>
          <p:cNvSpPr/>
          <p:nvPr/>
        </p:nvSpPr>
        <p:spPr>
          <a:xfrm>
            <a:off x="6096305" y="3251606"/>
            <a:ext cx="5544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210605" y="2967228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09:18:04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972300" y="2967228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D4:E5:F6:77:88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8305495" y="2967228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192.168.10.105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9448495" y="2967228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Unknown-Dev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10573207" y="2974543"/>
            <a:ext cx="562356" cy="181051"/>
          </a:xfrm>
          <a:prstGeom prst="roundRect">
            <a:avLst>
              <a:gd name="adj" fmla="val 318980"/>
            </a:avLst>
          </a:prstGeom>
          <a:solidFill>
            <a:srgbClr val="FEF9C3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10649102" y="3002890"/>
            <a:ext cx="4864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DEV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6096305" y="3642055"/>
            <a:ext cx="5544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210605" y="3357677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09:19:30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972300" y="3357677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B2:C3:D4:55:66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8305495" y="3357677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192.168.10.46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9448495" y="3357677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IT-Admin-PC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10573207" y="3364992"/>
            <a:ext cx="333756" cy="181051"/>
          </a:xfrm>
          <a:prstGeom prst="roundRect">
            <a:avLst>
              <a:gd name="adj" fmla="val 318980"/>
            </a:avLst>
          </a:prstGeom>
          <a:solidFill>
            <a:srgbClr val="DCFCE7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10649102" y="3393338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6096305" y="3651199"/>
            <a:ext cx="5544007" cy="390449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4" name="Shape 49"/>
          <p:cNvSpPr/>
          <p:nvPr/>
        </p:nvSpPr>
        <p:spPr>
          <a:xfrm>
            <a:off x="6096305" y="4032504"/>
            <a:ext cx="5544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6210605" y="3748126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09:22:15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6972300" y="3748126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11:22:33:44:55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8305495" y="3748126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192.168.10.45</a:t>
            </a:r>
            <a:endParaRPr lang="en-US" sz="900" dirty="0"/>
          </a:p>
        </p:txBody>
      </p:sp>
      <p:sp>
        <p:nvSpPr>
          <p:cNvPr id="58" name="Text 53"/>
          <p:cNvSpPr txBox="1"/>
          <p:nvPr/>
        </p:nvSpPr>
        <p:spPr>
          <a:xfrm>
            <a:off x="9448495" y="3748126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MKT-Tab-09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10573207" y="3755441"/>
            <a:ext cx="619049" cy="181051"/>
          </a:xfrm>
          <a:prstGeom prst="roundRect">
            <a:avLst>
              <a:gd name="adj" fmla="val 318980"/>
            </a:avLst>
          </a:prstGeom>
          <a:solidFill>
            <a:srgbClr val="FEE2E2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10649102" y="3784702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6096305" y="4041648"/>
            <a:ext cx="5544007" cy="38130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2" name="Text 57"/>
          <p:cNvSpPr txBox="1"/>
          <p:nvPr/>
        </p:nvSpPr>
        <p:spPr>
          <a:xfrm>
            <a:off x="6210605" y="4139489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09:45:10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6972300" y="4139489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99:88:77:66:55</a:t>
            </a:r>
            <a:endParaRPr lang="en-US" sz="900" dirty="0"/>
          </a:p>
        </p:txBody>
      </p:sp>
      <p:sp>
        <p:nvSpPr>
          <p:cNvPr id="64" name="Text 59"/>
          <p:cNvSpPr txBox="1"/>
          <p:nvPr/>
        </p:nvSpPr>
        <p:spPr>
          <a:xfrm>
            <a:off x="8305495" y="4139489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192.168.20.200</a:t>
            </a:r>
            <a:endParaRPr lang="en-US" sz="900" dirty="0"/>
          </a:p>
        </p:txBody>
      </p:sp>
      <p:sp>
        <p:nvSpPr>
          <p:cNvPr id="65" name="Text 60"/>
          <p:cNvSpPr txBox="1"/>
          <p:nvPr/>
        </p:nvSpPr>
        <p:spPr>
          <a:xfrm>
            <a:off x="9448495" y="4139489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Kali-Linux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10573207" y="4145890"/>
            <a:ext cx="448056" cy="181051"/>
          </a:xfrm>
          <a:prstGeom prst="roundRect">
            <a:avLst>
              <a:gd name="adj" fmla="val 318980"/>
            </a:avLst>
          </a:prstGeom>
          <a:solidFill>
            <a:srgbClr val="FEE2E2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10649102" y="4175150"/>
            <a:ext cx="3721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ROGUE</a:t>
            </a:r>
            <a:endParaRPr lang="en-US" sz="800" dirty="0"/>
          </a:p>
        </p:txBody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0586" y="4620463"/>
            <a:ext cx="133502" cy="133502"/>
          </a:xfrm>
          <a:prstGeom prst="rect">
            <a:avLst/>
          </a:prstGeom>
        </p:spPr>
      </p:pic>
      <p:sp>
        <p:nvSpPr>
          <p:cNvPr id="69" name="Text 63"/>
          <p:cNvSpPr txBox="1"/>
          <p:nvPr/>
        </p:nvSpPr>
        <p:spPr>
          <a:xfrm>
            <a:off x="6730898" y="4603090"/>
            <a:ext cx="45866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analysts investigate "New Device" and "Conflict" events to ensure only authorized hardware connects to the network.</a:t>
            </a:r>
            <a:endParaRPr lang="en-US" sz="1000" dirty="0"/>
          </a:p>
        </p:txBody>
      </p:sp>
      <p:sp>
        <p:nvSpPr>
          <p:cNvPr id="70" name="Shape 6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1" name="Text 6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2" name="Text 66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/ 60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6533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NTP: Security Relevance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4329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that synchronizes system clocks.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4167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consistent time across network.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298277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3253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it, logs don't match up.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767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for correlation and evidence.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504749" y="4617720"/>
            <a:ext cx="21945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45701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3415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NTP status and sync drift.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4129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timestamps during investigations.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281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SYNCHRONIZATION PATH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29246" y="2581351"/>
            <a:ext cx="10671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439351" y="2581351"/>
            <a:ext cx="1067105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6364224" y="4242816"/>
            <a:ext cx="5009998" cy="733349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6636715" y="4414723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55334" y="4631436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88836" y="4633265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Synced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981798" y="4414723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OFFSET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7802575" y="4633265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+0.002 sec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314078" y="4414723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STRATUM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9237269" y="4633265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(Valid)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0591495" y="4414723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POLL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619842" y="463326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64s ago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5699455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1427257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/ 60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277356" y="22018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-50" r="-50" t="0" b="0"/>
          <a:stretch/>
        </p:blipFill>
        <p:spPr>
          <a:xfrm>
            <a:off x="6486754" y="2430475"/>
            <a:ext cx="342900" cy="30449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283757" y="3144622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6289243" y="3401568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Clock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486546" y="22018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8677656" y="2430475"/>
            <a:ext cx="381305" cy="3044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410651" y="3144622"/>
            <a:ext cx="1053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NTP Query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8609990" y="340156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123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10696651" y="22018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925251" y="2430475"/>
            <a:ext cx="304495" cy="30449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0567721" y="3144622"/>
            <a:ext cx="1148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Server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10617098" y="340156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Source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0633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Alignment in Investigations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4720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timestamps across all system logs.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44915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events happen in the correct order.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298277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4272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accurate incident reconstruction.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confusion during correlation.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5238598" cy="1742846"/>
          </a:xfrm>
          <a:prstGeom prst="roundRect">
            <a:avLst>
              <a:gd name="adj" fmla="val 229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6177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956" y="45701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3824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times across multiple tools.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416783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sequence: Connect → Query → Execute.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48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 MULTI-SOURCE TIMELINE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610551" y="3164738"/>
            <a:ext cx="400507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724644" y="3164738"/>
            <a:ext cx="400507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715914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1459261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/ 60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308446" y="3669487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Log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164885" y="3907231"/>
            <a:ext cx="12746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 connection allowed on port 443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372454" y="27733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41034" y="2706624"/>
            <a:ext cx="629107" cy="209398"/>
          </a:xfrm>
          <a:prstGeom prst="roundRect">
            <a:avLst>
              <a:gd name="adj" fmla="val 198491"/>
            </a:avLst>
          </a:prstGeom>
          <a:solidFill>
            <a:srgbClr val="1E293B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516929" y="2735885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14:00:01</a:t>
            </a:r>
            <a:endParaRPr lang="en-US" sz="9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6562649" y="3001975"/>
            <a:ext cx="381305" cy="3044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548726" y="3669487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Log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268005" y="3907231"/>
            <a:ext cx="12938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for malicious-site.com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8486546" y="27733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543239" y="2706624"/>
            <a:ext cx="657454" cy="209398"/>
          </a:xfrm>
          <a:prstGeom prst="roundRect">
            <a:avLst>
              <a:gd name="adj" fmla="val 198491"/>
            </a:avLst>
          </a:prstGeom>
          <a:solidFill>
            <a:srgbClr val="1E293B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619134" y="2735885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14:00:03</a:t>
            </a:r>
            <a:endParaRPr lang="en-US" sz="9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15146" y="3001975"/>
            <a:ext cx="304495" cy="30449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493654" y="3669487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Log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0412273" y="3907231"/>
            <a:ext cx="12362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process execution detected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10601554" y="2773375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10659161" y="2706624"/>
            <a:ext cx="647395" cy="209398"/>
          </a:xfrm>
          <a:prstGeom prst="roundRect">
            <a:avLst>
              <a:gd name="adj" fmla="val 198491"/>
            </a:avLst>
          </a:prstGeom>
          <a:solidFill>
            <a:srgbClr val="1E293B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10735056" y="2735885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14:00:05</a:t>
            </a:r>
            <a:endParaRPr lang="en-US" sz="9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-90" r="-90" t="0" b="0"/>
          <a:stretch/>
        </p:blipFill>
        <p:spPr>
          <a:xfrm>
            <a:off x="10791749" y="3001975"/>
            <a:ext cx="381305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8254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vs Authorization: Concepts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639105" cy="3666744"/>
          </a:xfrm>
          <a:prstGeom prst="roundRect">
            <a:avLst>
              <a:gd name="adj" fmla="val 777"/>
            </a:avLst>
          </a:prstGeom>
          <a:solidFill>
            <a:srgbClr val="F9FAFB"/>
          </a:solidFill>
          <a:ln w="762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775" r="-775" t="0" b="0"/>
          <a:stretch/>
        </p:blipFill>
        <p:spPr>
          <a:xfrm>
            <a:off x="543154" y="1448410"/>
            <a:ext cx="314554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2007" y="1387145"/>
            <a:ext cx="30056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(AuthN)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939442"/>
            <a:ext cx="3186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the identity of the user.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2368296"/>
            <a:ext cx="4338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Answers: “Who are you?” (e.g., ID Badge).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3154" y="3191256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30" b="-530"/>
          <a:stretch/>
        </p:blipFill>
        <p:spPr>
          <a:xfrm>
            <a:off x="1849831" y="3576218"/>
            <a:ext cx="247802" cy="2862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1485" y="3957523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2315261" y="3762756"/>
            <a:ext cx="171907" cy="190195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607" r="-607" t="0" b="0"/>
          <a:stretch/>
        </p:blipFill>
        <p:spPr>
          <a:xfrm>
            <a:off x="2758745" y="3547872"/>
            <a:ext cx="390449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677363" y="3985870"/>
            <a:ext cx="662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ID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3421685" y="3762756"/>
            <a:ext cx="171907" cy="19019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33749" y="3547872"/>
            <a:ext cx="342900" cy="3429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783787" y="3985870"/>
            <a:ext cx="7479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Pass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2730398" y="4276649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Gate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6248095" y="1100938"/>
            <a:ext cx="5639105" cy="3666744"/>
          </a:xfrm>
          <a:prstGeom prst="roundRect">
            <a:avLst>
              <a:gd name="adj" fmla="val 777"/>
            </a:avLst>
          </a:prstGeom>
          <a:solidFill>
            <a:srgbClr val="F9FAFB"/>
          </a:solidFill>
          <a:ln w="762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86754" y="1448410"/>
            <a:ext cx="247802" cy="2478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848856" y="1387145"/>
            <a:ext cx="284378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 (AuthZ)</a:t>
            </a:r>
            <a:endParaRPr lang="en-US" sz="1900" dirty="0"/>
          </a:p>
        </p:txBody>
      </p:sp>
      <p:sp>
        <p:nvSpPr>
          <p:cNvPr id="24" name="Text 15"/>
          <p:cNvSpPr txBox="1"/>
          <p:nvPr/>
        </p:nvSpPr>
        <p:spPr>
          <a:xfrm>
            <a:off x="6752844" y="1939442"/>
            <a:ext cx="4272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Grants specific permissions to resources.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6752844" y="2368296"/>
            <a:ext cx="4586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Answers: “What can you open?” (e.g., Keys).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6486754" y="3191256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-607" r="-607" t="0" b="0"/>
          <a:stretch/>
        </p:blipFill>
        <p:spPr>
          <a:xfrm>
            <a:off x="7500823" y="3576218"/>
            <a:ext cx="362102" cy="28620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297826" y="3957523"/>
            <a:ext cx="872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Auth'd User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8255203" y="3762756"/>
            <a:ext cx="171907" cy="190195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841334" y="3547872"/>
            <a:ext cx="342900" cy="3429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617306" y="3985870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9598457" y="3762756"/>
            <a:ext cx="171907" cy="190195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-607" r="-607" t="0" b="0"/>
          <a:stretch/>
        </p:blipFill>
        <p:spPr>
          <a:xfrm>
            <a:off x="10203790" y="3547872"/>
            <a:ext cx="390449" cy="3429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9960559" y="3985870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Access</a:t>
            </a:r>
            <a:endParaRPr lang="en-US" sz="1000" dirty="0"/>
          </a:p>
        </p:txBody>
      </p:sp>
      <p:sp>
        <p:nvSpPr>
          <p:cNvPr id="35" name="Text 21"/>
          <p:cNvSpPr txBox="1"/>
          <p:nvPr/>
        </p:nvSpPr>
        <p:spPr>
          <a:xfrm>
            <a:off x="8671255" y="4276649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Doors</a:t>
            </a:r>
            <a:endParaRPr lang="en-US" sz="900" dirty="0"/>
          </a:p>
        </p:txBody>
      </p:sp>
      <p:sp>
        <p:nvSpPr>
          <p:cNvPr id="36" name="Shape 22"/>
          <p:cNvSpPr/>
          <p:nvPr/>
        </p:nvSpPr>
        <p:spPr>
          <a:xfrm>
            <a:off x="304495" y="4990795"/>
            <a:ext cx="11582705" cy="895198"/>
          </a:xfrm>
          <a:prstGeom prst="roundRect">
            <a:avLst>
              <a:gd name="adj" fmla="val 86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543154" y="5352898"/>
            <a:ext cx="190195" cy="171907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809244" y="5309921"/>
            <a:ext cx="1634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9" name="Text 24"/>
          <p:cNvSpPr txBox="1"/>
          <p:nvPr/>
        </p:nvSpPr>
        <p:spPr>
          <a:xfrm>
            <a:off x="2540203" y="5181905"/>
            <a:ext cx="91156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distinguish between "Login Success" (Identity verified) and "Access Denied" (Permission refused) logs.</a:t>
            </a:r>
            <a:endParaRPr lang="en-US" sz="1500" dirty="0"/>
          </a:p>
        </p:txBody>
      </p:sp>
      <p:sp>
        <p:nvSpPr>
          <p:cNvPr id="40" name="Shape 2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2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5701284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3" name="Text 28"/>
          <p:cNvSpPr txBox="1"/>
          <p:nvPr/>
        </p:nvSpPr>
        <p:spPr>
          <a:xfrm>
            <a:off x="11430000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/ 60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4913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Authentication: Observation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2500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Logins, tokens, failures.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186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vs. failed attempts.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Indicate misuse attempts.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2786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user identity claims.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072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provider dashboards.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2595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failure spikes.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320394"/>
            <a:ext cx="2815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PROVIDER (IDP) DASHBOARD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615745"/>
            <a:ext cx="2743200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72200" y="1748333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Logins (24h)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172200" y="1986991"/>
            <a:ext cx="9720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8,452</a:t>
            </a:r>
            <a:endParaRPr lang="en-US" sz="2100" dirty="0"/>
          </a:p>
        </p:txBody>
      </p:sp>
      <p:sp>
        <p:nvSpPr>
          <p:cNvPr id="26" name="Shape 21"/>
          <p:cNvSpPr/>
          <p:nvPr/>
        </p:nvSpPr>
        <p:spPr>
          <a:xfrm>
            <a:off x="8943746" y="1615745"/>
            <a:ext cx="2743200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068105" y="1748333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Attempts (24h)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9068105" y="1986991"/>
            <a:ext cx="6766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</a:t>
            </a: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6048756" y="2625242"/>
            <a:ext cx="5639105" cy="2115007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2" r="-12" t="0" b="0"/>
          <a:stretch/>
        </p:blipFill>
        <p:spPr>
          <a:xfrm>
            <a:off x="6152998" y="2729484"/>
            <a:ext cx="5429707" cy="190469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048756" y="4892040"/>
            <a:ext cx="5639105" cy="1114654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057900" y="4901184"/>
            <a:ext cx="2190902" cy="3337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27"/>
          <p:cNvSpPr/>
          <p:nvPr/>
        </p:nvSpPr>
        <p:spPr>
          <a:xfrm>
            <a:off x="6057900" y="5225796"/>
            <a:ext cx="21909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172200" y="4987138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Principal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245145" y="4901184"/>
            <a:ext cx="1343254" cy="3337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0"/>
          <p:cNvSpPr/>
          <p:nvPr/>
        </p:nvSpPr>
        <p:spPr>
          <a:xfrm>
            <a:off x="8245145" y="5225796"/>
            <a:ext cx="13432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359445" y="4987138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582912" y="4901184"/>
            <a:ext cx="905256" cy="3337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3"/>
          <p:cNvSpPr/>
          <p:nvPr/>
        </p:nvSpPr>
        <p:spPr>
          <a:xfrm>
            <a:off x="9582912" y="5225796"/>
            <a:ext cx="9052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9697212" y="4987138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10483596" y="4901184"/>
            <a:ext cx="1200607" cy="3337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36"/>
          <p:cNvSpPr/>
          <p:nvPr/>
        </p:nvSpPr>
        <p:spPr>
          <a:xfrm>
            <a:off x="10483596" y="5225796"/>
            <a:ext cx="12006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10597896" y="4987138"/>
            <a:ext cx="362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057900" y="5554980"/>
            <a:ext cx="2190902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172200" y="5320894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j.doe@company.com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8245145" y="5554980"/>
            <a:ext cx="13432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8359445" y="5320894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London, UK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9582912" y="5554980"/>
            <a:ext cx="9052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9697212" y="532089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10483596" y="5554980"/>
            <a:ext cx="12006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10597896" y="5320894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10:42:05 AM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057900" y="5887822"/>
            <a:ext cx="2190902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6172200" y="5653735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admin_svc@company.com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8245145" y="5887822"/>
            <a:ext cx="13432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8359445" y="5653735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/ Tor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9582912" y="5887822"/>
            <a:ext cx="9052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9697212" y="5653735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10483596" y="5887822"/>
            <a:ext cx="12006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10597896" y="5653735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10:41:58 AM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6057900" y="6221578"/>
            <a:ext cx="2190902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6172200" y="5987491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m.smith@company.com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8245145" y="6221578"/>
            <a:ext cx="13432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57"/>
          <p:cNvSpPr txBox="1"/>
          <p:nvPr/>
        </p:nvSpPr>
        <p:spPr>
          <a:xfrm>
            <a:off x="8359445" y="5987491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York, US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9582912" y="6221578"/>
            <a:ext cx="905256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9697212" y="5987491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10483596" y="6221578"/>
            <a:ext cx="1200607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10597896" y="5987491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10:41:12 AM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0" name="Text 64"/>
          <p:cNvSpPr txBox="1"/>
          <p:nvPr/>
        </p:nvSpPr>
        <p:spPr>
          <a:xfrm>
            <a:off x="57003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1" name="Text 65"/>
          <p:cNvSpPr txBox="1"/>
          <p:nvPr/>
        </p:nvSpPr>
        <p:spPr>
          <a:xfrm>
            <a:off x="11429086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/ 60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Authorization: Observation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548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showing access decisions and denials.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234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of "Yes/No" policy enforcement.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596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segmentation is working.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unauthorized lateral movement.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policy decision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615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denied access attempts.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310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DECISION DASHBOARD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972361"/>
            <a:ext cx="2686507" cy="1819656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6248095" y="2167128"/>
            <a:ext cx="105156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9944" y="2134210"/>
            <a:ext cx="9674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Zone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248095" y="2687422"/>
            <a:ext cx="23618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248095" y="2429561"/>
            <a:ext cx="1643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Access Policies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248095" y="2824582"/>
            <a:ext cx="7315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Server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941564" y="2809951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017459" y="2839212"/>
            <a:ext cx="6025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6248095" y="3096158"/>
            <a:ext cx="8650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Database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071409" y="3081528"/>
            <a:ext cx="543154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147304" y="3110789"/>
            <a:ext cx="470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6248095" y="3367735"/>
            <a:ext cx="8549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Service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941564" y="3353105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017459" y="3381451"/>
            <a:ext cx="6025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8962949" y="1972361"/>
            <a:ext cx="2686507" cy="1819656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24798" y="2167128"/>
            <a:ext cx="133502" cy="13350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315907" y="2134210"/>
            <a:ext cx="776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Zone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9124798" y="2687422"/>
            <a:ext cx="23618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9124798" y="2429561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Requests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124798" y="2824582"/>
            <a:ext cx="7507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Portal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10818266" y="2809951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10894162" y="2839212"/>
            <a:ext cx="6025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9124798" y="3096158"/>
            <a:ext cx="9985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Console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0948111" y="3081528"/>
            <a:ext cx="543154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11024006" y="3110789"/>
            <a:ext cx="470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9124798" y="3367735"/>
            <a:ext cx="8458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10818266" y="3353105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10894162" y="3381451"/>
            <a:ext cx="6025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6086246" y="3976726"/>
            <a:ext cx="5562295" cy="1228954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48095" y="4172407"/>
            <a:ext cx="133502" cy="133502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6439205" y="4139489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Denials (Last Hour)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6248095" y="4654296"/>
            <a:ext cx="52385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6248095" y="4429354"/>
            <a:ext cx="1503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Dev-Laptop-04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8727034" y="4429354"/>
            <a:ext cx="11311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Dest: Prod-DB-01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10839298" y="4415638"/>
            <a:ext cx="657454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10915193" y="4443984"/>
            <a:ext cx="584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6248095" y="4786884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Guest-Wifi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8509406" y="4786884"/>
            <a:ext cx="1283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Dest: Internal-Share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10838383" y="4772254"/>
            <a:ext cx="657454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10915193" y="4800600"/>
            <a:ext cx="584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5698541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11424514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/ 60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9113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Access Control (NAC): Awareness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605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which devices can join the network.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4167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Gatekeeper for Wi-Fi and physical ports.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4853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basic security posture (e.g., updates).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4463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unauthorized or unknown hardware.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329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NAC admission logs.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4500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repeated failed access events.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615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ADMISSION PROCESS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086600" y="2370125"/>
            <a:ext cx="1209751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439351" y="2370125"/>
            <a:ext cx="1209751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6086246" y="3552444"/>
            <a:ext cx="5562295" cy="2095805"/>
          </a:xfrm>
          <a:prstGeom prst="roundRect">
            <a:avLst>
              <a:gd name="adj" fmla="val 11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38951" y="3933749"/>
            <a:ext cx="52578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38951" y="3724351"/>
            <a:ext cx="20866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EVENT: NAC_ADMISSION_RESPONSE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189159" y="3724351"/>
            <a:ext cx="14008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TIMESTAMP: 14:02:55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38951" y="4353458"/>
            <a:ext cx="52578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238951" y="4134002"/>
            <a:ext cx="6720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Device: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8525866" y="4134002"/>
            <a:ext cx="30723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Workstation-Fin-04 (MAC: AA:BB:CC...)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238951" y="4734763"/>
            <a:ext cx="52578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238951" y="4515307"/>
            <a:ext cx="6720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Health: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8846820" y="4515307"/>
            <a:ext cx="27578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Compliant (OS Patched, AV Active)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238951" y="5116068"/>
            <a:ext cx="52578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238951" y="48956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User: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0131552" y="4895698"/>
            <a:ext cx="14721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j.doe@company.com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6238951" y="5277002"/>
            <a:ext cx="6720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Action: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8365846" y="5277002"/>
            <a:ext cx="32342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PERMIT ACCESS (Assigned Network Access)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/ 60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277356" y="1807769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3777" y="2008022"/>
            <a:ext cx="333756" cy="267005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305702" y="2569464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6388913" y="2769718"/>
            <a:ext cx="547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438998" y="1712671"/>
            <a:ext cx="857707" cy="857707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-27" r="-27" t="0" b="0"/>
          <a:stretch/>
        </p:blipFill>
        <p:spPr>
          <a:xfrm>
            <a:off x="8653882" y="1969618"/>
            <a:ext cx="428854" cy="3429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8673084" y="2665476"/>
            <a:ext cx="4910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8661197" y="2864815"/>
            <a:ext cx="519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10791749" y="1807769"/>
            <a:ext cx="666598" cy="6665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58170" y="2008022"/>
            <a:ext cx="333756" cy="267005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0799978" y="2569464"/>
            <a:ext cx="758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10849356" y="2769718"/>
            <a:ext cx="652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8629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+ Access: Working Together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981505"/>
          </a:xfrm>
          <a:prstGeom prst="roundRect">
            <a:avLst>
              <a:gd name="adj" fmla="val 17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86242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user identity with network boundaries.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2287829"/>
            <a:ext cx="40059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validates "who"; Segmentation validates "where".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322691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343631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3388766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770071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exposure if one control fails.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4120286"/>
            <a:ext cx="4405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only authorized roles cross zones.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76585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97525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927702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5309006"/>
            <a:ext cx="4282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Correlating login events with traffic flows.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659222"/>
            <a:ext cx="4224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Checking if identity matches zone policy.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DECISION FLOW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9829" y="2569464"/>
            <a:ext cx="694944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8570671" y="2569464"/>
            <a:ext cx="694944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10174529" y="2569464"/>
            <a:ext cx="694944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1"/>
          <p:cNvSpPr/>
          <p:nvPr/>
        </p:nvSpPr>
        <p:spPr>
          <a:xfrm>
            <a:off x="6086246" y="3560674"/>
            <a:ext cx="5562295" cy="1257300"/>
          </a:xfrm>
          <a:prstGeom prst="roundRect">
            <a:avLst>
              <a:gd name="adj" fmla="val 3306"/>
            </a:avLst>
          </a:prstGeom>
          <a:solidFill>
            <a:srgbClr val="1E293B"/>
          </a:solidFill>
          <a:ln/>
        </p:spPr>
      </p:sp>
      <p:sp>
        <p:nvSpPr>
          <p:cNvPr id="27" name="Shape 22"/>
          <p:cNvSpPr/>
          <p:nvPr/>
        </p:nvSpPr>
        <p:spPr>
          <a:xfrm>
            <a:off x="6086246" y="3560674"/>
            <a:ext cx="38405" cy="1257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277356" y="3731666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191756" y="3731666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2026-01-17 14:05:22 UTC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277356" y="3970325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6791249" y="3970325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alice.smith (IT_Admin)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277356" y="4208069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7031736" y="4208069"/>
            <a:ext cx="33101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(10.10.x.x) → DMZ (192.168.x.x)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277356" y="4445813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7111289" y="4445813"/>
            <a:ext cx="24249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 (Policy: Admin_to_DMZ)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7003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1428171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/ 60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091733" y="2169871"/>
            <a:ext cx="609905" cy="6099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6311189" y="2360066"/>
            <a:ext cx="171907" cy="2286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086246" y="2874874"/>
            <a:ext cx="7287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Identity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143854" y="3074213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755026" y="2169871"/>
            <a:ext cx="609905" cy="6099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7974482" y="2360066"/>
            <a:ext cx="171907" cy="22860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7775143" y="2874874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7701077" y="3074213"/>
            <a:ext cx="824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9411919" y="2169871"/>
            <a:ext cx="609905" cy="6099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9574682" y="2360066"/>
            <a:ext cx="286207" cy="22860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9451238" y="2874874"/>
            <a:ext cx="633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Cross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9552737" y="3074213"/>
            <a:ext cx="433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11027664" y="2169871"/>
            <a:ext cx="609905" cy="609905"/>
          </a:xfrm>
          <a:prstGeom prst="ellipse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11232490" y="2360066"/>
            <a:ext cx="200254" cy="2286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1015777" y="2874874"/>
            <a:ext cx="738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Access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11073384" y="3074213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Granted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48911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Network Logs Matter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624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act as evidence of all activity.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396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timestamped record of events.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583180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792578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745029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26334"/>
            <a:ext cx="35862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explain exactly what happened.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476549"/>
            <a:ext cx="3044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scope of an incident.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065422"/>
            <a:ext cx="5238598" cy="1333195"/>
          </a:xfrm>
          <a:prstGeom prst="roundRect">
            <a:avLst>
              <a:gd name="adj" fmla="val 3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2748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2272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607662"/>
            <a:ext cx="2548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SIEM views.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4958791"/>
            <a:ext cx="3596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Correlating events across sources.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957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INCIDENT OVERVIEW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48756" y="1529791"/>
            <a:ext cx="5639105" cy="133319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72200" y="1796796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Volume (Last 24h)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04297" y="1810512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18597" y="1796796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Spike Detected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172200" y="2596896"/>
            <a:ext cx="539130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2"/>
          <p:cNvSpPr/>
          <p:nvPr/>
        </p:nvSpPr>
        <p:spPr>
          <a:xfrm>
            <a:off x="6172200" y="2453335"/>
            <a:ext cx="504749" cy="105156"/>
          </a:xfrm>
          <a:prstGeom prst="roundRect">
            <a:avLst>
              <a:gd name="adj" fmla="val 158103"/>
            </a:avLst>
          </a:prstGeom>
          <a:solidFill>
            <a:srgbClr val="BFDBFE"/>
          </a:solidFill>
          <a:ln/>
        </p:spPr>
      </p:sp>
      <p:sp>
        <p:nvSpPr>
          <p:cNvPr id="29" name="Shape 23"/>
          <p:cNvSpPr/>
          <p:nvPr/>
        </p:nvSpPr>
        <p:spPr>
          <a:xfrm>
            <a:off x="6715354" y="2401214"/>
            <a:ext cx="504749" cy="161849"/>
          </a:xfrm>
          <a:prstGeom prst="roundRect">
            <a:avLst>
              <a:gd name="adj" fmla="val 66467"/>
            </a:avLst>
          </a:prstGeom>
          <a:solidFill>
            <a:srgbClr val="BFDBFE"/>
          </a:solidFill>
          <a:ln/>
        </p:spPr>
      </p:sp>
      <p:sp>
        <p:nvSpPr>
          <p:cNvPr id="30" name="Shape 24"/>
          <p:cNvSpPr/>
          <p:nvPr/>
        </p:nvSpPr>
        <p:spPr>
          <a:xfrm>
            <a:off x="7258507" y="2427732"/>
            <a:ext cx="504749" cy="133502"/>
          </a:xfrm>
          <a:prstGeom prst="roundRect">
            <a:avLst>
              <a:gd name="adj" fmla="val 97848"/>
            </a:avLst>
          </a:prstGeom>
          <a:solidFill>
            <a:srgbClr val="BFDBFE"/>
          </a:solidFill>
          <a:ln/>
        </p:spPr>
      </p:sp>
      <p:sp>
        <p:nvSpPr>
          <p:cNvPr id="31" name="Shape 25"/>
          <p:cNvSpPr/>
          <p:nvPr/>
        </p:nvSpPr>
        <p:spPr>
          <a:xfrm>
            <a:off x="7800746" y="2453335"/>
            <a:ext cx="504749" cy="105156"/>
          </a:xfrm>
          <a:prstGeom prst="roundRect">
            <a:avLst>
              <a:gd name="adj" fmla="val 158103"/>
            </a:avLst>
          </a:prstGeom>
          <a:solidFill>
            <a:srgbClr val="BFDBFE"/>
          </a:solidFill>
          <a:ln/>
        </p:spPr>
      </p:sp>
      <p:sp>
        <p:nvSpPr>
          <p:cNvPr id="32" name="Shape 26"/>
          <p:cNvSpPr/>
          <p:nvPr/>
        </p:nvSpPr>
        <p:spPr>
          <a:xfrm>
            <a:off x="8343900" y="2374697"/>
            <a:ext cx="504749" cy="190195"/>
          </a:xfrm>
          <a:prstGeom prst="roundRect">
            <a:avLst>
              <a:gd name="adj" fmla="val 48077"/>
            </a:avLst>
          </a:prstGeom>
          <a:solidFill>
            <a:srgbClr val="BFDBFE"/>
          </a:solidFill>
          <a:ln/>
        </p:spPr>
      </p:sp>
      <p:sp>
        <p:nvSpPr>
          <p:cNvPr id="33" name="Shape 27"/>
          <p:cNvSpPr/>
          <p:nvPr/>
        </p:nvSpPr>
        <p:spPr>
          <a:xfrm>
            <a:off x="8887054" y="2453335"/>
            <a:ext cx="504749" cy="105156"/>
          </a:xfrm>
          <a:prstGeom prst="roundRect">
            <a:avLst>
              <a:gd name="adj" fmla="val 158103"/>
            </a:avLst>
          </a:prstGeom>
          <a:solidFill>
            <a:srgbClr val="BFDBFE"/>
          </a:solidFill>
          <a:ln/>
        </p:spPr>
      </p:sp>
      <p:sp>
        <p:nvSpPr>
          <p:cNvPr id="34" name="Shape 28"/>
          <p:cNvSpPr/>
          <p:nvPr/>
        </p:nvSpPr>
        <p:spPr>
          <a:xfrm>
            <a:off x="9430207" y="2427732"/>
            <a:ext cx="504749" cy="133502"/>
          </a:xfrm>
          <a:prstGeom prst="roundRect">
            <a:avLst>
              <a:gd name="adj" fmla="val 97848"/>
            </a:avLst>
          </a:prstGeom>
          <a:solidFill>
            <a:srgbClr val="BFDBFE"/>
          </a:solidFill>
          <a:ln/>
        </p:spPr>
      </p:sp>
      <p:sp>
        <p:nvSpPr>
          <p:cNvPr id="35" name="Shape 29"/>
          <p:cNvSpPr/>
          <p:nvPr/>
        </p:nvSpPr>
        <p:spPr>
          <a:xfrm>
            <a:off x="9972446" y="2086661"/>
            <a:ext cx="504749" cy="476402"/>
          </a:xfrm>
          <a:prstGeom prst="roundRect">
            <a:avLst>
              <a:gd name="adj" fmla="val 7678"/>
            </a:avLst>
          </a:prstGeom>
          <a:solidFill>
            <a:srgbClr val="EF4444"/>
          </a:solidFill>
          <a:ln/>
        </p:spPr>
      </p:sp>
      <p:sp>
        <p:nvSpPr>
          <p:cNvPr id="36" name="Shape 30"/>
          <p:cNvSpPr/>
          <p:nvPr/>
        </p:nvSpPr>
        <p:spPr>
          <a:xfrm>
            <a:off x="10515600" y="2349094"/>
            <a:ext cx="504749" cy="209398"/>
          </a:xfrm>
          <a:prstGeom prst="roundRect">
            <a:avLst>
              <a:gd name="adj" fmla="val 39698"/>
            </a:avLst>
          </a:prstGeom>
          <a:solidFill>
            <a:srgbClr val="BFDBFE"/>
          </a:solidFill>
          <a:ln/>
        </p:spPr>
      </p:sp>
      <p:sp>
        <p:nvSpPr>
          <p:cNvPr id="37" name="Shape 31"/>
          <p:cNvSpPr/>
          <p:nvPr/>
        </p:nvSpPr>
        <p:spPr>
          <a:xfrm>
            <a:off x="11058754" y="2453335"/>
            <a:ext cx="504749" cy="105156"/>
          </a:xfrm>
          <a:prstGeom prst="roundRect">
            <a:avLst>
              <a:gd name="adj" fmla="val 158103"/>
            </a:avLst>
          </a:prstGeom>
          <a:solidFill>
            <a:srgbClr val="BFDBFE"/>
          </a:solidFill>
          <a:ln/>
        </p:spPr>
      </p:sp>
      <p:sp>
        <p:nvSpPr>
          <p:cNvPr id="38" name="Shape 32"/>
          <p:cNvSpPr/>
          <p:nvPr/>
        </p:nvSpPr>
        <p:spPr>
          <a:xfrm>
            <a:off x="6048756" y="3015691"/>
            <a:ext cx="3657600" cy="2676449"/>
          </a:xfrm>
          <a:prstGeom prst="roundRect">
            <a:avLst>
              <a:gd name="adj" fmla="val 7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172200" y="3139135"/>
            <a:ext cx="1295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Evidence Trail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172200" y="3386938"/>
            <a:ext cx="3409798" cy="256946"/>
          </a:xfrm>
          <a:prstGeom prst="roundRect">
            <a:avLst>
              <a:gd name="adj" fmla="val 52722"/>
            </a:avLst>
          </a:prstGeom>
          <a:solidFill>
            <a:srgbClr val="FEF2F2"/>
          </a:solidFill>
          <a:ln/>
        </p:spPr>
      </p:sp>
      <p:sp>
        <p:nvSpPr>
          <p:cNvPr id="41" name="Shape 35"/>
          <p:cNvSpPr/>
          <p:nvPr/>
        </p:nvSpPr>
        <p:spPr>
          <a:xfrm>
            <a:off x="6172200" y="3386938"/>
            <a:ext cx="28346" cy="2569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6258154" y="3453689"/>
            <a:ext cx="27148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10:05:01 FW_DENY SRC=192.168.1.50 DST=10.0.0.5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6172200" y="3682289"/>
            <a:ext cx="3409798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  <a:ln/>
        </p:spPr>
      </p:sp>
      <p:sp>
        <p:nvSpPr>
          <p:cNvPr id="44" name="Shape 38"/>
          <p:cNvSpPr/>
          <p:nvPr/>
        </p:nvSpPr>
        <p:spPr>
          <a:xfrm>
            <a:off x="6172200" y="3682289"/>
            <a:ext cx="28346" cy="256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58154" y="3749040"/>
            <a:ext cx="23719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10:04:55 DNS_QUERY domain="bad-site.com"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6172200" y="3977640"/>
            <a:ext cx="3409798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  <a:ln/>
        </p:spPr>
      </p:sp>
      <p:sp>
        <p:nvSpPr>
          <p:cNvPr id="47" name="Shape 41"/>
          <p:cNvSpPr/>
          <p:nvPr/>
        </p:nvSpPr>
        <p:spPr>
          <a:xfrm>
            <a:off x="6172200" y="3977640"/>
            <a:ext cx="28346" cy="256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58154" y="4044391"/>
            <a:ext cx="2829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10:04:50 AUTH_FAIL user="admin" src=192.168.1.50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6172200" y="4272991"/>
            <a:ext cx="3409798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  <a:ln/>
        </p:spPr>
      </p:sp>
      <p:sp>
        <p:nvSpPr>
          <p:cNvPr id="50" name="Shape 44"/>
          <p:cNvSpPr/>
          <p:nvPr/>
        </p:nvSpPr>
        <p:spPr>
          <a:xfrm>
            <a:off x="6172200" y="4272991"/>
            <a:ext cx="28346" cy="256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6258154" y="4339742"/>
            <a:ext cx="2543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10:04:45 IDS_ALERT Sig="Port Scan Detected"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172200" y="4568342"/>
            <a:ext cx="3409798" cy="256946"/>
          </a:xfrm>
          <a:prstGeom prst="roundRect">
            <a:avLst>
              <a:gd name="adj" fmla="val 52722"/>
            </a:avLst>
          </a:prstGeom>
          <a:solidFill>
            <a:srgbClr val="F1F5F9"/>
          </a:solidFill>
          <a:ln/>
        </p:spPr>
      </p:sp>
      <p:sp>
        <p:nvSpPr>
          <p:cNvPr id="53" name="Shape 47"/>
          <p:cNvSpPr/>
          <p:nvPr/>
        </p:nvSpPr>
        <p:spPr>
          <a:xfrm>
            <a:off x="6172200" y="4568342"/>
            <a:ext cx="28346" cy="256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6258154" y="4635094"/>
            <a:ext cx="20866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10:04:40 DHCP_LEASE ip=192.168.1.50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9858146" y="3015691"/>
            <a:ext cx="1828800" cy="2676449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982505" y="3139135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Sources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9982505" y="3501238"/>
            <a:ext cx="1580998" cy="381305"/>
          </a:xfrm>
          <a:prstGeom prst="roundRect">
            <a:avLst>
              <a:gd name="adj" fmla="val 23981"/>
            </a:avLst>
          </a:prstGeom>
          <a:solidFill>
            <a:srgbClr val="F8FAFC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10058400" y="3615538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11185855" y="3596335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1.2k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9982505" y="3996842"/>
            <a:ext cx="1580998" cy="381305"/>
          </a:xfrm>
          <a:prstGeom prst="roundRect">
            <a:avLst>
              <a:gd name="adj" fmla="val 23981"/>
            </a:avLst>
          </a:prstGeom>
          <a:solidFill>
            <a:srgbClr val="F8FAFC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10058400" y="4111142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11190427" y="4091940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850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9982505" y="4491533"/>
            <a:ext cx="1580998" cy="381305"/>
          </a:xfrm>
          <a:prstGeom prst="roundRect">
            <a:avLst>
              <a:gd name="adj" fmla="val 23981"/>
            </a:avLst>
          </a:prstGeom>
          <a:solidFill>
            <a:srgbClr val="F8FAFC"/>
          </a:solidFill>
          <a:ln/>
        </p:spPr>
      </p:sp>
      <p:sp>
        <p:nvSpPr>
          <p:cNvPr id="64" name="Text 58"/>
          <p:cNvSpPr txBox="1"/>
          <p:nvPr/>
        </p:nvSpPr>
        <p:spPr>
          <a:xfrm>
            <a:off x="10058400" y="4605833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900" dirty="0"/>
          </a:p>
        </p:txBody>
      </p:sp>
      <p:sp>
        <p:nvSpPr>
          <p:cNvPr id="65" name="Text 59"/>
          <p:cNvSpPr txBox="1"/>
          <p:nvPr/>
        </p:nvSpPr>
        <p:spPr>
          <a:xfrm>
            <a:off x="11288268" y="4587545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69" name="Text 63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/ 60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796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Sources in Segmented Networks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357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Firewalls, IDS, DNS, DHCP, NTP.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3529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of activity from all zones.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504749" y="2982773"/>
            <a:ext cx="219456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9302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2910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complete visibility.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coverage across boundaries.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5238598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749" y="46177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956" y="45701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3482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logs into a unified pipeline.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3557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events centrally in SIEM.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SOC LOG PIPELINE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610551" y="3188513"/>
            <a:ext cx="400507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9724644" y="3188513"/>
            <a:ext cx="400507" cy="38405"/>
          </a:xfrm>
          <a:prstGeom prst="roundRect">
            <a:avLst>
              <a:gd name="adj" fmla="val 1190470"/>
            </a:avLst>
          </a:prstGeom>
          <a:solidFill>
            <a:srgbClr val="CBD5E1"/>
          </a:solidFill>
          <a:ln/>
        </p:spPr>
      </p:sp>
      <p:sp>
        <p:nvSpPr>
          <p:cNvPr id="25" name="Shape 2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7003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1429086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/ 60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372454" y="2702052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6562649" y="2930652"/>
            <a:ext cx="38130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325819" y="3644798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Sources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406286" y="3902659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313018" y="4110228"/>
            <a:ext cx="886054" cy="181051"/>
          </a:xfrm>
          <a:prstGeom prst="roundRect">
            <a:avLst>
              <a:gd name="adj" fmla="val 106327"/>
            </a:avLst>
          </a:prstGeom>
          <a:solidFill>
            <a:srgbClr val="E0F2FE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388913" y="4119372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FW, IDS, DNS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486546" y="2702052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15146" y="2930652"/>
            <a:ext cx="304495" cy="30449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432597" y="3644798"/>
            <a:ext cx="10049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Pipeline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8577986" y="3902659"/>
            <a:ext cx="681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469173" y="4110228"/>
            <a:ext cx="800100" cy="181051"/>
          </a:xfrm>
          <a:prstGeom prst="roundRect">
            <a:avLst>
              <a:gd name="adj" fmla="val 106327"/>
            </a:avLst>
          </a:prstGeom>
          <a:solidFill>
            <a:srgbClr val="E0F2FE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8545068" y="4119372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&amp; Tag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0601554" y="2702052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10810951" y="2930652"/>
            <a:ext cx="342900" cy="30449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670134" y="3644798"/>
            <a:ext cx="758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SIEM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10718597" y="3902659"/>
            <a:ext cx="633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10520172" y="4110228"/>
            <a:ext cx="933602" cy="181051"/>
          </a:xfrm>
          <a:prstGeom prst="roundRect">
            <a:avLst>
              <a:gd name="adj" fmla="val 106327"/>
            </a:avLst>
          </a:prstGeom>
          <a:solidFill>
            <a:srgbClr val="E0F2FE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10596067" y="4119372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Alert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59490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Mapping Events to Zones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3777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Tagging log entries with zone labels.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548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context to raw IP addresses.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Accelerates incident triage.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633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identifies cross-zone risks.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3548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Filtering SIEM views by zone tags.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605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Pivoting search from zone to zone.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48756" y="1281989"/>
            <a:ext cx="2557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EVENT VIEW: ZONE CONTEXT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2016252"/>
            <a:ext cx="5562295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19"/>
          <p:cNvSpPr/>
          <p:nvPr/>
        </p:nvSpPr>
        <p:spPr>
          <a:xfrm>
            <a:off x="6086246" y="1529791"/>
            <a:ext cx="961949" cy="371246"/>
          </a:xfrm>
          <a:prstGeom prst="roundRect">
            <a:avLst>
              <a:gd name="adj" fmla="val 126311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6248095" y="1615745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Events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161581" y="1529791"/>
            <a:ext cx="952805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23430" y="1677010"/>
            <a:ext cx="75895" cy="75895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56932" y="1615745"/>
            <a:ext cx="596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223199" y="1529791"/>
            <a:ext cx="771754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385048" y="1677010"/>
            <a:ext cx="75895" cy="75895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518550" y="1615745"/>
            <a:ext cx="415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9101023" y="1529791"/>
            <a:ext cx="990295" cy="371246"/>
          </a:xfrm>
          <a:prstGeom prst="roundRect">
            <a:avLst>
              <a:gd name="adj" fmla="val 1263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262872" y="1677010"/>
            <a:ext cx="75895" cy="75895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9396374" y="1615745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086246" y="2177186"/>
            <a:ext cx="5562295" cy="638251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6248095" y="2319833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10:05:22.412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248095" y="2482596"/>
            <a:ext cx="25648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SSH Login Success (Workstation A)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10375697" y="2370125"/>
            <a:ext cx="1114654" cy="247802"/>
          </a:xfrm>
          <a:prstGeom prst="roundRect">
            <a:avLst>
              <a:gd name="adj" fmla="val 56770"/>
            </a:avLst>
          </a:prstGeom>
          <a:solidFill>
            <a:srgbClr val="DCFCE7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10470794" y="2417674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ZONE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086246" y="2905963"/>
            <a:ext cx="5562295" cy="638251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41" name="Text 36"/>
          <p:cNvSpPr txBox="1"/>
          <p:nvPr/>
        </p:nvSpPr>
        <p:spPr>
          <a:xfrm>
            <a:off x="6248095" y="3048610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10:05:23.105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6248095" y="3210458"/>
            <a:ext cx="2364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GET /index.html (Web Svr)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10687507" y="3098902"/>
            <a:ext cx="800100" cy="247802"/>
          </a:xfrm>
          <a:prstGeom prst="roundRect">
            <a:avLst>
              <a:gd name="adj" fmla="val 56770"/>
            </a:avLst>
          </a:prstGeom>
          <a:solidFill>
            <a:srgbClr val="FFEDD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10783519" y="3146450"/>
            <a:ext cx="695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ZONE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086246" y="3634740"/>
            <a:ext cx="5562295" cy="638251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46" name="Text 41"/>
          <p:cNvSpPr txBox="1"/>
          <p:nvPr/>
        </p:nvSpPr>
        <p:spPr>
          <a:xfrm>
            <a:off x="6277356" y="3777386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10:05:25.004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277356" y="3939235"/>
            <a:ext cx="25173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Connection Attempt (Blocked)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10286086" y="3827678"/>
            <a:ext cx="1209751" cy="247802"/>
          </a:xfrm>
          <a:prstGeom prst="roundRect">
            <a:avLst>
              <a:gd name="adj" fmla="val 56770"/>
            </a:avLst>
          </a:prstGeom>
          <a:solidFill>
            <a:srgbClr val="FEE2E2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10381183" y="3875227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→ INTERNAL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086246" y="4363517"/>
            <a:ext cx="5562295" cy="638251"/>
          </a:xfrm>
          <a:prstGeom prst="roundRect">
            <a:avLst>
              <a:gd name="adj" fmla="val 12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sp>
        <p:nvSpPr>
          <p:cNvPr id="51" name="Text 46"/>
          <p:cNvSpPr txBox="1"/>
          <p:nvPr/>
        </p:nvSpPr>
        <p:spPr>
          <a:xfrm>
            <a:off x="6248095" y="4506163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10:05:28.891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6248095" y="4668012"/>
            <a:ext cx="17839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Deny (Port 445)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10186416" y="4556455"/>
            <a:ext cx="1304849" cy="247802"/>
          </a:xfrm>
          <a:prstGeom prst="roundRect">
            <a:avLst>
              <a:gd name="adj" fmla="val 56770"/>
            </a:avLst>
          </a:prstGeom>
          <a:solidFill>
            <a:srgbClr val="F3E8FF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10281514" y="4604004"/>
            <a:ext cx="1200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SOURCE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5700370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11428171" y="62389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/ 60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5392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Normal Network Behavior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4762195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1348740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" y="1301191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1700784"/>
            <a:ext cx="3186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Baselining typical traffic flows.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070202"/>
            <a:ext cx="3519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"what normal looks like."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735885"/>
            <a:ext cx="4762195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4749" y="2982773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3522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3335731"/>
            <a:ext cx="3357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outliers stand out clearly.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3349" y="3705149"/>
            <a:ext cx="3577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noise and false positives.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369918"/>
            <a:ext cx="4762195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504749" y="4617720"/>
            <a:ext cx="21945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4570171"/>
            <a:ext cx="20098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uses this?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3349" y="4969764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trend dashboards for spikes.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349" y="5339182"/>
            <a:ext cx="3262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baseline deviations.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372100" y="1100938"/>
            <a:ext cx="6515100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2" b="-112"/>
          <a:stretch/>
        </p:blipFill>
        <p:spPr>
          <a:xfrm>
            <a:off x="5609844" y="1529791"/>
            <a:ext cx="6038698" cy="41239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703113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433658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/ 60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572354" y="1281989"/>
            <a:ext cx="3262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TRAFFIC: BASELINE VS. ANOMALY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5580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North-South vs East-West Visibility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639105" cy="3943807"/>
          </a:xfrm>
          <a:prstGeom prst="roundRect">
            <a:avLst>
              <a:gd name="adj" fmla="val 672"/>
            </a:avLst>
          </a:prstGeom>
          <a:solidFill>
            <a:srgbClr val="F9FAFB"/>
          </a:solidFill>
          <a:ln w="762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5" b="-185"/>
          <a:stretch/>
        </p:blipFill>
        <p:spPr>
          <a:xfrm>
            <a:off x="543154" y="1448410"/>
            <a:ext cx="123444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0898" y="1387145"/>
            <a:ext cx="25676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North-South Traffic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939442"/>
            <a:ext cx="4829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Signals: External IPs, Perimeter Firewalls, IPS Alerts.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2339035"/>
            <a:ext cx="43726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Protecting the edge from known threats entering or data leaving.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3154" y="3472891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42616" y="3067812"/>
            <a:ext cx="972007" cy="333756"/>
          </a:xfrm>
          <a:prstGeom prst="roundRect">
            <a:avLst>
              <a:gd name="adj" fmla="val 4696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66974" y="3168396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76372" y="3134563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14446" y="3496666"/>
            <a:ext cx="19202" cy="3813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2290572" y="3973068"/>
            <a:ext cx="1676095" cy="333756"/>
          </a:xfrm>
          <a:prstGeom prst="roundRect">
            <a:avLst>
              <a:gd name="adj" fmla="val 469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14016" y="4072738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23414" y="4039819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Controls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114446" y="4401007"/>
            <a:ext cx="19202" cy="3813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5"/>
          <p:cNvSpPr/>
          <p:nvPr/>
        </p:nvSpPr>
        <p:spPr>
          <a:xfrm>
            <a:off x="2630729" y="4877410"/>
            <a:ext cx="990295" cy="333756"/>
          </a:xfrm>
          <a:prstGeom prst="roundRect">
            <a:avLst>
              <a:gd name="adj" fmla="val 469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2755087" y="4977994"/>
            <a:ext cx="171907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02890" y="4944161"/>
            <a:ext cx="596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5029200" y="3854196"/>
            <a:ext cx="562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 Logs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4936846" y="4063594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 Blocks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836262" y="4272991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Events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248095" y="1100938"/>
            <a:ext cx="5639105" cy="3943807"/>
          </a:xfrm>
          <a:prstGeom prst="roundRect">
            <a:avLst>
              <a:gd name="adj" fmla="val 672"/>
            </a:avLst>
          </a:prstGeom>
          <a:solidFill>
            <a:srgbClr val="F9FAFB"/>
          </a:solidFill>
          <a:ln w="762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86754" y="1448410"/>
            <a:ext cx="247802" cy="2478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48856" y="1387145"/>
            <a:ext cx="229148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East-West Traffic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6752844" y="1939442"/>
            <a:ext cx="46387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Signals: Internal Sensors, Active Directory, Lateral Movement.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752844" y="2625242"/>
            <a:ext cx="45244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Detecting spread inside the network after perimeter breach.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486754" y="3472891"/>
            <a:ext cx="5162702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484364" y="3973068"/>
            <a:ext cx="1266444" cy="333756"/>
          </a:xfrm>
          <a:prstGeom prst="roundRect">
            <a:avLst>
              <a:gd name="adj" fmla="val 469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7608722" y="4072738"/>
            <a:ext cx="152705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837322" y="4039819"/>
            <a:ext cx="8906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Workstation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887968" y="4039819"/>
            <a:ext cx="571500" cy="192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28"/>
          <p:cNvSpPr/>
          <p:nvPr/>
        </p:nvSpPr>
        <p:spPr>
          <a:xfrm>
            <a:off x="9382658" y="4001414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998610" y="410657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9602114" y="3973068"/>
            <a:ext cx="1057046" cy="333756"/>
          </a:xfrm>
          <a:prstGeom prst="roundRect">
            <a:avLst>
              <a:gd name="adj" fmla="val 46967"/>
            </a:avLst>
          </a:prstGeom>
          <a:solidFill>
            <a:srgbClr val="FFEDD5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9725558" y="4072738"/>
            <a:ext cx="114300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916668" y="4039819"/>
            <a:ext cx="719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7710221" y="4539996"/>
            <a:ext cx="2800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Points: Host Logs, Internal FW, Identity Events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304495" y="5273345"/>
            <a:ext cx="11582705" cy="895198"/>
          </a:xfrm>
          <a:prstGeom prst="roundRect">
            <a:avLst>
              <a:gd name="adj" fmla="val 86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3154" y="5634533"/>
            <a:ext cx="171907" cy="17190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90956" y="5592470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Pivot: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1913839" y="5463540"/>
            <a:ext cx="95353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switch dashboard views to trace an attack entering (North-South) and then spreading laterally (East-West).</a:t>
            </a:r>
            <a:endParaRPr lang="en-US" sz="1500" dirty="0"/>
          </a:p>
        </p:txBody>
      </p:sp>
      <p:sp>
        <p:nvSpPr>
          <p:cNvPr id="46" name="Shape 36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571865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11463833" y="6238951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/ 60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6358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for Segmented Traffic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00938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" y="1310335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3349" y="1262786"/>
            <a:ext cx="1343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7454" y="1644091"/>
            <a:ext cx="4272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organizing traffic by network zone.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7454" y="1994306"/>
            <a:ext cx="3910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for Internal, DMZ, and External.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4495" y="2639873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" y="2850185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3349" y="2801722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7454" y="3183026"/>
            <a:ext cx="3710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reveal risky zone crossings.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3533242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specific traffic for faster triage.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04495" y="4179722"/>
            <a:ext cx="5238598" cy="1390802"/>
          </a:xfrm>
          <a:prstGeom prst="roundRect">
            <a:avLst>
              <a:gd name="adj" fmla="val 36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8912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3349" y="4341571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observes?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454" y="4721962"/>
            <a:ext cx="4272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prebuilt zone-focused dashboards.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7454" y="5073091"/>
            <a:ext cx="3758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Checking "top talkers" per segment.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3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6246" y="1281989"/>
            <a:ext cx="2300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ZONE TRAFFIC OVERVIEW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6246" y="1568196"/>
            <a:ext cx="5562295" cy="8001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77356" y="177485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E2E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1598" y="1880006"/>
            <a:ext cx="171907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72046" y="1865376"/>
            <a:ext cx="1291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Zone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230514" y="1731874"/>
            <a:ext cx="9144" cy="4663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392363" y="1741932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EVENTS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8392363" y="1970532"/>
            <a:ext cx="529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1.2M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663379" y="1730045"/>
            <a:ext cx="9144" cy="4764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825228" y="1739189"/>
            <a:ext cx="12600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TALKER (SOURCE)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9825228" y="1924812"/>
            <a:ext cx="1591056" cy="276149"/>
          </a:xfrm>
          <a:prstGeom prst="roundRect">
            <a:avLst>
              <a:gd name="adj" fmla="val 45672"/>
            </a:avLst>
          </a:prstGeom>
          <a:solidFill>
            <a:srgbClr val="F1F5F9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9902038" y="1982419"/>
            <a:ext cx="1538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203.0.113.45 (Scanner)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086246" y="2515514"/>
            <a:ext cx="5562295" cy="8001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277356" y="272308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3C7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81598" y="2827325"/>
            <a:ext cx="171907" cy="17190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772046" y="2812694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Services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8230514" y="2680106"/>
            <a:ext cx="9144" cy="4663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392363" y="2689250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EVENTS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8392363" y="2917850"/>
            <a:ext cx="596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450K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9663379" y="2677363"/>
            <a:ext cx="9144" cy="4764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9825228" y="2686507"/>
            <a:ext cx="12600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TALKER (SOURCE)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9825228" y="2873045"/>
            <a:ext cx="1561795" cy="276149"/>
          </a:xfrm>
          <a:prstGeom prst="roundRect">
            <a:avLst>
              <a:gd name="adj" fmla="val 45672"/>
            </a:avLst>
          </a:prstGeom>
          <a:solidFill>
            <a:srgbClr val="F1F5F9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902038" y="2929738"/>
            <a:ext cx="1510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192.168.10.5 (Web Srv)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086246" y="3462833"/>
            <a:ext cx="556229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277356" y="369143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357823" y="3796589"/>
            <a:ext cx="219456" cy="171907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771132" y="365394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Trusted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8230514" y="3649370"/>
            <a:ext cx="9144" cy="4663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8392363" y="3658514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EVENTS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8392363" y="3887114"/>
            <a:ext cx="5669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2.8M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9663379" y="3646627"/>
            <a:ext cx="9144" cy="4764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9825228" y="3655771"/>
            <a:ext cx="12600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TALKER (SOURCE)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9825228" y="3841394"/>
            <a:ext cx="1371600" cy="276149"/>
          </a:xfrm>
          <a:prstGeom prst="roundRect">
            <a:avLst>
              <a:gd name="adj" fmla="val 45672"/>
            </a:avLst>
          </a:prstGeom>
          <a:solidFill>
            <a:srgbClr val="F1F5F9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9902038" y="3899002"/>
            <a:ext cx="1319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10.10.5.20 (File Srv)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5704942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11436401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/ 60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972007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2806" y="300838"/>
            <a:ext cx="66632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Internal → DMZ → Internet Flow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4029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a normal web request travel through zones.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2152498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valid source and destination paths.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2790749"/>
            <a:ext cx="4762195" cy="1343254"/>
          </a:xfrm>
          <a:prstGeom prst="roundRect">
            <a:avLst>
              <a:gd name="adj" fmla="val 38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3014777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2971800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323844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what "allowed" traffic looks like.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3648456"/>
            <a:ext cx="4295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how firewalls log successful connections.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4286707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4509821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4466844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4819802"/>
            <a:ext cx="29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timeline showing the path.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143500"/>
            <a:ext cx="3629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"Allow" logs with correct ports (80/443).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5372100" y="1028700"/>
            <a:ext cx="7487107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562295" y="1238098"/>
            <a:ext cx="1662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TRAFFIC MONITOR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576304" y="1271930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767414" y="1238098"/>
            <a:ext cx="1004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Active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62295" y="1571854"/>
            <a:ext cx="7105802" cy="2361895"/>
          </a:xfrm>
          <a:prstGeom prst="roundRect">
            <a:avLst>
              <a:gd name="adj" fmla="val 9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732727" y="2628900"/>
            <a:ext cx="2048256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Shape 25"/>
          <p:cNvSpPr/>
          <p:nvPr/>
        </p:nvSpPr>
        <p:spPr>
          <a:xfrm>
            <a:off x="7398410" y="2400300"/>
            <a:ext cx="714146" cy="181051"/>
          </a:xfrm>
          <a:prstGeom prst="roundRect">
            <a:avLst>
              <a:gd name="adj" fmla="val 106327"/>
            </a:avLst>
          </a:prstGeom>
          <a:solidFill>
            <a:srgbClr val="334155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455103" y="2428646"/>
            <a:ext cx="676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(443)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9778594" y="2628900"/>
            <a:ext cx="2048256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Shape 28"/>
          <p:cNvSpPr/>
          <p:nvPr/>
        </p:nvSpPr>
        <p:spPr>
          <a:xfrm>
            <a:off x="10555834" y="2400300"/>
            <a:ext cx="485546" cy="181051"/>
          </a:xfrm>
          <a:prstGeom prst="roundRect">
            <a:avLst>
              <a:gd name="adj" fmla="val 106327"/>
            </a:avLst>
          </a:prstGeom>
          <a:solidFill>
            <a:srgbClr val="334155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0612526" y="2428646"/>
            <a:ext cx="448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5562295" y="4105656"/>
            <a:ext cx="1901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LOGS (FILTERED)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562295" y="4362602"/>
            <a:ext cx="7105802" cy="1333195"/>
          </a:xfrm>
          <a:prstGeom prst="roundRect">
            <a:avLst>
              <a:gd name="adj" fmla="val 1960"/>
            </a:avLst>
          </a:prstGeom>
          <a:solidFill>
            <a:srgbClr val="000000"/>
          </a:solidFill>
          <a:ln/>
        </p:spPr>
      </p:sp>
      <p:sp>
        <p:nvSpPr>
          <p:cNvPr id="39" name="Shape 32"/>
          <p:cNvSpPr/>
          <p:nvPr/>
        </p:nvSpPr>
        <p:spPr>
          <a:xfrm>
            <a:off x="5562295" y="4362602"/>
            <a:ext cx="38405" cy="133319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5715000" y="4496105"/>
            <a:ext cx="17318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10:42:01 FW-INT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349947" y="4496105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7721194" y="4496105"/>
            <a:ext cx="47795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SRC=10.10.5.22 DST=192.168.1.50 PROTO=TCP DPT=443 ZONE=Int-&gt;DMZ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5715000" y="4719218"/>
            <a:ext cx="18077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10:42:02 FW-EDGE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7424014" y="4719218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796174" y="4719218"/>
            <a:ext cx="48554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SRC=192.168.1.50 DST=203.0.113.5 PROTO=TCP DPT=443 ZONE=DMZ-&gt;Ext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5715000" y="4943246"/>
            <a:ext cx="54461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10:42:02 FW-EDGE NAT_SRC=203.0.113.99 X-Duration=0.45s Bytes=4520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/ 60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933542" y="2376526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rcRect l="-1648" r="-1648" t="0" b="0"/>
          <a:stretch/>
        </p:blipFill>
        <p:spPr>
          <a:xfrm>
            <a:off x="6085332" y="2519172"/>
            <a:ext cx="171907" cy="190195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5762549" y="2948026"/>
            <a:ext cx="919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User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9037015" y="2376526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79662" y="2519172"/>
            <a:ext cx="190195" cy="190195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8923630" y="2948026"/>
            <a:ext cx="8055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 Proxy</a:t>
            </a:r>
            <a:endParaRPr lang="en-US" sz="1000" dirty="0"/>
          </a:p>
        </p:txBody>
      </p:sp>
      <p:sp>
        <p:nvSpPr>
          <p:cNvPr id="57" name="Shape 48"/>
          <p:cNvSpPr/>
          <p:nvPr/>
        </p:nvSpPr>
        <p:spPr>
          <a:xfrm>
            <a:off x="11979554" y="2376526"/>
            <a:ext cx="476402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122201" y="2519172"/>
            <a:ext cx="190195" cy="190195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11969496" y="2948026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1009498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0297" y="300838"/>
            <a:ext cx="425378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Trust Boundaries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762195" cy="1343254"/>
          </a:xfrm>
          <a:prstGeom prst="roundRect">
            <a:avLst>
              <a:gd name="adj" fmla="val 38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where traffic crosses zones.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1886407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perimeter vs. internal trust lines.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2523744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2747772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2704795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057754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(firewalls/IPS) live at these lines.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3381451"/>
            <a:ext cx="4019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Misunderstanding boundaries causes blind spots.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4286707"/>
            <a:ext cx="4762195" cy="1343254"/>
          </a:xfrm>
          <a:prstGeom prst="roundRect">
            <a:avLst>
              <a:gd name="adj" fmla="val 38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4509821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4466844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4819802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filtered by "Zone Crossing".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143500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tagged with src_zone and dest_zone.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5372100" y="1028700"/>
            <a:ext cx="7191756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562295" y="1238098"/>
            <a:ext cx="1528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ZONE MAP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14862" y="1271930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205058" y="1238098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View: Trust Zones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62295" y="1571854"/>
            <a:ext cx="6810451" cy="2361895"/>
          </a:xfrm>
          <a:prstGeom prst="roundRect">
            <a:avLst>
              <a:gd name="adj" fmla="val 9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762549" y="1772107"/>
            <a:ext cx="1886407" cy="1962302"/>
          </a:xfrm>
          <a:prstGeom prst="roundRect">
            <a:avLst>
              <a:gd name="adj" fmla="val 195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6590081" y="2333549"/>
            <a:ext cx="228600" cy="3044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319418" y="2771546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24574" y="301934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Trust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8026603" y="1772107"/>
            <a:ext cx="1886407" cy="1962302"/>
          </a:xfrm>
          <a:prstGeom prst="roundRect">
            <a:avLst>
              <a:gd name="adj" fmla="val 1959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814816" y="2333549"/>
            <a:ext cx="304495" cy="30449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791042" y="2771546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8694115" y="3019349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Trust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10289743" y="1772107"/>
            <a:ext cx="1886407" cy="1962302"/>
          </a:xfrm>
          <a:prstGeom prst="roundRect">
            <a:avLst>
              <a:gd name="adj" fmla="val 195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078870" y="2333549"/>
            <a:ext cx="304495" cy="30449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826496" y="2771546"/>
            <a:ext cx="924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10953598" y="301934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Trust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5562295" y="4105656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CROSSING EVENTS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562295" y="4362602"/>
            <a:ext cx="6810451" cy="1333195"/>
          </a:xfrm>
          <a:prstGeom prst="roundRect">
            <a:avLst>
              <a:gd name="adj" fmla="val 1960"/>
            </a:avLst>
          </a:prstGeom>
          <a:solidFill>
            <a:srgbClr val="000000"/>
          </a:solidFill>
          <a:ln/>
        </p:spPr>
      </p:sp>
      <p:sp>
        <p:nvSpPr>
          <p:cNvPr id="45" name="Shape 35"/>
          <p:cNvSpPr/>
          <p:nvPr/>
        </p:nvSpPr>
        <p:spPr>
          <a:xfrm>
            <a:off x="5562295" y="4362602"/>
            <a:ext cx="38405" cy="13331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5715000" y="4496105"/>
            <a:ext cx="1217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11:05:22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6829654" y="4496105"/>
            <a:ext cx="11411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BOUNDARY_CROSS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7870241" y="4496105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SRC_ZONE=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8538667" y="4486046"/>
            <a:ext cx="676656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50" name="Text 40"/>
          <p:cNvSpPr txBox="1"/>
          <p:nvPr/>
        </p:nvSpPr>
        <p:spPr>
          <a:xfrm>
            <a:off x="8577072" y="4496105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9209837" y="4496105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DST_ZONE=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9878263" y="4486046"/>
            <a:ext cx="304495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9916668" y="4496105"/>
            <a:ext cx="3218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0177272" y="4496105"/>
            <a:ext cx="988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ACTION=ALLOW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5715000" y="4719218"/>
            <a:ext cx="1217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11:05:23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6829654" y="4719218"/>
            <a:ext cx="11411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BOUNDARY_CROSS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7870241" y="4719218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SRC_ZONE=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8538667" y="4710074"/>
            <a:ext cx="304495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8577072" y="4719218"/>
            <a:ext cx="3218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8837676" y="4719218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DST_ZONE=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9507017" y="4710074"/>
            <a:ext cx="676656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62" name="Text 52"/>
          <p:cNvSpPr txBox="1"/>
          <p:nvPr/>
        </p:nvSpPr>
        <p:spPr>
          <a:xfrm>
            <a:off x="9544507" y="4719218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900" dirty="0"/>
          </a:p>
        </p:txBody>
      </p:sp>
      <p:sp>
        <p:nvSpPr>
          <p:cNvPr id="63" name="Text 53"/>
          <p:cNvSpPr txBox="1"/>
          <p:nvPr/>
        </p:nvSpPr>
        <p:spPr>
          <a:xfrm>
            <a:off x="10177272" y="4719218"/>
            <a:ext cx="9884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ACTION=ALLOW</a:t>
            </a:r>
            <a:endParaRPr lang="en-US" sz="900" dirty="0"/>
          </a:p>
        </p:txBody>
      </p:sp>
      <p:sp>
        <p:nvSpPr>
          <p:cNvPr id="64" name="Text 54"/>
          <p:cNvSpPr txBox="1"/>
          <p:nvPr/>
        </p:nvSpPr>
        <p:spPr>
          <a:xfrm>
            <a:off x="5715000" y="4943246"/>
            <a:ext cx="1217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17 11:06:01</a:t>
            </a:r>
            <a:endParaRPr lang="en-US" sz="900" dirty="0"/>
          </a:p>
        </p:txBody>
      </p:sp>
      <p:sp>
        <p:nvSpPr>
          <p:cNvPr id="65" name="Text 55"/>
          <p:cNvSpPr txBox="1"/>
          <p:nvPr/>
        </p:nvSpPr>
        <p:spPr>
          <a:xfrm>
            <a:off x="6829654" y="4943246"/>
            <a:ext cx="11411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BOUNDARY_BLOCK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7870241" y="4943246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SRC_ZONE=</a:t>
            </a:r>
            <a:endParaRPr lang="en-US" sz="900" dirty="0"/>
          </a:p>
        </p:txBody>
      </p:sp>
      <p:sp>
        <p:nvSpPr>
          <p:cNvPr id="67" name="Shape 57"/>
          <p:cNvSpPr/>
          <p:nvPr/>
        </p:nvSpPr>
        <p:spPr>
          <a:xfrm>
            <a:off x="8538667" y="4934102"/>
            <a:ext cx="676656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68" name="Text 58"/>
          <p:cNvSpPr txBox="1"/>
          <p:nvPr/>
        </p:nvSpPr>
        <p:spPr>
          <a:xfrm>
            <a:off x="8577072" y="4943246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9209837" y="4943246"/>
            <a:ext cx="7699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DST_ZONE=</a:t>
            </a:r>
            <a:endParaRPr lang="en-US" sz="900" dirty="0"/>
          </a:p>
        </p:txBody>
      </p:sp>
      <p:sp>
        <p:nvSpPr>
          <p:cNvPr id="70" name="Shape 60"/>
          <p:cNvSpPr/>
          <p:nvPr/>
        </p:nvSpPr>
        <p:spPr>
          <a:xfrm>
            <a:off x="9878263" y="4934102"/>
            <a:ext cx="676656" cy="161849"/>
          </a:xfrm>
          <a:prstGeom prst="roundRect">
            <a:avLst>
              <a:gd name="adj" fmla="val 66467"/>
            </a:avLst>
          </a:prstGeom>
          <a:solidFill>
            <a:srgbClr val="374151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9916668" y="4943246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900" dirty="0"/>
          </a:p>
        </p:txBody>
      </p:sp>
      <p:sp>
        <p:nvSpPr>
          <p:cNvPr id="72" name="Text 62"/>
          <p:cNvSpPr txBox="1"/>
          <p:nvPr/>
        </p:nvSpPr>
        <p:spPr>
          <a:xfrm>
            <a:off x="10549433" y="4943246"/>
            <a:ext cx="18077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REASON=Policy_Violation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64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5" name="Text 65"/>
          <p:cNvSpPr txBox="1"/>
          <p:nvPr/>
        </p:nvSpPr>
        <p:spPr>
          <a:xfrm>
            <a:off x="5702198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6" name="Text 66"/>
          <p:cNvSpPr txBox="1"/>
          <p:nvPr/>
        </p:nvSpPr>
        <p:spPr>
          <a:xfrm>
            <a:off x="11431829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/ 60</a:t>
            </a:r>
            <a:endParaRPr lang="en-US" sz="1000" dirty="0"/>
          </a:p>
        </p:txBody>
      </p:sp>
      <p:sp>
        <p:nvSpPr>
          <p:cNvPr id="77" name="Shape 67"/>
          <p:cNvSpPr/>
          <p:nvPr/>
        </p:nvSpPr>
        <p:spPr>
          <a:xfrm>
            <a:off x="7605065" y="2128723"/>
            <a:ext cx="466344" cy="181051"/>
          </a:xfrm>
          <a:prstGeom prst="roundRect">
            <a:avLst>
              <a:gd name="adj" fmla="val 106327"/>
            </a:avLst>
          </a:prstGeom>
          <a:solidFill>
            <a:srgbClr val="4338CA"/>
          </a:solidFill>
          <a:ln/>
        </p:spPr>
      </p:sp>
      <p:sp>
        <p:nvSpPr>
          <p:cNvPr id="78" name="Shape 68"/>
          <p:cNvSpPr/>
          <p:nvPr/>
        </p:nvSpPr>
        <p:spPr>
          <a:xfrm>
            <a:off x="7826350" y="2385670"/>
            <a:ext cx="19202" cy="76169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7768742" y="3224174"/>
            <a:ext cx="133502" cy="152705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7661758" y="2157070"/>
            <a:ext cx="4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FW-INT</a:t>
            </a:r>
            <a:endParaRPr lang="en-US" sz="800" dirty="0"/>
          </a:p>
        </p:txBody>
      </p:sp>
      <p:sp>
        <p:nvSpPr>
          <p:cNvPr id="81" name="Shape 70"/>
          <p:cNvSpPr/>
          <p:nvPr/>
        </p:nvSpPr>
        <p:spPr>
          <a:xfrm>
            <a:off x="9820656" y="2128723"/>
            <a:ext cx="562356" cy="181051"/>
          </a:xfrm>
          <a:prstGeom prst="roundRect">
            <a:avLst>
              <a:gd name="adj" fmla="val 106327"/>
            </a:avLst>
          </a:prstGeom>
          <a:solidFill>
            <a:srgbClr val="4338CA"/>
          </a:solidFill>
          <a:ln/>
        </p:spPr>
      </p:sp>
      <p:sp>
        <p:nvSpPr>
          <p:cNvPr id="82" name="Shape 71"/>
          <p:cNvSpPr/>
          <p:nvPr/>
        </p:nvSpPr>
        <p:spPr>
          <a:xfrm>
            <a:off x="10090404" y="2385670"/>
            <a:ext cx="19202" cy="76169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10032797" y="3224174"/>
            <a:ext cx="133502" cy="152705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9877349" y="2157070"/>
            <a:ext cx="5239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FW-EDGE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1009498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00838"/>
            <a:ext cx="57104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Logs – Allowed vs Blocked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286707" cy="1876349"/>
          </a:xfrm>
          <a:prstGeom prst="roundRect">
            <a:avLst>
              <a:gd name="adj" fmla="val 197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34198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successful connections vs blocked attempts.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2152498"/>
            <a:ext cx="31629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which rules are enforcing boundaries.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3057754"/>
            <a:ext cx="4286707" cy="1876349"/>
          </a:xfrm>
          <a:prstGeom prst="roundRect">
            <a:avLst>
              <a:gd name="adj" fmla="val 197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3281782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3238805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590849"/>
            <a:ext cx="37243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that segmentation policies are working.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4181551"/>
            <a:ext cx="27340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"Deny" logs often reveal misconfigurations or threats.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5086807"/>
            <a:ext cx="4286707" cy="1343254"/>
          </a:xfrm>
          <a:prstGeom prst="roundRect">
            <a:avLst>
              <a:gd name="adj" fmla="val 38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5309921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5266944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5619902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Action: ALLOW or DENY.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943600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Source Zone vs Destination Zone.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895698" y="1028700"/>
            <a:ext cx="6991502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086807" y="1252728"/>
            <a:ext cx="2005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EVENTS MONITOR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321747" y="1218895"/>
            <a:ext cx="1380744" cy="228600"/>
          </a:xfrm>
          <a:prstGeom prst="roundRect">
            <a:avLst>
              <a:gd name="adj" fmla="val 66667"/>
            </a:avLst>
          </a:prstGeom>
          <a:solidFill>
            <a:srgbClr val="37415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10397642" y="1257300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View: Last 5 mins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86807" y="1600200"/>
            <a:ext cx="6610198" cy="4095598"/>
          </a:xfrm>
          <a:prstGeom prst="roundRect">
            <a:avLst>
              <a:gd name="adj" fmla="val 3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095951" y="1609344"/>
            <a:ext cx="1152144" cy="409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26"/>
          <p:cNvSpPr/>
          <p:nvPr/>
        </p:nvSpPr>
        <p:spPr>
          <a:xfrm>
            <a:off x="5095951" y="2009851"/>
            <a:ext cx="1152144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5248656" y="1742846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248095" y="1609344"/>
            <a:ext cx="1352398" cy="409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9"/>
          <p:cNvSpPr/>
          <p:nvPr/>
        </p:nvSpPr>
        <p:spPr>
          <a:xfrm>
            <a:off x="6248095" y="2009851"/>
            <a:ext cx="1352398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400800" y="1742846"/>
            <a:ext cx="752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FLOW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595921" y="1609344"/>
            <a:ext cx="1543507" cy="409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2"/>
          <p:cNvSpPr/>
          <p:nvPr/>
        </p:nvSpPr>
        <p:spPr>
          <a:xfrm>
            <a:off x="7595921" y="2009851"/>
            <a:ext cx="1543507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747711" y="1742846"/>
            <a:ext cx="6766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9138514" y="1609344"/>
            <a:ext cx="1647749" cy="409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5"/>
          <p:cNvSpPr/>
          <p:nvPr/>
        </p:nvSpPr>
        <p:spPr>
          <a:xfrm>
            <a:off x="9138514" y="2009851"/>
            <a:ext cx="16477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9290304" y="1742846"/>
            <a:ext cx="8961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10778033" y="1609344"/>
            <a:ext cx="914400" cy="409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38"/>
          <p:cNvSpPr/>
          <p:nvPr/>
        </p:nvSpPr>
        <p:spPr>
          <a:xfrm>
            <a:off x="10778033" y="2009851"/>
            <a:ext cx="9144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10930738" y="1742846"/>
            <a:ext cx="534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095951" y="2443277"/>
            <a:ext cx="1152144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5248656" y="2152498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10:45:01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248095" y="2443277"/>
            <a:ext cx="1352398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00800" y="2152498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DMZ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7595921" y="2443277"/>
            <a:ext cx="1543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747711" y="215249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(443)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9138514" y="2443277"/>
            <a:ext cx="1647749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290304" y="2152498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192.168.50.10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10778033" y="2443277"/>
            <a:ext cx="9144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10930738" y="2152498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5095951" y="2881274"/>
            <a:ext cx="1152144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5248656" y="2590495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10:45:05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248095" y="2881274"/>
            <a:ext cx="1352398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6400800" y="259049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EXT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7595921" y="2881274"/>
            <a:ext cx="1543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7747711" y="2590495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(53)</a:t>
            </a:r>
            <a:endParaRPr lang="en-US" sz="1000" dirty="0"/>
          </a:p>
        </p:txBody>
      </p:sp>
      <p:sp>
        <p:nvSpPr>
          <p:cNvPr id="62" name="Shape 56"/>
          <p:cNvSpPr/>
          <p:nvPr/>
        </p:nvSpPr>
        <p:spPr>
          <a:xfrm>
            <a:off x="9138514" y="2881274"/>
            <a:ext cx="1647749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57"/>
          <p:cNvSpPr txBox="1"/>
          <p:nvPr/>
        </p:nvSpPr>
        <p:spPr>
          <a:xfrm>
            <a:off x="9290304" y="259049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10778033" y="2881274"/>
            <a:ext cx="9144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10930738" y="2590495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5095951" y="3319272"/>
            <a:ext cx="1152144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5248656" y="3029407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10:46:12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6248095" y="3319272"/>
            <a:ext cx="1352398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6400800" y="3029407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INT</a:t>
            </a:r>
            <a:endParaRPr lang="en-US" sz="1000" dirty="0"/>
          </a:p>
        </p:txBody>
      </p:sp>
      <p:sp>
        <p:nvSpPr>
          <p:cNvPr id="70" name="Shape 64"/>
          <p:cNvSpPr/>
          <p:nvPr/>
        </p:nvSpPr>
        <p:spPr>
          <a:xfrm>
            <a:off x="7595921" y="3319272"/>
            <a:ext cx="1543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1" name="Text 65"/>
          <p:cNvSpPr txBox="1"/>
          <p:nvPr/>
        </p:nvSpPr>
        <p:spPr>
          <a:xfrm>
            <a:off x="7747711" y="3029407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1000" dirty="0"/>
          </a:p>
        </p:txBody>
      </p:sp>
      <p:sp>
        <p:nvSpPr>
          <p:cNvPr id="72" name="Shape 66"/>
          <p:cNvSpPr/>
          <p:nvPr/>
        </p:nvSpPr>
        <p:spPr>
          <a:xfrm>
            <a:off x="9138514" y="3319272"/>
            <a:ext cx="1647749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3" name="Text 67"/>
          <p:cNvSpPr txBox="1"/>
          <p:nvPr/>
        </p:nvSpPr>
        <p:spPr>
          <a:xfrm>
            <a:off x="9290304" y="3029407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10.10.5.22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10778033" y="3319272"/>
            <a:ext cx="9144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10930738" y="3029407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00" dirty="0"/>
          </a:p>
        </p:txBody>
      </p:sp>
      <p:sp>
        <p:nvSpPr>
          <p:cNvPr id="76" name="Shape 70"/>
          <p:cNvSpPr/>
          <p:nvPr/>
        </p:nvSpPr>
        <p:spPr>
          <a:xfrm>
            <a:off x="5095951" y="3758184"/>
            <a:ext cx="1152144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Text 71"/>
          <p:cNvSpPr txBox="1"/>
          <p:nvPr/>
        </p:nvSpPr>
        <p:spPr>
          <a:xfrm>
            <a:off x="5248656" y="3467405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10:46:45</a:t>
            </a:r>
            <a:endParaRPr lang="en-US" sz="1000" dirty="0"/>
          </a:p>
        </p:txBody>
      </p:sp>
      <p:sp>
        <p:nvSpPr>
          <p:cNvPr id="78" name="Shape 72"/>
          <p:cNvSpPr/>
          <p:nvPr/>
        </p:nvSpPr>
        <p:spPr>
          <a:xfrm>
            <a:off x="6248095" y="3758184"/>
            <a:ext cx="1352398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9" name="Text 73"/>
          <p:cNvSpPr txBox="1"/>
          <p:nvPr/>
        </p:nvSpPr>
        <p:spPr>
          <a:xfrm>
            <a:off x="6400800" y="346740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INT</a:t>
            </a:r>
            <a:endParaRPr lang="en-US" sz="1000" dirty="0"/>
          </a:p>
        </p:txBody>
      </p:sp>
      <p:sp>
        <p:nvSpPr>
          <p:cNvPr id="80" name="Shape 74"/>
          <p:cNvSpPr/>
          <p:nvPr/>
        </p:nvSpPr>
        <p:spPr>
          <a:xfrm>
            <a:off x="7595921" y="3758184"/>
            <a:ext cx="1543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7747711" y="3467405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RDP (3389)</a:t>
            </a:r>
            <a:endParaRPr lang="en-US" sz="1000" dirty="0"/>
          </a:p>
        </p:txBody>
      </p:sp>
      <p:sp>
        <p:nvSpPr>
          <p:cNvPr id="82" name="Shape 76"/>
          <p:cNvSpPr/>
          <p:nvPr/>
        </p:nvSpPr>
        <p:spPr>
          <a:xfrm>
            <a:off x="9138514" y="3758184"/>
            <a:ext cx="1647749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9290304" y="3467405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10.10.5.100</a:t>
            </a:r>
            <a:endParaRPr lang="en-US" sz="1000" dirty="0"/>
          </a:p>
        </p:txBody>
      </p:sp>
      <p:sp>
        <p:nvSpPr>
          <p:cNvPr id="84" name="Shape 78"/>
          <p:cNvSpPr/>
          <p:nvPr/>
        </p:nvSpPr>
        <p:spPr>
          <a:xfrm>
            <a:off x="10778033" y="3758184"/>
            <a:ext cx="9144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5" name="Text 79"/>
          <p:cNvSpPr txBox="1"/>
          <p:nvPr/>
        </p:nvSpPr>
        <p:spPr>
          <a:xfrm>
            <a:off x="10930738" y="3467405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00" dirty="0"/>
          </a:p>
        </p:txBody>
      </p:sp>
      <p:sp>
        <p:nvSpPr>
          <p:cNvPr id="86" name="Shape 80"/>
          <p:cNvSpPr/>
          <p:nvPr/>
        </p:nvSpPr>
        <p:spPr>
          <a:xfrm>
            <a:off x="5095951" y="4196182"/>
            <a:ext cx="1152144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5248656" y="3905402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10:47:01</a:t>
            </a:r>
            <a:endParaRPr lang="en-US" sz="1000" dirty="0"/>
          </a:p>
        </p:txBody>
      </p:sp>
      <p:sp>
        <p:nvSpPr>
          <p:cNvPr id="88" name="Shape 82"/>
          <p:cNvSpPr/>
          <p:nvPr/>
        </p:nvSpPr>
        <p:spPr>
          <a:xfrm>
            <a:off x="6248095" y="4196182"/>
            <a:ext cx="1352398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9" name="Text 83"/>
          <p:cNvSpPr txBox="1"/>
          <p:nvPr/>
        </p:nvSpPr>
        <p:spPr>
          <a:xfrm>
            <a:off x="6400800" y="3905402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DMZ</a:t>
            </a:r>
            <a:endParaRPr lang="en-US" sz="1000" dirty="0"/>
          </a:p>
        </p:txBody>
      </p:sp>
      <p:sp>
        <p:nvSpPr>
          <p:cNvPr id="90" name="Shape 84"/>
          <p:cNvSpPr/>
          <p:nvPr/>
        </p:nvSpPr>
        <p:spPr>
          <a:xfrm>
            <a:off x="7595921" y="4196182"/>
            <a:ext cx="1543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1" name="Text 85"/>
          <p:cNvSpPr txBox="1"/>
          <p:nvPr/>
        </p:nvSpPr>
        <p:spPr>
          <a:xfrm>
            <a:off x="7747711" y="3905402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(3306)</a:t>
            </a:r>
            <a:endParaRPr lang="en-US" sz="1000" dirty="0"/>
          </a:p>
        </p:txBody>
      </p:sp>
      <p:sp>
        <p:nvSpPr>
          <p:cNvPr id="92" name="Shape 86"/>
          <p:cNvSpPr/>
          <p:nvPr/>
        </p:nvSpPr>
        <p:spPr>
          <a:xfrm>
            <a:off x="9138514" y="4196182"/>
            <a:ext cx="1647749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3" name="Text 87"/>
          <p:cNvSpPr txBox="1"/>
          <p:nvPr/>
        </p:nvSpPr>
        <p:spPr>
          <a:xfrm>
            <a:off x="9290304" y="3905402"/>
            <a:ext cx="1148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192.168.50.15</a:t>
            </a:r>
            <a:endParaRPr lang="en-US" sz="1000" dirty="0"/>
          </a:p>
        </p:txBody>
      </p:sp>
      <p:sp>
        <p:nvSpPr>
          <p:cNvPr id="94" name="Shape 88"/>
          <p:cNvSpPr/>
          <p:nvPr/>
        </p:nvSpPr>
        <p:spPr>
          <a:xfrm>
            <a:off x="10778033" y="4196182"/>
            <a:ext cx="9144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5" name="Text 89"/>
          <p:cNvSpPr txBox="1"/>
          <p:nvPr/>
        </p:nvSpPr>
        <p:spPr>
          <a:xfrm>
            <a:off x="10930738" y="3905402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000" dirty="0"/>
          </a:p>
        </p:txBody>
      </p:sp>
      <p:sp>
        <p:nvSpPr>
          <p:cNvPr id="96" name="Text 90"/>
          <p:cNvSpPr txBox="1"/>
          <p:nvPr/>
        </p:nvSpPr>
        <p:spPr>
          <a:xfrm>
            <a:off x="5248656" y="4343400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10:47:33</a:t>
            </a:r>
            <a:endParaRPr lang="en-US" sz="1000" dirty="0"/>
          </a:p>
        </p:txBody>
      </p:sp>
      <p:sp>
        <p:nvSpPr>
          <p:cNvPr id="97" name="Text 91"/>
          <p:cNvSpPr txBox="1"/>
          <p:nvPr/>
        </p:nvSpPr>
        <p:spPr>
          <a:xfrm>
            <a:off x="6400800" y="4343400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 ADMIN</a:t>
            </a:r>
            <a:endParaRPr lang="en-US" sz="1000" dirty="0"/>
          </a:p>
        </p:txBody>
      </p:sp>
      <p:sp>
        <p:nvSpPr>
          <p:cNvPr id="98" name="Text 92"/>
          <p:cNvSpPr txBox="1"/>
          <p:nvPr/>
        </p:nvSpPr>
        <p:spPr>
          <a:xfrm>
            <a:off x="7747711" y="4343400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Telnet (23)</a:t>
            </a:r>
            <a:endParaRPr lang="en-US" sz="1000" dirty="0"/>
          </a:p>
        </p:txBody>
      </p:sp>
      <p:sp>
        <p:nvSpPr>
          <p:cNvPr id="99" name="Text 93"/>
          <p:cNvSpPr txBox="1"/>
          <p:nvPr/>
        </p:nvSpPr>
        <p:spPr>
          <a:xfrm>
            <a:off x="9290304" y="4343400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172.16.1.1</a:t>
            </a:r>
            <a:endParaRPr lang="en-US" sz="1000" dirty="0"/>
          </a:p>
        </p:txBody>
      </p:sp>
      <p:sp>
        <p:nvSpPr>
          <p:cNvPr id="100" name="Text 94"/>
          <p:cNvSpPr txBox="1"/>
          <p:nvPr/>
        </p:nvSpPr>
        <p:spPr>
          <a:xfrm>
            <a:off x="10930738" y="4343400"/>
            <a:ext cx="424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00" dirty="0"/>
          </a:p>
        </p:txBody>
      </p:sp>
      <p:sp>
        <p:nvSpPr>
          <p:cNvPr id="101" name="Shape 95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2" name="Text 96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103" name="Text 97"/>
          <p:cNvSpPr txBox="1"/>
          <p:nvPr/>
        </p:nvSpPr>
        <p:spPr>
          <a:xfrm>
            <a:off x="5705856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104" name="Text 98"/>
          <p:cNvSpPr txBox="1"/>
          <p:nvPr/>
        </p:nvSpPr>
        <p:spPr>
          <a:xfrm>
            <a:off x="11439144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/ 60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1019556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9441" y="300838"/>
            <a:ext cx="46817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Alerts – Monitoring Only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762195" cy="1343254"/>
          </a:xfrm>
          <a:prstGeom prst="roundRect">
            <a:avLst>
              <a:gd name="adj" fmla="val 386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IDS alerts grouped by network zone.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1886407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 vs. low severity patterns.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2523744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2747772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2704795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057754"/>
            <a:ext cx="3706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provides visibility, not just blocking.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3381451"/>
            <a:ext cx="37152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detection coverage without breaking flows.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4286707"/>
            <a:ext cx="4762195" cy="1666951"/>
          </a:xfrm>
          <a:prstGeom prst="roundRect">
            <a:avLst>
              <a:gd name="adj" fmla="val 250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4509821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4466844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4819802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severity (Critical/High/Medium).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143500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context (Source Zone → Dest Zone).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76656" y="5467198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Response: "Observe &amp; Document" (No block).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372100" y="1028700"/>
            <a:ext cx="6515100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5562295" y="1252728"/>
            <a:ext cx="1472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ALERT CONSOLE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0008108" y="1218895"/>
            <a:ext cx="1695298" cy="228600"/>
          </a:xfrm>
          <a:prstGeom prst="roundRect">
            <a:avLst>
              <a:gd name="adj" fmla="val 66667"/>
            </a:avLst>
          </a:prstGeom>
          <a:solidFill>
            <a:srgbClr val="37415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084003" y="1257300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MODE: PASSIVE / MONITOR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562295" y="1561795"/>
            <a:ext cx="6133795" cy="2752344"/>
          </a:xfrm>
          <a:prstGeom prst="roundRect">
            <a:avLst>
              <a:gd name="adj" fmla="val 69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572354" y="1571854"/>
            <a:ext cx="6115507" cy="40050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5724144" y="1695298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486754" y="1695298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7438644" y="1695298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/ EVENT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9820656" y="1695298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CONTEXT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572354" y="2419502"/>
            <a:ext cx="6115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2"/>
          <p:cNvSpPr/>
          <p:nvPr/>
        </p:nvSpPr>
        <p:spPr>
          <a:xfrm>
            <a:off x="5724144" y="2085746"/>
            <a:ext cx="666598" cy="219456"/>
          </a:xfrm>
          <a:prstGeom prst="roundRect">
            <a:avLst>
              <a:gd name="adj" fmla="val 72464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925312" y="2115007"/>
            <a:ext cx="3456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486754" y="2109521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10:42:05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7438644" y="2109521"/>
            <a:ext cx="22933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Anomaly: Malformed Header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9820656" y="2109521"/>
            <a:ext cx="2834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</a:t>
            </a:r>
            <a:endParaRPr lang="en-US" sz="9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10043770" y="2133295"/>
            <a:ext cx="105156" cy="1143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0186416" y="2109521"/>
            <a:ext cx="3794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572354" y="2872130"/>
            <a:ext cx="6115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39"/>
          <p:cNvSpPr/>
          <p:nvPr/>
        </p:nvSpPr>
        <p:spPr>
          <a:xfrm>
            <a:off x="5724144" y="2538374"/>
            <a:ext cx="666598" cy="219456"/>
          </a:xfrm>
          <a:prstGeom prst="roundRect">
            <a:avLst>
              <a:gd name="adj" fmla="val 7246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939028" y="2566721"/>
            <a:ext cx="3172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6486754" y="2562149"/>
            <a:ext cx="5788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10:43:12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7438644" y="2562149"/>
            <a:ext cx="2303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Violation: Unapproved Protocol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9820656" y="2562149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9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10005365" y="2585923"/>
            <a:ext cx="105156" cy="11430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148011" y="2562149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5572354" y="3324758"/>
            <a:ext cx="6115507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Shape 46"/>
          <p:cNvSpPr/>
          <p:nvPr/>
        </p:nvSpPr>
        <p:spPr>
          <a:xfrm>
            <a:off x="5724144" y="2991002"/>
            <a:ext cx="666598" cy="219456"/>
          </a:xfrm>
          <a:prstGeom prst="roundRect">
            <a:avLst>
              <a:gd name="adj" fmla="val 7246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5936285" y="3019349"/>
            <a:ext cx="3264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800" dirty="0"/>
          </a:p>
        </p:txBody>
      </p:sp>
      <p:sp>
        <p:nvSpPr>
          <p:cNvPr id="56" name="Text 48"/>
          <p:cNvSpPr txBox="1"/>
          <p:nvPr/>
        </p:nvSpPr>
        <p:spPr>
          <a:xfrm>
            <a:off x="6486754" y="3014777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10:45:00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7438644" y="3014777"/>
            <a:ext cx="18836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Scan: Host Discovery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9820656" y="3014777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9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10005365" y="3038551"/>
            <a:ext cx="105156" cy="114300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10148011" y="3014777"/>
            <a:ext cx="2834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</a:t>
            </a:r>
            <a:endParaRPr lang="en-US" sz="900" dirty="0"/>
          </a:p>
        </p:txBody>
      </p:sp>
      <p:sp>
        <p:nvSpPr>
          <p:cNvPr id="61" name="Shape 52"/>
          <p:cNvSpPr/>
          <p:nvPr/>
        </p:nvSpPr>
        <p:spPr>
          <a:xfrm>
            <a:off x="5724144" y="3443630"/>
            <a:ext cx="666598" cy="219456"/>
          </a:xfrm>
          <a:prstGeom prst="roundRect">
            <a:avLst>
              <a:gd name="adj" fmla="val 7246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5931713" y="3471977"/>
            <a:ext cx="3364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</a:t>
            </a:r>
            <a:endParaRPr lang="en-US" sz="800" dirty="0"/>
          </a:p>
        </p:txBody>
      </p:sp>
      <p:sp>
        <p:nvSpPr>
          <p:cNvPr id="63" name="Text 54"/>
          <p:cNvSpPr txBox="1"/>
          <p:nvPr/>
        </p:nvSpPr>
        <p:spPr>
          <a:xfrm>
            <a:off x="6486754" y="3467405"/>
            <a:ext cx="6080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10:46:22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7438644" y="3467405"/>
            <a:ext cx="16267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Query - High Volume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9820656" y="3467405"/>
            <a:ext cx="3794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900" dirty="0"/>
          </a:p>
        </p:txBody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10137953" y="3491179"/>
            <a:ext cx="105156" cy="114300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10280599" y="3467405"/>
            <a:ext cx="2834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5562295" y="4486046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ALERT DETAILS</a:t>
            </a:r>
            <a:endParaRPr lang="en-US" sz="1000" dirty="0"/>
          </a:p>
        </p:txBody>
      </p:sp>
      <p:sp>
        <p:nvSpPr>
          <p:cNvPr id="69" name="Shape 59"/>
          <p:cNvSpPr/>
          <p:nvPr/>
        </p:nvSpPr>
        <p:spPr>
          <a:xfrm>
            <a:off x="5562295" y="4743907"/>
            <a:ext cx="6133795" cy="952805"/>
          </a:xfrm>
          <a:prstGeom prst="roundRect">
            <a:avLst>
              <a:gd name="adj" fmla="val 3839"/>
            </a:avLst>
          </a:prstGeom>
          <a:solidFill>
            <a:srgbClr val="000000"/>
          </a:solidFill>
          <a:ln/>
        </p:spPr>
      </p:sp>
      <p:sp>
        <p:nvSpPr>
          <p:cNvPr id="70" name="Shape 60"/>
          <p:cNvSpPr/>
          <p:nvPr/>
        </p:nvSpPr>
        <p:spPr>
          <a:xfrm>
            <a:off x="5562295" y="4743907"/>
            <a:ext cx="38405" cy="95280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5715000" y="4876495"/>
            <a:ext cx="8458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Signature:</a:t>
            </a:r>
            <a:endParaRPr lang="en-US" sz="900" dirty="0"/>
          </a:p>
        </p:txBody>
      </p:sp>
      <p:sp>
        <p:nvSpPr>
          <p:cNvPr id="72" name="Text 62"/>
          <p:cNvSpPr txBox="1"/>
          <p:nvPr/>
        </p:nvSpPr>
        <p:spPr>
          <a:xfrm>
            <a:off x="6534302" y="4876495"/>
            <a:ext cx="27697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NETWORK Protocol Anomaly Detected</a:t>
            </a:r>
            <a:endParaRPr lang="en-US" sz="900" dirty="0"/>
          </a:p>
        </p:txBody>
      </p:sp>
      <p:sp>
        <p:nvSpPr>
          <p:cNvPr id="73" name="Text 63"/>
          <p:cNvSpPr txBox="1"/>
          <p:nvPr/>
        </p:nvSpPr>
        <p:spPr>
          <a:xfrm>
            <a:off x="5715000" y="5062118"/>
            <a:ext cx="6172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900" dirty="0"/>
          </a:p>
        </p:txBody>
      </p:sp>
      <p:sp>
        <p:nvSpPr>
          <p:cNvPr id="74" name="Text 64"/>
          <p:cNvSpPr txBox="1"/>
          <p:nvPr/>
        </p:nvSpPr>
        <p:spPr>
          <a:xfrm>
            <a:off x="6311189" y="5062118"/>
            <a:ext cx="18077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203.0.113.88 (External)</a:t>
            </a:r>
            <a:endParaRPr lang="en-US" sz="900" dirty="0"/>
          </a:p>
        </p:txBody>
      </p:sp>
      <p:sp>
        <p:nvSpPr>
          <p:cNvPr id="75" name="Text 65"/>
          <p:cNvSpPr txBox="1"/>
          <p:nvPr/>
        </p:nvSpPr>
        <p:spPr>
          <a:xfrm>
            <a:off x="8020202" y="5062118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Dest:</a:t>
            </a:r>
            <a:endParaRPr lang="en-US" sz="900" dirty="0"/>
          </a:p>
        </p:txBody>
      </p:sp>
      <p:sp>
        <p:nvSpPr>
          <p:cNvPr id="76" name="Text 66"/>
          <p:cNvSpPr txBox="1"/>
          <p:nvPr/>
        </p:nvSpPr>
        <p:spPr>
          <a:xfrm>
            <a:off x="8468258" y="5062118"/>
            <a:ext cx="14365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 (DMZ)</a:t>
            </a:r>
            <a:endParaRPr lang="en-US" sz="900" dirty="0"/>
          </a:p>
        </p:txBody>
      </p:sp>
      <p:sp>
        <p:nvSpPr>
          <p:cNvPr id="77" name="Text 67"/>
          <p:cNvSpPr txBox="1"/>
          <p:nvPr/>
        </p:nvSpPr>
        <p:spPr>
          <a:xfrm>
            <a:off x="5715000" y="5248656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Taken:</a:t>
            </a:r>
            <a:endParaRPr lang="en-US" sz="900" dirty="0"/>
          </a:p>
        </p:txBody>
      </p:sp>
      <p:sp>
        <p:nvSpPr>
          <p:cNvPr id="78" name="Text 68"/>
          <p:cNvSpPr txBox="1"/>
          <p:nvPr/>
        </p:nvSpPr>
        <p:spPr>
          <a:xfrm>
            <a:off x="6757416" y="5248656"/>
            <a:ext cx="27697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Alerted Only (Inline Block Disabled)</a:t>
            </a:r>
            <a:endParaRPr lang="en-US" sz="900" dirty="0"/>
          </a:p>
        </p:txBody>
      </p:sp>
      <p:sp>
        <p:nvSpPr>
          <p:cNvPr id="79" name="Text 69"/>
          <p:cNvSpPr txBox="1"/>
          <p:nvPr/>
        </p:nvSpPr>
        <p:spPr>
          <a:xfrm>
            <a:off x="5715000" y="5434279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 Note:</a:t>
            </a:r>
            <a:endParaRPr lang="en-US" sz="900" dirty="0"/>
          </a:p>
        </p:txBody>
      </p:sp>
      <p:sp>
        <p:nvSpPr>
          <p:cNvPr id="80" name="Text 70"/>
          <p:cNvSpPr txBox="1"/>
          <p:nvPr/>
        </p:nvSpPr>
        <p:spPr>
          <a:xfrm>
            <a:off x="6757416" y="5434279"/>
            <a:ext cx="41129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unusual traffic pattern. Escalate for review.</a:t>
            </a:r>
            <a:endParaRPr lang="en-US" sz="900" dirty="0"/>
          </a:p>
        </p:txBody>
      </p:sp>
      <p:sp>
        <p:nvSpPr>
          <p:cNvPr id="81" name="Shape 71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Text 72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83" name="Text 73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84" name="Text 74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/ 60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1009498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58468" y="300838"/>
            <a:ext cx="51197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DNS, DHCP, NTP Behavior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42108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 normal service logs from warning signs.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2152498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baseline for healthy core services.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2790749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3014777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2971800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323844"/>
            <a:ext cx="42108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DNS/DHCP are often the first indicators of an attack.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3914546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sync (NTP) is critical for log accuracy.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4552798"/>
            <a:ext cx="4762195" cy="1666951"/>
          </a:xfrm>
          <a:prstGeom prst="roundRect">
            <a:avLst>
              <a:gd name="adj" fmla="val 250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4776826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4733849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5086807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DNS: Unusual domains or high failure rates.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410505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DHCP: New/unknown devices appearing.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76656" y="5734202"/>
            <a:ext cx="4029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NTP: Large time drifts affecting correlation.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372100" y="1028700"/>
            <a:ext cx="6515100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5562295" y="1218895"/>
            <a:ext cx="6133795" cy="1390802"/>
          </a:xfrm>
          <a:prstGeom prst="roundRect">
            <a:avLst>
              <a:gd name="adj" fmla="val 27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572354" y="1228954"/>
            <a:ext cx="6115507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5572354" y="1581912"/>
            <a:ext cx="6115507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5686654" y="1338682"/>
            <a:ext cx="171907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934456" y="1304849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MONITOR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0822838" y="1328623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53 (UDP)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572354" y="1591056"/>
            <a:ext cx="6115507" cy="10094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5667451" y="1916582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10:42:01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356909" y="1916582"/>
            <a:ext cx="25511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 google.com -&gt; 142.250.1.1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11173054" y="1897380"/>
            <a:ext cx="428854" cy="200254"/>
          </a:xfrm>
          <a:prstGeom prst="roundRect">
            <a:avLst>
              <a:gd name="adj" fmla="val 43488"/>
            </a:avLst>
          </a:prstGeom>
          <a:solidFill>
            <a:srgbClr val="064E3B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11210544" y="1925726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5667451" y="2115007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10:42:05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6356909" y="2115007"/>
            <a:ext cx="23317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 x8z9.c2.io -&gt; NXDOMAIN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1173054" y="2095805"/>
            <a:ext cx="428854" cy="200254"/>
          </a:xfrm>
          <a:prstGeom prst="roundRect">
            <a:avLst>
              <a:gd name="adj" fmla="val 43488"/>
            </a:avLst>
          </a:prstGeom>
          <a:solidFill>
            <a:srgbClr val="451A03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11210544" y="2124151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5562295" y="2762402"/>
            <a:ext cx="6133795" cy="1390802"/>
          </a:xfrm>
          <a:prstGeom prst="roundRect">
            <a:avLst>
              <a:gd name="adj" fmla="val 27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572354" y="2771546"/>
            <a:ext cx="6115507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38"/>
          <p:cNvSpPr/>
          <p:nvPr/>
        </p:nvSpPr>
        <p:spPr>
          <a:xfrm>
            <a:off x="5572354" y="3124505"/>
            <a:ext cx="6115507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5686654" y="2881274"/>
            <a:ext cx="171907" cy="1335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5934456" y="2848356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DHCP MONITOR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10584180" y="2872130"/>
            <a:ext cx="10771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Ports 67/68 (UDP)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5572354" y="3133649"/>
            <a:ext cx="6115507" cy="10094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5667451" y="3459175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10:43:10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6356909" y="3459175"/>
            <a:ext cx="27697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192.168.1.105 -&gt; MAC aa:bb:cc...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11229746" y="3440887"/>
            <a:ext cx="371246" cy="200254"/>
          </a:xfrm>
          <a:prstGeom prst="roundRect">
            <a:avLst>
              <a:gd name="adj" fmla="val 43488"/>
            </a:avLst>
          </a:prstGeom>
          <a:solidFill>
            <a:srgbClr val="064E3B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11268151" y="3469234"/>
            <a:ext cx="3721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RENEW</a:t>
            </a:r>
            <a:endParaRPr lang="en-US" sz="800" dirty="0"/>
          </a:p>
        </p:txBody>
      </p:sp>
      <p:sp>
        <p:nvSpPr>
          <p:cNvPr id="54" name="Text 46"/>
          <p:cNvSpPr txBox="1"/>
          <p:nvPr/>
        </p:nvSpPr>
        <p:spPr>
          <a:xfrm>
            <a:off x="5667451" y="3657600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10:43:45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6356909" y="3657600"/>
            <a:ext cx="26270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 MAC 00:11:22... (Unknown)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11115446" y="3638398"/>
            <a:ext cx="485546" cy="200254"/>
          </a:xfrm>
          <a:prstGeom prst="roundRect">
            <a:avLst>
              <a:gd name="adj" fmla="val 43488"/>
            </a:avLst>
          </a:prstGeom>
          <a:solidFill>
            <a:srgbClr val="451A03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11153851" y="3666744"/>
            <a:ext cx="4864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DEV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5562295" y="4304995"/>
            <a:ext cx="6133795" cy="1390802"/>
          </a:xfrm>
          <a:prstGeom prst="roundRect">
            <a:avLst>
              <a:gd name="adj" fmla="val 27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5572354" y="4315054"/>
            <a:ext cx="6115507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0" name="Shape 52"/>
          <p:cNvSpPr/>
          <p:nvPr/>
        </p:nvSpPr>
        <p:spPr>
          <a:xfrm>
            <a:off x="5572354" y="4668012"/>
            <a:ext cx="6115507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686654" y="4424782"/>
            <a:ext cx="133502" cy="133502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5896051" y="4390949"/>
            <a:ext cx="1053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NTP MONITOR</a:t>
            </a:r>
            <a:endParaRPr lang="en-US" sz="1000" dirty="0"/>
          </a:p>
        </p:txBody>
      </p:sp>
      <p:sp>
        <p:nvSpPr>
          <p:cNvPr id="63" name="Text 54"/>
          <p:cNvSpPr txBox="1"/>
          <p:nvPr/>
        </p:nvSpPr>
        <p:spPr>
          <a:xfrm>
            <a:off x="10774375" y="4414723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123 (UDP)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5572354" y="4677156"/>
            <a:ext cx="6115507" cy="10094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5667451" y="5002682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10:45:00</a:t>
            </a:r>
            <a:endParaRPr lang="en-US" sz="900" dirty="0"/>
          </a:p>
        </p:txBody>
      </p:sp>
      <p:sp>
        <p:nvSpPr>
          <p:cNvPr id="66" name="Text 57"/>
          <p:cNvSpPr txBox="1"/>
          <p:nvPr/>
        </p:nvSpPr>
        <p:spPr>
          <a:xfrm>
            <a:off x="6356909" y="5002682"/>
            <a:ext cx="30742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source=1.pool.ntp.org offset=0.002s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11173054" y="4983480"/>
            <a:ext cx="428854" cy="200254"/>
          </a:xfrm>
          <a:prstGeom prst="roundRect">
            <a:avLst>
              <a:gd name="adj" fmla="val 43488"/>
            </a:avLst>
          </a:prstGeom>
          <a:solidFill>
            <a:srgbClr val="064E3B"/>
          </a:solidFill>
          <a:ln/>
        </p:spPr>
      </p:sp>
      <p:sp>
        <p:nvSpPr>
          <p:cNvPr id="68" name="Text 59"/>
          <p:cNvSpPr txBox="1"/>
          <p:nvPr/>
        </p:nvSpPr>
        <p:spPr>
          <a:xfrm>
            <a:off x="11210544" y="5011826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SYNCED</a:t>
            </a:r>
            <a:endParaRPr lang="en-US" sz="800" dirty="0"/>
          </a:p>
        </p:txBody>
      </p:sp>
      <p:sp>
        <p:nvSpPr>
          <p:cNvPr id="69" name="Text 60"/>
          <p:cNvSpPr txBox="1"/>
          <p:nvPr/>
        </p:nvSpPr>
        <p:spPr>
          <a:xfrm>
            <a:off x="5667451" y="5201107"/>
            <a:ext cx="6931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10:45:01</a:t>
            </a:r>
            <a:endParaRPr lang="en-US" sz="900" dirty="0"/>
          </a:p>
        </p:txBody>
      </p:sp>
      <p:sp>
        <p:nvSpPr>
          <p:cNvPr id="70" name="Text 61"/>
          <p:cNvSpPr txBox="1"/>
          <p:nvPr/>
        </p:nvSpPr>
        <p:spPr>
          <a:xfrm>
            <a:off x="6356909" y="5201107"/>
            <a:ext cx="23984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source=local offset=3500s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11287354" y="5181905"/>
            <a:ext cx="314554" cy="200254"/>
          </a:xfrm>
          <a:prstGeom prst="roundRect">
            <a:avLst>
              <a:gd name="adj" fmla="val 43488"/>
            </a:avLst>
          </a:prstGeom>
          <a:solidFill>
            <a:srgbClr val="451A03"/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11324844" y="5210251"/>
            <a:ext cx="3145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65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5" name="Text 66"/>
          <p:cNvSpPr txBox="1"/>
          <p:nvPr/>
        </p:nvSpPr>
        <p:spPr>
          <a:xfrm>
            <a:off x="5707685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6" name="Text 67"/>
          <p:cNvSpPr txBox="1"/>
          <p:nvPr/>
        </p:nvSpPr>
        <p:spPr>
          <a:xfrm>
            <a:off x="11442802" y="6238951"/>
            <a:ext cx="547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/ 60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18388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304495"/>
            <a:ext cx="1009498" cy="400507"/>
          </a:xfrm>
          <a:prstGeom prst="roundRect">
            <a:avLst>
              <a:gd name="adj" fmla="val 3261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954" y="300838"/>
            <a:ext cx="54534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East-West vs North-South Views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923630" y="323698"/>
            <a:ext cx="2971800" cy="362102"/>
          </a:xfrm>
          <a:prstGeom prst="roundRect">
            <a:avLst>
              <a:gd name="adj" fmla="val 252526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9085478" y="4288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33281" y="39044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 — NO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495" y="1028700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660" r="-2660" t="0" b="0"/>
          <a:stretch/>
        </p:blipFill>
        <p:spPr>
          <a:xfrm>
            <a:off x="485546" y="1252728"/>
            <a:ext cx="181051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407" y="1209751"/>
            <a:ext cx="633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1561795"/>
            <a:ext cx="4144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internal traffic signals vs perimeter signals.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" y="2152498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different visibility points.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04495" y="2790749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485546" y="3014777"/>
            <a:ext cx="133502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" y="2971800"/>
            <a:ext cx="19577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" y="3323844"/>
            <a:ext cx="38578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(N-S) is noisy; Internal (E-W) is quiet.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3914546"/>
            <a:ext cx="3753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Attacks often pivot laterally (East-West).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04495" y="4552798"/>
            <a:ext cx="4762195" cy="1609344"/>
          </a:xfrm>
          <a:prstGeom prst="roundRect">
            <a:avLst>
              <a:gd name="adj" fmla="val 2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2660" r="-2660" t="0" b="0"/>
          <a:stretch/>
        </p:blipFill>
        <p:spPr>
          <a:xfrm>
            <a:off x="485546" y="4776826"/>
            <a:ext cx="181051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" y="4733849"/>
            <a:ext cx="20628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LOOKS AT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" y="5086807"/>
            <a:ext cx="38679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dashboards for edge vs internal zones.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" y="5676595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movement spikes in E-W logs.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5372100" y="1028700"/>
            <a:ext cx="6515100" cy="4858207"/>
          </a:xfrm>
          <a:prstGeom prst="roundRect">
            <a:avLst>
              <a:gd name="adj" fmla="val 295"/>
            </a:avLst>
          </a:prstGeom>
          <a:solidFill>
            <a:srgbClr val="1E29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562295" y="1238098"/>
            <a:ext cx="26051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VISUALIZATION DASHBOARD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240719" y="1271930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431829" y="1238098"/>
            <a:ext cx="367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62295" y="1571854"/>
            <a:ext cx="2991002" cy="2361895"/>
          </a:xfrm>
          <a:prstGeom prst="roundRect">
            <a:avLst>
              <a:gd name="adj" fmla="val 9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86654" y="1923898"/>
            <a:ext cx="2743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5686654" y="1705356"/>
            <a:ext cx="1724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NORTH-SOUTH (PERIMETER)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5200" b="-25200"/>
          <a:stretch/>
        </p:blipFill>
        <p:spPr>
          <a:xfrm>
            <a:off x="8315554" y="1695298"/>
            <a:ext cx="114300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686654" y="2038198"/>
            <a:ext cx="13935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 / External IPs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5686654" y="2262226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36" name="Shape 28"/>
          <p:cNvSpPr/>
          <p:nvPr/>
        </p:nvSpPr>
        <p:spPr>
          <a:xfrm>
            <a:off x="5686654" y="2262226"/>
            <a:ext cx="2333549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5762549" y="2297887"/>
            <a:ext cx="11457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Traffic (HTTP/S)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5686654" y="2566721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39" name="Shape 31"/>
          <p:cNvSpPr/>
          <p:nvPr/>
        </p:nvSpPr>
        <p:spPr>
          <a:xfrm>
            <a:off x="5686654" y="2566721"/>
            <a:ext cx="418795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5762549" y="2602382"/>
            <a:ext cx="9747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Scanners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5686654" y="287213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42" name="Shape 34"/>
          <p:cNvSpPr/>
          <p:nvPr/>
        </p:nvSpPr>
        <p:spPr>
          <a:xfrm>
            <a:off x="5686654" y="2872130"/>
            <a:ext cx="1104595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5762549" y="2907792"/>
            <a:ext cx="9555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Connections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8706002" y="1571854"/>
            <a:ext cx="2991002" cy="2361895"/>
          </a:xfrm>
          <a:prstGeom prst="roundRect">
            <a:avLst>
              <a:gd name="adj" fmla="val 9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829446" y="1923898"/>
            <a:ext cx="27432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829446" y="1705356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EAST-WEST (INTERNAL)</a:t>
            </a:r>
            <a:endParaRPr lang="en-US" sz="9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5321" b="-25321"/>
          <a:stretch/>
        </p:blipFill>
        <p:spPr>
          <a:xfrm>
            <a:off x="11430000" y="1695298"/>
            <a:ext cx="142646" cy="171907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8829446" y="2038198"/>
            <a:ext cx="14694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Volume / Trust Zones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8829446" y="2262226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50" name="Shape 41"/>
          <p:cNvSpPr/>
          <p:nvPr/>
        </p:nvSpPr>
        <p:spPr>
          <a:xfrm>
            <a:off x="8829446" y="2262226"/>
            <a:ext cx="1647749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906256" y="2297887"/>
            <a:ext cx="9646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Shares (SMB)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8829446" y="2566721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53" name="Shape 44"/>
          <p:cNvSpPr/>
          <p:nvPr/>
        </p:nvSpPr>
        <p:spPr>
          <a:xfrm>
            <a:off x="8829446" y="2566721"/>
            <a:ext cx="828446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906256" y="2602382"/>
            <a:ext cx="9646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Queries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8829446" y="2872130"/>
            <a:ext cx="2743200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/>
        </p:spPr>
      </p:sp>
      <p:sp>
        <p:nvSpPr>
          <p:cNvPr id="56" name="Shape 47"/>
          <p:cNvSpPr/>
          <p:nvPr/>
        </p:nvSpPr>
        <p:spPr>
          <a:xfrm>
            <a:off x="8829446" y="2872130"/>
            <a:ext cx="276149" cy="228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906256" y="2907792"/>
            <a:ext cx="6409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RDP</a:t>
            </a:r>
            <a:endParaRPr lang="en-US" sz="800" dirty="0"/>
          </a:p>
        </p:txBody>
      </p:sp>
      <p:sp>
        <p:nvSpPr>
          <p:cNvPr id="58" name="Text 49"/>
          <p:cNvSpPr txBox="1"/>
          <p:nvPr/>
        </p:nvSpPr>
        <p:spPr>
          <a:xfrm>
            <a:off x="5562295" y="4105656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SAMPLED EVENT LOGS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5562295" y="4362602"/>
            <a:ext cx="6133795" cy="1333195"/>
          </a:xfrm>
          <a:prstGeom prst="roundRect">
            <a:avLst>
              <a:gd name="adj" fmla="val 1960"/>
            </a:avLst>
          </a:prstGeom>
          <a:solidFill>
            <a:srgbClr val="000000"/>
          </a:solidFill>
          <a:ln/>
        </p:spPr>
      </p:sp>
      <p:sp>
        <p:nvSpPr>
          <p:cNvPr id="60" name="Shape 51"/>
          <p:cNvSpPr/>
          <p:nvPr/>
        </p:nvSpPr>
        <p:spPr>
          <a:xfrm>
            <a:off x="5562295" y="4362602"/>
            <a:ext cx="38405" cy="133319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5715000" y="4496105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N-S | FW-EDGE</a:t>
            </a:r>
            <a:endParaRPr lang="en-US" sz="900" dirty="0"/>
          </a:p>
        </p:txBody>
      </p:sp>
      <p:sp>
        <p:nvSpPr>
          <p:cNvPr id="62" name="Text 53"/>
          <p:cNvSpPr txBox="1"/>
          <p:nvPr/>
        </p:nvSpPr>
        <p:spPr>
          <a:xfrm>
            <a:off x="6680606" y="4496105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7052767" y="4496105"/>
            <a:ext cx="34463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SRC=45.33.2.1 DST=DMZ-WEB PROTO=SSH (Scanner)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5715000" y="4719218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N-S | FW-EDGE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6680606" y="4719218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900" dirty="0"/>
          </a:p>
        </p:txBody>
      </p:sp>
      <p:sp>
        <p:nvSpPr>
          <p:cNvPr id="66" name="Text 57"/>
          <p:cNvSpPr txBox="1"/>
          <p:nvPr/>
        </p:nvSpPr>
        <p:spPr>
          <a:xfrm>
            <a:off x="7052767" y="4719218"/>
            <a:ext cx="35131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SRC=192.168.1.5 DST=8.8.8.8 PROTO=UDP/53 (DNS)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5715000" y="4943246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E-W | IDS-INT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6680606" y="4943246"/>
            <a:ext cx="474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7052767" y="4943246"/>
            <a:ext cx="33695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SRC=10.10.5.50 DST=10.10.5.60 SIG="SMB Scan"</a:t>
            </a:r>
            <a:endParaRPr lang="en-US" sz="900" dirty="0"/>
          </a:p>
        </p:txBody>
      </p:sp>
      <p:sp>
        <p:nvSpPr>
          <p:cNvPr id="70" name="Text 61"/>
          <p:cNvSpPr txBox="1"/>
          <p:nvPr/>
        </p:nvSpPr>
        <p:spPr>
          <a:xfrm>
            <a:off x="5715000" y="5167274"/>
            <a:ext cx="52276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E-W | FW-INT ALLOW SRC=10.10.5.22 DST=10.10.6.55 PROTO=TCP/1433 (SQL)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73" name="Text 64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74" name="Text 65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/ 60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79205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Summary: Segmentation and SOC Visibility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4495" y="1194206"/>
            <a:ext cx="5238598" cy="1410005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4495" y="1194206"/>
            <a:ext cx="57607" cy="141000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298" y="1432865"/>
            <a:ext cx="237744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6054" y="1385316"/>
            <a:ext cx="1858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Learned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3407" y="1765706"/>
            <a:ext cx="4005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Networks are secured and segmented.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3407" y="2097634"/>
            <a:ext cx="3748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Zones create clear trust boundaries.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4495" y="2790749"/>
            <a:ext cx="5238598" cy="1410005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495" y="2790749"/>
            <a:ext cx="57607" cy="141000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2298" y="3029407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8505" y="2980944"/>
            <a:ext cx="1515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43407" y="3362249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Containment limits the "blast radius".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43407" y="3694176"/>
            <a:ext cx="3786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 helps analysts spot risks fast.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04495" y="4387291"/>
            <a:ext cx="5238598" cy="1410005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4495" y="4387291"/>
            <a:ext cx="57607" cy="141000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2298" y="4625035"/>
            <a:ext cx="190195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8505" y="4577486"/>
            <a:ext cx="2105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Does Next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43407" y="4958791"/>
            <a:ext cx="32909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zones via dashboards.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43407" y="5289804"/>
            <a:ext cx="3091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cross-zone alerts.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848502" y="1100938"/>
            <a:ext cx="6038698" cy="4791456"/>
          </a:xfrm>
          <a:prstGeom prst="roundRect">
            <a:avLst>
              <a:gd name="adj" fmla="val 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57646" y="1110996"/>
            <a:ext cx="6019495" cy="4663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1"/>
          <p:cNvSpPr/>
          <p:nvPr/>
        </p:nvSpPr>
        <p:spPr>
          <a:xfrm>
            <a:off x="5857646" y="1568196"/>
            <a:ext cx="60194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6048756" y="1262786"/>
            <a:ext cx="171907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95644" y="1243584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Security View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982858" y="1270102"/>
            <a:ext cx="133502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153851" y="1253642"/>
            <a:ext cx="633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48756" y="1767535"/>
            <a:ext cx="5639105" cy="1876349"/>
          </a:xfrm>
          <a:prstGeom prst="roundRect">
            <a:avLst>
              <a:gd name="adj" fmla="val 197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152998" y="1862633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834226" y="2580437"/>
            <a:ext cx="1705356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27"/>
          <p:cNvSpPr/>
          <p:nvPr/>
        </p:nvSpPr>
        <p:spPr>
          <a:xfrm>
            <a:off x="7551115" y="2466137"/>
            <a:ext cx="276149" cy="181051"/>
          </a:xfrm>
          <a:prstGeom prst="roundRect">
            <a:avLst>
              <a:gd name="adj" fmla="val 106327"/>
            </a:avLst>
          </a:prstGeom>
          <a:solidFill>
            <a:srgbClr val="EF4444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607808" y="2495398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9184234" y="2580437"/>
            <a:ext cx="1705356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0"/>
          <p:cNvSpPr/>
          <p:nvPr/>
        </p:nvSpPr>
        <p:spPr>
          <a:xfrm>
            <a:off x="9901123" y="2466137"/>
            <a:ext cx="276149" cy="181051"/>
          </a:xfrm>
          <a:prstGeom prst="roundRect">
            <a:avLst>
              <a:gd name="adj" fmla="val 106327"/>
            </a:avLst>
          </a:prstGeom>
          <a:solidFill>
            <a:srgbClr val="EF4444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958730" y="2495398"/>
            <a:ext cx="23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6048756" y="3832250"/>
            <a:ext cx="2743200" cy="1857146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172200" y="3964838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BY ZONE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6172200" y="4222699"/>
            <a:ext cx="576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362188" y="4222699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72200" y="4460443"/>
            <a:ext cx="2495398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44" name="Shape 37"/>
          <p:cNvSpPr/>
          <p:nvPr/>
        </p:nvSpPr>
        <p:spPr>
          <a:xfrm>
            <a:off x="6172200" y="4460443"/>
            <a:ext cx="2124151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172200" y="4593946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8391449" y="4593946"/>
            <a:ext cx="376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172200" y="4831690"/>
            <a:ext cx="2495398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48" name="Shape 41"/>
          <p:cNvSpPr/>
          <p:nvPr/>
        </p:nvSpPr>
        <p:spPr>
          <a:xfrm>
            <a:off x="6172200" y="4831690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F59E0B"/>
          </a:solidFill>
          <a:ln/>
        </p:spPr>
      </p:sp>
      <p:sp>
        <p:nvSpPr>
          <p:cNvPr id="49" name="Shape 42"/>
          <p:cNvSpPr/>
          <p:nvPr/>
        </p:nvSpPr>
        <p:spPr>
          <a:xfrm>
            <a:off x="8943746" y="3832250"/>
            <a:ext cx="2743200" cy="1857146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9068105" y="3964838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 ACTIONS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9068105" y="4222699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1267237" y="4222699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2.4k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9068105" y="4460443"/>
            <a:ext cx="2495398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54" name="Shape 47"/>
          <p:cNvSpPr/>
          <p:nvPr/>
        </p:nvSpPr>
        <p:spPr>
          <a:xfrm>
            <a:off x="9068105" y="4460443"/>
            <a:ext cx="2247595" cy="38405"/>
          </a:xfrm>
          <a:prstGeom prst="roundRect">
            <a:avLst>
              <a:gd name="adj" fmla="val 1190470"/>
            </a:avLst>
          </a:prstGeom>
          <a:solidFill>
            <a:srgbClr val="10B981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9068105" y="4593946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1421770" y="4593946"/>
            <a:ext cx="243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9068105" y="4831690"/>
            <a:ext cx="2495398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58" name="Shape 51"/>
          <p:cNvSpPr/>
          <p:nvPr/>
        </p:nvSpPr>
        <p:spPr>
          <a:xfrm>
            <a:off x="9068105" y="4831690"/>
            <a:ext cx="256946" cy="38405"/>
          </a:xfrm>
          <a:prstGeom prst="roundRect">
            <a:avLst>
              <a:gd name="adj" fmla="val 1190470"/>
            </a:avLst>
          </a:prstGeom>
          <a:solidFill>
            <a:srgbClr val="EF4444"/>
          </a:solidFill>
          <a:ln/>
        </p:spPr>
      </p:sp>
      <p:sp>
        <p:nvSpPr>
          <p:cNvPr id="59" name="Shape 52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5704027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11435486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/ 60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6265469" y="233812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4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6408115" y="2452421"/>
            <a:ext cx="171907" cy="228600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6248095" y="2890418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00" dirty="0"/>
          </a:p>
        </p:txBody>
      </p:sp>
      <p:sp>
        <p:nvSpPr>
          <p:cNvPr id="66" name="Shape 58"/>
          <p:cNvSpPr/>
          <p:nvPr/>
        </p:nvSpPr>
        <p:spPr>
          <a:xfrm>
            <a:off x="8631936" y="233812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46236" y="2452421"/>
            <a:ext cx="228600" cy="228600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707831" y="2890418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DMZ</a:t>
            </a:r>
            <a:endParaRPr lang="en-US" sz="1000" dirty="0"/>
          </a:p>
        </p:txBody>
      </p:sp>
      <p:sp>
        <p:nvSpPr>
          <p:cNvPr id="69" name="Shape 60"/>
          <p:cNvSpPr/>
          <p:nvPr/>
        </p:nvSpPr>
        <p:spPr>
          <a:xfrm>
            <a:off x="11005718" y="2338121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120018" y="2452421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10981944" y="289041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856793"/>
            <a:ext cx="115827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4495" y="295351"/>
            <a:ext cx="33960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Complete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09598" y="1450238"/>
            <a:ext cx="8572500" cy="4086454"/>
          </a:xfrm>
          <a:prstGeom prst="roundRect">
            <a:avLst>
              <a:gd name="adj" fmla="val 8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2031797"/>
            <a:ext cx="761695" cy="761695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7" r="-17" t="0" b="0"/>
          <a:stretch/>
        </p:blipFill>
        <p:spPr>
          <a:xfrm>
            <a:off x="5928970" y="2221992"/>
            <a:ext cx="333756" cy="381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04134" y="3213202"/>
            <a:ext cx="6620256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now understand how networks are secured, segmented, and observed by SOC teams.”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251399" y="4727448"/>
            <a:ext cx="1824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Day 5 Module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4495" y="5982005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4495" y="6238951"/>
            <a:ext cx="2015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701284" y="6238951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5: Network Security &amp; Services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238951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/ 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2026-01-17T01:57:20Z</dcterms:created>
  <dcterms:modified xsi:type="dcterms:W3CDTF">2026-01-17T01:57:20Z</dcterms:modified>
</cp:coreProperties>
</file>
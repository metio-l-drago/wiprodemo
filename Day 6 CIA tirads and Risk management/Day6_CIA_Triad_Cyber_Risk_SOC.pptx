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notesMasterIdLst>
    <p:notesMasterId r:id="rId6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notesMaster" Target="notesMasters/notesMaster1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sv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sv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sv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sv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sv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sv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sv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sv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sv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sv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sv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sv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sv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svg"/><Relationship Id="rId3" Type="http://schemas.openxmlformats.org/officeDocument/2006/relationships/image" Target="../media/image-3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sv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sv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sv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svg"/><Relationship Id="rId3" Type="http://schemas.openxmlformats.org/officeDocument/2006/relationships/image" Target="../media/image-38-3.png"/><Relationship Id="rId4" Type="http://schemas.openxmlformats.org/officeDocument/2006/relationships/image" Target="../media/image-3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svg"/><Relationship Id="rId3" Type="http://schemas.openxmlformats.org/officeDocument/2006/relationships/image" Target="../media/image-39-3.png"/><Relationship Id="rId4" Type="http://schemas.openxmlformats.org/officeDocument/2006/relationships/image" Target="../media/image-39-4.png"/><Relationship Id="rId5" Type="http://schemas.openxmlformats.org/officeDocument/2006/relationships/image" Target="../media/image-39-5.png"/><Relationship Id="rId6" Type="http://schemas.openxmlformats.org/officeDocument/2006/relationships/image" Target="../media/image-39-6.png"/><Relationship Id="rId7" Type="http://schemas.openxmlformats.org/officeDocument/2006/relationships/image" Target="../media/image-39-7.png"/><Relationship Id="rId8" Type="http://schemas.openxmlformats.org/officeDocument/2006/relationships/image" Target="../media/image-39-8.png"/><Relationship Id="rId9" Type="http://schemas.openxmlformats.org/officeDocument/2006/relationships/image" Target="../media/image-39-9.png"/><Relationship Id="rId10" Type="http://schemas.openxmlformats.org/officeDocument/2006/relationships/image" Target="../media/image-39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svg"/><Relationship Id="rId3" Type="http://schemas.openxmlformats.org/officeDocument/2006/relationships/image" Target="../media/image-40-3.png"/><Relationship Id="rId4" Type="http://schemas.openxmlformats.org/officeDocument/2006/relationships/image" Target="../media/image-4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svg"/><Relationship Id="rId3" Type="http://schemas.openxmlformats.org/officeDocument/2006/relationships/image" Target="../media/image-41-3.png"/><Relationship Id="rId4" Type="http://schemas.openxmlformats.org/officeDocument/2006/relationships/image" Target="../media/image-4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svg"/><Relationship Id="rId3" Type="http://schemas.openxmlformats.org/officeDocument/2006/relationships/image" Target="../media/image-4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svg"/><Relationship Id="rId3" Type="http://schemas.openxmlformats.org/officeDocument/2006/relationships/image" Target="../media/image-43-3.png"/><Relationship Id="rId4" Type="http://schemas.openxmlformats.org/officeDocument/2006/relationships/image" Target="../media/image-4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svg"/><Relationship Id="rId3" Type="http://schemas.openxmlformats.org/officeDocument/2006/relationships/image" Target="../media/image-44-3.png"/><Relationship Id="rId4" Type="http://schemas.openxmlformats.org/officeDocument/2006/relationships/image" Target="../media/image-4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svg"/><Relationship Id="rId3" Type="http://schemas.openxmlformats.org/officeDocument/2006/relationships/image" Target="../media/image-45-3.png"/><Relationship Id="rId4" Type="http://schemas.openxmlformats.org/officeDocument/2006/relationships/image" Target="../media/image-4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svg"/><Relationship Id="rId3" Type="http://schemas.openxmlformats.org/officeDocument/2006/relationships/image" Target="../media/image-46-3.png"/><Relationship Id="rId4" Type="http://schemas.openxmlformats.org/officeDocument/2006/relationships/image" Target="../media/image-46-4.png"/><Relationship Id="rId5" Type="http://schemas.openxmlformats.org/officeDocument/2006/relationships/image" Target="../media/image-46-5.png"/><Relationship Id="rId6" Type="http://schemas.openxmlformats.org/officeDocument/2006/relationships/image" Target="../media/image-46-6.png"/><Relationship Id="rId7" Type="http://schemas.openxmlformats.org/officeDocument/2006/relationships/image" Target="../media/image-46-7.png"/><Relationship Id="rId8" Type="http://schemas.openxmlformats.org/officeDocument/2006/relationships/image" Target="../media/image-46-8.png"/><Relationship Id="rId9" Type="http://schemas.openxmlformats.org/officeDocument/2006/relationships/image" Target="../media/image-46-9.png"/><Relationship Id="rId10" Type="http://schemas.openxmlformats.org/officeDocument/2006/relationships/image" Target="../media/image-46-10.png"/><Relationship Id="rId11" Type="http://schemas.openxmlformats.org/officeDocument/2006/relationships/image" Target="../media/image-46-11.png"/><Relationship Id="rId12" Type="http://schemas.openxmlformats.org/officeDocument/2006/relationships/image" Target="../media/image-46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svg"/><Relationship Id="rId3" Type="http://schemas.openxmlformats.org/officeDocument/2006/relationships/image" Target="../media/image-4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svg"/><Relationship Id="rId3" Type="http://schemas.openxmlformats.org/officeDocument/2006/relationships/image" Target="../media/image-48-3.png"/><Relationship Id="rId4" Type="http://schemas.openxmlformats.org/officeDocument/2006/relationships/image" Target="../media/image-4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svg"/><Relationship Id="rId3" Type="http://schemas.openxmlformats.org/officeDocument/2006/relationships/image" Target="../media/image-49-3.png"/><Relationship Id="rId4" Type="http://schemas.openxmlformats.org/officeDocument/2006/relationships/image" Target="../media/image-4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svg"/><Relationship Id="rId3" Type="http://schemas.openxmlformats.org/officeDocument/2006/relationships/image" Target="../media/image-50-3.png"/><Relationship Id="rId4" Type="http://schemas.openxmlformats.org/officeDocument/2006/relationships/image" Target="../media/image-5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svg"/><Relationship Id="rId3" Type="http://schemas.openxmlformats.org/officeDocument/2006/relationships/image" Target="../media/image-5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svg"/><Relationship Id="rId3" Type="http://schemas.openxmlformats.org/officeDocument/2006/relationships/image" Target="../media/image-52-3.png"/><Relationship Id="rId4" Type="http://schemas.openxmlformats.org/officeDocument/2006/relationships/image" Target="../media/image-5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svg"/><Relationship Id="rId3" Type="http://schemas.openxmlformats.org/officeDocument/2006/relationships/image" Target="../media/image-53-3.png"/><Relationship Id="rId4" Type="http://schemas.openxmlformats.org/officeDocument/2006/relationships/image" Target="../media/image-5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svg"/><Relationship Id="rId3" Type="http://schemas.openxmlformats.org/officeDocument/2006/relationships/image" Target="../media/image-54-3.png"/><Relationship Id="rId4" Type="http://schemas.openxmlformats.org/officeDocument/2006/relationships/image" Target="../media/image-5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svg"/><Relationship Id="rId3" Type="http://schemas.openxmlformats.org/officeDocument/2006/relationships/image" Target="../media/image-55-3.png"/><Relationship Id="rId4" Type="http://schemas.openxmlformats.org/officeDocument/2006/relationships/image" Target="../media/image-55-4.png"/><Relationship Id="rId5" Type="http://schemas.openxmlformats.org/officeDocument/2006/relationships/image" Target="../media/image-5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svg"/><Relationship Id="rId3" Type="http://schemas.openxmlformats.org/officeDocument/2006/relationships/image" Target="../media/image-56-3.png"/><Relationship Id="rId4" Type="http://schemas.openxmlformats.org/officeDocument/2006/relationships/image" Target="../media/image-56-4.png"/><Relationship Id="rId5" Type="http://schemas.openxmlformats.org/officeDocument/2006/relationships/image" Target="../media/image-5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svg"/><Relationship Id="rId3" Type="http://schemas.openxmlformats.org/officeDocument/2006/relationships/image" Target="../media/image-57-3.png"/><Relationship Id="rId4" Type="http://schemas.openxmlformats.org/officeDocument/2006/relationships/image" Target="../media/image-57-4.png"/><Relationship Id="rId5" Type="http://schemas.openxmlformats.org/officeDocument/2006/relationships/image" Target="../media/image-5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svg"/><Relationship Id="rId3" Type="http://schemas.openxmlformats.org/officeDocument/2006/relationships/image" Target="../media/image-58-3.png"/><Relationship Id="rId4" Type="http://schemas.openxmlformats.org/officeDocument/2006/relationships/image" Target="../media/image-58-4.png"/><Relationship Id="rId5" Type="http://schemas.openxmlformats.org/officeDocument/2006/relationships/image" Target="../media/image-5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image" Target="../media/image-59-2.svg"/><Relationship Id="rId3" Type="http://schemas.openxmlformats.org/officeDocument/2006/relationships/image" Target="../media/image-59-3.png"/><Relationship Id="rId4" Type="http://schemas.openxmlformats.org/officeDocument/2006/relationships/image" Target="../media/image-59-4.png"/><Relationship Id="rId5" Type="http://schemas.openxmlformats.org/officeDocument/2006/relationships/image" Target="../media/image-59-5.png"/><Relationship Id="rId6" Type="http://schemas.openxmlformats.org/officeDocument/2006/relationships/image" Target="../media/image-59-6.png"/><Relationship Id="rId7" Type="http://schemas.openxmlformats.org/officeDocument/2006/relationships/image" Target="../media/image-59-7.png"/><Relationship Id="rId8" Type="http://schemas.openxmlformats.org/officeDocument/2006/relationships/image" Target="../media/image-59-8.png"/><Relationship Id="rId9" Type="http://schemas.openxmlformats.org/officeDocument/2006/relationships/image" Target="../media/image-59-9.png"/><Relationship Id="rId10" Type="http://schemas.openxmlformats.org/officeDocument/2006/relationships/image" Target="../media/image-59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2.svg"/><Relationship Id="rId3" Type="http://schemas.openxmlformats.org/officeDocument/2006/relationships/image" Target="../media/image-60-3.png"/><Relationship Id="rId4" Type="http://schemas.openxmlformats.org/officeDocument/2006/relationships/image" Target="../media/image-6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04495" y="685800"/>
            <a:ext cx="11582705" cy="9144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rcRect l="-2994" r="-2994" t="0" b="0"/>
          <a:stretch/>
        </p:blipFill>
        <p:spPr>
          <a:xfrm>
            <a:off x="304495" y="342900"/>
            <a:ext cx="161849" cy="1527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3154" y="323698"/>
            <a:ext cx="3020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11087100" y="328270"/>
            <a:ext cx="9098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2026-01-18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304495" y="5033772"/>
            <a:ext cx="1429207" cy="457200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66344" y="5186477"/>
            <a:ext cx="152705" cy="152705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1879092" y="5033772"/>
            <a:ext cx="2286000" cy="457200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2040941" y="5186477"/>
            <a:ext cx="152705" cy="152705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4311396" y="5033772"/>
            <a:ext cx="2018995" cy="457200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473245" y="5186477"/>
            <a:ext cx="152705" cy="152705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304495" y="1671523"/>
            <a:ext cx="1333195" cy="428854"/>
          </a:xfrm>
          <a:prstGeom prst="roundRect">
            <a:avLst>
              <a:gd name="adj" fmla="val 18953"/>
            </a:avLst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9"/>
          <p:cNvSpPr txBox="1"/>
          <p:nvPr/>
        </p:nvSpPr>
        <p:spPr>
          <a:xfrm>
            <a:off x="466344" y="1766621"/>
            <a:ext cx="11384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06</a:t>
            </a:r>
            <a:endParaRPr lang="en-US" sz="1300" dirty="0"/>
          </a:p>
        </p:txBody>
      </p:sp>
      <p:sp>
        <p:nvSpPr>
          <p:cNvPr id="17" name="Text 10"/>
          <p:cNvSpPr txBox="1"/>
          <p:nvPr/>
        </p:nvSpPr>
        <p:spPr>
          <a:xfrm>
            <a:off x="304495" y="2376526"/>
            <a:ext cx="697230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Day-6 Overview: CIA Triad &amp;</a:t>
            </a:r>
            <a:endParaRPr lang="en-US" sz="3900" dirty="0"/>
          </a:p>
        </p:txBody>
      </p:sp>
      <p:sp>
        <p:nvSpPr>
          <p:cNvPr id="18" name="Text 11"/>
          <p:cNvSpPr txBox="1"/>
          <p:nvPr/>
        </p:nvSpPr>
        <p:spPr>
          <a:xfrm>
            <a:off x="304495" y="2921508"/>
            <a:ext cx="4905756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Cyber Risk Mindset</a:t>
            </a:r>
            <a:endParaRPr lang="en-US" sz="3900" dirty="0"/>
          </a:p>
        </p:txBody>
      </p:sp>
      <p:sp>
        <p:nvSpPr>
          <p:cNvPr id="19" name="Text 12"/>
          <p:cNvSpPr txBox="1"/>
          <p:nvPr/>
        </p:nvSpPr>
        <p:spPr>
          <a:xfrm>
            <a:off x="304495" y="3742639"/>
            <a:ext cx="71634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Building the foundation of a security mindset for</a:t>
            </a:r>
            <a:endParaRPr lang="en-US" sz="2400" dirty="0"/>
          </a:p>
        </p:txBody>
      </p:sp>
      <p:sp>
        <p:nvSpPr>
          <p:cNvPr id="20" name="Text 13"/>
          <p:cNvSpPr txBox="1"/>
          <p:nvPr/>
        </p:nvSpPr>
        <p:spPr>
          <a:xfrm>
            <a:off x="304495" y="4168750"/>
            <a:ext cx="379110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 → SOC L1 Analysts.</a:t>
            </a:r>
            <a:endParaRPr lang="en-US" sz="2400" dirty="0"/>
          </a:p>
        </p:txBody>
      </p:sp>
      <p:sp>
        <p:nvSpPr>
          <p:cNvPr id="21" name="Text 14"/>
          <p:cNvSpPr txBox="1"/>
          <p:nvPr/>
        </p:nvSpPr>
        <p:spPr>
          <a:xfrm>
            <a:off x="733349" y="5148072"/>
            <a:ext cx="9811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CIA Triad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2307031" y="5148072"/>
            <a:ext cx="18388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Fundamentals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4740250" y="5148072"/>
            <a:ext cx="1571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Analysis</a:t>
            </a:r>
            <a:endParaRPr lang="en-US" sz="1500" dirty="0"/>
          </a:p>
        </p:txBody>
      </p:sp>
      <p:sp>
        <p:nvSpPr>
          <p:cNvPr id="24" name="Shape 17"/>
          <p:cNvSpPr/>
          <p:nvPr/>
        </p:nvSpPr>
        <p:spPr>
          <a:xfrm>
            <a:off x="8289950" y="1718158"/>
            <a:ext cx="3429000" cy="3429000"/>
          </a:xfrm>
          <a:prstGeom prst="ellips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8481060" y="1909267"/>
            <a:ext cx="3047695" cy="3047695"/>
          </a:xfrm>
          <a:prstGeom prst="ellips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7"/>
          <a:srcRect l="-16" r="-16" t="0" b="0"/>
          <a:stretch/>
        </p:blipFill>
        <p:spPr>
          <a:xfrm>
            <a:off x="9286646" y="2838298"/>
            <a:ext cx="1429207" cy="1143000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8" name="Shape 20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9" name="Shape 21"/>
          <p:cNvSpPr/>
          <p:nvPr/>
        </p:nvSpPr>
        <p:spPr>
          <a:xfrm>
            <a:off x="304495" y="6538874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3B82F6"/>
          </a:solidFill>
          <a:ln/>
        </p:spPr>
      </p:sp>
      <p:sp>
        <p:nvSpPr>
          <p:cNvPr id="30" name="Text 22"/>
          <p:cNvSpPr txBox="1"/>
          <p:nvPr/>
        </p:nvSpPr>
        <p:spPr>
          <a:xfrm>
            <a:off x="457200" y="6495898"/>
            <a:ext cx="32342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Day-6: CIA Triad &amp; Cyberspace Risk Management</a:t>
            </a:r>
            <a:endParaRPr lang="en-US" sz="1000" dirty="0"/>
          </a:p>
        </p:txBody>
      </p:sp>
      <p:sp>
        <p:nvSpPr>
          <p:cNvPr id="31" name="Text 23"/>
          <p:cNvSpPr txBox="1"/>
          <p:nvPr/>
        </p:nvSpPr>
        <p:spPr>
          <a:xfrm>
            <a:off x="11485778" y="6495898"/>
            <a:ext cx="5102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572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rcRect l="-2994" r="-2994" t="0" b="0"/>
          <a:stretch/>
        </p:blipFill>
        <p:spPr>
          <a:xfrm>
            <a:off x="304495" y="228600"/>
            <a:ext cx="161849" cy="1527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3154" y="209398"/>
            <a:ext cx="3020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11087100" y="213970"/>
            <a:ext cx="9098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2026-01-18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304495" y="1777594"/>
            <a:ext cx="67254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What: Security shields what businesses value most.</a:t>
            </a:r>
            <a:endParaRPr lang="en-US" sz="2100" dirty="0"/>
          </a:p>
        </p:txBody>
      </p:sp>
      <p:sp>
        <p:nvSpPr>
          <p:cNvPr id="10" name="Text 6"/>
          <p:cNvSpPr txBox="1"/>
          <p:nvPr/>
        </p:nvSpPr>
        <p:spPr>
          <a:xfrm>
            <a:off x="304495" y="245516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Why: Digital operations depend on trustworthy systems to function.</a:t>
            </a:r>
            <a:endParaRPr lang="en-US" sz="2100" dirty="0"/>
          </a:p>
        </p:txBody>
      </p:sp>
      <p:sp>
        <p:nvSpPr>
          <p:cNvPr id="11" name="Text 7"/>
          <p:cNvSpPr txBox="1"/>
          <p:nvPr/>
        </p:nvSpPr>
        <p:spPr>
          <a:xfrm>
            <a:off x="304495" y="350672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View: We guard value by constantly spotting risky signals.</a:t>
            </a:r>
            <a:endParaRPr lang="en-US" sz="2100" dirty="0"/>
          </a:p>
        </p:txBody>
      </p:sp>
      <p:sp>
        <p:nvSpPr>
          <p:cNvPr id="12" name="Shape 8"/>
          <p:cNvSpPr/>
          <p:nvPr/>
        </p:nvSpPr>
        <p:spPr>
          <a:xfrm>
            <a:off x="7607808" y="1777594"/>
            <a:ext cx="4286707" cy="2848356"/>
          </a:xfrm>
          <a:prstGeom prst="roundRect">
            <a:avLst>
              <a:gd name="adj" fmla="val 128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922362" y="2701138"/>
            <a:ext cx="365760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Shape 10"/>
          <p:cNvSpPr/>
          <p:nvPr/>
        </p:nvSpPr>
        <p:spPr>
          <a:xfrm>
            <a:off x="7922362" y="2091233"/>
            <a:ext cx="457200" cy="457200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rcRect l="-1282" r="-1282" t="0" b="0"/>
          <a:stretch/>
        </p:blipFill>
        <p:spPr>
          <a:xfrm>
            <a:off x="8041234" y="2224735"/>
            <a:ext cx="219456" cy="19019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04495" y="838505"/>
            <a:ext cx="773491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Protects Business Value</a:t>
            </a:r>
            <a:endParaRPr lang="en-US" sz="3600" dirty="0"/>
          </a:p>
        </p:txBody>
      </p:sp>
      <p:sp>
        <p:nvSpPr>
          <p:cNvPr id="17" name="Text 12"/>
          <p:cNvSpPr txBox="1"/>
          <p:nvPr/>
        </p:nvSpPr>
        <p:spPr>
          <a:xfrm>
            <a:off x="8532266" y="2177186"/>
            <a:ext cx="3057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REAL-WORLD EXAMPLE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7922362" y="2968142"/>
            <a:ext cx="3743554" cy="130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Stopping an unnoticed data copy doesn't just save files; it saves the company's reputation and future revenue.</a:t>
            </a:r>
            <a:endParaRPr lang="en-US" sz="1800" dirty="0"/>
          </a:p>
        </p:txBody>
      </p:sp>
      <p:sp>
        <p:nvSpPr>
          <p:cNvPr id="19" name="Shape 14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0" name="Shape 15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1" name="Shape 16"/>
          <p:cNvSpPr/>
          <p:nvPr/>
        </p:nvSpPr>
        <p:spPr>
          <a:xfrm>
            <a:off x="304495" y="6538874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3B82F6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457200" y="6495898"/>
            <a:ext cx="32342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Day-6: CIA Triad &amp; Cyberspace Risk Management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11458346" y="6495898"/>
            <a:ext cx="5294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572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rcRect l="-2994" r="-2994" t="0" b="0"/>
          <a:stretch/>
        </p:blipFill>
        <p:spPr>
          <a:xfrm>
            <a:off x="304495" y="228600"/>
            <a:ext cx="161849" cy="1527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3154" y="209398"/>
            <a:ext cx="3020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11087100" y="213970"/>
            <a:ext cx="9098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2026-01-18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304495" y="177759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What: Plain language with zero prior knowledge required.</a:t>
            </a:r>
            <a:endParaRPr lang="en-US" sz="2100" dirty="0"/>
          </a:p>
        </p:txBody>
      </p:sp>
      <p:sp>
        <p:nvSpPr>
          <p:cNvPr id="10" name="Text 6"/>
          <p:cNvSpPr txBox="1"/>
          <p:nvPr/>
        </p:nvSpPr>
        <p:spPr>
          <a:xfrm>
            <a:off x="304495" y="2829154"/>
            <a:ext cx="62682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Why: Everyone can and must think in risk terms.</a:t>
            </a:r>
            <a:endParaRPr lang="en-US" sz="2100" dirty="0"/>
          </a:p>
        </p:txBody>
      </p:sp>
      <p:sp>
        <p:nvSpPr>
          <p:cNvPr id="11" name="Text 7"/>
          <p:cNvSpPr txBox="1"/>
          <p:nvPr/>
        </p:nvSpPr>
        <p:spPr>
          <a:xfrm>
            <a:off x="304495" y="350672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View: Ask “what could happen” and “so what” first.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304495" y="4559198"/>
            <a:ext cx="677296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Tone: Practice calm, clear, business-aware thinking.</a:t>
            </a:r>
            <a:endParaRPr lang="en-US" sz="2100" dirty="0"/>
          </a:p>
        </p:txBody>
      </p:sp>
      <p:sp>
        <p:nvSpPr>
          <p:cNvPr id="13" name="Shape 9"/>
          <p:cNvSpPr/>
          <p:nvPr/>
        </p:nvSpPr>
        <p:spPr>
          <a:xfrm>
            <a:off x="7607808" y="1777594"/>
            <a:ext cx="4286707" cy="2848356"/>
          </a:xfrm>
          <a:prstGeom prst="roundRect">
            <a:avLst>
              <a:gd name="adj" fmla="val 128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922362" y="2701138"/>
            <a:ext cx="365760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Shape 11"/>
          <p:cNvSpPr/>
          <p:nvPr/>
        </p:nvSpPr>
        <p:spPr>
          <a:xfrm>
            <a:off x="7922362" y="2091233"/>
            <a:ext cx="457200" cy="457200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055864" y="2224735"/>
            <a:ext cx="190195" cy="19019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04495" y="838505"/>
            <a:ext cx="6687007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Beginner-Friendly Approach</a:t>
            </a:r>
            <a:endParaRPr lang="en-US" sz="3600" dirty="0"/>
          </a:p>
        </p:txBody>
      </p:sp>
      <p:sp>
        <p:nvSpPr>
          <p:cNvPr id="18" name="Text 13"/>
          <p:cNvSpPr txBox="1"/>
          <p:nvPr/>
        </p:nvSpPr>
        <p:spPr>
          <a:xfrm>
            <a:off x="8532266" y="2177186"/>
            <a:ext cx="22384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MINDSET CHECK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7922362" y="2968142"/>
            <a:ext cx="3686861" cy="130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don't need to be a hacker to spot risk. You just need to ask: "Does this look normal for the business?"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1" name="Shape 16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2" name="Shape 17"/>
          <p:cNvSpPr/>
          <p:nvPr/>
        </p:nvSpPr>
        <p:spPr>
          <a:xfrm>
            <a:off x="304495" y="6538874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3B82F6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457200" y="6495898"/>
            <a:ext cx="32342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Day-6: CIA Triad &amp; Cyberspace Risk Management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11457432" y="6495898"/>
            <a:ext cx="53858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572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rcRect l="-2994" r="-2994" t="0" b="0"/>
          <a:stretch/>
        </p:blipFill>
        <p:spPr>
          <a:xfrm>
            <a:off x="304495" y="228600"/>
            <a:ext cx="161849" cy="1527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3154" y="209398"/>
            <a:ext cx="3020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11087100" y="213970"/>
            <a:ext cx="9098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2026-01-18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304495" y="1700784"/>
            <a:ext cx="4825289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What: Impact-first, then likelihood, then action.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304495" y="2699309"/>
            <a:ext cx="4825289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Why: Resources are limited; focus matters most.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304495" y="3697834"/>
            <a:ext cx="4825289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View: Triage alerts by potential business harm.</a:t>
            </a:r>
            <a:endParaRPr lang="en-US" sz="1900" dirty="0"/>
          </a:p>
        </p:txBody>
      </p:sp>
      <p:sp>
        <p:nvSpPr>
          <p:cNvPr id="12" name="Shape 8"/>
          <p:cNvSpPr/>
          <p:nvPr/>
        </p:nvSpPr>
        <p:spPr>
          <a:xfrm>
            <a:off x="5394960" y="1700784"/>
            <a:ext cx="6495898" cy="3810305"/>
          </a:xfrm>
          <a:prstGeom prst="roundRect">
            <a:avLst>
              <a:gd name="adj" fmla="val 48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39700" dist="101600" dir="5400000">
              <a:srgbClr val="000000">
                <a:alpha val="3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404104" y="1710842"/>
            <a:ext cx="6476695" cy="590702"/>
          </a:xfrm>
          <a:prstGeom prst="roundRect">
            <a:avLst>
              <a:gd name="adj" fmla="val 19974"/>
            </a:avLst>
          </a:prstGeom>
          <a:solidFill>
            <a:srgbClr val="0F172A"/>
          </a:solidFill>
          <a:ln/>
        </p:spPr>
      </p:sp>
      <p:sp>
        <p:nvSpPr>
          <p:cNvPr id="14" name="Shape 10"/>
          <p:cNvSpPr/>
          <p:nvPr/>
        </p:nvSpPr>
        <p:spPr>
          <a:xfrm>
            <a:off x="5404104" y="2292401"/>
            <a:ext cx="6476695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Shape 11"/>
          <p:cNvSpPr/>
          <p:nvPr/>
        </p:nvSpPr>
        <p:spPr>
          <a:xfrm>
            <a:off x="10984687" y="1862633"/>
            <a:ext cx="666598" cy="276149"/>
          </a:xfrm>
          <a:prstGeom prst="roundRect">
            <a:avLst>
              <a:gd name="adj" fmla="val 331126"/>
            </a:avLst>
          </a:prstGeom>
          <a:solidFill>
            <a:srgbClr val="EF4444">
              <a:alpha val="10000"/>
            </a:srgb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1098987" y="1963217"/>
            <a:ext cx="75895" cy="7589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1251692" y="1901038"/>
            <a:ext cx="38587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5632704" y="2530145"/>
            <a:ext cx="2895905" cy="1000354"/>
          </a:xfrm>
          <a:prstGeom prst="roundRect">
            <a:avLst>
              <a:gd name="adj" fmla="val 522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755380" y="2530145"/>
            <a:ext cx="2895905" cy="1000354"/>
          </a:xfrm>
          <a:prstGeom prst="roundRect">
            <a:avLst>
              <a:gd name="adj" fmla="val 522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632704" y="3758184"/>
            <a:ext cx="6019495" cy="1676095"/>
          </a:xfrm>
          <a:prstGeom prst="roundRect">
            <a:avLst>
              <a:gd name="adj" fmla="val 186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rcRect l="-16489" r="-16489" t="0" b="0"/>
          <a:stretch/>
        </p:blipFill>
        <p:spPr>
          <a:xfrm>
            <a:off x="5794553" y="4315968"/>
            <a:ext cx="228600" cy="171907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6"/>
          <a:srcRect l="-16489" r="-16489" t="0" b="0"/>
          <a:stretch/>
        </p:blipFill>
        <p:spPr>
          <a:xfrm>
            <a:off x="5794553" y="4687214"/>
            <a:ext cx="228600" cy="171907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7"/>
          <a:srcRect l="-25988" r="-25988" t="0" b="0"/>
          <a:stretch/>
        </p:blipFill>
        <p:spPr>
          <a:xfrm>
            <a:off x="5794553" y="5058461"/>
            <a:ext cx="228600" cy="171907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304495" y="838505"/>
            <a:ext cx="5420563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SOC Teams Think</a:t>
            </a:r>
            <a:endParaRPr lang="en-US" sz="3600" dirty="0"/>
          </a:p>
        </p:txBody>
      </p:sp>
      <p:sp>
        <p:nvSpPr>
          <p:cNvPr id="25" name="Text 17"/>
          <p:cNvSpPr txBox="1"/>
          <p:nvPr/>
        </p:nvSpPr>
        <p:spPr>
          <a:xfrm>
            <a:off x="5632704" y="1901038"/>
            <a:ext cx="239572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INCIDENT TRIAGE PANEL</a:t>
            </a:r>
            <a:endParaRPr lang="en-US" sz="1300" dirty="0"/>
          </a:p>
        </p:txBody>
      </p:sp>
      <p:sp>
        <p:nvSpPr>
          <p:cNvPr id="26" name="Text 18"/>
          <p:cNvSpPr txBox="1"/>
          <p:nvPr/>
        </p:nvSpPr>
        <p:spPr>
          <a:xfrm>
            <a:off x="5794553" y="2711196"/>
            <a:ext cx="13002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IMPACT</a:t>
            </a:r>
            <a:endParaRPr lang="en-US" sz="1000" dirty="0"/>
          </a:p>
        </p:txBody>
      </p:sp>
      <p:sp>
        <p:nvSpPr>
          <p:cNvPr id="27" name="Text 19"/>
          <p:cNvSpPr txBox="1"/>
          <p:nvPr/>
        </p:nvSpPr>
        <p:spPr>
          <a:xfrm>
            <a:off x="5794553" y="3005633"/>
            <a:ext cx="14484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</a:t>
            </a:r>
            <a:endParaRPr lang="en-US" sz="2100" dirty="0"/>
          </a:p>
        </p:txBody>
      </p:sp>
      <p:sp>
        <p:nvSpPr>
          <p:cNvPr id="28" name="Text 20"/>
          <p:cNvSpPr txBox="1"/>
          <p:nvPr/>
        </p:nvSpPr>
        <p:spPr>
          <a:xfrm>
            <a:off x="8917229" y="2711196"/>
            <a:ext cx="9006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LIKELIHOOD</a:t>
            </a:r>
            <a:endParaRPr lang="en-US" sz="1000" dirty="0"/>
          </a:p>
        </p:txBody>
      </p:sp>
      <p:sp>
        <p:nvSpPr>
          <p:cNvPr id="29" name="Text 21"/>
          <p:cNvSpPr txBox="1"/>
          <p:nvPr/>
        </p:nvSpPr>
        <p:spPr>
          <a:xfrm>
            <a:off x="8917229" y="3005633"/>
            <a:ext cx="1495958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POSSIBLE</a:t>
            </a:r>
            <a:endParaRPr lang="en-US" sz="2100" dirty="0"/>
          </a:p>
        </p:txBody>
      </p:sp>
      <p:sp>
        <p:nvSpPr>
          <p:cNvPr id="30" name="Text 22"/>
          <p:cNvSpPr txBox="1"/>
          <p:nvPr/>
        </p:nvSpPr>
        <p:spPr>
          <a:xfrm>
            <a:off x="5794553" y="3939235"/>
            <a:ext cx="15197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ANALYSIS LOGIC</a:t>
            </a:r>
            <a:endParaRPr lang="en-US" sz="1000" dirty="0"/>
          </a:p>
        </p:txBody>
      </p:sp>
      <p:sp>
        <p:nvSpPr>
          <p:cNvPr id="31" name="Text 23"/>
          <p:cNvSpPr txBox="1"/>
          <p:nvPr/>
        </p:nvSpPr>
        <p:spPr>
          <a:xfrm>
            <a:off x="6023153" y="4301338"/>
            <a:ext cx="33960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Target: Customer Database (High Value)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6023153" y="4672584"/>
            <a:ext cx="25200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Threat: SQL Injection Attempt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6023153" y="5044745"/>
            <a:ext cx="8814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Decision:</a:t>
            </a:r>
            <a:endParaRPr lang="en-US" sz="1300" dirty="0"/>
          </a:p>
        </p:txBody>
      </p:sp>
      <p:sp>
        <p:nvSpPr>
          <p:cNvPr id="34" name="Text 26"/>
          <p:cNvSpPr txBox="1"/>
          <p:nvPr/>
        </p:nvSpPr>
        <p:spPr>
          <a:xfrm>
            <a:off x="6772046" y="5044745"/>
            <a:ext cx="173918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IMMEDIATE BLOCK</a:t>
            </a:r>
            <a:endParaRPr lang="en-US" sz="1300" dirty="0"/>
          </a:p>
        </p:txBody>
      </p:sp>
      <p:sp>
        <p:nvSpPr>
          <p:cNvPr id="35" name="Shape 27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6" name="Shape 28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7" name="Shape 29"/>
          <p:cNvSpPr/>
          <p:nvPr/>
        </p:nvSpPr>
        <p:spPr>
          <a:xfrm>
            <a:off x="304495" y="6538874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3B82F6"/>
          </a:solidFill>
          <a:ln/>
        </p:spPr>
      </p:sp>
      <p:sp>
        <p:nvSpPr>
          <p:cNvPr id="38" name="Text 30"/>
          <p:cNvSpPr txBox="1"/>
          <p:nvPr/>
        </p:nvSpPr>
        <p:spPr>
          <a:xfrm>
            <a:off x="457200" y="6495898"/>
            <a:ext cx="32342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Day-6: CIA Triad &amp; Cyberspace Risk Management</a:t>
            </a:r>
            <a:endParaRPr lang="en-US" sz="1000" dirty="0"/>
          </a:p>
        </p:txBody>
      </p:sp>
      <p:sp>
        <p:nvSpPr>
          <p:cNvPr id="39" name="Text 31"/>
          <p:cNvSpPr txBox="1"/>
          <p:nvPr/>
        </p:nvSpPr>
        <p:spPr>
          <a:xfrm>
            <a:off x="11453774" y="6495898"/>
            <a:ext cx="53858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572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rcRect l="-2994" r="-2994" t="0" b="0"/>
          <a:stretch/>
        </p:blipFill>
        <p:spPr>
          <a:xfrm>
            <a:off x="304495" y="228600"/>
            <a:ext cx="161849" cy="1527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3154" y="209398"/>
            <a:ext cx="3020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11087100" y="213970"/>
            <a:ext cx="9098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2026-01-18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304495" y="177759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What: Ten focused sections taking you from basics to practice.</a:t>
            </a:r>
            <a:endParaRPr lang="en-US" sz="2100" dirty="0"/>
          </a:p>
        </p:txBody>
      </p:sp>
      <p:sp>
        <p:nvSpPr>
          <p:cNvPr id="10" name="Text 6"/>
          <p:cNvSpPr txBox="1"/>
          <p:nvPr/>
        </p:nvSpPr>
        <p:spPr>
          <a:xfrm>
            <a:off x="304495" y="282915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Why: Step-by-step learning builds stronger confidence.</a:t>
            </a:r>
            <a:endParaRPr lang="en-US" sz="2100" dirty="0"/>
          </a:p>
        </p:txBody>
      </p:sp>
      <p:sp>
        <p:nvSpPr>
          <p:cNvPr id="11" name="Text 7"/>
          <p:cNvSpPr txBox="1"/>
          <p:nvPr/>
        </p:nvSpPr>
        <p:spPr>
          <a:xfrm>
            <a:off x="304495" y="388071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View: Learn the foundations before using the tools.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304495" y="493227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Roadmap: Security Mindset → CIA Triad → Risk &amp; Impact → Exercises.</a:t>
            </a:r>
            <a:endParaRPr lang="en-US" sz="2100" dirty="0"/>
          </a:p>
        </p:txBody>
      </p:sp>
      <p:sp>
        <p:nvSpPr>
          <p:cNvPr id="13" name="Shape 9"/>
          <p:cNvSpPr/>
          <p:nvPr/>
        </p:nvSpPr>
        <p:spPr>
          <a:xfrm>
            <a:off x="7607808" y="1777594"/>
            <a:ext cx="4286707" cy="3629254"/>
          </a:xfrm>
          <a:prstGeom prst="roundRect">
            <a:avLst>
              <a:gd name="adj" fmla="val 79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922362" y="2701138"/>
            <a:ext cx="365760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Shape 11"/>
          <p:cNvSpPr/>
          <p:nvPr/>
        </p:nvSpPr>
        <p:spPr>
          <a:xfrm>
            <a:off x="7922362" y="2091233"/>
            <a:ext cx="457200" cy="457200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055864" y="2224735"/>
            <a:ext cx="190195" cy="190195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7922362" y="3196742"/>
            <a:ext cx="75895" cy="75895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8113471" y="3091586"/>
            <a:ext cx="254386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Intro &amp; Security Mindset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7922362" y="3596335"/>
            <a:ext cx="75895" cy="75895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8113471" y="3492094"/>
            <a:ext cx="27249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2-4. CIA Triad Fundamentals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7922362" y="3996842"/>
            <a:ext cx="75895" cy="75895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8113471" y="3891686"/>
            <a:ext cx="267736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5-6. Cyber Risk &amp; SOC View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7922362" y="4396435"/>
            <a:ext cx="75895" cy="75895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8113471" y="4292194"/>
            <a:ext cx="22576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7-8. Impacts &amp; Visibility</a:t>
            </a:r>
            <a:endParaRPr lang="en-US" sz="1500" dirty="0"/>
          </a:p>
        </p:txBody>
      </p:sp>
      <p:sp>
        <p:nvSpPr>
          <p:cNvPr id="25" name="Shape 20"/>
          <p:cNvSpPr/>
          <p:nvPr/>
        </p:nvSpPr>
        <p:spPr>
          <a:xfrm>
            <a:off x="7922362" y="4796942"/>
            <a:ext cx="75895" cy="75895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8113471" y="4691786"/>
            <a:ext cx="26005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9-10. Exercises &amp; Summary</a:t>
            </a:r>
            <a:endParaRPr lang="en-US" sz="1500" dirty="0"/>
          </a:p>
        </p:txBody>
      </p:sp>
      <p:sp>
        <p:nvSpPr>
          <p:cNvPr id="27" name="Text 22"/>
          <p:cNvSpPr txBox="1"/>
          <p:nvPr/>
        </p:nvSpPr>
        <p:spPr>
          <a:xfrm>
            <a:off x="304495" y="838505"/>
            <a:ext cx="3115361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Map</a:t>
            </a:r>
            <a:endParaRPr lang="en-US" sz="3600" dirty="0"/>
          </a:p>
        </p:txBody>
      </p:sp>
      <p:sp>
        <p:nvSpPr>
          <p:cNvPr id="28" name="Text 23"/>
          <p:cNvSpPr txBox="1"/>
          <p:nvPr/>
        </p:nvSpPr>
        <p:spPr>
          <a:xfrm>
            <a:off x="8532266" y="2177186"/>
            <a:ext cx="21433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 PATH</a:t>
            </a:r>
            <a:endParaRPr lang="en-US" sz="1800" dirty="0"/>
          </a:p>
        </p:txBody>
      </p:sp>
      <p:sp>
        <p:nvSpPr>
          <p:cNvPr id="29" name="Shape 24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0" name="Shape 25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1" name="Shape 26"/>
          <p:cNvSpPr/>
          <p:nvPr/>
        </p:nvSpPr>
        <p:spPr>
          <a:xfrm>
            <a:off x="304495" y="6538874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3B82F6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457200" y="6495898"/>
            <a:ext cx="32342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Day-6: CIA Triad &amp; Cyberspace Risk Management</a:t>
            </a:r>
            <a:endParaRPr lang="en-US" sz="1000" dirty="0"/>
          </a:p>
        </p:txBody>
      </p:sp>
      <p:sp>
        <p:nvSpPr>
          <p:cNvPr id="33" name="Text 28"/>
          <p:cNvSpPr txBox="1"/>
          <p:nvPr/>
        </p:nvSpPr>
        <p:spPr>
          <a:xfrm>
            <a:off x="11461090" y="6495898"/>
            <a:ext cx="5294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572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rcRect l="-2994" r="-2994" t="0" b="0"/>
          <a:stretch/>
        </p:blipFill>
        <p:spPr>
          <a:xfrm>
            <a:off x="304495" y="228600"/>
            <a:ext cx="161849" cy="1527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3154" y="209398"/>
            <a:ext cx="3020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11087100" y="213970"/>
            <a:ext cx="9098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2026-01-18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304495" y="177759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What: Monitor, detect, investigate, and escalate critical events.</a:t>
            </a:r>
            <a:endParaRPr lang="en-US" sz="2100" dirty="0"/>
          </a:p>
        </p:txBody>
      </p:sp>
      <p:sp>
        <p:nvSpPr>
          <p:cNvPr id="10" name="Text 6"/>
          <p:cNvSpPr txBox="1"/>
          <p:nvPr/>
        </p:nvSpPr>
        <p:spPr>
          <a:xfrm>
            <a:off x="304495" y="282915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Why: Speed and clarity significantly reduce business impact.</a:t>
            </a:r>
            <a:endParaRPr lang="en-US" sz="2100" dirty="0"/>
          </a:p>
        </p:txBody>
      </p:sp>
      <p:sp>
        <p:nvSpPr>
          <p:cNvPr id="11" name="Text 7"/>
          <p:cNvSpPr txBox="1"/>
          <p:nvPr/>
        </p:nvSpPr>
        <p:spPr>
          <a:xfrm>
            <a:off x="304495" y="388071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View: We provide visibility, not business decisions.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304495" y="493227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Document: Record observations clearly to support rapid action.</a:t>
            </a:r>
            <a:endParaRPr lang="en-US" sz="2100" dirty="0"/>
          </a:p>
        </p:txBody>
      </p:sp>
      <p:sp>
        <p:nvSpPr>
          <p:cNvPr id="13" name="Shape 9"/>
          <p:cNvSpPr/>
          <p:nvPr/>
        </p:nvSpPr>
        <p:spPr>
          <a:xfrm>
            <a:off x="7607808" y="1777594"/>
            <a:ext cx="4286707" cy="2505456"/>
          </a:xfrm>
          <a:prstGeom prst="roundRect">
            <a:avLst>
              <a:gd name="adj" fmla="val 166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922362" y="2701138"/>
            <a:ext cx="365760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Shape 11"/>
          <p:cNvSpPr/>
          <p:nvPr/>
        </p:nvSpPr>
        <p:spPr>
          <a:xfrm>
            <a:off x="7922362" y="2091233"/>
            <a:ext cx="457200" cy="457200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055864" y="2224735"/>
            <a:ext cx="190195" cy="19019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04495" y="838505"/>
            <a:ext cx="480060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Role As SOC L1</a:t>
            </a:r>
            <a:endParaRPr lang="en-US" sz="3600" dirty="0"/>
          </a:p>
        </p:txBody>
      </p:sp>
      <p:sp>
        <p:nvSpPr>
          <p:cNvPr id="18" name="Text 13"/>
          <p:cNvSpPr txBox="1"/>
          <p:nvPr/>
        </p:nvSpPr>
        <p:spPr>
          <a:xfrm>
            <a:off x="8532266" y="2177186"/>
            <a:ext cx="20866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ACTIONS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7922362" y="2968142"/>
            <a:ext cx="3706063" cy="962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Alerts, tickets, and hand-offs are how we translate risk into managed responses.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1" name="Shape 16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2" name="Shape 17"/>
          <p:cNvSpPr/>
          <p:nvPr/>
        </p:nvSpPr>
        <p:spPr>
          <a:xfrm>
            <a:off x="304495" y="6538874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3B82F6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457200" y="6495898"/>
            <a:ext cx="32342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Day-6: CIA Triad &amp; Cyberspace Risk Management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11457432" y="6495898"/>
            <a:ext cx="53858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572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rcRect l="-2994" r="-2994" t="0" b="0"/>
          <a:stretch/>
        </p:blipFill>
        <p:spPr>
          <a:xfrm>
            <a:off x="304495" y="228600"/>
            <a:ext cx="161849" cy="1527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3154" y="209398"/>
            <a:ext cx="3020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11087100" y="213970"/>
            <a:ext cx="9098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2026-01-18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304495" y="177759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What: We explain every new technical term in plain English.</a:t>
            </a:r>
            <a:endParaRPr lang="en-US" sz="2100" dirty="0"/>
          </a:p>
        </p:txBody>
      </p:sp>
      <p:sp>
        <p:nvSpPr>
          <p:cNvPr id="10" name="Text 6"/>
          <p:cNvSpPr txBox="1"/>
          <p:nvPr/>
        </p:nvSpPr>
        <p:spPr>
          <a:xfrm>
            <a:off x="304495" y="282915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Why: Shared language prevents confusion during critical incidents.</a:t>
            </a:r>
            <a:endParaRPr lang="en-US" sz="2100" dirty="0"/>
          </a:p>
        </p:txBody>
      </p:sp>
      <p:sp>
        <p:nvSpPr>
          <p:cNvPr id="11" name="Text 7"/>
          <p:cNvSpPr txBox="1"/>
          <p:nvPr/>
        </p:nvSpPr>
        <p:spPr>
          <a:xfrm>
            <a:off x="304495" y="388071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View: Clarify terms before acting or escalating tickets.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304495" y="493227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Rule: Ask immediately when unsure; never guess meanings.</a:t>
            </a:r>
            <a:endParaRPr lang="en-US" sz="2100" dirty="0"/>
          </a:p>
        </p:txBody>
      </p:sp>
      <p:sp>
        <p:nvSpPr>
          <p:cNvPr id="13" name="Shape 9"/>
          <p:cNvSpPr/>
          <p:nvPr/>
        </p:nvSpPr>
        <p:spPr>
          <a:xfrm>
            <a:off x="7607808" y="1777594"/>
            <a:ext cx="4286707" cy="3191256"/>
          </a:xfrm>
          <a:prstGeom prst="roundRect">
            <a:avLst>
              <a:gd name="adj" fmla="val 102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922362" y="2701138"/>
            <a:ext cx="365760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Shape 11"/>
          <p:cNvSpPr/>
          <p:nvPr/>
        </p:nvSpPr>
        <p:spPr>
          <a:xfrm>
            <a:off x="7922362" y="2091233"/>
            <a:ext cx="457200" cy="457200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032090" y="2224735"/>
            <a:ext cx="237744" cy="19019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04495" y="838505"/>
            <a:ext cx="602041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Vocabulary Ground Rules</a:t>
            </a:r>
            <a:endParaRPr lang="en-US" sz="3600" dirty="0"/>
          </a:p>
        </p:txBody>
      </p:sp>
      <p:sp>
        <p:nvSpPr>
          <p:cNvPr id="18" name="Text 13"/>
          <p:cNvSpPr txBox="1"/>
          <p:nvPr/>
        </p:nvSpPr>
        <p:spPr>
          <a:xfrm>
            <a:off x="8532266" y="2177186"/>
            <a:ext cx="28291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COMMUNICATION TIP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7922362" y="2968142"/>
            <a:ext cx="3296412" cy="1648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Precision matters. Confusing "compromise" (breach) with "attempt" (blocked attack) changes the entire response priority.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1" name="Shape 16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2" name="Shape 17"/>
          <p:cNvSpPr/>
          <p:nvPr/>
        </p:nvSpPr>
        <p:spPr>
          <a:xfrm>
            <a:off x="304495" y="6538874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3B82F6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457200" y="6495898"/>
            <a:ext cx="32342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Day-6: CIA Triad &amp; Cyberspace Risk Management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11464747" y="6495898"/>
            <a:ext cx="5294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572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rcRect l="-2994" r="-2994" t="0" b="0"/>
          <a:stretch/>
        </p:blipFill>
        <p:spPr>
          <a:xfrm>
            <a:off x="304495" y="228600"/>
            <a:ext cx="161849" cy="1527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3154" y="209398"/>
            <a:ext cx="3020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11087100" y="213970"/>
            <a:ext cx="9098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2026-01-18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304495" y="1777594"/>
            <a:ext cx="57918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What: Only authorized topics covered today.</a:t>
            </a:r>
            <a:endParaRPr lang="en-US" sz="2100" dirty="0"/>
          </a:p>
        </p:txBody>
      </p:sp>
      <p:sp>
        <p:nvSpPr>
          <p:cNvPr id="10" name="Text 6"/>
          <p:cNvSpPr txBox="1"/>
          <p:nvPr/>
        </p:nvSpPr>
        <p:spPr>
          <a:xfrm>
            <a:off x="304495" y="2455164"/>
            <a:ext cx="700156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Why: Avoid confusion and prevent cognitive overload.</a:t>
            </a:r>
            <a:endParaRPr lang="en-US" sz="2100" dirty="0"/>
          </a:p>
        </p:txBody>
      </p:sp>
      <p:sp>
        <p:nvSpPr>
          <p:cNvPr id="11" name="Text 7"/>
          <p:cNvSpPr txBox="1"/>
          <p:nvPr/>
        </p:nvSpPr>
        <p:spPr>
          <a:xfrm>
            <a:off x="304495" y="3133649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View: Stay focused on impact and risk assessment.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304495" y="4185209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frameworks, no complex math, no hacking, no policies.</a:t>
            </a:r>
            <a:endParaRPr lang="en-US" sz="2100" dirty="0"/>
          </a:p>
        </p:txBody>
      </p:sp>
      <p:sp>
        <p:nvSpPr>
          <p:cNvPr id="13" name="Shape 9"/>
          <p:cNvSpPr/>
          <p:nvPr/>
        </p:nvSpPr>
        <p:spPr>
          <a:xfrm>
            <a:off x="7607808" y="1777594"/>
            <a:ext cx="4286707" cy="3191256"/>
          </a:xfrm>
          <a:prstGeom prst="roundRect">
            <a:avLst>
              <a:gd name="adj" fmla="val 102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922362" y="2701138"/>
            <a:ext cx="365760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Shape 11"/>
          <p:cNvSpPr/>
          <p:nvPr/>
        </p:nvSpPr>
        <p:spPr>
          <a:xfrm>
            <a:off x="7922362" y="2091233"/>
            <a:ext cx="457200" cy="457200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055864" y="2224735"/>
            <a:ext cx="190195" cy="19019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04495" y="838505"/>
            <a:ext cx="4353458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Safety And Scope</a:t>
            </a:r>
            <a:endParaRPr lang="en-US" sz="3600" dirty="0"/>
          </a:p>
        </p:txBody>
      </p:sp>
      <p:sp>
        <p:nvSpPr>
          <p:cNvPr id="18" name="Text 13"/>
          <p:cNvSpPr txBox="1"/>
          <p:nvPr/>
        </p:nvSpPr>
        <p:spPr>
          <a:xfrm>
            <a:off x="8532266" y="2177186"/>
            <a:ext cx="24579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 DISCIPLINE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7922362" y="2968142"/>
            <a:ext cx="3715207" cy="1648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focus exclusively on the CIA Triad and Risk Mindset. Advanced topics and tools come after mastering these foundations.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1" name="Shape 16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2" name="Shape 17"/>
          <p:cNvSpPr/>
          <p:nvPr/>
        </p:nvSpPr>
        <p:spPr>
          <a:xfrm>
            <a:off x="304495" y="6538874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3B82F6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457200" y="6495898"/>
            <a:ext cx="32342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Day-6: CIA Triad &amp; Cyberspace Risk Management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11457432" y="6495898"/>
            <a:ext cx="53858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572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rcRect l="-2994" r="-2994" t="0" b="0"/>
          <a:stretch/>
        </p:blipFill>
        <p:spPr>
          <a:xfrm>
            <a:off x="304495" y="228600"/>
            <a:ext cx="161849" cy="1527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3154" y="209398"/>
            <a:ext cx="3020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11087100" y="213970"/>
            <a:ext cx="9098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2026-01-18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304495" y="177759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Definition: Protecting information and services from harm, unauthorized access, or disruption.</a:t>
            </a:r>
            <a:endParaRPr lang="en-US" sz="2100" dirty="0"/>
          </a:p>
        </p:txBody>
      </p:sp>
      <p:sp>
        <p:nvSpPr>
          <p:cNvPr id="10" name="Text 6"/>
          <p:cNvSpPr txBox="1"/>
          <p:nvPr/>
        </p:nvSpPr>
        <p:spPr>
          <a:xfrm>
            <a:off x="304495" y="282915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Why: Business relies on accurate, available, and confidential data to function.</a:t>
            </a:r>
            <a:endParaRPr lang="en-US" sz="2100" dirty="0"/>
          </a:p>
        </p:txBody>
      </p:sp>
      <p:sp>
        <p:nvSpPr>
          <p:cNvPr id="11" name="Text 7"/>
          <p:cNvSpPr txBox="1"/>
          <p:nvPr/>
        </p:nvSpPr>
        <p:spPr>
          <a:xfrm>
            <a:off x="304495" y="388071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View: We watch for early signs of harm before damage occurs.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304495" y="493227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Scope: It includes People, Processes, and Technology working together.</a:t>
            </a:r>
            <a:endParaRPr lang="en-US" sz="2100" dirty="0"/>
          </a:p>
        </p:txBody>
      </p:sp>
      <p:sp>
        <p:nvSpPr>
          <p:cNvPr id="13" name="Shape 9"/>
          <p:cNvSpPr/>
          <p:nvPr/>
        </p:nvSpPr>
        <p:spPr>
          <a:xfrm>
            <a:off x="7607808" y="1777594"/>
            <a:ext cx="4286707" cy="2848356"/>
          </a:xfrm>
          <a:prstGeom prst="roundRect">
            <a:avLst>
              <a:gd name="adj" fmla="val 128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922362" y="2701138"/>
            <a:ext cx="365760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Shape 11"/>
          <p:cNvSpPr/>
          <p:nvPr/>
        </p:nvSpPr>
        <p:spPr>
          <a:xfrm>
            <a:off x="7922362" y="2091233"/>
            <a:ext cx="457200" cy="457200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032090" y="2224735"/>
            <a:ext cx="237744" cy="19019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04495" y="838505"/>
            <a:ext cx="699150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Information Security?</a:t>
            </a:r>
            <a:endParaRPr lang="en-US" sz="3600" dirty="0"/>
          </a:p>
        </p:txBody>
      </p:sp>
      <p:sp>
        <p:nvSpPr>
          <p:cNvPr id="18" name="Text 13"/>
          <p:cNvSpPr txBox="1"/>
          <p:nvPr/>
        </p:nvSpPr>
        <p:spPr>
          <a:xfrm>
            <a:off x="8532266" y="2177186"/>
            <a:ext cx="22960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BIG PICTURE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7922362" y="2968142"/>
            <a:ext cx="3467405" cy="130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isn't just firewalls. It's about ensuring the right data gets to the right people at the right time, safely.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1" name="Shape 16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2" name="Shape 17"/>
          <p:cNvSpPr/>
          <p:nvPr/>
        </p:nvSpPr>
        <p:spPr>
          <a:xfrm>
            <a:off x="304495" y="6538874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3B82F6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457200" y="6495898"/>
            <a:ext cx="32342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Day-6: CIA Triad &amp; Cyberspace Risk Management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11457432" y="6495898"/>
            <a:ext cx="53858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572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rcRect l="-2994" r="-2994" t="0" b="0"/>
          <a:stretch/>
        </p:blipFill>
        <p:spPr>
          <a:xfrm>
            <a:off x="304495" y="228600"/>
            <a:ext cx="161849" cy="1527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3154" y="209398"/>
            <a:ext cx="3020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11087100" y="213970"/>
            <a:ext cx="9098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2026-01-18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304495" y="177759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What: Information requires functioning systems to live and flow.</a:t>
            </a:r>
            <a:endParaRPr lang="en-US" sz="2100" dirty="0"/>
          </a:p>
        </p:txBody>
      </p:sp>
      <p:sp>
        <p:nvSpPr>
          <p:cNvPr id="10" name="Text 6"/>
          <p:cNvSpPr txBox="1"/>
          <p:nvPr/>
        </p:nvSpPr>
        <p:spPr>
          <a:xfrm>
            <a:off x="304495" y="282915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Why: You must protect both data and the pipes it travels through.</a:t>
            </a:r>
            <a:endParaRPr lang="en-US" sz="2100" dirty="0"/>
          </a:p>
        </p:txBody>
      </p:sp>
      <p:sp>
        <p:nvSpPr>
          <p:cNvPr id="11" name="Text 7"/>
          <p:cNvSpPr txBox="1"/>
          <p:nvPr/>
        </p:nvSpPr>
        <p:spPr>
          <a:xfrm>
            <a:off x="304495" y="388071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View: Alerts often link data risks with system behavior.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304495" y="493227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Think: Always consider system dependencies and data paths together.</a:t>
            </a:r>
            <a:endParaRPr lang="en-US" sz="2100" dirty="0"/>
          </a:p>
        </p:txBody>
      </p:sp>
      <p:sp>
        <p:nvSpPr>
          <p:cNvPr id="13" name="Shape 9"/>
          <p:cNvSpPr/>
          <p:nvPr/>
        </p:nvSpPr>
        <p:spPr>
          <a:xfrm>
            <a:off x="7607808" y="1777594"/>
            <a:ext cx="4286707" cy="2848356"/>
          </a:xfrm>
          <a:prstGeom prst="roundRect">
            <a:avLst>
              <a:gd name="adj" fmla="val 128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922362" y="2701138"/>
            <a:ext cx="365760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Shape 11"/>
          <p:cNvSpPr/>
          <p:nvPr/>
        </p:nvSpPr>
        <p:spPr>
          <a:xfrm>
            <a:off x="7922362" y="2091233"/>
            <a:ext cx="457200" cy="457200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rcRect l="-1282" r="-1282" t="0" b="0"/>
          <a:stretch/>
        </p:blipFill>
        <p:spPr>
          <a:xfrm>
            <a:off x="8041234" y="2224735"/>
            <a:ext cx="219456" cy="19019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04495" y="838505"/>
            <a:ext cx="8144561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Information And Systems Together</a:t>
            </a:r>
            <a:endParaRPr lang="en-US" sz="3600" dirty="0"/>
          </a:p>
        </p:txBody>
      </p:sp>
      <p:sp>
        <p:nvSpPr>
          <p:cNvPr id="18" name="Text 13"/>
          <p:cNvSpPr txBox="1"/>
          <p:nvPr/>
        </p:nvSpPr>
        <p:spPr>
          <a:xfrm>
            <a:off x="8532266" y="2177186"/>
            <a:ext cx="23719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CONNECTED RISK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7922362" y="2968142"/>
            <a:ext cx="3676802" cy="130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crashed server (System) often means unavailable records (Information). Security failures rarely affect just one layer.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1" name="Shape 16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2" name="Shape 17"/>
          <p:cNvSpPr/>
          <p:nvPr/>
        </p:nvSpPr>
        <p:spPr>
          <a:xfrm>
            <a:off x="304495" y="6538874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3B82F6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457200" y="6495898"/>
            <a:ext cx="32342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Day-6: CIA Triad &amp; Cyberspace Risk Management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11401654" y="6495898"/>
            <a:ext cx="5861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572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rcRect l="-2994" r="-2994" t="0" b="0"/>
          <a:stretch/>
        </p:blipFill>
        <p:spPr>
          <a:xfrm>
            <a:off x="304495" y="228600"/>
            <a:ext cx="161849" cy="1527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3154" y="209398"/>
            <a:ext cx="3020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11087100" y="213970"/>
            <a:ext cx="9098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2026-01-18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304495" y="177759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What: Keep secrets (Confidentiality), keep truth (Integrity), keep services running (Availability).</a:t>
            </a:r>
            <a:endParaRPr lang="en-US" sz="2100" dirty="0"/>
          </a:p>
        </p:txBody>
      </p:sp>
      <p:sp>
        <p:nvSpPr>
          <p:cNvPr id="10" name="Text 6"/>
          <p:cNvSpPr txBox="1"/>
          <p:nvPr/>
        </p:nvSpPr>
        <p:spPr>
          <a:xfrm>
            <a:off x="304495" y="282915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Why: These three core goals guide every security action we take.</a:t>
            </a:r>
            <a:endParaRPr lang="en-US" sz="2100" dirty="0"/>
          </a:p>
        </p:txBody>
      </p:sp>
      <p:sp>
        <p:nvSpPr>
          <p:cNvPr id="11" name="Text 7"/>
          <p:cNvSpPr txBox="1"/>
          <p:nvPr/>
        </p:nvSpPr>
        <p:spPr>
          <a:xfrm>
            <a:off x="304495" y="388071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View: We map every alert to one of these simple goals.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304495" y="493227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Note: We use simple language to help non-technical partners understand risks.</a:t>
            </a:r>
            <a:endParaRPr lang="en-US" sz="2100" dirty="0"/>
          </a:p>
        </p:txBody>
      </p:sp>
      <p:sp>
        <p:nvSpPr>
          <p:cNvPr id="13" name="Shape 9"/>
          <p:cNvSpPr/>
          <p:nvPr/>
        </p:nvSpPr>
        <p:spPr>
          <a:xfrm>
            <a:off x="7607808" y="1777594"/>
            <a:ext cx="4286707" cy="3419856"/>
          </a:xfrm>
          <a:prstGeom prst="roundRect">
            <a:avLst>
              <a:gd name="adj" fmla="val 89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922362" y="2929738"/>
            <a:ext cx="365760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Shape 11"/>
          <p:cNvSpPr/>
          <p:nvPr/>
        </p:nvSpPr>
        <p:spPr>
          <a:xfrm>
            <a:off x="7922362" y="2205533"/>
            <a:ext cx="457200" cy="457200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030261" y="2339035"/>
            <a:ext cx="237744" cy="19019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04495" y="838505"/>
            <a:ext cx="6906463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Goals In Plain Words</a:t>
            </a:r>
            <a:endParaRPr lang="en-US" sz="3600" dirty="0"/>
          </a:p>
        </p:txBody>
      </p:sp>
      <p:sp>
        <p:nvSpPr>
          <p:cNvPr id="18" name="Text 13"/>
          <p:cNvSpPr txBox="1"/>
          <p:nvPr/>
        </p:nvSpPr>
        <p:spPr>
          <a:xfrm>
            <a:off x="8528609" y="2120494"/>
            <a:ext cx="2371954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COMMUNICATION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7922362" y="3196742"/>
            <a:ext cx="3762756" cy="1648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Instead of saying "integrity violation," try saying "the data may have been altered." Plain language builds trust and speeds up decisions.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1" name="Shape 16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2" name="Shape 17"/>
          <p:cNvSpPr/>
          <p:nvPr/>
        </p:nvSpPr>
        <p:spPr>
          <a:xfrm>
            <a:off x="304495" y="6538874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3B82F6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457200" y="6495898"/>
            <a:ext cx="32342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Day-6: CIA Triad &amp; Cyberspace Risk Management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11431829" y="6495898"/>
            <a:ext cx="5577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572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rcRect l="-2994" r="-2994" t="0" b="0"/>
          <a:stretch/>
        </p:blipFill>
        <p:spPr>
          <a:xfrm>
            <a:off x="304495" y="228600"/>
            <a:ext cx="161849" cy="1527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3154" y="209398"/>
            <a:ext cx="3020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11087100" y="213970"/>
            <a:ext cx="9098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2026-01-18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304495" y="177759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What: The online digital world where modern business operates.</a:t>
            </a:r>
            <a:endParaRPr lang="en-US" sz="2100" dirty="0"/>
          </a:p>
        </p:txBody>
      </p:sp>
      <p:sp>
        <p:nvSpPr>
          <p:cNvPr id="10" name="Text 6"/>
          <p:cNvSpPr txBox="1"/>
          <p:nvPr/>
        </p:nvSpPr>
        <p:spPr>
          <a:xfrm>
            <a:off x="304495" y="282915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Why: Connectivity brings global opportunity but introduces unavoidable risk.</a:t>
            </a:r>
            <a:endParaRPr lang="en-US" sz="2100" dirty="0"/>
          </a:p>
        </p:txBody>
      </p:sp>
      <p:sp>
        <p:nvSpPr>
          <p:cNvPr id="11" name="Text 7"/>
          <p:cNvSpPr txBox="1"/>
          <p:nvPr/>
        </p:nvSpPr>
        <p:spPr>
          <a:xfrm>
            <a:off x="304495" y="388071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View: Visibility is vital in connected environments.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304495" y="493227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Boundaryless networks require careful, constant monitoring.</a:t>
            </a:r>
            <a:endParaRPr lang="en-US" sz="2100" dirty="0"/>
          </a:p>
        </p:txBody>
      </p:sp>
      <p:sp>
        <p:nvSpPr>
          <p:cNvPr id="13" name="Shape 9"/>
          <p:cNvSpPr/>
          <p:nvPr/>
        </p:nvSpPr>
        <p:spPr>
          <a:xfrm>
            <a:off x="7607808" y="1777594"/>
            <a:ext cx="4286707" cy="2848356"/>
          </a:xfrm>
          <a:prstGeom prst="roundRect">
            <a:avLst>
              <a:gd name="adj" fmla="val 128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922362" y="2701138"/>
            <a:ext cx="365760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Shape 11"/>
          <p:cNvSpPr/>
          <p:nvPr/>
        </p:nvSpPr>
        <p:spPr>
          <a:xfrm>
            <a:off x="7922362" y="2091233"/>
            <a:ext cx="457200" cy="457200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055864" y="2224735"/>
            <a:ext cx="190195" cy="19019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04495" y="838505"/>
            <a:ext cx="5591556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In Cyberspace</a:t>
            </a:r>
            <a:endParaRPr lang="en-US" sz="3600" dirty="0"/>
          </a:p>
        </p:txBody>
      </p:sp>
      <p:sp>
        <p:nvSpPr>
          <p:cNvPr id="18" name="Text 13"/>
          <p:cNvSpPr txBox="1"/>
          <p:nvPr/>
        </p:nvSpPr>
        <p:spPr>
          <a:xfrm>
            <a:off x="8532266" y="2177186"/>
            <a:ext cx="24295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ANALYST INSIGHT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7922362" y="2968142"/>
            <a:ext cx="3791102" cy="130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cyberspace, distances don't exist. An attacker next door and one across the ocean can reach your assets with the same speed.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1" name="Shape 16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2" name="Shape 17"/>
          <p:cNvSpPr/>
          <p:nvPr/>
        </p:nvSpPr>
        <p:spPr>
          <a:xfrm>
            <a:off x="304495" y="6538874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3B82F6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457200" y="6495898"/>
            <a:ext cx="32342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Day-6: CIA Triad &amp; Cyberspace Risk Management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11404397" y="6495898"/>
            <a:ext cx="5861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572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rcRect l="-2994" r="-2994" t="0" b="0"/>
          <a:stretch/>
        </p:blipFill>
        <p:spPr>
          <a:xfrm>
            <a:off x="304495" y="228600"/>
            <a:ext cx="161849" cy="1527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3154" y="209398"/>
            <a:ext cx="3020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11087100" y="213970"/>
            <a:ext cx="9098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2026-01-18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304495" y="1777594"/>
            <a:ext cx="7034479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Loss: Stolen secrets or customer files damage competitive edge.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304495" y="2737714"/>
            <a:ext cx="7034479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Downtime: Systems offline stop revenue and daily operations.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304495" y="3697834"/>
            <a:ext cx="7034479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 &amp; Reputation: Lost confidence is harder to fix than code.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304495" y="4657954"/>
            <a:ext cx="7034479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it matters: These outcomes directly hurt growth and stability.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304495" y="5618074"/>
            <a:ext cx="7034479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Priority: Focus attention on threats causing highest business pain.</a:t>
            </a:r>
            <a:endParaRPr lang="en-US" sz="1900" dirty="0"/>
          </a:p>
        </p:txBody>
      </p:sp>
      <p:sp>
        <p:nvSpPr>
          <p:cNvPr id="14" name="Shape 10"/>
          <p:cNvSpPr/>
          <p:nvPr/>
        </p:nvSpPr>
        <p:spPr>
          <a:xfrm>
            <a:off x="7607808" y="1777594"/>
            <a:ext cx="4286707" cy="2848356"/>
          </a:xfrm>
          <a:prstGeom prst="roundRect">
            <a:avLst>
              <a:gd name="adj" fmla="val 128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922362" y="2701138"/>
            <a:ext cx="365760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6" name="Shape 12"/>
          <p:cNvSpPr/>
          <p:nvPr/>
        </p:nvSpPr>
        <p:spPr>
          <a:xfrm>
            <a:off x="7922362" y="2091233"/>
            <a:ext cx="457200" cy="457200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055864" y="2224735"/>
            <a:ext cx="190195" cy="19019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04495" y="838505"/>
            <a:ext cx="537210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Cost Of Insecurity</a:t>
            </a:r>
            <a:endParaRPr lang="en-US" sz="3600" dirty="0"/>
          </a:p>
        </p:txBody>
      </p:sp>
      <p:sp>
        <p:nvSpPr>
          <p:cNvPr id="19" name="Text 14"/>
          <p:cNvSpPr txBox="1"/>
          <p:nvPr/>
        </p:nvSpPr>
        <p:spPr>
          <a:xfrm>
            <a:off x="8532266" y="2177186"/>
            <a:ext cx="16294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FOCUS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7922362" y="2968142"/>
            <a:ext cx="3514954" cy="130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Don't just report "malware found." Report the potential consequence: "This malware could stop payroll processing."</a:t>
            </a:r>
            <a:endParaRPr lang="en-US" sz="1800" dirty="0"/>
          </a:p>
        </p:txBody>
      </p:sp>
      <p:sp>
        <p:nvSpPr>
          <p:cNvPr id="21" name="Shape 16"/>
          <p:cNvSpPr/>
          <p:nvPr/>
        </p:nvSpPr>
        <p:spPr>
          <a:xfrm>
            <a:off x="0" y="6578194"/>
            <a:ext cx="12191695" cy="286207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2" name="Shape 17"/>
          <p:cNvSpPr/>
          <p:nvPr/>
        </p:nvSpPr>
        <p:spPr>
          <a:xfrm>
            <a:off x="0" y="6578194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3" name="Shape 18"/>
          <p:cNvSpPr/>
          <p:nvPr/>
        </p:nvSpPr>
        <p:spPr>
          <a:xfrm>
            <a:off x="304495" y="6685178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3B82F6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457200" y="6642202"/>
            <a:ext cx="32342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Day-6: CIA Triad &amp; Cyberspace Risk Management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11403482" y="6642202"/>
            <a:ext cx="5861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572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rcRect l="-2994" r="-2994" t="0" b="0"/>
          <a:stretch/>
        </p:blipFill>
        <p:spPr>
          <a:xfrm>
            <a:off x="304495" y="228600"/>
            <a:ext cx="161849" cy="1527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3154" y="209398"/>
            <a:ext cx="3020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11087100" y="213970"/>
            <a:ext cx="9098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2026-01-18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304495" y="1777594"/>
            <a:ext cx="681045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What: A continuous lifecycle, not a one-time project.</a:t>
            </a:r>
            <a:endParaRPr lang="en-US" sz="2100" dirty="0"/>
          </a:p>
        </p:txBody>
      </p:sp>
      <p:sp>
        <p:nvSpPr>
          <p:cNvPr id="10" name="Text 6"/>
          <p:cNvSpPr txBox="1"/>
          <p:nvPr/>
        </p:nvSpPr>
        <p:spPr>
          <a:xfrm>
            <a:off x="304495" y="245516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Why: Threats innovate and systems change constantly.</a:t>
            </a:r>
            <a:endParaRPr lang="en-US" sz="2100" dirty="0"/>
          </a:p>
        </p:txBody>
      </p:sp>
      <p:sp>
        <p:nvSpPr>
          <p:cNvPr id="11" name="Text 7"/>
          <p:cNvSpPr txBox="1"/>
          <p:nvPr/>
        </p:nvSpPr>
        <p:spPr>
          <a:xfrm>
            <a:off x="304495" y="350672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View: We learn, adapt, and improve every single day.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304495" y="4559198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Result: Small improvements compound into strong defense.</a:t>
            </a:r>
            <a:endParaRPr lang="en-US" sz="2100" dirty="0"/>
          </a:p>
        </p:txBody>
      </p:sp>
      <p:sp>
        <p:nvSpPr>
          <p:cNvPr id="13" name="Shape 9"/>
          <p:cNvSpPr/>
          <p:nvPr/>
        </p:nvSpPr>
        <p:spPr>
          <a:xfrm>
            <a:off x="7607808" y="1777594"/>
            <a:ext cx="4286707" cy="2848356"/>
          </a:xfrm>
          <a:prstGeom prst="roundRect">
            <a:avLst>
              <a:gd name="adj" fmla="val 128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922362" y="2701138"/>
            <a:ext cx="365760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Shape 11"/>
          <p:cNvSpPr/>
          <p:nvPr/>
        </p:nvSpPr>
        <p:spPr>
          <a:xfrm>
            <a:off x="7922362" y="2091233"/>
            <a:ext cx="457200" cy="457200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055864" y="2224735"/>
            <a:ext cx="190195" cy="19019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04495" y="838505"/>
            <a:ext cx="4743907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Is Ongoing</a:t>
            </a:r>
            <a:endParaRPr lang="en-US" sz="3600" dirty="0"/>
          </a:p>
        </p:txBody>
      </p:sp>
      <p:sp>
        <p:nvSpPr>
          <p:cNvPr id="18" name="Text 13"/>
          <p:cNvSpPr txBox="1"/>
          <p:nvPr/>
        </p:nvSpPr>
        <p:spPr>
          <a:xfrm>
            <a:off x="8532266" y="2177186"/>
            <a:ext cx="30577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MINDSET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7922362" y="2968142"/>
            <a:ext cx="3820363" cy="130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Yesterday's secure configuration might be today's vulnerability. We never say "done," we only say "monitoring."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1" name="Shape 16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2" name="Shape 17"/>
          <p:cNvSpPr/>
          <p:nvPr/>
        </p:nvSpPr>
        <p:spPr>
          <a:xfrm>
            <a:off x="304495" y="6538874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3B82F6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457200" y="6495898"/>
            <a:ext cx="32342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Day-6: CIA Triad &amp; Cyberspace Risk Management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11399825" y="6495898"/>
            <a:ext cx="5961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572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rcRect l="-2994" r="-2994" t="0" b="0"/>
          <a:stretch/>
        </p:blipFill>
        <p:spPr>
          <a:xfrm>
            <a:off x="304495" y="228600"/>
            <a:ext cx="161849" cy="1527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3154" y="209398"/>
            <a:ext cx="3020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11087100" y="213970"/>
            <a:ext cx="9098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2026-01-18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304495" y="177759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What: The three core goals of security: Confidentiality, Integrity, and Availability.</a:t>
            </a:r>
            <a:endParaRPr lang="en-US" sz="2100" dirty="0"/>
          </a:p>
        </p:txBody>
      </p:sp>
      <p:sp>
        <p:nvSpPr>
          <p:cNvPr id="10" name="Text 6"/>
          <p:cNvSpPr txBox="1"/>
          <p:nvPr/>
        </p:nvSpPr>
        <p:spPr>
          <a:xfrm>
            <a:off x="304495" y="282915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Why: All security decisions are made to protect one or more of these pillars.</a:t>
            </a:r>
            <a:endParaRPr lang="en-US" sz="2100" dirty="0"/>
          </a:p>
        </p:txBody>
      </p:sp>
      <p:sp>
        <p:nvSpPr>
          <p:cNvPr id="11" name="Text 7"/>
          <p:cNvSpPr txBox="1"/>
          <p:nvPr/>
        </p:nvSpPr>
        <p:spPr>
          <a:xfrm>
            <a:off x="304495" y="388071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View: We classify alerts by which goal is currently threatened.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304495" y="493227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Result: Shared language reduces confusion during incidents.</a:t>
            </a:r>
            <a:endParaRPr lang="en-US" sz="2100" dirty="0"/>
          </a:p>
        </p:txBody>
      </p:sp>
      <p:sp>
        <p:nvSpPr>
          <p:cNvPr id="13" name="Shape 9"/>
          <p:cNvSpPr/>
          <p:nvPr/>
        </p:nvSpPr>
        <p:spPr>
          <a:xfrm>
            <a:off x="7607808" y="1777594"/>
            <a:ext cx="4286707" cy="2848356"/>
          </a:xfrm>
          <a:prstGeom prst="roundRect">
            <a:avLst>
              <a:gd name="adj" fmla="val 128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922362" y="2701138"/>
            <a:ext cx="365760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Shape 11"/>
          <p:cNvSpPr/>
          <p:nvPr/>
        </p:nvSpPr>
        <p:spPr>
          <a:xfrm>
            <a:off x="7922362" y="2091233"/>
            <a:ext cx="457200" cy="457200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055864" y="2224735"/>
            <a:ext cx="190195" cy="19019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04495" y="838505"/>
            <a:ext cx="615391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CIA Triad: The Foundation</a:t>
            </a:r>
            <a:endParaRPr lang="en-US" sz="3600" dirty="0"/>
          </a:p>
        </p:txBody>
      </p:sp>
      <p:sp>
        <p:nvSpPr>
          <p:cNvPr id="18" name="Text 13"/>
          <p:cNvSpPr txBox="1"/>
          <p:nvPr/>
        </p:nvSpPr>
        <p:spPr>
          <a:xfrm>
            <a:off x="8532266" y="2177186"/>
            <a:ext cx="23152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 CHECK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7922362" y="2968142"/>
            <a:ext cx="3820363" cy="130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Think of CIA as a checklist for every alert. "Is this a secret issue, a trust issue, or a downtime issue?"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1" name="Shape 16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2" name="Shape 17"/>
          <p:cNvSpPr/>
          <p:nvPr/>
        </p:nvSpPr>
        <p:spPr>
          <a:xfrm>
            <a:off x="304495" y="6538874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3B82F6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457200" y="6495898"/>
            <a:ext cx="32342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Day-6: CIA Triad &amp; Cyberspace Risk Management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11407140" y="6495898"/>
            <a:ext cx="5861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572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rcRect l="-2994" r="-2994" t="0" b="0"/>
          <a:stretch/>
        </p:blipFill>
        <p:spPr>
          <a:xfrm>
            <a:off x="304495" y="228600"/>
            <a:ext cx="161849" cy="1527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3154" y="209398"/>
            <a:ext cx="3020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11087100" y="213970"/>
            <a:ext cx="9098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2026-01-18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304495" y="177759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What: Translates raw alerts into clear business impact terms.</a:t>
            </a:r>
            <a:endParaRPr lang="en-US" sz="2100" dirty="0"/>
          </a:p>
        </p:txBody>
      </p:sp>
      <p:sp>
        <p:nvSpPr>
          <p:cNvPr id="10" name="Text 6"/>
          <p:cNvSpPr txBox="1"/>
          <p:nvPr/>
        </p:nvSpPr>
        <p:spPr>
          <a:xfrm>
            <a:off x="304495" y="282915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Why: Guides immediate triage and escalation priority choices effectively.</a:t>
            </a:r>
            <a:endParaRPr lang="en-US" sz="2100" dirty="0"/>
          </a:p>
        </p:txBody>
      </p:sp>
      <p:sp>
        <p:nvSpPr>
          <p:cNvPr id="11" name="Text 7"/>
          <p:cNvSpPr txBox="1"/>
          <p:nvPr/>
        </p:nvSpPr>
        <p:spPr>
          <a:xfrm>
            <a:off x="304495" y="388071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View: Enables faster decisions through a shared impact lens.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304495" y="4932274"/>
            <a:ext cx="623895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Action: Apply CIA tags to every ticket for clarity.</a:t>
            </a:r>
            <a:endParaRPr lang="en-US" sz="2100" dirty="0"/>
          </a:p>
        </p:txBody>
      </p:sp>
      <p:sp>
        <p:nvSpPr>
          <p:cNvPr id="13" name="Shape 9"/>
          <p:cNvSpPr/>
          <p:nvPr/>
        </p:nvSpPr>
        <p:spPr>
          <a:xfrm>
            <a:off x="7607808" y="1777594"/>
            <a:ext cx="4286707" cy="2848356"/>
          </a:xfrm>
          <a:prstGeom prst="roundRect">
            <a:avLst>
              <a:gd name="adj" fmla="val 128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922362" y="2701138"/>
            <a:ext cx="365760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Shape 11"/>
          <p:cNvSpPr/>
          <p:nvPr/>
        </p:nvSpPr>
        <p:spPr>
          <a:xfrm>
            <a:off x="7922362" y="2091233"/>
            <a:ext cx="457200" cy="457200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055864" y="2224735"/>
            <a:ext cx="190195" cy="19019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04495" y="838505"/>
            <a:ext cx="5458054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CIA Triad In Daily Work</a:t>
            </a:r>
            <a:endParaRPr lang="en-US" sz="3600" dirty="0"/>
          </a:p>
        </p:txBody>
      </p:sp>
      <p:sp>
        <p:nvSpPr>
          <p:cNvPr id="18" name="Text 13"/>
          <p:cNvSpPr txBox="1"/>
          <p:nvPr/>
        </p:nvSpPr>
        <p:spPr>
          <a:xfrm>
            <a:off x="8532266" y="2177186"/>
            <a:ext cx="23152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EFFICIENCY GAIN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7922362" y="2968142"/>
            <a:ext cx="3286354" cy="130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Tagging a ticket as "Integrity Risk" instantly tells the team: verify data accuracy before trusting it.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1" name="Shape 16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2" name="Shape 17"/>
          <p:cNvSpPr/>
          <p:nvPr/>
        </p:nvSpPr>
        <p:spPr>
          <a:xfrm>
            <a:off x="304495" y="6538874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3B82F6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457200" y="6495898"/>
            <a:ext cx="32342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Day-6: CIA Triad &amp; Cyberspace Risk Management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11403482" y="6495898"/>
            <a:ext cx="5861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572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rcRect l="-2994" r="-2994" t="0" b="0"/>
          <a:stretch/>
        </p:blipFill>
        <p:spPr>
          <a:xfrm>
            <a:off x="304495" y="228600"/>
            <a:ext cx="161849" cy="1527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3154" y="209398"/>
            <a:ext cx="3020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11087100" y="213970"/>
            <a:ext cx="9098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2026-01-18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304495" y="177759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What: Keeping information accessible only to authorized people.</a:t>
            </a:r>
            <a:endParaRPr lang="en-US" sz="2100" dirty="0"/>
          </a:p>
        </p:txBody>
      </p:sp>
      <p:sp>
        <p:nvSpPr>
          <p:cNvPr id="10" name="Text 6"/>
          <p:cNvSpPr txBox="1"/>
          <p:nvPr/>
        </p:nvSpPr>
        <p:spPr>
          <a:xfrm>
            <a:off x="304495" y="282915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Why: Prevents harmful exposure, theft, or misuse of private data.</a:t>
            </a:r>
            <a:endParaRPr lang="en-US" sz="2100" dirty="0"/>
          </a:p>
        </p:txBody>
      </p:sp>
      <p:sp>
        <p:nvSpPr>
          <p:cNvPr id="11" name="Text 7"/>
          <p:cNvSpPr txBox="1"/>
          <p:nvPr/>
        </p:nvSpPr>
        <p:spPr>
          <a:xfrm>
            <a:off x="304495" y="388071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View: We watch access logs, file sharing, and data movement.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304495" y="493227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Examples: User credentials, payroll files, screenshots, customer lists.</a:t>
            </a:r>
            <a:endParaRPr lang="en-US" sz="2100" dirty="0"/>
          </a:p>
        </p:txBody>
      </p:sp>
      <p:sp>
        <p:nvSpPr>
          <p:cNvPr id="13" name="Shape 9"/>
          <p:cNvSpPr/>
          <p:nvPr/>
        </p:nvSpPr>
        <p:spPr>
          <a:xfrm>
            <a:off x="7607808" y="1777594"/>
            <a:ext cx="4286707" cy="2848356"/>
          </a:xfrm>
          <a:prstGeom prst="roundRect">
            <a:avLst>
              <a:gd name="adj" fmla="val 128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922362" y="2701138"/>
            <a:ext cx="365760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Shape 11"/>
          <p:cNvSpPr/>
          <p:nvPr/>
        </p:nvSpPr>
        <p:spPr>
          <a:xfrm>
            <a:off x="7922362" y="2091233"/>
            <a:ext cx="457200" cy="457200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rcRect l="-1648" r="-1648" t="0" b="0"/>
          <a:stretch/>
        </p:blipFill>
        <p:spPr>
          <a:xfrm>
            <a:off x="8065008" y="2224735"/>
            <a:ext cx="171907" cy="19019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04495" y="838505"/>
            <a:ext cx="5820156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Confidentiality: Concept</a:t>
            </a:r>
            <a:endParaRPr lang="en-US" sz="3600" dirty="0"/>
          </a:p>
        </p:txBody>
      </p:sp>
      <p:sp>
        <p:nvSpPr>
          <p:cNvPr id="18" name="Text 13"/>
          <p:cNvSpPr txBox="1"/>
          <p:nvPr/>
        </p:nvSpPr>
        <p:spPr>
          <a:xfrm>
            <a:off x="8532266" y="2177186"/>
            <a:ext cx="20290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PRINCIPLE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7922362" y="2968142"/>
            <a:ext cx="3620110" cy="130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the wrong person sees it, Confidentiality is broken. This is often called a "data leak" or "breach."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1" name="Shape 16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2" name="Shape 17"/>
          <p:cNvSpPr/>
          <p:nvPr/>
        </p:nvSpPr>
        <p:spPr>
          <a:xfrm>
            <a:off x="304495" y="6538874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3B82F6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457200" y="6495898"/>
            <a:ext cx="32342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Day-6: CIA Triad &amp; Cyberspace Risk Management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11410798" y="6495898"/>
            <a:ext cx="5861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572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rcRect l="-2994" r="-2994" t="0" b="0"/>
          <a:stretch/>
        </p:blipFill>
        <p:spPr>
          <a:xfrm>
            <a:off x="304495" y="228600"/>
            <a:ext cx="161849" cy="1527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3154" y="209398"/>
            <a:ext cx="3020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11087100" y="213970"/>
            <a:ext cx="9098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2026-01-18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304495" y="177759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Scenario: A full customer list is viewed by unauthorized outsiders.</a:t>
            </a:r>
            <a:endParaRPr lang="en-US" sz="2100" dirty="0"/>
          </a:p>
        </p:txBody>
      </p:sp>
      <p:sp>
        <p:nvSpPr>
          <p:cNvPr id="10" name="Text 6"/>
          <p:cNvSpPr txBox="1"/>
          <p:nvPr/>
        </p:nvSpPr>
        <p:spPr>
          <a:xfrm>
            <a:off x="304495" y="282915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it hurts: Leads to identity fraud, lawsuits, and deep distrust.</a:t>
            </a:r>
            <a:endParaRPr lang="en-US" sz="2100" dirty="0"/>
          </a:p>
        </p:txBody>
      </p:sp>
      <p:sp>
        <p:nvSpPr>
          <p:cNvPr id="11" name="Text 7"/>
          <p:cNvSpPr txBox="1"/>
          <p:nvPr/>
        </p:nvSpPr>
        <p:spPr>
          <a:xfrm>
            <a:off x="304495" y="388071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View: Investigate unusual mass downloads or external exports.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304495" y="493227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Action: Escalate immediately if sensitive PII data is involved.</a:t>
            </a:r>
            <a:endParaRPr lang="en-US" sz="2100" dirty="0"/>
          </a:p>
        </p:txBody>
      </p:sp>
      <p:sp>
        <p:nvSpPr>
          <p:cNvPr id="13" name="Shape 9"/>
          <p:cNvSpPr/>
          <p:nvPr/>
        </p:nvSpPr>
        <p:spPr>
          <a:xfrm>
            <a:off x="7607808" y="1777594"/>
            <a:ext cx="4286707" cy="2848356"/>
          </a:xfrm>
          <a:prstGeom prst="roundRect">
            <a:avLst>
              <a:gd name="adj" fmla="val 128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922362" y="2701138"/>
            <a:ext cx="365760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Shape 11"/>
          <p:cNvSpPr/>
          <p:nvPr/>
        </p:nvSpPr>
        <p:spPr>
          <a:xfrm>
            <a:off x="7922362" y="2091233"/>
            <a:ext cx="457200" cy="457200"/>
          </a:xfrm>
          <a:prstGeom prst="ellipse">
            <a:avLst/>
          </a:prstGeom>
          <a:solidFill>
            <a:srgbClr val="F87171">
              <a:alpha val="10000"/>
            </a:srgb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rcRect l="-1648" r="-1648" t="0" b="0"/>
          <a:stretch/>
        </p:blipFill>
        <p:spPr>
          <a:xfrm>
            <a:off x="8065008" y="2224735"/>
            <a:ext cx="171907" cy="19019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04495" y="838505"/>
            <a:ext cx="8039405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Confidentiality: Everyday Example</a:t>
            </a:r>
            <a:endParaRPr lang="en-US" sz="3600" dirty="0"/>
          </a:p>
        </p:txBody>
      </p:sp>
      <p:sp>
        <p:nvSpPr>
          <p:cNvPr id="18" name="Text 13"/>
          <p:cNvSpPr txBox="1"/>
          <p:nvPr/>
        </p:nvSpPr>
        <p:spPr>
          <a:xfrm>
            <a:off x="8532266" y="2177186"/>
            <a:ext cx="30202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CA5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ESCALATION HINT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7922362" y="2968142"/>
            <a:ext cx="3810305" cy="130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you see a large "Select *" database query from an unknown IP address, treat it as a potential confidentiality breach.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1" name="Shape 16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2" name="Shape 17"/>
          <p:cNvSpPr/>
          <p:nvPr/>
        </p:nvSpPr>
        <p:spPr>
          <a:xfrm>
            <a:off x="304495" y="6538874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3B82F6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457200" y="6495898"/>
            <a:ext cx="32342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Day-6: CIA Triad &amp; Cyberspace Risk Management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11403482" y="6495898"/>
            <a:ext cx="5861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572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rcRect l="-2994" r="-2994" t="0" b="0"/>
          <a:stretch/>
        </p:blipFill>
        <p:spPr>
          <a:xfrm>
            <a:off x="304495" y="228600"/>
            <a:ext cx="161849" cy="1527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3154" y="209398"/>
            <a:ext cx="3020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11087100" y="213970"/>
            <a:ext cx="9098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2026-01-18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304495" y="1777594"/>
            <a:ext cx="7034479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What: Keep information accurate, complete, and trustworthy.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304495" y="2737714"/>
            <a:ext cx="6462979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Why: Business decisions rely entirely on correct data.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304495" y="3351276"/>
            <a:ext cx="7034479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View: Flag unexpected changes or signs of tampering.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304495" y="4311396"/>
            <a:ext cx="697778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Examples: Silent edits, code injections, or data corruption.</a:t>
            </a:r>
            <a:endParaRPr lang="en-US" sz="1900" dirty="0"/>
          </a:p>
        </p:txBody>
      </p:sp>
      <p:sp>
        <p:nvSpPr>
          <p:cNvPr id="13" name="Shape 9"/>
          <p:cNvSpPr/>
          <p:nvPr/>
        </p:nvSpPr>
        <p:spPr>
          <a:xfrm>
            <a:off x="7607808" y="1777594"/>
            <a:ext cx="4286707" cy="2848356"/>
          </a:xfrm>
          <a:prstGeom prst="roundRect">
            <a:avLst>
              <a:gd name="adj" fmla="val 128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922362" y="2701138"/>
            <a:ext cx="365760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Shape 11"/>
          <p:cNvSpPr/>
          <p:nvPr/>
        </p:nvSpPr>
        <p:spPr>
          <a:xfrm>
            <a:off x="7922362" y="2091233"/>
            <a:ext cx="457200" cy="457200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079638" y="2224735"/>
            <a:ext cx="142646" cy="19019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04495" y="838505"/>
            <a:ext cx="4410151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Integrity: Concept</a:t>
            </a:r>
            <a:endParaRPr lang="en-US" sz="3600" dirty="0"/>
          </a:p>
        </p:txBody>
      </p:sp>
      <p:sp>
        <p:nvSpPr>
          <p:cNvPr id="18" name="Text 13"/>
          <p:cNvSpPr txBox="1"/>
          <p:nvPr/>
        </p:nvSpPr>
        <p:spPr>
          <a:xfrm>
            <a:off x="8532266" y="2177186"/>
            <a:ext cx="32104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REAL-WORLD EXAMPLES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7922362" y="2968142"/>
            <a:ext cx="3667658" cy="130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Imagine if a financial record was silently altered or a transaction log deleted. Integrity protects against these invisible harms.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1" name="Shape 16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2" name="Shape 17"/>
          <p:cNvSpPr/>
          <p:nvPr/>
        </p:nvSpPr>
        <p:spPr>
          <a:xfrm>
            <a:off x="304495" y="6538874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3B82F6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457200" y="6495898"/>
            <a:ext cx="32342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Day-6: CIA Triad &amp; Cyberspace Risk Management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11403482" y="6495898"/>
            <a:ext cx="5861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572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rcRect l="-2994" r="-2994" t="0" b="0"/>
          <a:stretch/>
        </p:blipFill>
        <p:spPr>
          <a:xfrm>
            <a:off x="304495" y="228600"/>
            <a:ext cx="161849" cy="1527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3154" y="209398"/>
            <a:ext cx="3020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11087100" y="213970"/>
            <a:ext cx="9098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2026-01-18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304495" y="177759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Scenario: Prices in a store database are silently changed overnight.</a:t>
            </a:r>
            <a:endParaRPr lang="en-US" sz="2100" dirty="0"/>
          </a:p>
        </p:txBody>
      </p:sp>
      <p:sp>
        <p:nvSpPr>
          <p:cNvPr id="10" name="Text 6"/>
          <p:cNvSpPr txBox="1"/>
          <p:nvPr/>
        </p:nvSpPr>
        <p:spPr>
          <a:xfrm>
            <a:off x="304495" y="282915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Impact: Customers are overcharged, causing complaints and refunds.</a:t>
            </a:r>
            <a:endParaRPr lang="en-US" sz="2100" dirty="0"/>
          </a:p>
        </p:txBody>
      </p:sp>
      <p:sp>
        <p:nvSpPr>
          <p:cNvPr id="11" name="Text 7"/>
          <p:cNvSpPr txBox="1"/>
          <p:nvPr/>
        </p:nvSpPr>
        <p:spPr>
          <a:xfrm>
            <a:off x="304495" y="388071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View: We verify if the change was authorized or malicious.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304495" y="4932274"/>
            <a:ext cx="686805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Action: Check file integrity logs and user edit history.</a:t>
            </a:r>
            <a:endParaRPr lang="en-US" sz="2100" dirty="0"/>
          </a:p>
        </p:txBody>
      </p:sp>
      <p:sp>
        <p:nvSpPr>
          <p:cNvPr id="13" name="Shape 9"/>
          <p:cNvSpPr/>
          <p:nvPr/>
        </p:nvSpPr>
        <p:spPr>
          <a:xfrm>
            <a:off x="7607808" y="1777594"/>
            <a:ext cx="4286707" cy="2848356"/>
          </a:xfrm>
          <a:prstGeom prst="roundRect">
            <a:avLst>
              <a:gd name="adj" fmla="val 128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922362" y="2701138"/>
            <a:ext cx="365760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Shape 11"/>
          <p:cNvSpPr/>
          <p:nvPr/>
        </p:nvSpPr>
        <p:spPr>
          <a:xfrm>
            <a:off x="7922362" y="2091233"/>
            <a:ext cx="457200" cy="457200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055864" y="2224735"/>
            <a:ext cx="190195" cy="19019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04495" y="838505"/>
            <a:ext cx="662940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Integrity: Everyday Example</a:t>
            </a:r>
            <a:endParaRPr lang="en-US" sz="3600" dirty="0"/>
          </a:p>
        </p:txBody>
      </p:sp>
      <p:sp>
        <p:nvSpPr>
          <p:cNvPr id="18" name="Text 13"/>
          <p:cNvSpPr txBox="1"/>
          <p:nvPr/>
        </p:nvSpPr>
        <p:spPr>
          <a:xfrm>
            <a:off x="8532266" y="2177186"/>
            <a:ext cx="21909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FIRST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7922362" y="2968142"/>
            <a:ext cx="3553358" cy="130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escalating, capture before-and-after evidence. Proving what changed is key to fixing integrity issues.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1" name="Shape 16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2" name="Shape 17"/>
          <p:cNvSpPr/>
          <p:nvPr/>
        </p:nvSpPr>
        <p:spPr>
          <a:xfrm>
            <a:off x="304495" y="6538874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3B82F6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457200" y="6495898"/>
            <a:ext cx="32342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Day-6: CIA Triad &amp; Cyberspace Risk Management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11374222" y="6495898"/>
            <a:ext cx="6144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572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rcRect l="-2994" r="-2994" t="0" b="0"/>
          <a:stretch/>
        </p:blipFill>
        <p:spPr>
          <a:xfrm>
            <a:off x="304495" y="228600"/>
            <a:ext cx="161849" cy="1527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3154" y="209398"/>
            <a:ext cx="3020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11087100" y="213970"/>
            <a:ext cx="9098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2026-01-18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304495" y="177759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What: Ensure services and data are usable when needed.</a:t>
            </a:r>
            <a:endParaRPr lang="en-US" sz="2100" dirty="0"/>
          </a:p>
        </p:txBody>
      </p:sp>
      <p:sp>
        <p:nvSpPr>
          <p:cNvPr id="10" name="Text 6"/>
          <p:cNvSpPr txBox="1"/>
          <p:nvPr/>
        </p:nvSpPr>
        <p:spPr>
          <a:xfrm>
            <a:off x="304495" y="282915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Why: Downtime stops business operations and halts revenue immediately.</a:t>
            </a:r>
            <a:endParaRPr lang="en-US" sz="2100" dirty="0"/>
          </a:p>
        </p:txBody>
      </p:sp>
      <p:sp>
        <p:nvSpPr>
          <p:cNvPr id="11" name="Text 7"/>
          <p:cNvSpPr txBox="1"/>
          <p:nvPr/>
        </p:nvSpPr>
        <p:spPr>
          <a:xfrm>
            <a:off x="304495" y="388071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View: We track outages, system slowness, and connection errors.</a:t>
            </a:r>
            <a:endParaRPr lang="en-US" sz="2100" dirty="0"/>
          </a:p>
        </p:txBody>
      </p:sp>
      <p:sp>
        <p:nvSpPr>
          <p:cNvPr id="12" name="Shape 8"/>
          <p:cNvSpPr/>
          <p:nvPr/>
        </p:nvSpPr>
        <p:spPr>
          <a:xfrm>
            <a:off x="7607808" y="1777594"/>
            <a:ext cx="4286707" cy="2848356"/>
          </a:xfrm>
          <a:prstGeom prst="roundRect">
            <a:avLst>
              <a:gd name="adj" fmla="val 128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922362" y="2701138"/>
            <a:ext cx="365760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Shape 10"/>
          <p:cNvSpPr/>
          <p:nvPr/>
        </p:nvSpPr>
        <p:spPr>
          <a:xfrm>
            <a:off x="7922362" y="2091233"/>
            <a:ext cx="457200" cy="457200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055864" y="2224735"/>
            <a:ext cx="190195" cy="19019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04495" y="838505"/>
            <a:ext cx="4981651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Availability: Concept</a:t>
            </a:r>
            <a:endParaRPr lang="en-US" sz="3600" dirty="0"/>
          </a:p>
        </p:txBody>
      </p:sp>
      <p:sp>
        <p:nvSpPr>
          <p:cNvPr id="17" name="Text 12"/>
          <p:cNvSpPr txBox="1"/>
          <p:nvPr/>
        </p:nvSpPr>
        <p:spPr>
          <a:xfrm>
            <a:off x="8532266" y="2177186"/>
            <a:ext cx="32104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REAL-WORLD EXAMPLES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7922362" y="2968142"/>
            <a:ext cx="3734410" cy="130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Common availability incidents include DDoS attacks, accidental server overloads, or infrastructure failures.</a:t>
            </a:r>
            <a:endParaRPr lang="en-US" sz="1800" dirty="0"/>
          </a:p>
        </p:txBody>
      </p:sp>
      <p:sp>
        <p:nvSpPr>
          <p:cNvPr id="19" name="Shape 14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0" name="Shape 15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1" name="Shape 16"/>
          <p:cNvSpPr/>
          <p:nvPr/>
        </p:nvSpPr>
        <p:spPr>
          <a:xfrm>
            <a:off x="304495" y="6538874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3B82F6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457200" y="6495898"/>
            <a:ext cx="32342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Day-6: CIA Triad &amp; Cyberspace Risk Management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11404397" y="6495898"/>
            <a:ext cx="5861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572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rcRect l="-2994" r="-2994" t="0" b="0"/>
          <a:stretch/>
        </p:blipFill>
        <p:spPr>
          <a:xfrm>
            <a:off x="304495" y="228600"/>
            <a:ext cx="161849" cy="1527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3154" y="209398"/>
            <a:ext cx="3020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11087100" y="213970"/>
            <a:ext cx="9098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2026-01-18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304495" y="177759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Confidentiality Unusual login times or mass file downloads.</a:t>
            </a:r>
            <a:endParaRPr lang="en-US" sz="2100" dirty="0"/>
          </a:p>
        </p:txBody>
      </p:sp>
      <p:sp>
        <p:nvSpPr>
          <p:cNvPr id="10" name="Text 6"/>
          <p:cNvSpPr txBox="1"/>
          <p:nvPr/>
        </p:nvSpPr>
        <p:spPr>
          <a:xfrm>
            <a:off x="304495" y="275234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Confidentiality Sharing credentials or unexpected public access.</a:t>
            </a:r>
            <a:endParaRPr lang="en-US" sz="2100" dirty="0"/>
          </a:p>
        </p:txBody>
      </p:sp>
      <p:sp>
        <p:nvSpPr>
          <p:cNvPr id="11" name="Text 7"/>
          <p:cNvSpPr txBox="1"/>
          <p:nvPr/>
        </p:nvSpPr>
        <p:spPr>
          <a:xfrm>
            <a:off x="304495" y="3728009"/>
            <a:ext cx="70299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Integrity Unauthorized edits to system configs or logs.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304495" y="4330598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Integrity Corrupted files or unverified software changes.</a:t>
            </a:r>
            <a:endParaRPr lang="en-US" sz="2100" dirty="0"/>
          </a:p>
        </p:txBody>
      </p:sp>
      <p:sp>
        <p:nvSpPr>
          <p:cNvPr id="13" name="Text 9"/>
          <p:cNvSpPr txBox="1"/>
          <p:nvPr/>
        </p:nvSpPr>
        <p:spPr>
          <a:xfrm>
            <a:off x="304495" y="5305349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Availability Sudden server crashes or extreme slowness.</a:t>
            </a:r>
            <a:endParaRPr lang="en-US" sz="2100" dirty="0"/>
          </a:p>
        </p:txBody>
      </p:sp>
      <p:sp>
        <p:nvSpPr>
          <p:cNvPr id="14" name="Text 10"/>
          <p:cNvSpPr txBox="1"/>
          <p:nvPr/>
        </p:nvSpPr>
        <p:spPr>
          <a:xfrm>
            <a:off x="304495" y="628101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Availability Network outages stopping business operations.</a:t>
            </a:r>
            <a:endParaRPr lang="en-US" sz="2100" dirty="0"/>
          </a:p>
        </p:txBody>
      </p:sp>
      <p:sp>
        <p:nvSpPr>
          <p:cNvPr id="15" name="Shape 11"/>
          <p:cNvSpPr/>
          <p:nvPr/>
        </p:nvSpPr>
        <p:spPr>
          <a:xfrm>
            <a:off x="7607808" y="1777594"/>
            <a:ext cx="4286707" cy="2848356"/>
          </a:xfrm>
          <a:prstGeom prst="roundRect">
            <a:avLst>
              <a:gd name="adj" fmla="val 128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922362" y="2701138"/>
            <a:ext cx="365760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7" name="Shape 13"/>
          <p:cNvSpPr/>
          <p:nvPr/>
        </p:nvSpPr>
        <p:spPr>
          <a:xfrm>
            <a:off x="7922362" y="2091233"/>
            <a:ext cx="457200" cy="457200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055864" y="2224735"/>
            <a:ext cx="190195" cy="19019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304495" y="838505"/>
            <a:ext cx="510601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CIA Signals To Watch</a:t>
            </a:r>
            <a:endParaRPr lang="en-US" sz="3600" dirty="0"/>
          </a:p>
        </p:txBody>
      </p:sp>
      <p:sp>
        <p:nvSpPr>
          <p:cNvPr id="20" name="Text 15"/>
          <p:cNvSpPr txBox="1"/>
          <p:nvPr/>
        </p:nvSpPr>
        <p:spPr>
          <a:xfrm>
            <a:off x="8532266" y="2177186"/>
            <a:ext cx="16669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TRIAGE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7922362" y="2968142"/>
            <a:ext cx="3810305" cy="130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classify every alert by the CIA goal it threatens. Early detection of these signals reduces business impact.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0" y="7256678"/>
            <a:ext cx="12191695" cy="20939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3" name="Shape 18"/>
          <p:cNvSpPr/>
          <p:nvPr/>
        </p:nvSpPr>
        <p:spPr>
          <a:xfrm>
            <a:off x="0" y="7256678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4" name="Shape 19"/>
          <p:cNvSpPr/>
          <p:nvPr/>
        </p:nvSpPr>
        <p:spPr>
          <a:xfrm>
            <a:off x="304495" y="7328002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3B82F6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457200" y="7285025"/>
            <a:ext cx="32342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Day-6: CIA Triad &amp; Cyberspace Risk Management</a:t>
            </a:r>
            <a:endParaRPr lang="en-US" sz="1000" dirty="0"/>
          </a:p>
        </p:txBody>
      </p:sp>
      <p:sp>
        <p:nvSpPr>
          <p:cNvPr id="26" name="Text 21"/>
          <p:cNvSpPr txBox="1"/>
          <p:nvPr/>
        </p:nvSpPr>
        <p:spPr>
          <a:xfrm>
            <a:off x="11377879" y="7285025"/>
            <a:ext cx="6144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572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rcRect l="-2994" r="-2994" t="0" b="0"/>
          <a:stretch/>
        </p:blipFill>
        <p:spPr>
          <a:xfrm>
            <a:off x="304495" y="228600"/>
            <a:ext cx="161849" cy="1527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3154" y="209398"/>
            <a:ext cx="3020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11087100" y="213970"/>
            <a:ext cx="9098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2026-01-18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304495" y="177759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Confidentiality: Unusual mass export of customer database records.</a:t>
            </a:r>
            <a:endParaRPr lang="en-US" sz="2100" dirty="0"/>
          </a:p>
        </p:txBody>
      </p:sp>
      <p:sp>
        <p:nvSpPr>
          <p:cNvPr id="10" name="Text 6"/>
          <p:cNvSpPr txBox="1"/>
          <p:nvPr/>
        </p:nvSpPr>
        <p:spPr>
          <a:xfrm>
            <a:off x="304495" y="282915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Integrity: Unexpected changes to payroll system configuration files.</a:t>
            </a:r>
            <a:endParaRPr lang="en-US" sz="2100" dirty="0"/>
          </a:p>
        </p:txBody>
      </p:sp>
      <p:sp>
        <p:nvSpPr>
          <p:cNvPr id="11" name="Text 7"/>
          <p:cNvSpPr txBox="1"/>
          <p:nvPr/>
        </p:nvSpPr>
        <p:spPr>
          <a:xfrm>
            <a:off x="304495" y="388071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Availability: Web server unresponsive during peak traffic hours.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304495" y="493227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Confidentiality: Admin credentials used from an unknown location.</a:t>
            </a:r>
            <a:endParaRPr lang="en-US" sz="2100" dirty="0"/>
          </a:p>
        </p:txBody>
      </p:sp>
      <p:sp>
        <p:nvSpPr>
          <p:cNvPr id="13" name="Shape 9"/>
          <p:cNvSpPr/>
          <p:nvPr/>
        </p:nvSpPr>
        <p:spPr>
          <a:xfrm>
            <a:off x="7607808" y="1777594"/>
            <a:ext cx="4286707" cy="3191256"/>
          </a:xfrm>
          <a:prstGeom prst="roundRect">
            <a:avLst>
              <a:gd name="adj" fmla="val 102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922362" y="2701138"/>
            <a:ext cx="365760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Shape 11"/>
          <p:cNvSpPr/>
          <p:nvPr/>
        </p:nvSpPr>
        <p:spPr>
          <a:xfrm>
            <a:off x="7922362" y="2091233"/>
            <a:ext cx="457200" cy="457200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055864" y="2224735"/>
            <a:ext cx="190195" cy="19019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04495" y="838505"/>
            <a:ext cx="9078163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Mapping Alerts to CIA: Quick Examples</a:t>
            </a:r>
            <a:endParaRPr lang="en-US" sz="3600" dirty="0"/>
          </a:p>
        </p:txBody>
      </p:sp>
      <p:sp>
        <p:nvSpPr>
          <p:cNvPr id="18" name="Text 13"/>
          <p:cNvSpPr txBox="1"/>
          <p:nvPr/>
        </p:nvSpPr>
        <p:spPr>
          <a:xfrm>
            <a:off x="8532266" y="2177186"/>
            <a:ext cx="14200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VIEW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7922362" y="2968142"/>
            <a:ext cx="3686861" cy="1648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you see an alert, your first mental step is to tag it: Is this a secret issue, a truth issue, or an uptime issue? This guides immediate triage.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1" name="Shape 16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2" name="Shape 17"/>
          <p:cNvSpPr/>
          <p:nvPr/>
        </p:nvSpPr>
        <p:spPr>
          <a:xfrm>
            <a:off x="304495" y="6538874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3B82F6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457200" y="6495898"/>
            <a:ext cx="32342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Day-6: CIA Triad &amp; Cyberspace Risk Management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11376050" y="6495898"/>
            <a:ext cx="6144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572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rcRect l="-2994" r="-2994" t="0" b="0"/>
          <a:stretch/>
        </p:blipFill>
        <p:spPr>
          <a:xfrm>
            <a:off x="304495" y="228600"/>
            <a:ext cx="161849" cy="1527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3154" y="209398"/>
            <a:ext cx="3020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11087100" y="213970"/>
            <a:ext cx="9098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2026-01-18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304495" y="1777594"/>
            <a:ext cx="7034479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Confidentiality: Access logs, unusual data transfer sizes, permission changes.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304495" y="2775204"/>
            <a:ext cx="7034479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Integrity: File hash mismatches, unauthorized edits, checksum errors.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304495" y="3773729"/>
            <a:ext cx="7034479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Availability: System uptime reports, high latency alerts, crash logs.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304495" y="4772254"/>
            <a:ext cx="6768389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Timestamps: Proof of when an event started and ended.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304495" y="5424221"/>
            <a:ext cx="645383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Scope: Lists of affected users, machines, or services.</a:t>
            </a:r>
            <a:endParaRPr lang="en-US" sz="1900" dirty="0"/>
          </a:p>
        </p:txBody>
      </p:sp>
      <p:sp>
        <p:nvSpPr>
          <p:cNvPr id="14" name="Shape 10"/>
          <p:cNvSpPr/>
          <p:nvPr/>
        </p:nvSpPr>
        <p:spPr>
          <a:xfrm>
            <a:off x="7607808" y="1777594"/>
            <a:ext cx="4286707" cy="3191256"/>
          </a:xfrm>
          <a:prstGeom prst="roundRect">
            <a:avLst>
              <a:gd name="adj" fmla="val 102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922362" y="2701138"/>
            <a:ext cx="365760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6" name="Shape 12"/>
          <p:cNvSpPr/>
          <p:nvPr/>
        </p:nvSpPr>
        <p:spPr>
          <a:xfrm>
            <a:off x="7922362" y="2091233"/>
            <a:ext cx="457200" cy="457200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055864" y="2224735"/>
            <a:ext cx="190195" cy="19019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04495" y="838505"/>
            <a:ext cx="6486754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For Each CIA Goal</a:t>
            </a:r>
            <a:endParaRPr lang="en-US" sz="3600" dirty="0"/>
          </a:p>
        </p:txBody>
      </p:sp>
      <p:sp>
        <p:nvSpPr>
          <p:cNvPr id="19" name="Text 14"/>
          <p:cNvSpPr txBox="1"/>
          <p:nvPr/>
        </p:nvSpPr>
        <p:spPr>
          <a:xfrm>
            <a:off x="8532266" y="2177186"/>
            <a:ext cx="1534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HABIT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7922362" y="2968142"/>
            <a:ext cx="3343961" cy="1648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 evidence speeds up decisions. Capture logs, screenshots, and timestamps immediately before they disappear.</a:t>
            </a:r>
            <a:endParaRPr lang="en-US" sz="1800" dirty="0"/>
          </a:p>
        </p:txBody>
      </p:sp>
      <p:sp>
        <p:nvSpPr>
          <p:cNvPr id="21" name="Shape 16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2" name="Shape 17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3" name="Shape 18"/>
          <p:cNvSpPr/>
          <p:nvPr/>
        </p:nvSpPr>
        <p:spPr>
          <a:xfrm>
            <a:off x="304495" y="6538874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3B82F6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457200" y="6495898"/>
            <a:ext cx="32342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Day-6: CIA Triad &amp; Cyberspace Risk Management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11374222" y="6495898"/>
            <a:ext cx="6144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572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rcRect l="-2994" r="-2994" t="0" b="0"/>
          <a:stretch/>
        </p:blipFill>
        <p:spPr>
          <a:xfrm>
            <a:off x="304495" y="228600"/>
            <a:ext cx="161849" cy="1527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3154" y="209398"/>
            <a:ext cx="3020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11087100" y="213970"/>
            <a:ext cx="9098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2026-01-18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304495" y="1777594"/>
            <a:ext cx="4867351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What: Simple questions to classify risk fast.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304495" y="2326234"/>
            <a:ext cx="4620463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Why: Creates consistent, calm decisions.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304495" y="2874874"/>
            <a:ext cx="455371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View: Ask: "What data is affected?"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04495" y="3422599"/>
            <a:ext cx="5229454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View: Ask: "Has the data been changed?"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304495" y="3971239"/>
            <a:ext cx="5201107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View: Ask: "Is the service down or slow?"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304495" y="4519879"/>
            <a:ext cx="4258361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Escalate with CIA tag and impact hint.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7607808" y="1777594"/>
            <a:ext cx="4286707" cy="2505456"/>
          </a:xfrm>
          <a:prstGeom prst="roundRect">
            <a:avLst>
              <a:gd name="adj" fmla="val 166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922362" y="2701138"/>
            <a:ext cx="365760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7" name="Shape 13"/>
          <p:cNvSpPr/>
          <p:nvPr/>
        </p:nvSpPr>
        <p:spPr>
          <a:xfrm>
            <a:off x="7922362" y="2091233"/>
            <a:ext cx="457200" cy="457200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079638" y="2224735"/>
            <a:ext cx="142646" cy="19019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304495" y="838505"/>
            <a:ext cx="8086954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CIA Quick Questions During Triage</a:t>
            </a:r>
            <a:endParaRPr lang="en-US" sz="3600" dirty="0"/>
          </a:p>
        </p:txBody>
      </p:sp>
      <p:sp>
        <p:nvSpPr>
          <p:cNvPr id="20" name="Text 15"/>
          <p:cNvSpPr txBox="1"/>
          <p:nvPr/>
        </p:nvSpPr>
        <p:spPr>
          <a:xfrm>
            <a:off x="8532266" y="2177186"/>
            <a:ext cx="15435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TRIAGE TIP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7922362" y="2968142"/>
            <a:ext cx="3620110" cy="962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you can't answer "what data" or "what changed," investigate further before declaring impact.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3" name="Shape 18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4" name="Shape 19"/>
          <p:cNvSpPr/>
          <p:nvPr/>
        </p:nvSpPr>
        <p:spPr>
          <a:xfrm>
            <a:off x="304495" y="6538874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3B82F6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457200" y="6495898"/>
            <a:ext cx="32342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Day-6: CIA Triad &amp; Cyberspace Risk Management</a:t>
            </a:r>
            <a:endParaRPr lang="en-US" sz="1000" dirty="0"/>
          </a:p>
        </p:txBody>
      </p:sp>
      <p:sp>
        <p:nvSpPr>
          <p:cNvPr id="26" name="Text 21"/>
          <p:cNvSpPr txBox="1"/>
          <p:nvPr/>
        </p:nvSpPr>
        <p:spPr>
          <a:xfrm>
            <a:off x="11379708" y="6495898"/>
            <a:ext cx="6144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572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rcRect l="-2994" r="-2994" t="0" b="0"/>
          <a:stretch/>
        </p:blipFill>
        <p:spPr>
          <a:xfrm>
            <a:off x="304495" y="228600"/>
            <a:ext cx="161849" cy="1527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3154" y="209398"/>
            <a:ext cx="3020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11087100" y="213970"/>
            <a:ext cx="9098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2026-01-18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761695" y="1079906"/>
            <a:ext cx="381305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Shape 6"/>
          <p:cNvSpPr/>
          <p:nvPr/>
        </p:nvSpPr>
        <p:spPr>
          <a:xfrm>
            <a:off x="761695" y="3336646"/>
            <a:ext cx="19202" cy="127650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Shape 7"/>
          <p:cNvSpPr/>
          <p:nvPr/>
        </p:nvSpPr>
        <p:spPr>
          <a:xfrm>
            <a:off x="4444898" y="3336646"/>
            <a:ext cx="19202" cy="127650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2" name="Shape 8"/>
          <p:cNvSpPr/>
          <p:nvPr/>
        </p:nvSpPr>
        <p:spPr>
          <a:xfrm>
            <a:off x="8128102" y="3336646"/>
            <a:ext cx="19202" cy="12765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Shape 9"/>
          <p:cNvSpPr/>
          <p:nvPr/>
        </p:nvSpPr>
        <p:spPr>
          <a:xfrm>
            <a:off x="761695" y="5220310"/>
            <a:ext cx="10668305" cy="75895"/>
          </a:xfrm>
          <a:prstGeom prst="roundRect">
            <a:avLst>
              <a:gd name="adj" fmla="val 602411"/>
            </a:avLst>
          </a:prstGeom>
          <a:solidFill>
            <a:srgbClr val="1E293B"/>
          </a:solidFill>
          <a:ln/>
        </p:spPr>
      </p:sp>
      <p:sp>
        <p:nvSpPr>
          <p:cNvPr id="14" name="Shape 10"/>
          <p:cNvSpPr/>
          <p:nvPr/>
        </p:nvSpPr>
        <p:spPr>
          <a:xfrm>
            <a:off x="761695" y="5220310"/>
            <a:ext cx="4267505" cy="7589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Shape 11"/>
          <p:cNvSpPr/>
          <p:nvPr/>
        </p:nvSpPr>
        <p:spPr>
          <a:xfrm>
            <a:off x="879653" y="5487314"/>
            <a:ext cx="75895" cy="75895"/>
          </a:xfrm>
          <a:prstGeom prst="ellipse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12700" dir="16200000">
              <a:srgbClr val="3b82f6">
                <a:alpha val="5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857500" y="5487314"/>
            <a:ext cx="75895" cy="75895"/>
          </a:xfrm>
          <a:prstGeom prst="ellipse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12700" dir="16200000">
              <a:srgbClr val="3b82f6">
                <a:alpha val="5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899355" y="5487314"/>
            <a:ext cx="75895" cy="75895"/>
          </a:xfrm>
          <a:prstGeom prst="ellipse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12700" dir="16200000">
              <a:srgbClr val="3b82f6">
                <a:alpha val="5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954926" y="5487314"/>
            <a:ext cx="75895" cy="75895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19" name="Shape 15"/>
          <p:cNvSpPr/>
          <p:nvPr/>
        </p:nvSpPr>
        <p:spPr>
          <a:xfrm>
            <a:off x="8973922" y="5487314"/>
            <a:ext cx="75895" cy="75895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20" name="Shape 16"/>
          <p:cNvSpPr/>
          <p:nvPr/>
        </p:nvSpPr>
        <p:spPr>
          <a:xfrm>
            <a:off x="11136478" y="5487314"/>
            <a:ext cx="75895" cy="75895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1257300" y="971093"/>
            <a:ext cx="13386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04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761695" y="1332281"/>
            <a:ext cx="5058461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CIA Balance &amp;</a:t>
            </a:r>
            <a:endParaRPr lang="en-US" sz="5400" dirty="0"/>
          </a:p>
        </p:txBody>
      </p:sp>
      <p:sp>
        <p:nvSpPr>
          <p:cNvPr id="23" name="Text 19"/>
          <p:cNvSpPr txBox="1"/>
          <p:nvPr/>
        </p:nvSpPr>
        <p:spPr>
          <a:xfrm>
            <a:off x="761695" y="2086661"/>
            <a:ext cx="4105656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Trade-Offs</a:t>
            </a:r>
            <a:endParaRPr lang="en-US" sz="5400" dirty="0"/>
          </a:p>
        </p:txBody>
      </p:sp>
      <p:sp>
        <p:nvSpPr>
          <p:cNvPr id="24" name="Text 20"/>
          <p:cNvSpPr txBox="1"/>
          <p:nvPr/>
        </p:nvSpPr>
        <p:spPr>
          <a:xfrm>
            <a:off x="1009498" y="3355848"/>
            <a:ext cx="11859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THIS?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1009498" y="3670402"/>
            <a:ext cx="316291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Balancing CIA goals in real-world situations.</a:t>
            </a:r>
            <a:endParaRPr lang="en-US" sz="1800" dirty="0"/>
          </a:p>
        </p:txBody>
      </p:sp>
      <p:sp>
        <p:nvSpPr>
          <p:cNvPr id="26" name="Text 22"/>
          <p:cNvSpPr txBox="1"/>
          <p:nvPr/>
        </p:nvSpPr>
        <p:spPr>
          <a:xfrm>
            <a:off x="4692701" y="3355848"/>
            <a:ext cx="11960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IT EXISTS</a:t>
            </a:r>
            <a:endParaRPr lang="en-US" sz="1000" dirty="0"/>
          </a:p>
        </p:txBody>
      </p:sp>
      <p:sp>
        <p:nvSpPr>
          <p:cNvPr id="27" name="Text 23"/>
          <p:cNvSpPr txBox="1"/>
          <p:nvPr/>
        </p:nvSpPr>
        <p:spPr>
          <a:xfrm>
            <a:off x="4692701" y="3670402"/>
            <a:ext cx="304861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Over-focus on one goal inevitably hurts the others.</a:t>
            </a:r>
            <a:endParaRPr lang="en-US" sz="1800" dirty="0"/>
          </a:p>
        </p:txBody>
      </p:sp>
      <p:sp>
        <p:nvSpPr>
          <p:cNvPr id="28" name="Text 24"/>
          <p:cNvSpPr txBox="1"/>
          <p:nvPr/>
        </p:nvSpPr>
        <p:spPr>
          <a:xfrm>
            <a:off x="8375904" y="3355848"/>
            <a:ext cx="8339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VIEW</a:t>
            </a:r>
            <a:endParaRPr lang="en-US" sz="1000" dirty="0"/>
          </a:p>
        </p:txBody>
      </p:sp>
      <p:sp>
        <p:nvSpPr>
          <p:cNvPr id="29" name="Text 25"/>
          <p:cNvSpPr txBox="1"/>
          <p:nvPr/>
        </p:nvSpPr>
        <p:spPr>
          <a:xfrm>
            <a:off x="8375904" y="3670402"/>
            <a:ext cx="3134563" cy="924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highlight trade-offs; the business decides the balance.</a:t>
            </a:r>
            <a:endParaRPr lang="en-US" sz="1800" dirty="0"/>
          </a:p>
        </p:txBody>
      </p:sp>
      <p:sp>
        <p:nvSpPr>
          <p:cNvPr id="30" name="Text 26"/>
          <p:cNvSpPr txBox="1"/>
          <p:nvPr/>
        </p:nvSpPr>
        <p:spPr>
          <a:xfrm>
            <a:off x="761695" y="5629961"/>
            <a:ext cx="4005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Fund.</a:t>
            </a:r>
            <a:endParaRPr lang="en-US" sz="900" dirty="0"/>
          </a:p>
        </p:txBody>
      </p:sp>
      <p:sp>
        <p:nvSpPr>
          <p:cNvPr id="31" name="Text 27"/>
          <p:cNvSpPr txBox="1"/>
          <p:nvPr/>
        </p:nvSpPr>
        <p:spPr>
          <a:xfrm>
            <a:off x="2795321" y="5629961"/>
            <a:ext cx="2862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CIA</a:t>
            </a:r>
            <a:endParaRPr lang="en-US" sz="900" dirty="0"/>
          </a:p>
        </p:txBody>
      </p:sp>
      <p:sp>
        <p:nvSpPr>
          <p:cNvPr id="32" name="Text 28"/>
          <p:cNvSpPr txBox="1"/>
          <p:nvPr/>
        </p:nvSpPr>
        <p:spPr>
          <a:xfrm>
            <a:off x="4717390" y="5629961"/>
            <a:ext cx="5340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Balance</a:t>
            </a:r>
            <a:endParaRPr lang="en-US" sz="900" dirty="0"/>
          </a:p>
        </p:txBody>
      </p:sp>
      <p:sp>
        <p:nvSpPr>
          <p:cNvPr id="33" name="Text 29"/>
          <p:cNvSpPr txBox="1"/>
          <p:nvPr/>
        </p:nvSpPr>
        <p:spPr>
          <a:xfrm>
            <a:off x="6880860" y="5629961"/>
            <a:ext cx="3145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</a:t>
            </a:r>
            <a:endParaRPr lang="en-US" sz="900" dirty="0"/>
          </a:p>
        </p:txBody>
      </p:sp>
      <p:sp>
        <p:nvSpPr>
          <p:cNvPr id="34" name="Text 30"/>
          <p:cNvSpPr txBox="1"/>
          <p:nvPr/>
        </p:nvSpPr>
        <p:spPr>
          <a:xfrm>
            <a:off x="8827618" y="5629961"/>
            <a:ext cx="4572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</a:t>
            </a:r>
            <a:endParaRPr lang="en-US" sz="900" dirty="0"/>
          </a:p>
        </p:txBody>
      </p:sp>
      <p:sp>
        <p:nvSpPr>
          <p:cNvPr id="35" name="Text 31"/>
          <p:cNvSpPr txBox="1"/>
          <p:nvPr/>
        </p:nvSpPr>
        <p:spPr>
          <a:xfrm>
            <a:off x="10918850" y="5629961"/>
            <a:ext cx="6007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Role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7" name="Shape 33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8" name="Shape 34"/>
          <p:cNvSpPr/>
          <p:nvPr/>
        </p:nvSpPr>
        <p:spPr>
          <a:xfrm>
            <a:off x="304495" y="6538874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3B82F6"/>
          </a:solidFill>
          <a:ln/>
        </p:spPr>
      </p:sp>
      <p:sp>
        <p:nvSpPr>
          <p:cNvPr id="39" name="Text 35"/>
          <p:cNvSpPr txBox="1"/>
          <p:nvPr/>
        </p:nvSpPr>
        <p:spPr>
          <a:xfrm>
            <a:off x="457200" y="6495898"/>
            <a:ext cx="32342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Day-6: CIA Triad &amp; Cyberspace Risk Management</a:t>
            </a:r>
            <a:endParaRPr lang="en-US" sz="1000" dirty="0"/>
          </a:p>
        </p:txBody>
      </p:sp>
      <p:sp>
        <p:nvSpPr>
          <p:cNvPr id="40" name="Text 36"/>
          <p:cNvSpPr txBox="1"/>
          <p:nvPr/>
        </p:nvSpPr>
        <p:spPr>
          <a:xfrm>
            <a:off x="11376050" y="6495898"/>
            <a:ext cx="6144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572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rcRect l="-2994" r="-2994" t="0" b="0"/>
          <a:stretch/>
        </p:blipFill>
        <p:spPr>
          <a:xfrm>
            <a:off x="304495" y="228600"/>
            <a:ext cx="161849" cy="1527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3154" y="209398"/>
            <a:ext cx="3020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11087100" y="213970"/>
            <a:ext cx="9098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2026-01-18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304495" y="1731874"/>
            <a:ext cx="4243730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What: Tighter security controls often slow down legitimate work processes.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304495" y="3076956"/>
            <a:ext cx="4243730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Why: Every extra check adds time, potentially delaying critical business services.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304495" y="4422038"/>
            <a:ext cx="4243730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View: Watch for user frustration or bypass attempts involving sensitive data.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304495" y="809244"/>
            <a:ext cx="10601554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Confidentiality vs Availability: Access Friction</a:t>
            </a:r>
            <a:endParaRPr lang="en-US" sz="3600" dirty="0"/>
          </a:p>
        </p:txBody>
      </p:sp>
      <p:sp>
        <p:nvSpPr>
          <p:cNvPr id="13" name="Shape 9"/>
          <p:cNvSpPr/>
          <p:nvPr/>
        </p:nvSpPr>
        <p:spPr>
          <a:xfrm>
            <a:off x="4816145" y="1731874"/>
            <a:ext cx="7077456" cy="4800600"/>
          </a:xfrm>
          <a:prstGeom prst="roundRect">
            <a:avLst>
              <a:gd name="adj" fmla="val 45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779715" y="2769718"/>
            <a:ext cx="1143000" cy="19202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9715" y="4122115"/>
            <a:ext cx="1143000" cy="19202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6" name="Shape 12"/>
          <p:cNvSpPr/>
          <p:nvPr/>
        </p:nvSpPr>
        <p:spPr>
          <a:xfrm>
            <a:off x="7779715" y="5474513"/>
            <a:ext cx="1143000" cy="19202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7" name="Shape 13"/>
          <p:cNvSpPr/>
          <p:nvPr/>
        </p:nvSpPr>
        <p:spPr>
          <a:xfrm>
            <a:off x="5129784" y="2617013"/>
            <a:ext cx="2657246" cy="1047902"/>
          </a:xfrm>
          <a:prstGeom prst="roundRect">
            <a:avLst>
              <a:gd name="adj" fmla="val 6346"/>
            </a:avLst>
          </a:prstGeom>
          <a:solidFill>
            <a:srgbClr val="0F172A"/>
          </a:solidFill>
          <a:ln w="12700">
            <a:solidFill>
              <a:srgbClr val="475569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20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5396789" y="2855671"/>
            <a:ext cx="229605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Strict Multi-Factor Authentication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5129784" y="3893515"/>
            <a:ext cx="2657246" cy="1047902"/>
          </a:xfrm>
          <a:prstGeom prst="roundRect">
            <a:avLst>
              <a:gd name="adj" fmla="val 6346"/>
            </a:avLst>
          </a:prstGeom>
          <a:solidFill>
            <a:srgbClr val="0F172A"/>
          </a:solidFill>
          <a:ln w="12700">
            <a:solidFill>
              <a:srgbClr val="475569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20000"/>
              </a:srgbClr>
            </a:outerShdw>
          </a:effectLst>
        </p:spPr>
      </p:sp>
      <p:sp>
        <p:nvSpPr>
          <p:cNvPr id="20" name="Text 16"/>
          <p:cNvSpPr txBox="1"/>
          <p:nvPr/>
        </p:nvSpPr>
        <p:spPr>
          <a:xfrm>
            <a:off x="5396789" y="4132174"/>
            <a:ext cx="229605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Aggressive DLP Scanning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5129784" y="5170018"/>
            <a:ext cx="2657246" cy="1047902"/>
          </a:xfrm>
          <a:prstGeom prst="roundRect">
            <a:avLst>
              <a:gd name="adj" fmla="val 6346"/>
            </a:avLst>
          </a:prstGeom>
          <a:solidFill>
            <a:srgbClr val="0F172A"/>
          </a:solidFill>
          <a:ln w="12700">
            <a:solidFill>
              <a:srgbClr val="475569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20000"/>
              </a:srgbClr>
            </a:outerShdw>
          </a:effectLst>
        </p:spPr>
      </p:sp>
      <p:sp>
        <p:nvSpPr>
          <p:cNvPr id="22" name="Text 18"/>
          <p:cNvSpPr txBox="1"/>
          <p:nvPr/>
        </p:nvSpPr>
        <p:spPr>
          <a:xfrm>
            <a:off x="5396789" y="5408676"/>
            <a:ext cx="229605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 Trust Network Checks</a:t>
            </a:r>
            <a:endParaRPr lang="en-US" sz="1500" dirty="0"/>
          </a:p>
        </p:txBody>
      </p:sp>
      <p:sp>
        <p:nvSpPr>
          <p:cNvPr id="23" name="Text 19"/>
          <p:cNvSpPr txBox="1"/>
          <p:nvPr/>
        </p:nvSpPr>
        <p:spPr>
          <a:xfrm>
            <a:off x="5249570" y="2064715"/>
            <a:ext cx="25338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CONTROL (CAUSE)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8922715" y="2617013"/>
            <a:ext cx="2657246" cy="1047902"/>
          </a:xfrm>
          <a:prstGeom prst="roundRect">
            <a:avLst>
              <a:gd name="adj" fmla="val 6346"/>
            </a:avLst>
          </a:prstGeom>
          <a:solidFill>
            <a:srgbClr val="0F172A"/>
          </a:solidFill>
          <a:ln w="12700">
            <a:solidFill>
              <a:srgbClr val="475569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20000"/>
              </a:srgbClr>
            </a:outerShdw>
          </a:effectLst>
        </p:spPr>
      </p:sp>
      <p:sp>
        <p:nvSpPr>
          <p:cNvPr id="25" name="Text 21"/>
          <p:cNvSpPr txBox="1"/>
          <p:nvPr/>
        </p:nvSpPr>
        <p:spPr>
          <a:xfrm>
            <a:off x="9189720" y="2855671"/>
            <a:ext cx="229605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Employees Delayed by Login Queues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922715" y="3893515"/>
            <a:ext cx="2657246" cy="1047902"/>
          </a:xfrm>
          <a:prstGeom prst="roundRect">
            <a:avLst>
              <a:gd name="adj" fmla="val 6346"/>
            </a:avLst>
          </a:prstGeom>
          <a:solidFill>
            <a:srgbClr val="0F172A"/>
          </a:solidFill>
          <a:ln w="12700">
            <a:solidFill>
              <a:srgbClr val="475569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20000"/>
              </a:srgbClr>
            </a:outerShdw>
          </a:effectLst>
        </p:spPr>
      </p:sp>
      <p:sp>
        <p:nvSpPr>
          <p:cNvPr id="27" name="Text 23"/>
          <p:cNvSpPr txBox="1"/>
          <p:nvPr/>
        </p:nvSpPr>
        <p:spPr>
          <a:xfrm>
            <a:off x="9189720" y="4132174"/>
            <a:ext cx="229605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Urgent Emails Sent Late</a:t>
            </a:r>
            <a:endParaRPr lang="en-US" sz="1500" dirty="0"/>
          </a:p>
        </p:txBody>
      </p:sp>
      <p:sp>
        <p:nvSpPr>
          <p:cNvPr id="28" name="Shape 24"/>
          <p:cNvSpPr/>
          <p:nvPr/>
        </p:nvSpPr>
        <p:spPr>
          <a:xfrm>
            <a:off x="8922715" y="5170018"/>
            <a:ext cx="2657246" cy="1047902"/>
          </a:xfrm>
          <a:prstGeom prst="roundRect">
            <a:avLst>
              <a:gd name="adj" fmla="val 6346"/>
            </a:avLst>
          </a:prstGeom>
          <a:solidFill>
            <a:srgbClr val="0F172A"/>
          </a:solidFill>
          <a:ln w="12700">
            <a:solidFill>
              <a:srgbClr val="475569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20000"/>
              </a:srgbClr>
            </a:outerShdw>
          </a:effectLst>
        </p:spPr>
      </p:sp>
      <p:sp>
        <p:nvSpPr>
          <p:cNvPr id="29" name="Text 25"/>
          <p:cNvSpPr txBox="1"/>
          <p:nvPr/>
        </p:nvSpPr>
        <p:spPr>
          <a:xfrm>
            <a:off x="9189720" y="5408676"/>
            <a:ext cx="229605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Legacy Applications Fail/Crash</a:t>
            </a:r>
            <a:endParaRPr lang="en-US" sz="1500" dirty="0"/>
          </a:p>
        </p:txBody>
      </p:sp>
      <p:sp>
        <p:nvSpPr>
          <p:cNvPr id="30" name="Text 26"/>
          <p:cNvSpPr txBox="1"/>
          <p:nvPr/>
        </p:nvSpPr>
        <p:spPr>
          <a:xfrm>
            <a:off x="9098280" y="2064715"/>
            <a:ext cx="24195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IMPACT (EFFECT)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7386523" y="3946550"/>
            <a:ext cx="1933956" cy="371246"/>
          </a:xfrm>
          <a:prstGeom prst="roundRect">
            <a:avLst>
              <a:gd name="adj" fmla="val 126311"/>
            </a:avLst>
          </a:prstGeom>
          <a:solidFill>
            <a:srgbClr val="0F172A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30000"/>
              </a:srgbClr>
            </a:outerShdw>
          </a:effectLst>
        </p:spPr>
      </p:sp>
      <p:sp>
        <p:nvSpPr>
          <p:cNvPr id="32" name="Text 28"/>
          <p:cNvSpPr txBox="1"/>
          <p:nvPr/>
        </p:nvSpPr>
        <p:spPr>
          <a:xfrm>
            <a:off x="7548372" y="4050792"/>
            <a:ext cx="17099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FRICTION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0" y="6532474"/>
            <a:ext cx="12191695" cy="33375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4" name="Shape 30"/>
          <p:cNvSpPr/>
          <p:nvPr/>
        </p:nvSpPr>
        <p:spPr>
          <a:xfrm>
            <a:off x="0" y="6532474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5" name="Shape 31"/>
          <p:cNvSpPr/>
          <p:nvPr/>
        </p:nvSpPr>
        <p:spPr>
          <a:xfrm>
            <a:off x="304495" y="6661404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3B82F6"/>
          </a:solidFill>
          <a:ln/>
        </p:spPr>
      </p:sp>
      <p:sp>
        <p:nvSpPr>
          <p:cNvPr id="36" name="Text 32"/>
          <p:cNvSpPr txBox="1"/>
          <p:nvPr/>
        </p:nvSpPr>
        <p:spPr>
          <a:xfrm>
            <a:off x="457200" y="6618427"/>
            <a:ext cx="32342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Day-6: CIA Triad &amp; Cyberspace Risk Management</a:t>
            </a:r>
            <a:endParaRPr lang="en-US" sz="1000" dirty="0"/>
          </a:p>
        </p:txBody>
      </p:sp>
      <p:sp>
        <p:nvSpPr>
          <p:cNvPr id="37" name="Text 33"/>
          <p:cNvSpPr txBox="1"/>
          <p:nvPr/>
        </p:nvSpPr>
        <p:spPr>
          <a:xfrm>
            <a:off x="11383366" y="6618427"/>
            <a:ext cx="6053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572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rcRect l="-2994" r="-2994" t="0" b="0"/>
          <a:stretch/>
        </p:blipFill>
        <p:spPr>
          <a:xfrm>
            <a:off x="304495" y="228600"/>
            <a:ext cx="161849" cy="1527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3154" y="209398"/>
            <a:ext cx="3020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11087100" y="213970"/>
            <a:ext cx="9098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2026-01-18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304495" y="1624889"/>
            <a:ext cx="4582058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What: Integrity checks require time and often service downtime.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304495" y="2569464"/>
            <a:ext cx="4582058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Why: Skipping checks risks corruption or retaining bad data.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304495" y="3514039"/>
            <a:ext cx="4582058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View: Note maintenance windows; expect legitimate outages.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04495" y="761695"/>
            <a:ext cx="1084021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Integrity vs Availability: Maintenance Windows</a:t>
            </a:r>
            <a:endParaRPr lang="en-US" sz="3600" dirty="0"/>
          </a:p>
        </p:txBody>
      </p:sp>
      <p:sp>
        <p:nvSpPr>
          <p:cNvPr id="13" name="Shape 9"/>
          <p:cNvSpPr/>
          <p:nvPr/>
        </p:nvSpPr>
        <p:spPr>
          <a:xfrm>
            <a:off x="5163617" y="1624889"/>
            <a:ext cx="6724498" cy="4667098"/>
          </a:xfrm>
          <a:prstGeom prst="roundRect">
            <a:avLst>
              <a:gd name="adj" fmla="val 48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401361" y="1881835"/>
            <a:ext cx="33247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MAINTENANCE WORKFLOW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77256" y="3946550"/>
            <a:ext cx="6096305" cy="1920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6" name="Shape 12"/>
          <p:cNvSpPr/>
          <p:nvPr/>
        </p:nvSpPr>
        <p:spPr>
          <a:xfrm>
            <a:off x="7427671" y="4622292"/>
            <a:ext cx="3543300" cy="190195"/>
          </a:xfrm>
          <a:prstGeom prst="rect">
            <a:avLst/>
          </a:prstGeom>
          <a:noFill/>
          <a:ln w="25400">
            <a:solidFill>
              <a:srgbClr val="EF4444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405165" y="4699102"/>
            <a:ext cx="1580998" cy="171907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481060" y="4727448"/>
            <a:ext cx="114300" cy="1143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652967" y="4699102"/>
            <a:ext cx="13432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AVAILABILITY IMPACT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5916168" y="3396996"/>
            <a:ext cx="457200" cy="45720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475569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6055157" y="3497580"/>
            <a:ext cx="30998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5964631" y="4035247"/>
            <a:ext cx="49103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5503774" y="4340657"/>
            <a:ext cx="13862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Schedule &amp; Approve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7502652" y="3396996"/>
            <a:ext cx="457200" cy="45720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475569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7625182" y="3497580"/>
            <a:ext cx="34838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7410298" y="4035247"/>
            <a:ext cx="77632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</a:t>
            </a:r>
            <a:endParaRPr lang="en-US" sz="1300" dirty="0"/>
          </a:p>
        </p:txBody>
      </p:sp>
      <p:sp>
        <p:nvSpPr>
          <p:cNvPr id="27" name="Text 22"/>
          <p:cNvSpPr txBox="1"/>
          <p:nvPr/>
        </p:nvSpPr>
        <p:spPr>
          <a:xfrm>
            <a:off x="7352690" y="4340657"/>
            <a:ext cx="8622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 Patch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9090050" y="3396996"/>
            <a:ext cx="457200" cy="457200"/>
          </a:xfrm>
          <a:prstGeom prst="ellipse">
            <a:avLst/>
          </a:prstGeom>
          <a:solidFill>
            <a:srgbClr val="1E3A8A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139700" dist="12700" dir="16200000">
              <a:srgbClr val="3b82f6">
                <a:alpha val="30000"/>
              </a:srgbClr>
            </a:outerShdw>
          </a:effectLst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232697" y="3540557"/>
            <a:ext cx="171907" cy="171907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8983980" y="4035247"/>
            <a:ext cx="8055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</a:t>
            </a:r>
            <a:endParaRPr lang="en-US" sz="1300" dirty="0"/>
          </a:p>
        </p:txBody>
      </p:sp>
      <p:sp>
        <p:nvSpPr>
          <p:cNvPr id="31" name="Text 25"/>
          <p:cNvSpPr txBox="1"/>
          <p:nvPr/>
        </p:nvSpPr>
        <p:spPr>
          <a:xfrm>
            <a:off x="8745322" y="4340657"/>
            <a:ext cx="12527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 Data Health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10677449" y="3396996"/>
            <a:ext cx="457200" cy="45720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475569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10796321" y="3497580"/>
            <a:ext cx="34838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300" dirty="0"/>
          </a:p>
        </p:txBody>
      </p:sp>
      <p:sp>
        <p:nvSpPr>
          <p:cNvPr id="34" name="Text 28"/>
          <p:cNvSpPr txBox="1"/>
          <p:nvPr/>
        </p:nvSpPr>
        <p:spPr>
          <a:xfrm>
            <a:off x="10588752" y="4035247"/>
            <a:ext cx="7671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Restore</a:t>
            </a:r>
            <a:endParaRPr lang="en-US" sz="1300" dirty="0"/>
          </a:p>
        </p:txBody>
      </p:sp>
      <p:sp>
        <p:nvSpPr>
          <p:cNvPr id="35" name="Text 29"/>
          <p:cNvSpPr txBox="1"/>
          <p:nvPr/>
        </p:nvSpPr>
        <p:spPr>
          <a:xfrm>
            <a:off x="10413187" y="4340657"/>
            <a:ext cx="10908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Services Online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8587130" y="3002890"/>
            <a:ext cx="1591056" cy="333756"/>
          </a:xfrm>
          <a:prstGeom prst="roundRect">
            <a:avLst>
              <a:gd name="adj" fmla="val 156556"/>
            </a:avLst>
          </a:prstGeom>
          <a:solidFill>
            <a:srgbClr val="064E3B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748979" y="3103474"/>
            <a:ext cx="133502" cy="133502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8958377" y="3069641"/>
            <a:ext cx="11576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1FA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Integrity Priority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9373514" y="3336646"/>
            <a:ext cx="9144" cy="286207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0" name="Shape 33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1" name="Shape 34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2" name="Shape 35"/>
          <p:cNvSpPr/>
          <p:nvPr/>
        </p:nvSpPr>
        <p:spPr>
          <a:xfrm>
            <a:off x="304495" y="6538874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3B82F6"/>
          </a:solidFill>
          <a:ln/>
        </p:spPr>
      </p:sp>
      <p:sp>
        <p:nvSpPr>
          <p:cNvPr id="43" name="Text 36"/>
          <p:cNvSpPr txBox="1"/>
          <p:nvPr/>
        </p:nvSpPr>
        <p:spPr>
          <a:xfrm>
            <a:off x="457200" y="6495898"/>
            <a:ext cx="32342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Day-6: CIA Triad &amp; Cyberspace Risk Management</a:t>
            </a:r>
            <a:endParaRPr lang="en-US" sz="1000" dirty="0"/>
          </a:p>
        </p:txBody>
      </p:sp>
      <p:sp>
        <p:nvSpPr>
          <p:cNvPr id="44" name="Text 37"/>
          <p:cNvSpPr txBox="1"/>
          <p:nvPr/>
        </p:nvSpPr>
        <p:spPr>
          <a:xfrm>
            <a:off x="11376050" y="6495898"/>
            <a:ext cx="6144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572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rcRect l="-2994" r="-2994" t="0" b="0"/>
          <a:stretch/>
        </p:blipFill>
        <p:spPr>
          <a:xfrm>
            <a:off x="304495" y="228600"/>
            <a:ext cx="161849" cy="1527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3154" y="209398"/>
            <a:ext cx="3020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11087100" y="213970"/>
            <a:ext cx="9098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2026-01-18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304495" y="1731874"/>
            <a:ext cx="4243730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What: Masking data (like ####-1234) protects privacy but hides details.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304495" y="3076956"/>
            <a:ext cx="4243730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Why: Too much masking breaks automated tools that need full data.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304495" y="4422038"/>
            <a:ext cx="4243730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View: Report recurring errors linked to masked or redacted fields.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304495" y="809244"/>
            <a:ext cx="1173541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Confidentiality vs Integrity: Masking vs Processing</a:t>
            </a:r>
            <a:endParaRPr lang="en-US" sz="3600" dirty="0"/>
          </a:p>
        </p:txBody>
      </p:sp>
      <p:sp>
        <p:nvSpPr>
          <p:cNvPr id="13" name="Shape 9"/>
          <p:cNvSpPr/>
          <p:nvPr/>
        </p:nvSpPr>
        <p:spPr>
          <a:xfrm>
            <a:off x="4816145" y="1731874"/>
            <a:ext cx="7077456" cy="4562856"/>
          </a:xfrm>
          <a:prstGeom prst="roundRect">
            <a:avLst>
              <a:gd name="adj" fmla="val 50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779715" y="2647188"/>
            <a:ext cx="1143000" cy="19202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9715" y="3999586"/>
            <a:ext cx="1143000" cy="19202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6" name="Shape 12"/>
          <p:cNvSpPr/>
          <p:nvPr/>
        </p:nvSpPr>
        <p:spPr>
          <a:xfrm>
            <a:off x="7779715" y="5351983"/>
            <a:ext cx="1143000" cy="19202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7" name="Shape 13"/>
          <p:cNvSpPr/>
          <p:nvPr/>
        </p:nvSpPr>
        <p:spPr>
          <a:xfrm>
            <a:off x="5129784" y="2923337"/>
            <a:ext cx="2657246" cy="761695"/>
          </a:xfrm>
          <a:prstGeom prst="roundRect">
            <a:avLst>
              <a:gd name="adj" fmla="val 12005"/>
            </a:avLst>
          </a:prstGeom>
          <a:solidFill>
            <a:srgbClr val="0F172A"/>
          </a:solidFill>
          <a:ln w="12700">
            <a:solidFill>
              <a:srgbClr val="475569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2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129784" y="3913632"/>
            <a:ext cx="2657246" cy="761695"/>
          </a:xfrm>
          <a:prstGeom prst="roundRect">
            <a:avLst>
              <a:gd name="adj" fmla="val 12005"/>
            </a:avLst>
          </a:prstGeom>
          <a:solidFill>
            <a:srgbClr val="0F172A"/>
          </a:solidFill>
          <a:ln w="12700">
            <a:solidFill>
              <a:srgbClr val="475569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2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129784" y="4903927"/>
            <a:ext cx="2657246" cy="761695"/>
          </a:xfrm>
          <a:prstGeom prst="roundRect">
            <a:avLst>
              <a:gd name="adj" fmla="val 12005"/>
            </a:avLst>
          </a:prstGeom>
          <a:solidFill>
            <a:srgbClr val="0F172A"/>
          </a:solidFill>
          <a:ln w="12700">
            <a:solidFill>
              <a:srgbClr val="475569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20000"/>
              </a:srgbClr>
            </a:outerShdw>
          </a:effectLst>
        </p:spPr>
      </p:sp>
      <p:sp>
        <p:nvSpPr>
          <p:cNvPr id="20" name="Text 16"/>
          <p:cNvSpPr txBox="1"/>
          <p:nvPr/>
        </p:nvSpPr>
        <p:spPr>
          <a:xfrm>
            <a:off x="5317236" y="2371039"/>
            <a:ext cx="23911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PROTECTION (CAUSE)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5542178" y="3189427"/>
            <a:ext cx="20007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Heavy Data Masking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5720486" y="4180637"/>
            <a:ext cx="1648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Strict Encryption</a:t>
            </a:r>
            <a:endParaRPr lang="en-US" sz="1500" dirty="0"/>
          </a:p>
        </p:txBody>
      </p:sp>
      <p:sp>
        <p:nvSpPr>
          <p:cNvPr id="23" name="Text 19"/>
          <p:cNvSpPr txBox="1"/>
          <p:nvPr/>
        </p:nvSpPr>
        <p:spPr>
          <a:xfrm>
            <a:off x="5772607" y="5170932"/>
            <a:ext cx="15435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Redacting Logs</a:t>
            </a:r>
            <a:endParaRPr lang="en-US" sz="1500" dirty="0"/>
          </a:p>
        </p:txBody>
      </p:sp>
      <p:sp>
        <p:nvSpPr>
          <p:cNvPr id="24" name="Shape 20"/>
          <p:cNvSpPr/>
          <p:nvPr/>
        </p:nvSpPr>
        <p:spPr>
          <a:xfrm>
            <a:off x="8922715" y="2637130"/>
            <a:ext cx="2657246" cy="761695"/>
          </a:xfrm>
          <a:prstGeom prst="roundRect">
            <a:avLst>
              <a:gd name="adj" fmla="val 12005"/>
            </a:avLst>
          </a:prstGeom>
          <a:solidFill>
            <a:srgbClr val="0F172A"/>
          </a:solidFill>
          <a:ln w="12700">
            <a:solidFill>
              <a:srgbClr val="475569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20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8922715" y="3628339"/>
            <a:ext cx="2657246" cy="1047902"/>
          </a:xfrm>
          <a:prstGeom prst="roundRect">
            <a:avLst>
              <a:gd name="adj" fmla="val 6346"/>
            </a:avLst>
          </a:prstGeom>
          <a:solidFill>
            <a:srgbClr val="0F172A"/>
          </a:solidFill>
          <a:ln w="12700">
            <a:solidFill>
              <a:srgbClr val="475569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20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8922715" y="4903927"/>
            <a:ext cx="2657246" cy="1047902"/>
          </a:xfrm>
          <a:prstGeom prst="roundRect">
            <a:avLst>
              <a:gd name="adj" fmla="val 6346"/>
            </a:avLst>
          </a:prstGeom>
          <a:solidFill>
            <a:srgbClr val="0F172A"/>
          </a:solidFill>
          <a:ln w="12700">
            <a:solidFill>
              <a:srgbClr val="475569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20000"/>
              </a:srgbClr>
            </a:outerShdw>
          </a:effectLst>
        </p:spPr>
      </p:sp>
      <p:sp>
        <p:nvSpPr>
          <p:cNvPr id="27" name="Text 23"/>
          <p:cNvSpPr txBox="1"/>
          <p:nvPr/>
        </p:nvSpPr>
        <p:spPr>
          <a:xfrm>
            <a:off x="9019642" y="2084832"/>
            <a:ext cx="25722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WORKFLOW IMPACT (EFFECT)</a:t>
            </a:r>
            <a:endParaRPr lang="en-US" sz="1200" dirty="0"/>
          </a:p>
        </p:txBody>
      </p:sp>
      <p:sp>
        <p:nvSpPr>
          <p:cNvPr id="28" name="Text 24"/>
          <p:cNvSpPr txBox="1"/>
          <p:nvPr/>
        </p:nvSpPr>
        <p:spPr>
          <a:xfrm>
            <a:off x="9245498" y="2904134"/>
            <a:ext cx="21817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Billing Fails</a:t>
            </a:r>
            <a:endParaRPr lang="en-US" sz="1500" dirty="0"/>
          </a:p>
        </p:txBody>
      </p:sp>
      <p:sp>
        <p:nvSpPr>
          <p:cNvPr id="29" name="Text 25"/>
          <p:cNvSpPr txBox="1"/>
          <p:nvPr/>
        </p:nvSpPr>
        <p:spPr>
          <a:xfrm>
            <a:off x="9411919" y="3894430"/>
            <a:ext cx="1848002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Tools Can't Index</a:t>
            </a:r>
            <a:endParaRPr lang="en-US" sz="1500" dirty="0"/>
          </a:p>
        </p:txBody>
      </p:sp>
      <p:sp>
        <p:nvSpPr>
          <p:cNvPr id="30" name="Text 26"/>
          <p:cNvSpPr txBox="1"/>
          <p:nvPr/>
        </p:nvSpPr>
        <p:spPr>
          <a:xfrm>
            <a:off x="9431122" y="5170932"/>
            <a:ext cx="1810512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Troubleshooting is Blind</a:t>
            </a:r>
            <a:endParaRPr lang="en-US" sz="1500" dirty="0"/>
          </a:p>
        </p:txBody>
      </p:sp>
      <p:sp>
        <p:nvSpPr>
          <p:cNvPr id="31" name="Shape 27"/>
          <p:cNvSpPr/>
          <p:nvPr/>
        </p:nvSpPr>
        <p:spPr>
          <a:xfrm>
            <a:off x="7474306" y="3823106"/>
            <a:ext cx="1762049" cy="371246"/>
          </a:xfrm>
          <a:prstGeom prst="roundRect">
            <a:avLst>
              <a:gd name="adj" fmla="val 126311"/>
            </a:avLst>
          </a:prstGeom>
          <a:solidFill>
            <a:srgbClr val="0F172A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30000"/>
              </a:srgbClr>
            </a:outerShdw>
          </a:effectLst>
        </p:spPr>
      </p:sp>
      <p:sp>
        <p:nvSpPr>
          <p:cNvPr id="32" name="Text 28"/>
          <p:cNvSpPr txBox="1"/>
          <p:nvPr/>
        </p:nvSpPr>
        <p:spPr>
          <a:xfrm>
            <a:off x="7636154" y="3928262"/>
            <a:ext cx="15389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PROCESSING ERRORS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4" name="Shape 30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5" name="Shape 31"/>
          <p:cNvSpPr/>
          <p:nvPr/>
        </p:nvSpPr>
        <p:spPr>
          <a:xfrm>
            <a:off x="304495" y="6538874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3B82F6"/>
          </a:solidFill>
          <a:ln/>
        </p:spPr>
      </p:sp>
      <p:sp>
        <p:nvSpPr>
          <p:cNvPr id="36" name="Text 32"/>
          <p:cNvSpPr txBox="1"/>
          <p:nvPr/>
        </p:nvSpPr>
        <p:spPr>
          <a:xfrm>
            <a:off x="457200" y="6495898"/>
            <a:ext cx="32342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Day-6: CIA Triad &amp; Cyberspace Risk Management</a:t>
            </a:r>
            <a:endParaRPr lang="en-US" sz="1000" dirty="0"/>
          </a:p>
        </p:txBody>
      </p:sp>
      <p:sp>
        <p:nvSpPr>
          <p:cNvPr id="37" name="Text 33"/>
          <p:cNvSpPr txBox="1"/>
          <p:nvPr/>
        </p:nvSpPr>
        <p:spPr>
          <a:xfrm>
            <a:off x="11376050" y="6495898"/>
            <a:ext cx="6144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572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rcRect l="-2994" r="-2994" t="0" b="0"/>
          <a:stretch/>
        </p:blipFill>
        <p:spPr>
          <a:xfrm>
            <a:off x="304495" y="228600"/>
            <a:ext cx="161849" cy="1527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3154" y="209398"/>
            <a:ext cx="3020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11087100" y="213970"/>
            <a:ext cx="9098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2026-01-18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304495" y="177759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What: Balance depends entirely on the specific criticality of the service.</a:t>
            </a:r>
            <a:endParaRPr lang="en-US" sz="2100" dirty="0"/>
          </a:p>
        </p:txBody>
      </p:sp>
      <p:sp>
        <p:nvSpPr>
          <p:cNvPr id="10" name="Text 6"/>
          <p:cNvSpPr txBox="1"/>
          <p:nvPr/>
        </p:nvSpPr>
        <p:spPr>
          <a:xfrm>
            <a:off x="304495" y="282915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Why: Different assets carry different weight for business survival.</a:t>
            </a:r>
            <a:endParaRPr lang="en-US" sz="2100" dirty="0"/>
          </a:p>
        </p:txBody>
      </p:sp>
      <p:sp>
        <p:nvSpPr>
          <p:cNvPr id="11" name="Text 7"/>
          <p:cNvSpPr txBox="1"/>
          <p:nvPr/>
        </p:nvSpPr>
        <p:spPr>
          <a:xfrm>
            <a:off x="304495" y="388071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View: We use asset importance to prioritize alerts and response.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304495" y="493227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Example: Payment uptime often outweighs internal wiki availability issues.</a:t>
            </a:r>
            <a:endParaRPr lang="en-US" sz="2100" dirty="0"/>
          </a:p>
        </p:txBody>
      </p:sp>
      <p:sp>
        <p:nvSpPr>
          <p:cNvPr id="13" name="Shape 9"/>
          <p:cNvSpPr/>
          <p:nvPr/>
        </p:nvSpPr>
        <p:spPr>
          <a:xfrm>
            <a:off x="7607808" y="1777594"/>
            <a:ext cx="4286707" cy="3400654"/>
          </a:xfrm>
          <a:prstGeom prst="roundRect">
            <a:avLst>
              <a:gd name="adj" fmla="val 90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922362" y="2701138"/>
            <a:ext cx="365760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Shape 11"/>
          <p:cNvSpPr/>
          <p:nvPr/>
        </p:nvSpPr>
        <p:spPr>
          <a:xfrm>
            <a:off x="7922362" y="2091233"/>
            <a:ext cx="457200" cy="457200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032090" y="2224735"/>
            <a:ext cx="237744" cy="190195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7922362" y="3778301"/>
            <a:ext cx="365760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8" name="Shape 13"/>
          <p:cNvSpPr/>
          <p:nvPr/>
        </p:nvSpPr>
        <p:spPr>
          <a:xfrm>
            <a:off x="7922362" y="4434840"/>
            <a:ext cx="365760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304495" y="838505"/>
            <a:ext cx="7696505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Context Drives Balance</a:t>
            </a:r>
            <a:endParaRPr lang="en-US" sz="3600" dirty="0"/>
          </a:p>
        </p:txBody>
      </p:sp>
      <p:sp>
        <p:nvSpPr>
          <p:cNvPr id="20" name="Text 15"/>
          <p:cNvSpPr txBox="1"/>
          <p:nvPr/>
        </p:nvSpPr>
        <p:spPr>
          <a:xfrm>
            <a:off x="8532266" y="2177186"/>
            <a:ext cx="22677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PRIORITY CHECK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7922362" y="2948940"/>
            <a:ext cx="16623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GOAL WINS?</a:t>
            </a:r>
            <a:endParaRPr lang="en-US" sz="1000" dirty="0"/>
          </a:p>
        </p:txBody>
      </p:sp>
      <p:sp>
        <p:nvSpPr>
          <p:cNvPr id="22" name="Text 17"/>
          <p:cNvSpPr txBox="1"/>
          <p:nvPr/>
        </p:nvSpPr>
        <p:spPr>
          <a:xfrm>
            <a:off x="7922362" y="3311042"/>
            <a:ext cx="17812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Payments App</a:t>
            </a:r>
            <a:endParaRPr lang="en-US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9885578" y="3311042"/>
            <a:ext cx="18672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Availability First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7922362" y="3968496"/>
            <a:ext cx="16002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HR Database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9472270" y="3968496"/>
            <a:ext cx="22768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Confidentiality First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7922362" y="4625035"/>
            <a:ext cx="266273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"Context dictates the urgency."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8" name="Shape 23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9" name="Shape 24"/>
          <p:cNvSpPr/>
          <p:nvPr/>
        </p:nvSpPr>
        <p:spPr>
          <a:xfrm>
            <a:off x="304495" y="6538874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3B82F6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457200" y="6495898"/>
            <a:ext cx="32342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Day-6: CIA Triad &amp; Cyberspace Risk Management</a:t>
            </a:r>
            <a:endParaRPr lang="en-US" sz="1000" dirty="0"/>
          </a:p>
        </p:txBody>
      </p:sp>
      <p:sp>
        <p:nvSpPr>
          <p:cNvPr id="31" name="Text 26"/>
          <p:cNvSpPr txBox="1"/>
          <p:nvPr/>
        </p:nvSpPr>
        <p:spPr>
          <a:xfrm>
            <a:off x="11373307" y="6495898"/>
            <a:ext cx="6144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572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rcRect l="-2994" r="-2994" t="0" b="0"/>
          <a:stretch/>
        </p:blipFill>
        <p:spPr>
          <a:xfrm>
            <a:off x="304495" y="228600"/>
            <a:ext cx="161849" cy="1527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3154" y="209398"/>
            <a:ext cx="3020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11087100" y="213970"/>
            <a:ext cx="9098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2026-01-18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304495" y="177759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What: SOC raises specific trade-off concerns early in the process.</a:t>
            </a:r>
            <a:endParaRPr lang="en-US" sz="2100" dirty="0"/>
          </a:p>
        </p:txBody>
      </p:sp>
      <p:sp>
        <p:nvSpPr>
          <p:cNvPr id="10" name="Text 6"/>
          <p:cNvSpPr txBox="1"/>
          <p:nvPr/>
        </p:nvSpPr>
        <p:spPr>
          <a:xfrm>
            <a:off x="304495" y="282915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Why: Business owners must choose the acceptable risk balance.</a:t>
            </a:r>
            <a:endParaRPr lang="en-US" sz="2100" dirty="0"/>
          </a:p>
        </p:txBody>
      </p:sp>
      <p:sp>
        <p:nvSpPr>
          <p:cNvPr id="11" name="Text 7"/>
          <p:cNvSpPr txBox="1"/>
          <p:nvPr/>
        </p:nvSpPr>
        <p:spPr>
          <a:xfrm>
            <a:off x="304495" y="388071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View: We provide evidence, impacts, and clear options.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304495" y="493227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neutral, impact-focused language, not personal opinions.</a:t>
            </a:r>
            <a:endParaRPr lang="en-US" sz="2100" dirty="0"/>
          </a:p>
        </p:txBody>
      </p:sp>
      <p:sp>
        <p:nvSpPr>
          <p:cNvPr id="13" name="Shape 9"/>
          <p:cNvSpPr/>
          <p:nvPr/>
        </p:nvSpPr>
        <p:spPr>
          <a:xfrm>
            <a:off x="7607808" y="1777594"/>
            <a:ext cx="4286707" cy="2848356"/>
          </a:xfrm>
          <a:prstGeom prst="roundRect">
            <a:avLst>
              <a:gd name="adj" fmla="val 128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922362" y="2701138"/>
            <a:ext cx="365760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Shape 11"/>
          <p:cNvSpPr/>
          <p:nvPr/>
        </p:nvSpPr>
        <p:spPr>
          <a:xfrm>
            <a:off x="7922362" y="2091233"/>
            <a:ext cx="457200" cy="457200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055864" y="2224735"/>
            <a:ext cx="190195" cy="19019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04495" y="838505"/>
            <a:ext cx="8963863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Escalate Trade-Off Risks, Don’t Decide</a:t>
            </a:r>
            <a:endParaRPr lang="en-US" sz="3600" dirty="0"/>
          </a:p>
        </p:txBody>
      </p:sp>
      <p:sp>
        <p:nvSpPr>
          <p:cNvPr id="18" name="Text 13"/>
          <p:cNvSpPr txBox="1"/>
          <p:nvPr/>
        </p:nvSpPr>
        <p:spPr>
          <a:xfrm>
            <a:off x="8532266" y="2177186"/>
            <a:ext cx="25438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DECISION LINE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7922362" y="2968142"/>
            <a:ext cx="3648456" cy="130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provides the visibility (the flashlight); business leaders provide the decision (the gavel). We inform, they decide.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1" name="Shape 16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2" name="Shape 17"/>
          <p:cNvSpPr/>
          <p:nvPr/>
        </p:nvSpPr>
        <p:spPr>
          <a:xfrm>
            <a:off x="304495" y="6538874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3B82F6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457200" y="6495898"/>
            <a:ext cx="32342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Day-6: CIA Triad &amp; Cyberspace Risk Management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11403482" y="6495898"/>
            <a:ext cx="5861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572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rcRect l="-2994" r="-2994" t="0" b="0"/>
          <a:stretch/>
        </p:blipFill>
        <p:spPr>
          <a:xfrm>
            <a:off x="304495" y="228600"/>
            <a:ext cx="161849" cy="1527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3154" y="209398"/>
            <a:ext cx="3020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11087100" y="213970"/>
            <a:ext cx="9098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2026-01-18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304495" y="1700784"/>
            <a:ext cx="4825289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What: Snapshot of trade-offs across services.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304495" y="2699309"/>
            <a:ext cx="4825289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Why: See where risks concentrate most.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304495" y="3697834"/>
            <a:ext cx="4825289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View: Watch for repeated pain points in these areas.</a:t>
            </a:r>
            <a:endParaRPr lang="en-US" sz="1900" dirty="0"/>
          </a:p>
        </p:txBody>
      </p:sp>
      <p:sp>
        <p:nvSpPr>
          <p:cNvPr id="12" name="Shape 8"/>
          <p:cNvSpPr/>
          <p:nvPr/>
        </p:nvSpPr>
        <p:spPr>
          <a:xfrm>
            <a:off x="5394960" y="1700784"/>
            <a:ext cx="6495898" cy="4000500"/>
          </a:xfrm>
          <a:prstGeom prst="roundRect">
            <a:avLst>
              <a:gd name="adj" fmla="val 43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39700" dist="101600" dir="5400000">
              <a:srgbClr val="000000">
                <a:alpha val="3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404104" y="1710842"/>
            <a:ext cx="6476695" cy="590702"/>
          </a:xfrm>
          <a:prstGeom prst="roundRect">
            <a:avLst>
              <a:gd name="adj" fmla="val 19974"/>
            </a:avLst>
          </a:prstGeom>
          <a:solidFill>
            <a:srgbClr val="0F172A"/>
          </a:solidFill>
          <a:ln/>
        </p:spPr>
      </p:sp>
      <p:sp>
        <p:nvSpPr>
          <p:cNvPr id="14" name="Shape 10"/>
          <p:cNvSpPr/>
          <p:nvPr/>
        </p:nvSpPr>
        <p:spPr>
          <a:xfrm>
            <a:off x="5404104" y="2292401"/>
            <a:ext cx="6476695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Shape 11"/>
          <p:cNvSpPr/>
          <p:nvPr/>
        </p:nvSpPr>
        <p:spPr>
          <a:xfrm>
            <a:off x="10012680" y="1862633"/>
            <a:ext cx="1638605" cy="276149"/>
          </a:xfrm>
          <a:prstGeom prst="roundRect">
            <a:avLst>
              <a:gd name="adj" fmla="val 331126"/>
            </a:avLst>
          </a:prstGeom>
          <a:solidFill>
            <a:srgbClr val="3B82F6">
              <a:alpha val="10000"/>
            </a:srgb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rcRect l="-837" r="-837" t="0" b="0"/>
          <a:stretch/>
        </p:blipFill>
        <p:spPr>
          <a:xfrm>
            <a:off x="10126980" y="1934870"/>
            <a:ext cx="152705" cy="13350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0355580" y="1901038"/>
            <a:ext cx="128198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VISIBILITY ACTIVE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304495" y="838505"/>
            <a:ext cx="5753405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Balance Examples Panel</a:t>
            </a:r>
            <a:endParaRPr lang="en-US" sz="3600" dirty="0"/>
          </a:p>
        </p:txBody>
      </p:sp>
      <p:sp>
        <p:nvSpPr>
          <p:cNvPr id="19" name="Text 14"/>
          <p:cNvSpPr txBox="1"/>
          <p:nvPr/>
        </p:nvSpPr>
        <p:spPr>
          <a:xfrm>
            <a:off x="5632704" y="1901038"/>
            <a:ext cx="31007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TRADE-OFF HOTSPOTS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5632704" y="2530145"/>
            <a:ext cx="6019495" cy="828446"/>
          </a:xfrm>
          <a:prstGeom prst="roundRect">
            <a:avLst>
              <a:gd name="adj" fmla="val 7612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632704" y="2530145"/>
            <a:ext cx="38405" cy="8092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5794553" y="2711196"/>
            <a:ext cx="18004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Remote Payroll Access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10479024" y="2701138"/>
            <a:ext cx="1009498" cy="209398"/>
          </a:xfrm>
          <a:prstGeom prst="roundRect">
            <a:avLst>
              <a:gd name="adj" fmla="val 79396"/>
            </a:avLst>
          </a:prstGeom>
          <a:solidFill>
            <a:srgbClr val="F59E0B">
              <a:alpha val="20000"/>
            </a:srgbClr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10554919" y="2729484"/>
            <a:ext cx="9436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FRICTION HIGH</a:t>
            </a:r>
            <a:endParaRPr 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5794553" y="3015691"/>
            <a:ext cx="49011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Strict Multi-Factor Auth (MFA) slows login speed but ensures confidentiality.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5632704" y="3548786"/>
            <a:ext cx="6019495" cy="828446"/>
          </a:xfrm>
          <a:prstGeom prst="roundRect">
            <a:avLst>
              <a:gd name="adj" fmla="val 7612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632704" y="3548786"/>
            <a:ext cx="38405" cy="8092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5794553" y="3729838"/>
            <a:ext cx="17337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 Web Storefront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10210190" y="3720694"/>
            <a:ext cx="1285646" cy="209398"/>
          </a:xfrm>
          <a:prstGeom prst="roundRect">
            <a:avLst>
              <a:gd name="adj" fmla="val 79396"/>
            </a:avLst>
          </a:prstGeom>
          <a:solidFill>
            <a:srgbClr val="10B981">
              <a:alpha val="20000"/>
            </a:srgbClr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10286086" y="3749040"/>
            <a:ext cx="12198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AVAILABILITY FIRST</a:t>
            </a:r>
            <a:endParaRPr lang="en-US" sz="900" dirty="0"/>
          </a:p>
        </p:txBody>
      </p:sp>
      <p:sp>
        <p:nvSpPr>
          <p:cNvPr id="31" name="Text 26"/>
          <p:cNvSpPr txBox="1"/>
          <p:nvPr/>
        </p:nvSpPr>
        <p:spPr>
          <a:xfrm>
            <a:off x="5794553" y="4034333"/>
            <a:ext cx="46442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 access prioritized over strict user vetting to maximize sales uptime.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5632704" y="4568342"/>
            <a:ext cx="6019495" cy="828446"/>
          </a:xfrm>
          <a:prstGeom prst="roundRect">
            <a:avLst>
              <a:gd name="adj" fmla="val 7612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5632704" y="4568342"/>
            <a:ext cx="38405" cy="80924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4" name="Text 29"/>
          <p:cNvSpPr txBox="1"/>
          <p:nvPr/>
        </p:nvSpPr>
        <p:spPr>
          <a:xfrm>
            <a:off x="5794553" y="4749394"/>
            <a:ext cx="19339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Financial Ledger</a:t>
            </a:r>
            <a:endParaRPr lang="en-US" sz="1200" dirty="0"/>
          </a:p>
        </p:txBody>
      </p:sp>
      <p:sp>
        <p:nvSpPr>
          <p:cNvPr id="35" name="Shape 30"/>
          <p:cNvSpPr/>
          <p:nvPr/>
        </p:nvSpPr>
        <p:spPr>
          <a:xfrm>
            <a:off x="10166299" y="4739335"/>
            <a:ext cx="1324051" cy="209398"/>
          </a:xfrm>
          <a:prstGeom prst="roundRect">
            <a:avLst>
              <a:gd name="adj" fmla="val 79396"/>
            </a:avLst>
          </a:prstGeom>
          <a:solidFill>
            <a:srgbClr val="8B5CF6">
              <a:alpha val="20000"/>
            </a:srgbClr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10242194" y="4768596"/>
            <a:ext cx="12573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INTEGRITY CRITICAL</a:t>
            </a:r>
            <a:endParaRPr lang="en-US" sz="900" dirty="0"/>
          </a:p>
        </p:txBody>
      </p:sp>
      <p:sp>
        <p:nvSpPr>
          <p:cNvPr id="37" name="Text 32"/>
          <p:cNvSpPr txBox="1"/>
          <p:nvPr/>
        </p:nvSpPr>
        <p:spPr>
          <a:xfrm>
            <a:off x="5794553" y="5053889"/>
            <a:ext cx="480608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Changes require dual-approval workflow; speed is sacrificed for accuracy.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9" name="Shape 34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0" name="Shape 35"/>
          <p:cNvSpPr/>
          <p:nvPr/>
        </p:nvSpPr>
        <p:spPr>
          <a:xfrm>
            <a:off x="304495" y="6538874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3B82F6"/>
          </a:solidFill>
          <a:ln/>
        </p:spPr>
      </p:sp>
      <p:sp>
        <p:nvSpPr>
          <p:cNvPr id="41" name="Text 36"/>
          <p:cNvSpPr txBox="1"/>
          <p:nvPr/>
        </p:nvSpPr>
        <p:spPr>
          <a:xfrm>
            <a:off x="457200" y="6495898"/>
            <a:ext cx="32342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Day-6: CIA Triad &amp; Cyberspace Risk Management</a:t>
            </a:r>
            <a:endParaRPr lang="en-US" sz="1000" dirty="0"/>
          </a:p>
        </p:txBody>
      </p:sp>
      <p:sp>
        <p:nvSpPr>
          <p:cNvPr id="42" name="Text 37"/>
          <p:cNvSpPr txBox="1"/>
          <p:nvPr/>
        </p:nvSpPr>
        <p:spPr>
          <a:xfrm>
            <a:off x="11376050" y="6495898"/>
            <a:ext cx="6144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572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rcRect l="-2994" r="-2994" t="0" b="0"/>
          <a:stretch/>
        </p:blipFill>
        <p:spPr>
          <a:xfrm>
            <a:off x="304495" y="228600"/>
            <a:ext cx="161849" cy="1527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3154" y="209398"/>
            <a:ext cx="3020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11087100" y="213970"/>
            <a:ext cx="9098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2026-01-18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761695" y="1239926"/>
            <a:ext cx="381305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Shape 6"/>
          <p:cNvSpPr/>
          <p:nvPr/>
        </p:nvSpPr>
        <p:spPr>
          <a:xfrm>
            <a:off x="761695" y="3496666"/>
            <a:ext cx="19202" cy="961949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Shape 7"/>
          <p:cNvSpPr/>
          <p:nvPr/>
        </p:nvSpPr>
        <p:spPr>
          <a:xfrm>
            <a:off x="4444898" y="3496666"/>
            <a:ext cx="19202" cy="961949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2" name="Shape 8"/>
          <p:cNvSpPr/>
          <p:nvPr/>
        </p:nvSpPr>
        <p:spPr>
          <a:xfrm>
            <a:off x="8128102" y="3496666"/>
            <a:ext cx="19202" cy="961949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Shape 9"/>
          <p:cNvSpPr/>
          <p:nvPr/>
        </p:nvSpPr>
        <p:spPr>
          <a:xfrm>
            <a:off x="761695" y="5060290"/>
            <a:ext cx="10668305" cy="75895"/>
          </a:xfrm>
          <a:prstGeom prst="roundRect">
            <a:avLst>
              <a:gd name="adj" fmla="val 602411"/>
            </a:avLst>
          </a:prstGeom>
          <a:solidFill>
            <a:srgbClr val="1E293B"/>
          </a:solidFill>
          <a:ln/>
        </p:spPr>
      </p:sp>
      <p:sp>
        <p:nvSpPr>
          <p:cNvPr id="14" name="Shape 10"/>
          <p:cNvSpPr/>
          <p:nvPr/>
        </p:nvSpPr>
        <p:spPr>
          <a:xfrm>
            <a:off x="761695" y="5060290"/>
            <a:ext cx="5867705" cy="7589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Shape 11"/>
          <p:cNvSpPr/>
          <p:nvPr/>
        </p:nvSpPr>
        <p:spPr>
          <a:xfrm>
            <a:off x="879653" y="5327294"/>
            <a:ext cx="75895" cy="75895"/>
          </a:xfrm>
          <a:prstGeom prst="ellipse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12700" dir="16200000">
              <a:srgbClr val="3b82f6">
                <a:alpha val="5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855671" y="5327294"/>
            <a:ext cx="75895" cy="75895"/>
          </a:xfrm>
          <a:prstGeom prst="ellipse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12700" dir="16200000">
              <a:srgbClr val="3b82f6">
                <a:alpha val="5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895698" y="5327294"/>
            <a:ext cx="75895" cy="75895"/>
          </a:xfrm>
          <a:prstGeom prst="ellipse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12700" dir="16200000">
              <a:srgbClr val="3b82f6">
                <a:alpha val="5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954012" y="5327294"/>
            <a:ext cx="75895" cy="75895"/>
          </a:xfrm>
          <a:prstGeom prst="ellipse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12700" dir="16200000">
              <a:srgbClr val="3b82f6">
                <a:alpha val="8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974836" y="5327294"/>
            <a:ext cx="75895" cy="75895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20" name="Shape 16"/>
          <p:cNvSpPr/>
          <p:nvPr/>
        </p:nvSpPr>
        <p:spPr>
          <a:xfrm>
            <a:off x="11136478" y="5327294"/>
            <a:ext cx="75895" cy="75895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1257300" y="1130198"/>
            <a:ext cx="13386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05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761695" y="1492301"/>
            <a:ext cx="4058107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Cyber Risk</a:t>
            </a:r>
            <a:endParaRPr lang="en-US" sz="5400" dirty="0"/>
          </a:p>
        </p:txBody>
      </p:sp>
      <p:sp>
        <p:nvSpPr>
          <p:cNvPr id="23" name="Text 19"/>
          <p:cNvSpPr txBox="1"/>
          <p:nvPr/>
        </p:nvSpPr>
        <p:spPr>
          <a:xfrm>
            <a:off x="761695" y="2246681"/>
            <a:ext cx="5181905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Fundamentals</a:t>
            </a:r>
            <a:endParaRPr lang="en-US" sz="5400" dirty="0"/>
          </a:p>
        </p:txBody>
      </p:sp>
      <p:sp>
        <p:nvSpPr>
          <p:cNvPr id="24" name="Text 20"/>
          <p:cNvSpPr txBox="1"/>
          <p:nvPr/>
        </p:nvSpPr>
        <p:spPr>
          <a:xfrm>
            <a:off x="1009498" y="3515868"/>
            <a:ext cx="11859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THIS?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1009498" y="3830422"/>
            <a:ext cx="2419502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Simple, practical risk basics.</a:t>
            </a:r>
            <a:endParaRPr lang="en-US" sz="1800" dirty="0"/>
          </a:p>
        </p:txBody>
      </p:sp>
      <p:sp>
        <p:nvSpPr>
          <p:cNvPr id="26" name="Text 22"/>
          <p:cNvSpPr txBox="1"/>
          <p:nvPr/>
        </p:nvSpPr>
        <p:spPr>
          <a:xfrm>
            <a:off x="4692701" y="3515868"/>
            <a:ext cx="11960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IT EXISTS</a:t>
            </a:r>
            <a:endParaRPr lang="en-US" sz="1000" dirty="0"/>
          </a:p>
        </p:txBody>
      </p:sp>
      <p:sp>
        <p:nvSpPr>
          <p:cNvPr id="27" name="Text 23"/>
          <p:cNvSpPr txBox="1"/>
          <p:nvPr/>
        </p:nvSpPr>
        <p:spPr>
          <a:xfrm>
            <a:off x="4692701" y="3830422"/>
            <a:ext cx="32104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shared understanding.</a:t>
            </a:r>
            <a:endParaRPr lang="en-US" sz="1800" dirty="0"/>
          </a:p>
        </p:txBody>
      </p:sp>
      <p:sp>
        <p:nvSpPr>
          <p:cNvPr id="28" name="Text 24"/>
          <p:cNvSpPr txBox="1"/>
          <p:nvPr/>
        </p:nvSpPr>
        <p:spPr>
          <a:xfrm>
            <a:off x="8375904" y="3515868"/>
            <a:ext cx="8339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VIEW</a:t>
            </a:r>
            <a:endParaRPr lang="en-US" sz="1000" dirty="0"/>
          </a:p>
        </p:txBody>
      </p:sp>
      <p:sp>
        <p:nvSpPr>
          <p:cNvPr id="29" name="Text 25"/>
          <p:cNvSpPr txBox="1"/>
          <p:nvPr/>
        </p:nvSpPr>
        <p:spPr>
          <a:xfrm>
            <a:off x="8375904" y="3830422"/>
            <a:ext cx="27432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this language daily.</a:t>
            </a:r>
            <a:endParaRPr lang="en-US" sz="1800" dirty="0"/>
          </a:p>
        </p:txBody>
      </p:sp>
      <p:sp>
        <p:nvSpPr>
          <p:cNvPr id="30" name="Text 26"/>
          <p:cNvSpPr txBox="1"/>
          <p:nvPr/>
        </p:nvSpPr>
        <p:spPr>
          <a:xfrm>
            <a:off x="761695" y="5469941"/>
            <a:ext cx="4005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Fund.</a:t>
            </a:r>
            <a:endParaRPr lang="en-US" sz="900" dirty="0"/>
          </a:p>
        </p:txBody>
      </p:sp>
      <p:sp>
        <p:nvSpPr>
          <p:cNvPr id="31" name="Text 27"/>
          <p:cNvSpPr txBox="1"/>
          <p:nvPr/>
        </p:nvSpPr>
        <p:spPr>
          <a:xfrm>
            <a:off x="2794406" y="5469941"/>
            <a:ext cx="2862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CIA</a:t>
            </a:r>
            <a:endParaRPr lang="en-US" sz="900" dirty="0"/>
          </a:p>
        </p:txBody>
      </p:sp>
      <p:sp>
        <p:nvSpPr>
          <p:cNvPr id="32" name="Text 28"/>
          <p:cNvSpPr txBox="1"/>
          <p:nvPr/>
        </p:nvSpPr>
        <p:spPr>
          <a:xfrm>
            <a:off x="4713732" y="5469941"/>
            <a:ext cx="5340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Balance</a:t>
            </a:r>
            <a:endParaRPr lang="en-US" sz="900" dirty="0"/>
          </a:p>
        </p:txBody>
      </p:sp>
      <p:sp>
        <p:nvSpPr>
          <p:cNvPr id="33" name="Text 29"/>
          <p:cNvSpPr txBox="1"/>
          <p:nvPr/>
        </p:nvSpPr>
        <p:spPr>
          <a:xfrm>
            <a:off x="6875374" y="5469941"/>
            <a:ext cx="3246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</a:t>
            </a:r>
            <a:endParaRPr lang="en-US" sz="900" dirty="0"/>
          </a:p>
        </p:txBody>
      </p:sp>
      <p:sp>
        <p:nvSpPr>
          <p:cNvPr id="34" name="Text 30"/>
          <p:cNvSpPr txBox="1"/>
          <p:nvPr/>
        </p:nvSpPr>
        <p:spPr>
          <a:xfrm>
            <a:off x="8828532" y="5469941"/>
            <a:ext cx="4572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</a:t>
            </a:r>
            <a:endParaRPr lang="en-US" sz="900" dirty="0"/>
          </a:p>
        </p:txBody>
      </p:sp>
      <p:sp>
        <p:nvSpPr>
          <p:cNvPr id="35" name="Text 31"/>
          <p:cNvSpPr txBox="1"/>
          <p:nvPr/>
        </p:nvSpPr>
        <p:spPr>
          <a:xfrm>
            <a:off x="10918850" y="5469941"/>
            <a:ext cx="6007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Role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7" name="Shape 33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8" name="Shape 34"/>
          <p:cNvSpPr/>
          <p:nvPr/>
        </p:nvSpPr>
        <p:spPr>
          <a:xfrm>
            <a:off x="304495" y="6538874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3B82F6"/>
          </a:solidFill>
          <a:ln/>
        </p:spPr>
      </p:sp>
      <p:sp>
        <p:nvSpPr>
          <p:cNvPr id="39" name="Text 35"/>
          <p:cNvSpPr txBox="1"/>
          <p:nvPr/>
        </p:nvSpPr>
        <p:spPr>
          <a:xfrm>
            <a:off x="457200" y="6495898"/>
            <a:ext cx="32342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Day-6: CIA Triad &amp; Cyberspace Risk Management</a:t>
            </a:r>
            <a:endParaRPr lang="en-US" sz="1000" dirty="0"/>
          </a:p>
        </p:txBody>
      </p:sp>
      <p:sp>
        <p:nvSpPr>
          <p:cNvPr id="40" name="Text 36"/>
          <p:cNvSpPr txBox="1"/>
          <p:nvPr/>
        </p:nvSpPr>
        <p:spPr>
          <a:xfrm>
            <a:off x="11375136" y="6495898"/>
            <a:ext cx="6144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572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rcRect l="-2994" r="-2994" t="0" b="0"/>
          <a:stretch/>
        </p:blipFill>
        <p:spPr>
          <a:xfrm>
            <a:off x="304495" y="228600"/>
            <a:ext cx="161849" cy="1527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3154" y="209398"/>
            <a:ext cx="3020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11087100" y="213970"/>
            <a:ext cx="9098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2026-01-18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304495" y="177759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What: The possibility that a digital event will cause business harm or loss.</a:t>
            </a:r>
            <a:endParaRPr lang="en-US" sz="2100" dirty="0"/>
          </a:p>
        </p:txBody>
      </p:sp>
      <p:sp>
        <p:nvSpPr>
          <p:cNvPr id="10" name="Text 6"/>
          <p:cNvSpPr txBox="1"/>
          <p:nvPr/>
        </p:nvSpPr>
        <p:spPr>
          <a:xfrm>
            <a:off x="304495" y="282915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Why: It guides where we focus our limited attention and resources.</a:t>
            </a:r>
            <a:endParaRPr lang="en-US" sz="2100" dirty="0"/>
          </a:p>
        </p:txBody>
      </p:sp>
      <p:sp>
        <p:nvSpPr>
          <p:cNvPr id="11" name="Text 7"/>
          <p:cNvSpPr txBox="1"/>
          <p:nvPr/>
        </p:nvSpPr>
        <p:spPr>
          <a:xfrm>
            <a:off x="304495" y="388071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View: We connect technical alerts to potential real-world business damage.</a:t>
            </a:r>
            <a:endParaRPr lang="en-US" sz="2100" dirty="0"/>
          </a:p>
        </p:txBody>
      </p:sp>
      <p:sp>
        <p:nvSpPr>
          <p:cNvPr id="12" name="Shape 8"/>
          <p:cNvSpPr/>
          <p:nvPr/>
        </p:nvSpPr>
        <p:spPr>
          <a:xfrm>
            <a:off x="7607808" y="1777594"/>
            <a:ext cx="4286707" cy="2848356"/>
          </a:xfrm>
          <a:prstGeom prst="roundRect">
            <a:avLst>
              <a:gd name="adj" fmla="val 128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922362" y="2701138"/>
            <a:ext cx="365760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Shape 10"/>
          <p:cNvSpPr/>
          <p:nvPr/>
        </p:nvSpPr>
        <p:spPr>
          <a:xfrm>
            <a:off x="7922362" y="2091233"/>
            <a:ext cx="457200" cy="457200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079638" y="2224735"/>
            <a:ext cx="142646" cy="19019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04495" y="838505"/>
            <a:ext cx="4810658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Cyber Risk?</a:t>
            </a:r>
            <a:endParaRPr lang="en-US" sz="3600" dirty="0"/>
          </a:p>
        </p:txBody>
      </p:sp>
      <p:sp>
        <p:nvSpPr>
          <p:cNvPr id="17" name="Text 12"/>
          <p:cNvSpPr txBox="1"/>
          <p:nvPr/>
        </p:nvSpPr>
        <p:spPr>
          <a:xfrm>
            <a:off x="8532266" y="2177186"/>
            <a:ext cx="23527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CONCEPT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7922362" y="2968142"/>
            <a:ext cx="3734410" cy="130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is future uncertainty. It hasn't happened yet. An incident is "now"; risk is "what might be." We work to stop the "might be."</a:t>
            </a:r>
            <a:endParaRPr lang="en-US" sz="1800" dirty="0"/>
          </a:p>
        </p:txBody>
      </p:sp>
      <p:sp>
        <p:nvSpPr>
          <p:cNvPr id="19" name="Shape 14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0" name="Shape 15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1" name="Shape 16"/>
          <p:cNvSpPr/>
          <p:nvPr/>
        </p:nvSpPr>
        <p:spPr>
          <a:xfrm>
            <a:off x="304495" y="6538874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3B82F6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457200" y="6495898"/>
            <a:ext cx="32342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Day-6: CIA Triad &amp; Cyberspace Risk Management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11371478" y="6495898"/>
            <a:ext cx="6245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34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572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rcRect l="-2994" r="-2994" t="0" b="0"/>
          <a:stretch/>
        </p:blipFill>
        <p:spPr>
          <a:xfrm>
            <a:off x="304495" y="228600"/>
            <a:ext cx="161849" cy="1527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3154" y="209398"/>
            <a:ext cx="3020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11087100" y="213970"/>
            <a:ext cx="9098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2026-01-18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304495" y="177759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Threat: Anything that could possibly cause harm to an asset.</a:t>
            </a:r>
            <a:endParaRPr lang="en-US" sz="2100" dirty="0"/>
          </a:p>
        </p:txBody>
      </p:sp>
      <p:sp>
        <p:nvSpPr>
          <p:cNvPr id="10" name="Text 6"/>
          <p:cNvSpPr txBox="1"/>
          <p:nvPr/>
        </p:nvSpPr>
        <p:spPr>
          <a:xfrm>
            <a:off x="304495" y="282915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Vulnerability: A weakness or gap that a threat can use.</a:t>
            </a:r>
            <a:endParaRPr lang="en-US" sz="2100" dirty="0"/>
          </a:p>
        </p:txBody>
      </p:sp>
      <p:sp>
        <p:nvSpPr>
          <p:cNvPr id="11" name="Text 7"/>
          <p:cNvSpPr txBox="1"/>
          <p:nvPr/>
        </p:nvSpPr>
        <p:spPr>
          <a:xfrm>
            <a:off x="304495" y="388071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Risk: The potential harm when a threat meets a vulnerability.</a:t>
            </a:r>
            <a:endParaRPr lang="en-US" sz="2100" dirty="0"/>
          </a:p>
        </p:txBody>
      </p:sp>
      <p:sp>
        <p:nvSpPr>
          <p:cNvPr id="12" name="Shape 8"/>
          <p:cNvSpPr/>
          <p:nvPr/>
        </p:nvSpPr>
        <p:spPr>
          <a:xfrm>
            <a:off x="7607808" y="1777594"/>
            <a:ext cx="4286707" cy="3495751"/>
          </a:xfrm>
          <a:prstGeom prst="roundRect">
            <a:avLst>
              <a:gd name="adj" fmla="val 85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922362" y="2701138"/>
            <a:ext cx="365760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Shape 10"/>
          <p:cNvSpPr/>
          <p:nvPr/>
        </p:nvSpPr>
        <p:spPr>
          <a:xfrm>
            <a:off x="7922362" y="2091233"/>
            <a:ext cx="457200" cy="457200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079638" y="2224735"/>
            <a:ext cx="142646" cy="19019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04495" y="838505"/>
            <a:ext cx="7125005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Threat vs Vulnerability vs Risk</a:t>
            </a:r>
            <a:endParaRPr lang="en-US" sz="3600" dirty="0"/>
          </a:p>
        </p:txBody>
      </p:sp>
      <p:sp>
        <p:nvSpPr>
          <p:cNvPr id="17" name="Text 12"/>
          <p:cNvSpPr txBox="1"/>
          <p:nvPr/>
        </p:nvSpPr>
        <p:spPr>
          <a:xfrm>
            <a:off x="8532266" y="2177186"/>
            <a:ext cx="23244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EXAMPLE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7922362" y="2968142"/>
            <a:ext cx="28099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Threat: Stolen Password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7922362" y="3462833"/>
            <a:ext cx="3439058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Vulnerability: Password Reuse (Weakness)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7922362" y="4301338"/>
            <a:ext cx="3010205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Risk: Attackers access the corporate network.</a:t>
            </a:r>
            <a:endParaRPr lang="en-US" sz="1800" dirty="0"/>
          </a:p>
        </p:txBody>
      </p:sp>
      <p:sp>
        <p:nvSpPr>
          <p:cNvPr id="21" name="Shape 16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2" name="Shape 17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3" name="Shape 18"/>
          <p:cNvSpPr/>
          <p:nvPr/>
        </p:nvSpPr>
        <p:spPr>
          <a:xfrm>
            <a:off x="304495" y="6538874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3B82F6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457200" y="6495898"/>
            <a:ext cx="32342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Day-6: CIA Triad &amp; Cyberspace Risk Management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11378794" y="6495898"/>
            <a:ext cx="6144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35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572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457200" y="190195"/>
            <a:ext cx="30202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1087100" y="213970"/>
            <a:ext cx="9098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2026-01-18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04495" y="267005"/>
            <a:ext cx="75895" cy="7589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04495" y="177759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What: Things with business value in cyberspace (data, devices, services).</a:t>
            </a:r>
            <a:endParaRPr lang="en-US" sz="2100" dirty="0"/>
          </a:p>
        </p:txBody>
      </p:sp>
      <p:sp>
        <p:nvSpPr>
          <p:cNvPr id="10" name="Text 7"/>
          <p:cNvSpPr txBox="1"/>
          <p:nvPr/>
        </p:nvSpPr>
        <p:spPr>
          <a:xfrm>
            <a:off x="304495" y="282915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Why: Assets drive priorities—we protect high-value assets first.</a:t>
            </a:r>
            <a:endParaRPr lang="en-US" sz="2100" dirty="0"/>
          </a:p>
        </p:txBody>
      </p:sp>
      <p:sp>
        <p:nvSpPr>
          <p:cNvPr id="11" name="Text 8"/>
          <p:cNvSpPr txBox="1"/>
          <p:nvPr/>
        </p:nvSpPr>
        <p:spPr>
          <a:xfrm>
            <a:off x="304495" y="388071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View: Identify the specific asset in every alert to assess impact.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7607808" y="1777594"/>
            <a:ext cx="4286707" cy="3381451"/>
          </a:xfrm>
          <a:prstGeom prst="roundRect">
            <a:avLst>
              <a:gd name="adj" fmla="val 30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922362" y="2701138"/>
            <a:ext cx="365760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Shape 11"/>
          <p:cNvSpPr/>
          <p:nvPr/>
        </p:nvSpPr>
        <p:spPr>
          <a:xfrm>
            <a:off x="7922362" y="2091233"/>
            <a:ext cx="457200" cy="457200"/>
          </a:xfrm>
          <a:prstGeom prst="rect">
            <a:avLst/>
          </a:prstGeom>
          <a:solidFill>
            <a:srgbClr val="38BDF8">
              <a:alpha val="10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8075066" y="2243938"/>
            <a:ext cx="152705" cy="152705"/>
          </a:xfrm>
          <a:prstGeom prst="ellipse">
            <a:avLst/>
          </a:prstGeom>
          <a:noFill/>
          <a:ln w="25400">
            <a:solidFill>
              <a:srgbClr val="38BDF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922362" y="3072384"/>
            <a:ext cx="57607" cy="57607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7" name="Shape 14"/>
          <p:cNvSpPr/>
          <p:nvPr/>
        </p:nvSpPr>
        <p:spPr>
          <a:xfrm>
            <a:off x="7922362" y="3949294"/>
            <a:ext cx="57607" cy="57607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304495" y="838505"/>
            <a:ext cx="8182051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Asset Concept: What SOC Protects</a:t>
            </a:r>
            <a:endParaRPr lang="en-US" sz="3600" dirty="0"/>
          </a:p>
        </p:txBody>
      </p:sp>
      <p:sp>
        <p:nvSpPr>
          <p:cNvPr id="19" name="Text 16"/>
          <p:cNvSpPr txBox="1"/>
          <p:nvPr/>
        </p:nvSpPr>
        <p:spPr>
          <a:xfrm>
            <a:off x="8532266" y="2177186"/>
            <a:ext cx="28008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FIRST QUESTION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8131759" y="2968142"/>
            <a:ext cx="352501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Alerts unconnected to valuable assets are often just noise.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8131759" y="3844138"/>
            <a:ext cx="3105302" cy="962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Always ask: "What specific business asset is being targeted right now?"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3" name="Shape 20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4" name="Shape 21"/>
          <p:cNvSpPr/>
          <p:nvPr/>
        </p:nvSpPr>
        <p:spPr>
          <a:xfrm>
            <a:off x="304495" y="6538874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3B82F6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457200" y="6495898"/>
            <a:ext cx="32342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Day-6: CIA Triad &amp; Cyberspace Risk Management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1375136" y="6495898"/>
            <a:ext cx="6144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36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572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rcRect l="-2994" r="-2994" t="0" b="0"/>
          <a:stretch/>
        </p:blipFill>
        <p:spPr>
          <a:xfrm>
            <a:off x="304495" y="228600"/>
            <a:ext cx="161849" cy="1527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3154" y="209398"/>
            <a:ext cx="3020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11087100" y="213970"/>
            <a:ext cx="9098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2026-01-18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304495" y="1777594"/>
            <a:ext cx="7034479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Identities: Passwords, API keys, session tokens, and admin accounts.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304495" y="2699309"/>
            <a:ext cx="7034479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Sensitive Data: PII, financial records, health info, and customer lists.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304495" y="3621938"/>
            <a:ext cx="7034479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Endpoints: Laptops, workstations, mobile devices, and POS terminals.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304495" y="4543654"/>
            <a:ext cx="7034479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Infrastructure: Servers, cloud buckets, firewalls, and routers.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304495" y="5466283"/>
            <a:ext cx="7034479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Apps: Email, CRM systems, HR portals, and source code.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304495" y="6387998"/>
            <a:ext cx="7034479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Intellectual Property: Trade secrets, formulas, and strategic plans.</a:t>
            </a:r>
            <a:endParaRPr lang="en-US" sz="1900" dirty="0"/>
          </a:p>
        </p:txBody>
      </p:sp>
      <p:sp>
        <p:nvSpPr>
          <p:cNvPr id="15" name="Shape 11"/>
          <p:cNvSpPr/>
          <p:nvPr/>
        </p:nvSpPr>
        <p:spPr>
          <a:xfrm>
            <a:off x="7607808" y="1777594"/>
            <a:ext cx="4286707" cy="2505456"/>
          </a:xfrm>
          <a:prstGeom prst="roundRect">
            <a:avLst>
              <a:gd name="adj" fmla="val 166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922362" y="2701138"/>
            <a:ext cx="365760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7" name="Shape 13"/>
          <p:cNvSpPr/>
          <p:nvPr/>
        </p:nvSpPr>
        <p:spPr>
          <a:xfrm>
            <a:off x="7922362" y="2091233"/>
            <a:ext cx="457200" cy="457200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rcRect l="-1282" r="-1282" t="0" b="0"/>
          <a:stretch/>
        </p:blipFill>
        <p:spPr>
          <a:xfrm>
            <a:off x="8041234" y="2224735"/>
            <a:ext cx="219456" cy="19019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304495" y="838505"/>
            <a:ext cx="5839358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Asset Examples For SOC</a:t>
            </a:r>
            <a:endParaRPr lang="en-US" sz="3600" dirty="0"/>
          </a:p>
        </p:txBody>
      </p:sp>
      <p:sp>
        <p:nvSpPr>
          <p:cNvPr id="20" name="Text 15"/>
          <p:cNvSpPr txBox="1"/>
          <p:nvPr/>
        </p:nvSpPr>
        <p:spPr>
          <a:xfrm>
            <a:off x="8532266" y="2177186"/>
            <a:ext cx="24670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DEFINING "ASSET"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7922362" y="2968142"/>
            <a:ext cx="3762756" cy="962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don't just monitor computers. We monitor anything that holds value for the business.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0" y="7309714"/>
            <a:ext cx="12191695" cy="20939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3" name="Shape 18"/>
          <p:cNvSpPr/>
          <p:nvPr/>
        </p:nvSpPr>
        <p:spPr>
          <a:xfrm>
            <a:off x="0" y="7309714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4" name="Shape 19"/>
          <p:cNvSpPr/>
          <p:nvPr/>
        </p:nvSpPr>
        <p:spPr>
          <a:xfrm>
            <a:off x="304495" y="7381951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3B82F6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457200" y="7338974"/>
            <a:ext cx="32342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Day-6: CIA Triad &amp; Cyberspace Risk Management</a:t>
            </a:r>
            <a:endParaRPr lang="en-US" sz="1000" dirty="0"/>
          </a:p>
        </p:txBody>
      </p:sp>
      <p:sp>
        <p:nvSpPr>
          <p:cNvPr id="26" name="Text 21"/>
          <p:cNvSpPr txBox="1"/>
          <p:nvPr/>
        </p:nvSpPr>
        <p:spPr>
          <a:xfrm>
            <a:off x="11382451" y="7338974"/>
            <a:ext cx="6144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37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572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rcRect l="-2994" r="-2994" t="0" b="0"/>
          <a:stretch/>
        </p:blipFill>
        <p:spPr>
          <a:xfrm>
            <a:off x="304495" y="228600"/>
            <a:ext cx="161849" cy="1527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3154" y="209398"/>
            <a:ext cx="3020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11087100" y="213970"/>
            <a:ext cx="9098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2026-01-18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304495" y="177759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Impact: Measures how bad the damage would be to the business.</a:t>
            </a:r>
            <a:endParaRPr lang="en-US" sz="2100" dirty="0"/>
          </a:p>
        </p:txBody>
      </p:sp>
      <p:sp>
        <p:nvSpPr>
          <p:cNvPr id="10" name="Text 6"/>
          <p:cNvSpPr txBox="1"/>
          <p:nvPr/>
        </p:nvSpPr>
        <p:spPr>
          <a:xfrm>
            <a:off x="304495" y="282915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Likelihood: The probability or chance that the threat will actually occur.</a:t>
            </a:r>
            <a:endParaRPr lang="en-US" sz="2100" dirty="0"/>
          </a:p>
        </p:txBody>
      </p:sp>
      <p:sp>
        <p:nvSpPr>
          <p:cNvPr id="11" name="Text 7"/>
          <p:cNvSpPr txBox="1"/>
          <p:nvPr/>
        </p:nvSpPr>
        <p:spPr>
          <a:xfrm>
            <a:off x="304495" y="388071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View: We prioritize alerts with high business impact first.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304495" y="493227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Why: A rare catastrophe is often worse than a frequent annoyance.</a:t>
            </a:r>
            <a:endParaRPr lang="en-US" sz="2100" dirty="0"/>
          </a:p>
        </p:txBody>
      </p:sp>
      <p:sp>
        <p:nvSpPr>
          <p:cNvPr id="13" name="Shape 9"/>
          <p:cNvSpPr/>
          <p:nvPr/>
        </p:nvSpPr>
        <p:spPr>
          <a:xfrm>
            <a:off x="7607808" y="1777594"/>
            <a:ext cx="4286707" cy="2848356"/>
          </a:xfrm>
          <a:prstGeom prst="roundRect">
            <a:avLst>
              <a:gd name="adj" fmla="val 128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922362" y="2701138"/>
            <a:ext cx="365760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Shape 11"/>
          <p:cNvSpPr/>
          <p:nvPr/>
        </p:nvSpPr>
        <p:spPr>
          <a:xfrm>
            <a:off x="7922362" y="2091233"/>
            <a:ext cx="457200" cy="457200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032090" y="2224735"/>
            <a:ext cx="237744" cy="19019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04495" y="838505"/>
            <a:ext cx="796351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vs Likelihood (Conceptual)</a:t>
            </a:r>
            <a:endParaRPr lang="en-US" sz="3600" dirty="0"/>
          </a:p>
        </p:txBody>
      </p:sp>
      <p:sp>
        <p:nvSpPr>
          <p:cNvPr id="18" name="Text 13"/>
          <p:cNvSpPr txBox="1"/>
          <p:nvPr/>
        </p:nvSpPr>
        <p:spPr>
          <a:xfrm>
            <a:off x="8532266" y="2177186"/>
            <a:ext cx="1905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TRIAGE LOGIC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7922362" y="2968142"/>
            <a:ext cx="3724351" cy="130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unsure, assume the threat is real. Focus on potential impact first. We don't ignore alerts just because they seem "unlikely."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1" name="Shape 16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2" name="Shape 17"/>
          <p:cNvSpPr/>
          <p:nvPr/>
        </p:nvSpPr>
        <p:spPr>
          <a:xfrm>
            <a:off x="304495" y="6538874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3B82F6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457200" y="6495898"/>
            <a:ext cx="32342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Day-6: CIA Triad &amp; Cyberspace Risk Management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11375136" y="6495898"/>
            <a:ext cx="6144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38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572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rcRect l="-2994" r="-2994" t="0" b="0"/>
          <a:stretch/>
        </p:blipFill>
        <p:spPr>
          <a:xfrm>
            <a:off x="304495" y="228600"/>
            <a:ext cx="161849" cy="1527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3154" y="209398"/>
            <a:ext cx="3020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11087100" y="213970"/>
            <a:ext cx="9098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2026-01-18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304495" y="2006194"/>
            <a:ext cx="3648456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See how harm travels from a system to the business.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304495" y="3026664"/>
            <a:ext cx="3648456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Clarifies alert context quickly during triage.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304495" y="4048049"/>
            <a:ext cx="3648456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View Trace the path: Asset → Threat → Impact.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4389120" y="5271516"/>
            <a:ext cx="7505395" cy="580644"/>
          </a:xfrm>
          <a:prstGeom prst="roundRect">
            <a:avLst>
              <a:gd name="adj" fmla="val 20653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304495" y="838505"/>
            <a:ext cx="7286854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Flow: Asset to Threat to Impact</a:t>
            </a:r>
            <a:endParaRPr lang="en-US" sz="3600" dirty="0"/>
          </a:p>
        </p:txBody>
      </p:sp>
      <p:sp>
        <p:nvSpPr>
          <p:cNvPr id="14" name="Text 10"/>
          <p:cNvSpPr txBox="1"/>
          <p:nvPr/>
        </p:nvSpPr>
        <p:spPr>
          <a:xfrm>
            <a:off x="4626864" y="5480914"/>
            <a:ext cx="13194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EXAMPLE:</a:t>
            </a:r>
            <a:endParaRPr lang="en-US" sz="10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rcRect l="-760" r="-760" t="0" b="0"/>
          <a:stretch/>
        </p:blipFill>
        <p:spPr>
          <a:xfrm>
            <a:off x="5993892" y="5473598"/>
            <a:ext cx="152705" cy="17190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22492" y="5461711"/>
            <a:ext cx="120517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DB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7409383" y="5461711"/>
            <a:ext cx="3008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rcRect l="-760" r="-760" t="0" b="0"/>
          <a:stretch/>
        </p:blipFill>
        <p:spPr>
          <a:xfrm>
            <a:off x="7695590" y="5473598"/>
            <a:ext cx="152705" cy="17190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924190" y="5461711"/>
            <a:ext cx="142463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Weak Password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9332366" y="5461711"/>
            <a:ext cx="3008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6"/>
          <a:srcRect l="-760" r="-760" t="0" b="0"/>
          <a:stretch/>
        </p:blipFill>
        <p:spPr>
          <a:xfrm>
            <a:off x="9617659" y="5473598"/>
            <a:ext cx="152705" cy="171907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846259" y="5461711"/>
            <a:ext cx="97657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Theft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4389120" y="1853489"/>
            <a:ext cx="7505395" cy="3191256"/>
          </a:xfrm>
          <a:prstGeom prst="roundRect">
            <a:avLst>
              <a:gd name="adj" fmla="val 136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39700" dist="101600" dir="5400000">
              <a:srgbClr val="000000">
                <a:alpha val="30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7462418" y="1710842"/>
            <a:ext cx="1352398" cy="247802"/>
          </a:xfrm>
          <a:prstGeom prst="roundRect">
            <a:avLst>
              <a:gd name="adj" fmla="val 369004"/>
            </a:avLst>
          </a:prstGeom>
          <a:solidFill>
            <a:srgbClr val="334155"/>
          </a:solidFill>
          <a:ln/>
        </p:spPr>
      </p:sp>
      <p:sp>
        <p:nvSpPr>
          <p:cNvPr id="25" name="Text 18"/>
          <p:cNvSpPr txBox="1"/>
          <p:nvPr/>
        </p:nvSpPr>
        <p:spPr>
          <a:xfrm>
            <a:off x="7576718" y="1758391"/>
            <a:ext cx="12097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PATH OF RISK</a:t>
            </a:r>
            <a:endParaRPr lang="en-US" sz="9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7"/>
          <a:srcRect l="0" r="0" t="-30" b="-30"/>
          <a:stretch/>
        </p:blipFill>
        <p:spPr>
          <a:xfrm>
            <a:off x="6840626" y="3295498"/>
            <a:ext cx="190195" cy="304495"/>
          </a:xfrm>
          <a:prstGeom prst="rect">
            <a:avLst/>
          </a:prstGeom>
        </p:spPr>
      </p:pic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8"/>
          <a:srcRect l="0" r="0" t="-30" b="-30"/>
          <a:stretch/>
        </p:blipFill>
        <p:spPr>
          <a:xfrm>
            <a:off x="9245498" y="3295498"/>
            <a:ext cx="190195" cy="304495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4855464" y="2319833"/>
            <a:ext cx="1762049" cy="2257654"/>
          </a:xfrm>
          <a:prstGeom prst="roundRect">
            <a:avLst>
              <a:gd name="adj" fmla="val 3366"/>
            </a:avLst>
          </a:prstGeom>
          <a:solidFill>
            <a:srgbClr val="0F172A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190500" dist="12700" dir="16200000">
              <a:srgbClr val="3b82f6">
                <a:alpha val="10000"/>
              </a:srgbClr>
            </a:outerShdw>
          </a:effectLst>
        </p:spPr>
      </p:sp>
      <p:sp>
        <p:nvSpPr>
          <p:cNvPr id="29" name="Shape 20"/>
          <p:cNvSpPr/>
          <p:nvPr/>
        </p:nvSpPr>
        <p:spPr>
          <a:xfrm>
            <a:off x="5352898" y="2567635"/>
            <a:ext cx="761695" cy="761695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5581498" y="2796235"/>
            <a:ext cx="304495" cy="304495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5412334" y="3511296"/>
            <a:ext cx="8193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Asset</a:t>
            </a:r>
            <a:endParaRPr lang="en-US" sz="1800" dirty="0"/>
          </a:p>
        </p:txBody>
      </p:sp>
      <p:sp>
        <p:nvSpPr>
          <p:cNvPr id="32" name="Text 22"/>
          <p:cNvSpPr txBox="1"/>
          <p:nvPr/>
        </p:nvSpPr>
        <p:spPr>
          <a:xfrm>
            <a:off x="5127041" y="3910889"/>
            <a:ext cx="133411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valuable thing we protect.</a:t>
            </a:r>
            <a:endParaRPr lang="en-US" sz="1200" dirty="0"/>
          </a:p>
        </p:txBody>
      </p:sp>
      <p:sp>
        <p:nvSpPr>
          <p:cNvPr id="33" name="Shape 23"/>
          <p:cNvSpPr/>
          <p:nvPr/>
        </p:nvSpPr>
        <p:spPr>
          <a:xfrm>
            <a:off x="7260336" y="2319833"/>
            <a:ext cx="1762049" cy="2257654"/>
          </a:xfrm>
          <a:prstGeom prst="roundRect">
            <a:avLst>
              <a:gd name="adj" fmla="val 3366"/>
            </a:avLst>
          </a:prstGeom>
          <a:solidFill>
            <a:srgbClr val="0F172A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90500" dist="12700" dir="16200000">
              <a:srgbClr val="f59e0b">
                <a:alpha val="10000"/>
              </a:srgbClr>
            </a:outerShdw>
          </a:effectLst>
        </p:spPr>
      </p:sp>
      <p:sp>
        <p:nvSpPr>
          <p:cNvPr id="34" name="Shape 24"/>
          <p:cNvSpPr/>
          <p:nvPr/>
        </p:nvSpPr>
        <p:spPr>
          <a:xfrm>
            <a:off x="7756855" y="2567635"/>
            <a:ext cx="761695" cy="761695"/>
          </a:xfrm>
          <a:prstGeom prst="ellipse">
            <a:avLst/>
          </a:prstGeom>
          <a:solidFill>
            <a:srgbClr val="F59E0B">
              <a:alpha val="10000"/>
            </a:srgbClr>
          </a:solidFill>
          <a:ln/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7985455" y="2796235"/>
            <a:ext cx="304495" cy="304495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7769657" y="3511296"/>
            <a:ext cx="9144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Threat</a:t>
            </a:r>
            <a:endParaRPr lang="en-US" sz="1800" dirty="0"/>
          </a:p>
        </p:txBody>
      </p:sp>
      <p:sp>
        <p:nvSpPr>
          <p:cNvPr id="37" name="Text 26"/>
          <p:cNvSpPr txBox="1"/>
          <p:nvPr/>
        </p:nvSpPr>
        <p:spPr>
          <a:xfrm>
            <a:off x="7540142" y="3910889"/>
            <a:ext cx="1314907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Something that can cause harm.</a:t>
            </a:r>
            <a:endParaRPr lang="en-US" sz="1200" dirty="0"/>
          </a:p>
        </p:txBody>
      </p:sp>
      <p:sp>
        <p:nvSpPr>
          <p:cNvPr id="38" name="Shape 27"/>
          <p:cNvSpPr/>
          <p:nvPr/>
        </p:nvSpPr>
        <p:spPr>
          <a:xfrm>
            <a:off x="9664294" y="2319833"/>
            <a:ext cx="1762049" cy="2257654"/>
          </a:xfrm>
          <a:prstGeom prst="roundRect">
            <a:avLst>
              <a:gd name="adj" fmla="val 3366"/>
            </a:avLst>
          </a:prstGeom>
          <a:solidFill>
            <a:srgbClr val="0F172A"/>
          </a:solidFill>
          <a:ln w="25400">
            <a:solidFill>
              <a:srgbClr val="EF4444"/>
            </a:solidFill>
            <a:prstDash val="solid"/>
          </a:ln>
          <a:effectLst>
            <a:outerShdw sx="100000" sy="100000" kx="0" ky="0" algn="bl" rotWithShape="0" blurRad="190500" dist="12700" dir="16200000">
              <a:srgbClr val="ef4444">
                <a:alpha val="10000"/>
              </a:srgbClr>
            </a:outerShdw>
          </a:effectLst>
        </p:spPr>
      </p:sp>
      <p:sp>
        <p:nvSpPr>
          <p:cNvPr id="39" name="Shape 28"/>
          <p:cNvSpPr/>
          <p:nvPr/>
        </p:nvSpPr>
        <p:spPr>
          <a:xfrm>
            <a:off x="10161727" y="2567635"/>
            <a:ext cx="761695" cy="761695"/>
          </a:xfrm>
          <a:prstGeom prst="ellipse">
            <a:avLst/>
          </a:prstGeom>
          <a:solidFill>
            <a:srgbClr val="EF4444">
              <a:alpha val="10000"/>
            </a:srgbClr>
          </a:solidFill>
          <a:ln/>
        </p:spPr>
      </p:sp>
      <p:sp>
        <p:nvSpPr>
          <p:cNvPr id="40" name="Text 29"/>
          <p:cNvSpPr txBox="1"/>
          <p:nvPr/>
        </p:nvSpPr>
        <p:spPr>
          <a:xfrm>
            <a:off x="10157155" y="3511296"/>
            <a:ext cx="9436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</a:t>
            </a:r>
            <a:endParaRPr lang="en-US" sz="1800" dirty="0"/>
          </a:p>
        </p:txBody>
      </p:sp>
      <p:sp>
        <p:nvSpPr>
          <p:cNvPr id="41" name="Text 30"/>
          <p:cNvSpPr txBox="1"/>
          <p:nvPr/>
        </p:nvSpPr>
        <p:spPr>
          <a:xfrm>
            <a:off x="9933127" y="3910889"/>
            <a:ext cx="133411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negative cost to business.</a:t>
            </a:r>
            <a:endParaRPr lang="en-US" sz="1200" dirty="0"/>
          </a:p>
        </p:txBody>
      </p:sp>
      <p:sp>
        <p:nvSpPr>
          <p:cNvPr id="42" name="Shape 31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3" name="Shape 32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4" name="Shape 33"/>
          <p:cNvSpPr/>
          <p:nvPr/>
        </p:nvSpPr>
        <p:spPr>
          <a:xfrm>
            <a:off x="304495" y="6538874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3B82F6"/>
          </a:solidFill>
          <a:ln/>
        </p:spPr>
      </p:sp>
      <p:sp>
        <p:nvSpPr>
          <p:cNvPr id="45" name="Text 34"/>
          <p:cNvSpPr txBox="1"/>
          <p:nvPr/>
        </p:nvSpPr>
        <p:spPr>
          <a:xfrm>
            <a:off x="457200" y="6495898"/>
            <a:ext cx="32342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Day-6: CIA Triad &amp; Cyberspace Risk Management</a:t>
            </a:r>
            <a:endParaRPr lang="en-US" sz="1000" dirty="0"/>
          </a:p>
        </p:txBody>
      </p:sp>
      <p:sp>
        <p:nvSpPr>
          <p:cNvPr id="46" name="Text 35"/>
          <p:cNvSpPr txBox="1"/>
          <p:nvPr/>
        </p:nvSpPr>
        <p:spPr>
          <a:xfrm>
            <a:off x="11375136" y="6495898"/>
            <a:ext cx="6144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39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572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rcRect l="-2994" r="-2994" t="0" b="0"/>
          <a:stretch/>
        </p:blipFill>
        <p:spPr>
          <a:xfrm>
            <a:off x="304495" y="228600"/>
            <a:ext cx="161849" cy="1527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3154" y="209398"/>
            <a:ext cx="3020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11087100" y="213970"/>
            <a:ext cx="9098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2026-01-18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304495" y="177759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What: It aligns security alerts directly with business outcomes.</a:t>
            </a:r>
            <a:endParaRPr lang="en-US" sz="2100" dirty="0"/>
          </a:p>
        </p:txBody>
      </p:sp>
      <p:sp>
        <p:nvSpPr>
          <p:cNvPr id="10" name="Text 6"/>
          <p:cNvSpPr txBox="1"/>
          <p:nvPr/>
        </p:nvSpPr>
        <p:spPr>
          <a:xfrm>
            <a:off x="304495" y="282915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Why: Speaking "risk" reduces fear and increases clarity for owners.</a:t>
            </a:r>
            <a:endParaRPr lang="en-US" sz="2100" dirty="0"/>
          </a:p>
        </p:txBody>
      </p:sp>
      <p:sp>
        <p:nvSpPr>
          <p:cNvPr id="11" name="Text 7"/>
          <p:cNvSpPr txBox="1"/>
          <p:nvPr/>
        </p:nvSpPr>
        <p:spPr>
          <a:xfrm>
            <a:off x="304495" y="388071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View: We communicate risks in plain, non-technical terms.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304495" y="493227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Benefit: Decisions become faster when impact is clearly understood.</a:t>
            </a:r>
            <a:endParaRPr lang="en-US" sz="2100" dirty="0"/>
          </a:p>
        </p:txBody>
      </p:sp>
      <p:sp>
        <p:nvSpPr>
          <p:cNvPr id="13" name="Shape 9"/>
          <p:cNvSpPr/>
          <p:nvPr/>
        </p:nvSpPr>
        <p:spPr>
          <a:xfrm>
            <a:off x="7607808" y="1777594"/>
            <a:ext cx="4286707" cy="3191256"/>
          </a:xfrm>
          <a:prstGeom prst="roundRect">
            <a:avLst>
              <a:gd name="adj" fmla="val 102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922362" y="2701138"/>
            <a:ext cx="365760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Shape 11"/>
          <p:cNvSpPr/>
          <p:nvPr/>
        </p:nvSpPr>
        <p:spPr>
          <a:xfrm>
            <a:off x="7922362" y="2091233"/>
            <a:ext cx="457200" cy="457200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032090" y="2224735"/>
            <a:ext cx="237744" cy="19019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04495" y="838505"/>
            <a:ext cx="7230161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Risk Language Helps SOC</a:t>
            </a:r>
            <a:endParaRPr lang="en-US" sz="3600" dirty="0"/>
          </a:p>
        </p:txBody>
      </p:sp>
      <p:sp>
        <p:nvSpPr>
          <p:cNvPr id="18" name="Text 13"/>
          <p:cNvSpPr txBox="1"/>
          <p:nvPr/>
        </p:nvSpPr>
        <p:spPr>
          <a:xfrm>
            <a:off x="8532266" y="2177186"/>
            <a:ext cx="31629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COMMUNICATION SHIFT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7922362" y="2968142"/>
            <a:ext cx="3706063" cy="1648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Instead of saying "Server 404 error," say "Payment service is unavailable, blocking sales." The latter drives immediate business action.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1" name="Shape 16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2" name="Shape 17"/>
          <p:cNvSpPr/>
          <p:nvPr/>
        </p:nvSpPr>
        <p:spPr>
          <a:xfrm>
            <a:off x="304495" y="6538874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3B82F6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457200" y="6495898"/>
            <a:ext cx="32342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Day-6: CIA Triad &amp; Cyberspace Risk Management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11369650" y="6495898"/>
            <a:ext cx="6245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40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572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rcRect l="-2994" r="-2994" t="0" b="0"/>
          <a:stretch/>
        </p:blipFill>
        <p:spPr>
          <a:xfrm>
            <a:off x="304495" y="228600"/>
            <a:ext cx="161849" cy="1527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3154" y="209398"/>
            <a:ext cx="3020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11087100" y="213970"/>
            <a:ext cx="9098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2026-01-18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304495" y="1777594"/>
            <a:ext cx="67821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What: Avoid vague, scary, or exaggerated language.</a:t>
            </a:r>
            <a:endParaRPr lang="en-US" sz="2100" dirty="0"/>
          </a:p>
        </p:txBody>
      </p:sp>
      <p:sp>
        <p:nvSpPr>
          <p:cNvPr id="10" name="Text 6"/>
          <p:cNvSpPr txBox="1"/>
          <p:nvPr/>
        </p:nvSpPr>
        <p:spPr>
          <a:xfrm>
            <a:off x="304495" y="245516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Why: Overstating threats harms your credibility and trust.</a:t>
            </a:r>
            <a:endParaRPr lang="en-US" sz="2100" dirty="0"/>
          </a:p>
        </p:txBody>
      </p:sp>
      <p:sp>
        <p:nvSpPr>
          <p:cNvPr id="11" name="Text 7"/>
          <p:cNvSpPr txBox="1"/>
          <p:nvPr/>
        </p:nvSpPr>
        <p:spPr>
          <a:xfrm>
            <a:off x="304495" y="350672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View: Stick to facts, clear impacts, and known uncertainties.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304495" y="4559198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Rule: Never guess; state only what evidence supports.</a:t>
            </a:r>
            <a:endParaRPr lang="en-US" sz="2100" dirty="0"/>
          </a:p>
        </p:txBody>
      </p:sp>
      <p:sp>
        <p:nvSpPr>
          <p:cNvPr id="13" name="Shape 9"/>
          <p:cNvSpPr/>
          <p:nvPr/>
        </p:nvSpPr>
        <p:spPr>
          <a:xfrm>
            <a:off x="7607808" y="1777594"/>
            <a:ext cx="4286707" cy="3000146"/>
          </a:xfrm>
          <a:prstGeom prst="roundRect">
            <a:avLst>
              <a:gd name="adj" fmla="val 116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922362" y="2701138"/>
            <a:ext cx="365760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Shape 11"/>
          <p:cNvSpPr/>
          <p:nvPr/>
        </p:nvSpPr>
        <p:spPr>
          <a:xfrm>
            <a:off x="7922362" y="2091233"/>
            <a:ext cx="457200" cy="457200"/>
          </a:xfrm>
          <a:prstGeom prst="ellipse">
            <a:avLst/>
          </a:prstGeom>
          <a:solidFill>
            <a:srgbClr val="FB7185">
              <a:alpha val="10000"/>
            </a:srgb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055864" y="2224735"/>
            <a:ext cx="190195" cy="19019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04495" y="838505"/>
            <a:ext cx="6505956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Pitfalls To Avoid In Risk Talk</a:t>
            </a:r>
            <a:endParaRPr lang="en-US" sz="3600" dirty="0"/>
          </a:p>
        </p:txBody>
      </p:sp>
      <p:sp>
        <p:nvSpPr>
          <p:cNvPr id="18" name="Text 13"/>
          <p:cNvSpPr txBox="1"/>
          <p:nvPr/>
        </p:nvSpPr>
        <p:spPr>
          <a:xfrm>
            <a:off x="8532266" y="2177186"/>
            <a:ext cx="29535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B71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BAD COMMUNICATION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7922362" y="2968142"/>
            <a:ext cx="3581705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"The server is hacked!" creates panic.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7922362" y="3805733"/>
            <a:ext cx="375361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"We see unusual traffic on the server" creates actionable focus.</a:t>
            </a:r>
            <a:endParaRPr lang="en-US" sz="1800" dirty="0"/>
          </a:p>
        </p:txBody>
      </p:sp>
      <p:sp>
        <p:nvSpPr>
          <p:cNvPr id="21" name="Shape 16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2" name="Shape 17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3" name="Shape 18"/>
          <p:cNvSpPr/>
          <p:nvPr/>
        </p:nvSpPr>
        <p:spPr>
          <a:xfrm>
            <a:off x="304495" y="6538874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3B82F6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457200" y="6495898"/>
            <a:ext cx="32342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Day-6: CIA Triad &amp; Cyberspace Risk Management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11402568" y="6495898"/>
            <a:ext cx="5861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41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572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rcRect l="-2994" r="-2994" t="0" b="0"/>
          <a:stretch/>
        </p:blipFill>
        <p:spPr>
          <a:xfrm>
            <a:off x="304495" y="228600"/>
            <a:ext cx="161849" cy="1527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3154" y="209398"/>
            <a:ext cx="3020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11087100" y="213970"/>
            <a:ext cx="9098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2026-01-18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761695" y="1239926"/>
            <a:ext cx="381305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Shape 6"/>
          <p:cNvSpPr/>
          <p:nvPr/>
        </p:nvSpPr>
        <p:spPr>
          <a:xfrm>
            <a:off x="761695" y="3496666"/>
            <a:ext cx="19202" cy="961949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Shape 7"/>
          <p:cNvSpPr/>
          <p:nvPr/>
        </p:nvSpPr>
        <p:spPr>
          <a:xfrm>
            <a:off x="4444898" y="3496666"/>
            <a:ext cx="19202" cy="961949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2" name="Shape 8"/>
          <p:cNvSpPr/>
          <p:nvPr/>
        </p:nvSpPr>
        <p:spPr>
          <a:xfrm>
            <a:off x="8128102" y="3496666"/>
            <a:ext cx="19202" cy="961949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Shape 9"/>
          <p:cNvSpPr/>
          <p:nvPr/>
        </p:nvSpPr>
        <p:spPr>
          <a:xfrm>
            <a:off x="761695" y="5060290"/>
            <a:ext cx="10668305" cy="75895"/>
          </a:xfrm>
          <a:prstGeom prst="roundRect">
            <a:avLst>
              <a:gd name="adj" fmla="val 602411"/>
            </a:avLst>
          </a:prstGeom>
          <a:solidFill>
            <a:srgbClr val="1E293B"/>
          </a:solidFill>
          <a:ln/>
        </p:spPr>
      </p:sp>
      <p:sp>
        <p:nvSpPr>
          <p:cNvPr id="14" name="Shape 10"/>
          <p:cNvSpPr/>
          <p:nvPr/>
        </p:nvSpPr>
        <p:spPr>
          <a:xfrm>
            <a:off x="761695" y="5060290"/>
            <a:ext cx="6933895" cy="7589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Shape 11"/>
          <p:cNvSpPr/>
          <p:nvPr/>
        </p:nvSpPr>
        <p:spPr>
          <a:xfrm>
            <a:off x="879653" y="5327294"/>
            <a:ext cx="75895" cy="75895"/>
          </a:xfrm>
          <a:prstGeom prst="ellipse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12700" dir="16200000">
              <a:srgbClr val="3b82f6">
                <a:alpha val="5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847442" y="5327294"/>
            <a:ext cx="75895" cy="75895"/>
          </a:xfrm>
          <a:prstGeom prst="ellipse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12700" dir="16200000">
              <a:srgbClr val="3b82f6">
                <a:alpha val="5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880153" y="5327294"/>
            <a:ext cx="75895" cy="75895"/>
          </a:xfrm>
          <a:prstGeom prst="ellipse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12700" dir="16200000">
              <a:srgbClr val="3b82f6">
                <a:alpha val="5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930238" y="5327294"/>
            <a:ext cx="75895" cy="75895"/>
          </a:xfrm>
          <a:prstGeom prst="ellipse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12700" dir="16200000">
              <a:srgbClr val="3b82f6">
                <a:alpha val="5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9034272" y="5327294"/>
            <a:ext cx="75895" cy="75895"/>
          </a:xfrm>
          <a:prstGeom prst="ellipse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12700" dir="16200000">
              <a:srgbClr val="3b82f6">
                <a:alpha val="5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11206886" y="5327294"/>
            <a:ext cx="75895" cy="75895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1257300" y="1130198"/>
            <a:ext cx="13386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06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761695" y="1492301"/>
            <a:ext cx="4582058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View of</a:t>
            </a:r>
            <a:endParaRPr lang="en-US" sz="5400" dirty="0"/>
          </a:p>
        </p:txBody>
      </p:sp>
      <p:sp>
        <p:nvSpPr>
          <p:cNvPr id="23" name="Text 19"/>
          <p:cNvSpPr txBox="1"/>
          <p:nvPr/>
        </p:nvSpPr>
        <p:spPr>
          <a:xfrm>
            <a:off x="761695" y="2246681"/>
            <a:ext cx="6400800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Management</a:t>
            </a:r>
            <a:endParaRPr lang="en-US" sz="5400" dirty="0"/>
          </a:p>
        </p:txBody>
      </p:sp>
      <p:sp>
        <p:nvSpPr>
          <p:cNvPr id="24" name="Text 20"/>
          <p:cNvSpPr txBox="1"/>
          <p:nvPr/>
        </p:nvSpPr>
        <p:spPr>
          <a:xfrm>
            <a:off x="1009498" y="3515868"/>
            <a:ext cx="11859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THIS?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1009498" y="3830422"/>
            <a:ext cx="27816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SOC contributes to managing risk.</a:t>
            </a:r>
            <a:endParaRPr lang="en-US" sz="1800" dirty="0"/>
          </a:p>
        </p:txBody>
      </p:sp>
      <p:sp>
        <p:nvSpPr>
          <p:cNvPr id="26" name="Text 22"/>
          <p:cNvSpPr txBox="1"/>
          <p:nvPr/>
        </p:nvSpPr>
        <p:spPr>
          <a:xfrm>
            <a:off x="4692701" y="3515868"/>
            <a:ext cx="11960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IT EXISTS</a:t>
            </a:r>
            <a:endParaRPr lang="en-US" sz="1000" dirty="0"/>
          </a:p>
        </p:txBody>
      </p:sp>
      <p:sp>
        <p:nvSpPr>
          <p:cNvPr id="27" name="Text 23"/>
          <p:cNvSpPr txBox="1"/>
          <p:nvPr/>
        </p:nvSpPr>
        <p:spPr>
          <a:xfrm>
            <a:off x="4692701" y="3830422"/>
            <a:ext cx="3020263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Visibility enables informed choices.</a:t>
            </a:r>
            <a:endParaRPr lang="en-US" sz="1800" dirty="0"/>
          </a:p>
        </p:txBody>
      </p:sp>
      <p:sp>
        <p:nvSpPr>
          <p:cNvPr id="28" name="Text 24"/>
          <p:cNvSpPr txBox="1"/>
          <p:nvPr/>
        </p:nvSpPr>
        <p:spPr>
          <a:xfrm>
            <a:off x="8375904" y="3515868"/>
            <a:ext cx="8339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VIEW</a:t>
            </a:r>
            <a:endParaRPr lang="en-US" sz="1000" dirty="0"/>
          </a:p>
        </p:txBody>
      </p:sp>
      <p:sp>
        <p:nvSpPr>
          <p:cNvPr id="29" name="Text 25"/>
          <p:cNvSpPr txBox="1"/>
          <p:nvPr/>
        </p:nvSpPr>
        <p:spPr>
          <a:xfrm>
            <a:off x="8375904" y="3830422"/>
            <a:ext cx="236281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 timely, clear evidence.</a:t>
            </a:r>
            <a:endParaRPr lang="en-US" sz="1800" dirty="0"/>
          </a:p>
        </p:txBody>
      </p:sp>
      <p:sp>
        <p:nvSpPr>
          <p:cNvPr id="30" name="Text 26"/>
          <p:cNvSpPr txBox="1"/>
          <p:nvPr/>
        </p:nvSpPr>
        <p:spPr>
          <a:xfrm>
            <a:off x="761695" y="5469941"/>
            <a:ext cx="4005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Fund.</a:t>
            </a:r>
            <a:endParaRPr lang="en-US" sz="900" dirty="0"/>
          </a:p>
        </p:txBody>
      </p:sp>
      <p:sp>
        <p:nvSpPr>
          <p:cNvPr id="31" name="Text 27"/>
          <p:cNvSpPr txBox="1"/>
          <p:nvPr/>
        </p:nvSpPr>
        <p:spPr>
          <a:xfrm>
            <a:off x="2786177" y="5469941"/>
            <a:ext cx="2862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CIA</a:t>
            </a:r>
            <a:endParaRPr lang="en-US" sz="900" dirty="0"/>
          </a:p>
        </p:txBody>
      </p:sp>
      <p:sp>
        <p:nvSpPr>
          <p:cNvPr id="32" name="Text 28"/>
          <p:cNvSpPr txBox="1"/>
          <p:nvPr/>
        </p:nvSpPr>
        <p:spPr>
          <a:xfrm>
            <a:off x="4698187" y="5469941"/>
            <a:ext cx="5340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Balance</a:t>
            </a:r>
            <a:endParaRPr lang="en-US" sz="900" dirty="0"/>
          </a:p>
        </p:txBody>
      </p:sp>
      <p:sp>
        <p:nvSpPr>
          <p:cNvPr id="33" name="Text 29"/>
          <p:cNvSpPr txBox="1"/>
          <p:nvPr/>
        </p:nvSpPr>
        <p:spPr>
          <a:xfrm>
            <a:off x="6851599" y="5469941"/>
            <a:ext cx="3246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</a:t>
            </a:r>
            <a:endParaRPr lang="en-US" sz="900" dirty="0"/>
          </a:p>
        </p:txBody>
      </p:sp>
      <p:sp>
        <p:nvSpPr>
          <p:cNvPr id="34" name="Text 30"/>
          <p:cNvSpPr txBox="1"/>
          <p:nvPr/>
        </p:nvSpPr>
        <p:spPr>
          <a:xfrm>
            <a:off x="8797442" y="5469941"/>
            <a:ext cx="6382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View</a:t>
            </a:r>
            <a:endParaRPr lang="en-US" sz="900" dirty="0"/>
          </a:p>
        </p:txBody>
      </p:sp>
      <p:sp>
        <p:nvSpPr>
          <p:cNvPr id="35" name="Text 31"/>
          <p:cNvSpPr txBox="1"/>
          <p:nvPr/>
        </p:nvSpPr>
        <p:spPr>
          <a:xfrm>
            <a:off x="11060582" y="5469941"/>
            <a:ext cx="4572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7" name="Shape 33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8" name="Shape 34"/>
          <p:cNvSpPr/>
          <p:nvPr/>
        </p:nvSpPr>
        <p:spPr>
          <a:xfrm>
            <a:off x="304495" y="6538874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3B82F6"/>
          </a:solidFill>
          <a:ln/>
        </p:spPr>
      </p:sp>
      <p:sp>
        <p:nvSpPr>
          <p:cNvPr id="39" name="Text 35"/>
          <p:cNvSpPr txBox="1"/>
          <p:nvPr/>
        </p:nvSpPr>
        <p:spPr>
          <a:xfrm>
            <a:off x="457200" y="6495898"/>
            <a:ext cx="32342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Day-6: CIA Triad &amp; Cyberspace Risk Management</a:t>
            </a:r>
            <a:endParaRPr lang="en-US" sz="1000" dirty="0"/>
          </a:p>
        </p:txBody>
      </p:sp>
      <p:sp>
        <p:nvSpPr>
          <p:cNvPr id="40" name="Text 36"/>
          <p:cNvSpPr txBox="1"/>
          <p:nvPr/>
        </p:nvSpPr>
        <p:spPr>
          <a:xfrm>
            <a:off x="11372393" y="6495898"/>
            <a:ext cx="6245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42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572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rcRect l="-2994" r="-2994" t="0" b="0"/>
          <a:stretch/>
        </p:blipFill>
        <p:spPr>
          <a:xfrm>
            <a:off x="304495" y="228600"/>
            <a:ext cx="161849" cy="1527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3154" y="209398"/>
            <a:ext cx="3020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11087100" y="213970"/>
            <a:ext cx="9098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2026-01-18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304495" y="1777594"/>
            <a:ext cx="675375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What: Systems and people are constantly changing.</a:t>
            </a:r>
            <a:endParaRPr lang="en-US" sz="2100" dirty="0"/>
          </a:p>
        </p:txBody>
      </p:sp>
      <p:sp>
        <p:nvSpPr>
          <p:cNvPr id="10" name="Text 6"/>
          <p:cNvSpPr txBox="1"/>
          <p:nvPr/>
        </p:nvSpPr>
        <p:spPr>
          <a:xfrm>
            <a:off x="304495" y="245516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Why: New features and connectivity always create new openings.</a:t>
            </a:r>
            <a:endParaRPr lang="en-US" sz="2100" dirty="0"/>
          </a:p>
        </p:txBody>
      </p:sp>
      <p:sp>
        <p:nvSpPr>
          <p:cNvPr id="11" name="Text 7"/>
          <p:cNvSpPr txBox="1"/>
          <p:nvPr/>
        </p:nvSpPr>
        <p:spPr>
          <a:xfrm>
            <a:off x="304495" y="3506724"/>
            <a:ext cx="576346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View: Reduce risk; never promise zero.</a:t>
            </a:r>
            <a:endParaRPr lang="en-US" sz="2100" dirty="0"/>
          </a:p>
        </p:txBody>
      </p:sp>
      <p:sp>
        <p:nvSpPr>
          <p:cNvPr id="12" name="Shape 8"/>
          <p:cNvSpPr/>
          <p:nvPr/>
        </p:nvSpPr>
        <p:spPr>
          <a:xfrm>
            <a:off x="7607808" y="1777594"/>
            <a:ext cx="4286707" cy="2848356"/>
          </a:xfrm>
          <a:prstGeom prst="roundRect">
            <a:avLst>
              <a:gd name="adj" fmla="val 128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922362" y="2701138"/>
            <a:ext cx="365760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Shape 10"/>
          <p:cNvSpPr/>
          <p:nvPr/>
        </p:nvSpPr>
        <p:spPr>
          <a:xfrm>
            <a:off x="7922362" y="2091233"/>
            <a:ext cx="457200" cy="457200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055864" y="2224735"/>
            <a:ext cx="190195" cy="19019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04495" y="838505"/>
            <a:ext cx="7286854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Risk Cannot Be Eliminated</a:t>
            </a:r>
            <a:endParaRPr lang="en-US" sz="3600" dirty="0"/>
          </a:p>
        </p:txBody>
      </p:sp>
      <p:sp>
        <p:nvSpPr>
          <p:cNvPr id="17" name="Text 12"/>
          <p:cNvSpPr txBox="1"/>
          <p:nvPr/>
        </p:nvSpPr>
        <p:spPr>
          <a:xfrm>
            <a:off x="8532266" y="2177186"/>
            <a:ext cx="28483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ZERO RISK MYTH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7922362" y="2968142"/>
            <a:ext cx="3448202" cy="130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Thinking you are 100% secure leads to complacency. A SOC analyst assumes risks always exist and stays alert.</a:t>
            </a:r>
            <a:endParaRPr lang="en-US" sz="1800" dirty="0"/>
          </a:p>
        </p:txBody>
      </p:sp>
      <p:sp>
        <p:nvSpPr>
          <p:cNvPr id="19" name="Shape 14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0" name="Shape 15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1" name="Shape 16"/>
          <p:cNvSpPr/>
          <p:nvPr/>
        </p:nvSpPr>
        <p:spPr>
          <a:xfrm>
            <a:off x="304495" y="6538874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3B82F6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457200" y="6495898"/>
            <a:ext cx="32342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Day-6: CIA Triad &amp; Cyberspace Risk Management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11371478" y="6495898"/>
            <a:ext cx="6245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43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572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rcRect l="-2994" r="-2994" t="0" b="0"/>
          <a:stretch/>
        </p:blipFill>
        <p:spPr>
          <a:xfrm>
            <a:off x="304495" y="228600"/>
            <a:ext cx="161849" cy="1527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3154" y="209398"/>
            <a:ext cx="3020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11087100" y="213970"/>
            <a:ext cx="9098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2026-01-18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304495" y="177759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What: Lowering risk (Reduction) versus living with it (Acceptance).</a:t>
            </a:r>
            <a:endParaRPr lang="en-US" sz="2100" dirty="0"/>
          </a:p>
        </p:txBody>
      </p:sp>
      <p:sp>
        <p:nvSpPr>
          <p:cNvPr id="10" name="Text 6"/>
          <p:cNvSpPr txBox="1"/>
          <p:nvPr/>
        </p:nvSpPr>
        <p:spPr>
          <a:xfrm>
            <a:off x="304495" y="282915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Why: Not all risks can be fixed; businesses must make trade-offs.</a:t>
            </a:r>
            <a:endParaRPr lang="en-US" sz="2100" dirty="0"/>
          </a:p>
        </p:txBody>
      </p:sp>
      <p:sp>
        <p:nvSpPr>
          <p:cNvPr id="11" name="Text 7"/>
          <p:cNvSpPr txBox="1"/>
          <p:nvPr/>
        </p:nvSpPr>
        <p:spPr>
          <a:xfrm>
            <a:off x="304495" y="388071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View: We document which path owners choose for clarity.</a:t>
            </a:r>
            <a:endParaRPr lang="en-US" sz="2100" dirty="0"/>
          </a:p>
        </p:txBody>
      </p:sp>
      <p:sp>
        <p:nvSpPr>
          <p:cNvPr id="12" name="Shape 8"/>
          <p:cNvSpPr/>
          <p:nvPr/>
        </p:nvSpPr>
        <p:spPr>
          <a:xfrm>
            <a:off x="7607808" y="1777594"/>
            <a:ext cx="4286707" cy="2848356"/>
          </a:xfrm>
          <a:prstGeom prst="roundRect">
            <a:avLst>
              <a:gd name="adj" fmla="val 128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922362" y="2701138"/>
            <a:ext cx="365760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Shape 10"/>
          <p:cNvSpPr/>
          <p:nvPr/>
        </p:nvSpPr>
        <p:spPr>
          <a:xfrm>
            <a:off x="7922362" y="2091233"/>
            <a:ext cx="457200" cy="457200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079638" y="2224735"/>
            <a:ext cx="142646" cy="19019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04495" y="838505"/>
            <a:ext cx="8153705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Reduction vs Risk Acceptance</a:t>
            </a:r>
            <a:endParaRPr lang="en-US" sz="3600" dirty="0"/>
          </a:p>
        </p:txBody>
      </p:sp>
      <p:sp>
        <p:nvSpPr>
          <p:cNvPr id="17" name="Text 12"/>
          <p:cNvSpPr txBox="1"/>
          <p:nvPr/>
        </p:nvSpPr>
        <p:spPr>
          <a:xfrm>
            <a:off x="8532266" y="2177186"/>
            <a:ext cx="27340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 IN ACTION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7922362" y="2968142"/>
            <a:ext cx="3610051" cy="130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a legacy server cannot be patched (Acceptance), the SOC might add extra monitoring (Reduction) to compensate.</a:t>
            </a:r>
            <a:endParaRPr lang="en-US" sz="1800" dirty="0"/>
          </a:p>
        </p:txBody>
      </p:sp>
      <p:sp>
        <p:nvSpPr>
          <p:cNvPr id="19" name="Shape 14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0" name="Shape 15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1" name="Shape 16"/>
          <p:cNvSpPr/>
          <p:nvPr/>
        </p:nvSpPr>
        <p:spPr>
          <a:xfrm>
            <a:off x="304495" y="6538874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3B82F6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457200" y="6495898"/>
            <a:ext cx="32342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Day-6: CIA Triad &amp; Cyberspace Risk Management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11367821" y="6495898"/>
            <a:ext cx="6245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44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572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rcRect l="-2994" r="-2994" t="0" b="0"/>
          <a:stretch/>
        </p:blipFill>
        <p:spPr>
          <a:xfrm>
            <a:off x="304495" y="228600"/>
            <a:ext cx="161849" cy="1527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3154" y="209398"/>
            <a:ext cx="3020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11087100" y="213970"/>
            <a:ext cx="9098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2026-01-18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304495" y="177759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What: Verified signals, context logs, and solid evidence.</a:t>
            </a:r>
            <a:endParaRPr lang="en-US" sz="2100" dirty="0"/>
          </a:p>
        </p:txBody>
      </p:sp>
      <p:sp>
        <p:nvSpPr>
          <p:cNvPr id="10" name="Text 6"/>
          <p:cNvSpPr txBox="1"/>
          <p:nvPr/>
        </p:nvSpPr>
        <p:spPr>
          <a:xfrm>
            <a:off x="304495" y="282915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Why: Better inputs allow leaders to make faster, informed decisions.</a:t>
            </a:r>
            <a:endParaRPr lang="en-US" sz="2100" dirty="0"/>
          </a:p>
        </p:txBody>
      </p:sp>
      <p:sp>
        <p:nvSpPr>
          <p:cNvPr id="11" name="Text 7"/>
          <p:cNvSpPr txBox="1"/>
          <p:nvPr/>
        </p:nvSpPr>
        <p:spPr>
          <a:xfrm>
            <a:off x="304495" y="388071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View: We provide the "ground truth" by confirming facts first.</a:t>
            </a:r>
            <a:endParaRPr lang="en-US" sz="2100" dirty="0"/>
          </a:p>
        </p:txBody>
      </p:sp>
      <p:sp>
        <p:nvSpPr>
          <p:cNvPr id="12" name="Shape 8"/>
          <p:cNvSpPr/>
          <p:nvPr/>
        </p:nvSpPr>
        <p:spPr>
          <a:xfrm>
            <a:off x="7607808" y="1777594"/>
            <a:ext cx="4286707" cy="2848356"/>
          </a:xfrm>
          <a:prstGeom prst="roundRect">
            <a:avLst>
              <a:gd name="adj" fmla="val 128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922362" y="2701138"/>
            <a:ext cx="365760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Shape 10"/>
          <p:cNvSpPr/>
          <p:nvPr/>
        </p:nvSpPr>
        <p:spPr>
          <a:xfrm>
            <a:off x="7922362" y="2091233"/>
            <a:ext cx="457200" cy="457200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rcRect l="-1282" r="-1282" t="0" b="0"/>
          <a:stretch/>
        </p:blipFill>
        <p:spPr>
          <a:xfrm>
            <a:off x="8041234" y="2224735"/>
            <a:ext cx="219456" cy="19019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04495" y="838505"/>
            <a:ext cx="662940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Inputs To Risk Visibility</a:t>
            </a:r>
            <a:endParaRPr lang="en-US" sz="3600" dirty="0"/>
          </a:p>
        </p:txBody>
      </p:sp>
      <p:sp>
        <p:nvSpPr>
          <p:cNvPr id="17" name="Text 12"/>
          <p:cNvSpPr txBox="1"/>
          <p:nvPr/>
        </p:nvSpPr>
        <p:spPr>
          <a:xfrm>
            <a:off x="8532266" y="2177186"/>
            <a:ext cx="22384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 IS KEY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7922362" y="2968142"/>
            <a:ext cx="3771900" cy="130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alert is just noise until you link it to asset value. Correlating alerts with criticality creates real visibility.</a:t>
            </a:r>
            <a:endParaRPr lang="en-US" sz="1800" dirty="0"/>
          </a:p>
        </p:txBody>
      </p:sp>
      <p:sp>
        <p:nvSpPr>
          <p:cNvPr id="19" name="Shape 14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0" name="Shape 15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1" name="Shape 16"/>
          <p:cNvSpPr/>
          <p:nvPr/>
        </p:nvSpPr>
        <p:spPr>
          <a:xfrm>
            <a:off x="304495" y="6538874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3B82F6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457200" y="6495898"/>
            <a:ext cx="32342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Day-6: CIA Triad &amp; Cyberspace Risk Management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11375136" y="6495898"/>
            <a:ext cx="6144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45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572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rcRect l="-2994" r="-2994" t="0" b="0"/>
          <a:stretch/>
        </p:blipFill>
        <p:spPr>
          <a:xfrm>
            <a:off x="304495" y="228600"/>
            <a:ext cx="161849" cy="1527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3154" y="209398"/>
            <a:ext cx="3020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11087100" y="213970"/>
            <a:ext cx="9098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2026-01-18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304495" y="1700784"/>
            <a:ext cx="466252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What: From alert to decision overview.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304495" y="2352751"/>
            <a:ext cx="4825289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Why: Shows hand-offs and timing clearly.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304495" y="3351276"/>
            <a:ext cx="4825289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View: Track status, blockers, and outcomes.</a:t>
            </a:r>
            <a:endParaRPr lang="en-US" sz="1900" dirty="0"/>
          </a:p>
        </p:txBody>
      </p:sp>
      <p:sp>
        <p:nvSpPr>
          <p:cNvPr id="12" name="Shape 8"/>
          <p:cNvSpPr/>
          <p:nvPr/>
        </p:nvSpPr>
        <p:spPr>
          <a:xfrm>
            <a:off x="5394960" y="1700784"/>
            <a:ext cx="6495898" cy="3810305"/>
          </a:xfrm>
          <a:prstGeom prst="roundRect">
            <a:avLst>
              <a:gd name="adj" fmla="val 48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39700" dist="101600" dir="5400000">
              <a:srgbClr val="000000">
                <a:alpha val="3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404104" y="1710842"/>
            <a:ext cx="6476695" cy="590702"/>
          </a:xfrm>
          <a:prstGeom prst="roundRect">
            <a:avLst>
              <a:gd name="adj" fmla="val 19974"/>
            </a:avLst>
          </a:prstGeom>
          <a:solidFill>
            <a:srgbClr val="0F172A"/>
          </a:solidFill>
          <a:ln/>
        </p:spPr>
      </p:sp>
      <p:sp>
        <p:nvSpPr>
          <p:cNvPr id="14" name="Shape 10"/>
          <p:cNvSpPr/>
          <p:nvPr/>
        </p:nvSpPr>
        <p:spPr>
          <a:xfrm>
            <a:off x="5404104" y="2292401"/>
            <a:ext cx="6476695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Shape 11"/>
          <p:cNvSpPr/>
          <p:nvPr/>
        </p:nvSpPr>
        <p:spPr>
          <a:xfrm>
            <a:off x="10769803" y="1862633"/>
            <a:ext cx="886054" cy="276149"/>
          </a:xfrm>
          <a:prstGeom prst="roundRect">
            <a:avLst>
              <a:gd name="adj" fmla="val 331126"/>
            </a:avLst>
          </a:prstGeom>
          <a:solidFill>
            <a:srgbClr val="10B981">
              <a:alpha val="10000"/>
            </a:srgbClr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11056010" y="1901038"/>
            <a:ext cx="5861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632704" y="2530145"/>
            <a:ext cx="1857146" cy="1086307"/>
          </a:xfrm>
          <a:prstGeom prst="roundRect">
            <a:avLst>
              <a:gd name="adj" fmla="val 443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794553" y="3015691"/>
            <a:ext cx="190195" cy="19019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061558" y="2968142"/>
            <a:ext cx="5148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12m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7714793" y="2530145"/>
            <a:ext cx="1857146" cy="1086307"/>
          </a:xfrm>
          <a:prstGeom prst="roundRect">
            <a:avLst>
              <a:gd name="adj" fmla="val 443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876642" y="3015691"/>
            <a:ext cx="190195" cy="19019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142732" y="2968142"/>
            <a:ext cx="5340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9795967" y="2530145"/>
            <a:ext cx="1857146" cy="1086307"/>
          </a:xfrm>
          <a:prstGeom prst="roundRect">
            <a:avLst>
              <a:gd name="adj" fmla="val 443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9957816" y="3215945"/>
            <a:ext cx="237744" cy="190195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0272370" y="3168396"/>
            <a:ext cx="2670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304495" y="838505"/>
            <a:ext cx="7125005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Visibility Dashboard Loop</a:t>
            </a:r>
            <a:endParaRPr lang="en-US" sz="3600" dirty="0"/>
          </a:p>
        </p:txBody>
      </p:sp>
      <p:sp>
        <p:nvSpPr>
          <p:cNvPr id="27" name="Text 20"/>
          <p:cNvSpPr txBox="1"/>
          <p:nvPr/>
        </p:nvSpPr>
        <p:spPr>
          <a:xfrm>
            <a:off x="5632704" y="1901038"/>
            <a:ext cx="30915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INCIDENT LIFECYCLE TRACKING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5794553" y="2711196"/>
            <a:ext cx="12435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TRIAGE TIME</a:t>
            </a:r>
            <a:endParaRPr lang="en-US" sz="1000" dirty="0"/>
          </a:p>
        </p:txBody>
      </p:sp>
      <p:sp>
        <p:nvSpPr>
          <p:cNvPr id="29" name="Text 22"/>
          <p:cNvSpPr txBox="1"/>
          <p:nvPr/>
        </p:nvSpPr>
        <p:spPr>
          <a:xfrm>
            <a:off x="7876642" y="2711196"/>
            <a:ext cx="13103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ESCALATION RATE</a:t>
            </a:r>
            <a:endParaRPr lang="en-US" sz="1000" dirty="0"/>
          </a:p>
        </p:txBody>
      </p:sp>
      <p:sp>
        <p:nvSpPr>
          <p:cNvPr id="30" name="Text 23"/>
          <p:cNvSpPr txBox="1"/>
          <p:nvPr/>
        </p:nvSpPr>
        <p:spPr>
          <a:xfrm>
            <a:off x="9957816" y="2711196"/>
            <a:ext cx="124358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PENDING OWNER ACTION</a:t>
            </a:r>
            <a:endParaRPr lang="en-US" sz="1000" dirty="0"/>
          </a:p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0864901" y="1933956"/>
            <a:ext cx="142646" cy="142646"/>
          </a:xfrm>
          <a:prstGeom prst="rect">
            <a:avLst/>
          </a:prstGeom>
        </p:spPr>
      </p:pic>
      <p:sp>
        <p:nvSpPr>
          <p:cNvPr id="32" name="Shape 24"/>
          <p:cNvSpPr/>
          <p:nvPr/>
        </p:nvSpPr>
        <p:spPr>
          <a:xfrm>
            <a:off x="5632704" y="3844138"/>
            <a:ext cx="6019495" cy="1429207"/>
          </a:xfrm>
          <a:prstGeom prst="roundRect">
            <a:avLst>
              <a:gd name="adj" fmla="val 255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6119165" y="4234586"/>
            <a:ext cx="5048402" cy="1920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4" name="Shape 26"/>
          <p:cNvSpPr/>
          <p:nvPr/>
        </p:nvSpPr>
        <p:spPr>
          <a:xfrm>
            <a:off x="6023153" y="4261104"/>
            <a:ext cx="381305" cy="381305"/>
          </a:xfrm>
          <a:prstGeom prst="ellipse">
            <a:avLst/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8"/>
          <a:srcRect l="0" r="0" t="-43" b="-43"/>
          <a:stretch/>
        </p:blipFill>
        <p:spPr>
          <a:xfrm>
            <a:off x="6147511" y="4375404"/>
            <a:ext cx="133502" cy="152705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5899709" y="4709160"/>
            <a:ext cx="7150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 Signal</a:t>
            </a:r>
            <a:endParaRPr lang="en-US" sz="900" dirty="0"/>
          </a:p>
        </p:txBody>
      </p:sp>
      <p:sp>
        <p:nvSpPr>
          <p:cNvPr id="37" name="Shape 28"/>
          <p:cNvSpPr/>
          <p:nvPr/>
        </p:nvSpPr>
        <p:spPr>
          <a:xfrm>
            <a:off x="7236562" y="4261104"/>
            <a:ext cx="381305" cy="381305"/>
          </a:xfrm>
          <a:prstGeom prst="ellipse">
            <a:avLst/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</p:spPr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7350862" y="4375404"/>
            <a:ext cx="152705" cy="152705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7116775" y="4709160"/>
            <a:ext cx="7150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Triage</a:t>
            </a:r>
            <a:endParaRPr lang="en-US" sz="900" dirty="0"/>
          </a:p>
        </p:txBody>
      </p:sp>
      <p:sp>
        <p:nvSpPr>
          <p:cNvPr id="40" name="Shape 30"/>
          <p:cNvSpPr/>
          <p:nvPr/>
        </p:nvSpPr>
        <p:spPr>
          <a:xfrm>
            <a:off x="8449970" y="4261104"/>
            <a:ext cx="381305" cy="381305"/>
          </a:xfrm>
          <a:prstGeom prst="ellipse">
            <a:avLst/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</p:spPr>
      </p:sp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10"/>
          <a:srcRect l="-33" r="-33" t="0" b="0"/>
          <a:stretch/>
        </p:blipFill>
        <p:spPr>
          <a:xfrm>
            <a:off x="8555126" y="4375404"/>
            <a:ext cx="171907" cy="152705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8360359" y="4709160"/>
            <a:ext cx="6483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Escalation</a:t>
            </a:r>
            <a:endParaRPr lang="en-US" sz="900" dirty="0"/>
          </a:p>
        </p:txBody>
      </p:sp>
      <p:sp>
        <p:nvSpPr>
          <p:cNvPr id="43" name="Shape 32"/>
          <p:cNvSpPr/>
          <p:nvPr/>
        </p:nvSpPr>
        <p:spPr>
          <a:xfrm>
            <a:off x="9663379" y="4261104"/>
            <a:ext cx="381305" cy="381305"/>
          </a:xfrm>
          <a:prstGeom prst="ellipse">
            <a:avLst/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</p:spPr>
      </p:sp>
      <p:pic>
        <p:nvPicPr>
          <p:cNvPr id="44" name="Image 9" descr="preencoded.png">    </p:cNvPr>
          <p:cNvPicPr>
            <a:picLocks noChangeAspect="1"/>
          </p:cNvPicPr>
          <p:nvPr/>
        </p:nvPicPr>
        <p:blipFill>
          <a:blip r:embed="rId11"/>
          <a:srcRect l="0" r="0" t="-180" b="-180"/>
          <a:stretch/>
        </p:blipFill>
        <p:spPr>
          <a:xfrm>
            <a:off x="9759391" y="4375404"/>
            <a:ext cx="190195" cy="152705"/>
          </a:xfrm>
          <a:prstGeom prst="rect">
            <a:avLst/>
          </a:prstGeom>
        </p:spPr>
      </p:pic>
      <p:sp>
        <p:nvSpPr>
          <p:cNvPr id="45" name="Text 33"/>
          <p:cNvSpPr txBox="1"/>
          <p:nvPr/>
        </p:nvSpPr>
        <p:spPr>
          <a:xfrm>
            <a:off x="9481414" y="4709160"/>
            <a:ext cx="8385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 Action</a:t>
            </a:r>
            <a:endParaRPr lang="en-US" sz="900" dirty="0"/>
          </a:p>
        </p:txBody>
      </p:sp>
      <p:sp>
        <p:nvSpPr>
          <p:cNvPr id="46" name="Shape 34"/>
          <p:cNvSpPr/>
          <p:nvPr/>
        </p:nvSpPr>
        <p:spPr>
          <a:xfrm>
            <a:off x="10876788" y="4192524"/>
            <a:ext cx="381305" cy="381305"/>
          </a:xfrm>
          <a:prstGeom prst="ellipse">
            <a:avLst/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</p:spPr>
      </p:sp>
      <p:pic>
        <p:nvPicPr>
          <p:cNvPr id="47" name="Image 10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10991088" y="4306824"/>
            <a:ext cx="152705" cy="152705"/>
          </a:xfrm>
          <a:prstGeom prst="rect">
            <a:avLst/>
          </a:prstGeom>
        </p:spPr>
      </p:pic>
      <p:sp>
        <p:nvSpPr>
          <p:cNvPr id="48" name="Text 35"/>
          <p:cNvSpPr txBox="1"/>
          <p:nvPr/>
        </p:nvSpPr>
        <p:spPr>
          <a:xfrm>
            <a:off x="10869473" y="4640580"/>
            <a:ext cx="48646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 Update</a:t>
            </a:r>
            <a:endParaRPr lang="en-US" sz="900" dirty="0"/>
          </a:p>
        </p:txBody>
      </p:sp>
      <p:sp>
        <p:nvSpPr>
          <p:cNvPr id="49" name="Shape 36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0" name="Shape 37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1" name="Shape 38"/>
          <p:cNvSpPr/>
          <p:nvPr/>
        </p:nvSpPr>
        <p:spPr>
          <a:xfrm>
            <a:off x="304495" y="6538874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3B82F6"/>
          </a:solidFill>
          <a:ln/>
        </p:spPr>
      </p:sp>
      <p:sp>
        <p:nvSpPr>
          <p:cNvPr id="52" name="Text 39"/>
          <p:cNvSpPr txBox="1"/>
          <p:nvPr/>
        </p:nvSpPr>
        <p:spPr>
          <a:xfrm>
            <a:off x="457200" y="6495898"/>
            <a:ext cx="32342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Day-6: CIA Triad &amp; Cyberspace Risk Management</a:t>
            </a:r>
            <a:endParaRPr lang="en-US" sz="1000" dirty="0"/>
          </a:p>
        </p:txBody>
      </p:sp>
      <p:sp>
        <p:nvSpPr>
          <p:cNvPr id="53" name="Text 40"/>
          <p:cNvSpPr txBox="1"/>
          <p:nvPr/>
        </p:nvSpPr>
        <p:spPr>
          <a:xfrm>
            <a:off x="11371478" y="6495898"/>
            <a:ext cx="6245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46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572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rcRect l="-2994" r="-2994" t="0" b="0"/>
          <a:stretch/>
        </p:blipFill>
        <p:spPr>
          <a:xfrm>
            <a:off x="304495" y="228600"/>
            <a:ext cx="161849" cy="1527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3154" y="209398"/>
            <a:ext cx="3020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11087100" y="213970"/>
            <a:ext cx="9098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2026-01-18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761695" y="1079906"/>
            <a:ext cx="381305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Shape 6"/>
          <p:cNvSpPr/>
          <p:nvPr/>
        </p:nvSpPr>
        <p:spPr>
          <a:xfrm>
            <a:off x="761695" y="3336646"/>
            <a:ext cx="19202" cy="127650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Shape 7"/>
          <p:cNvSpPr/>
          <p:nvPr/>
        </p:nvSpPr>
        <p:spPr>
          <a:xfrm>
            <a:off x="4444898" y="3336646"/>
            <a:ext cx="19202" cy="127650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2" name="Shape 8"/>
          <p:cNvSpPr/>
          <p:nvPr/>
        </p:nvSpPr>
        <p:spPr>
          <a:xfrm>
            <a:off x="8128102" y="3336646"/>
            <a:ext cx="19202" cy="12765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Shape 9"/>
          <p:cNvSpPr/>
          <p:nvPr/>
        </p:nvSpPr>
        <p:spPr>
          <a:xfrm>
            <a:off x="761695" y="5220310"/>
            <a:ext cx="10668305" cy="75895"/>
          </a:xfrm>
          <a:prstGeom prst="roundRect">
            <a:avLst>
              <a:gd name="adj" fmla="val 602411"/>
            </a:avLst>
          </a:prstGeom>
          <a:solidFill>
            <a:srgbClr val="1E293B"/>
          </a:solidFill>
          <a:ln/>
        </p:spPr>
      </p:sp>
      <p:sp>
        <p:nvSpPr>
          <p:cNvPr id="14" name="Shape 10"/>
          <p:cNvSpPr/>
          <p:nvPr/>
        </p:nvSpPr>
        <p:spPr>
          <a:xfrm>
            <a:off x="761695" y="5220310"/>
            <a:ext cx="7467905" cy="7589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Shape 11"/>
          <p:cNvSpPr/>
          <p:nvPr/>
        </p:nvSpPr>
        <p:spPr>
          <a:xfrm>
            <a:off x="879653" y="5487314"/>
            <a:ext cx="75895" cy="75895"/>
          </a:xfrm>
          <a:prstGeom prst="ellipse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12700" dir="16200000">
              <a:srgbClr val="3b82f6">
                <a:alpha val="5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852928" y="5487314"/>
            <a:ext cx="75895" cy="75895"/>
          </a:xfrm>
          <a:prstGeom prst="ellipse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12700" dir="16200000">
              <a:srgbClr val="3b82f6">
                <a:alpha val="5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786884" y="5487314"/>
            <a:ext cx="75895" cy="75895"/>
          </a:xfrm>
          <a:prstGeom prst="ellipse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12700" dir="16200000">
              <a:srgbClr val="3b82f6">
                <a:alpha val="5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811366" y="5487314"/>
            <a:ext cx="75895" cy="75895"/>
          </a:xfrm>
          <a:prstGeom prst="ellipse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12700" dir="16200000">
              <a:srgbClr val="3b82f6">
                <a:alpha val="5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974836" y="5487314"/>
            <a:ext cx="75895" cy="75895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20" name="Shape 16"/>
          <p:cNvSpPr/>
          <p:nvPr/>
        </p:nvSpPr>
        <p:spPr>
          <a:xfrm>
            <a:off x="11170310" y="5487314"/>
            <a:ext cx="75895" cy="75895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1257300" y="971093"/>
            <a:ext cx="13386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07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761695" y="1332281"/>
            <a:ext cx="5591556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Incident Impact</a:t>
            </a:r>
            <a:endParaRPr lang="en-US" sz="5400" dirty="0"/>
          </a:p>
        </p:txBody>
      </p:sp>
      <p:sp>
        <p:nvSpPr>
          <p:cNvPr id="23" name="Text 19"/>
          <p:cNvSpPr txBox="1"/>
          <p:nvPr/>
        </p:nvSpPr>
        <p:spPr>
          <a:xfrm>
            <a:off x="761695" y="2086661"/>
            <a:ext cx="4181551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Awareness</a:t>
            </a:r>
            <a:endParaRPr lang="en-US" sz="5400" dirty="0"/>
          </a:p>
        </p:txBody>
      </p:sp>
      <p:sp>
        <p:nvSpPr>
          <p:cNvPr id="24" name="Text 20"/>
          <p:cNvSpPr txBox="1"/>
          <p:nvPr/>
        </p:nvSpPr>
        <p:spPr>
          <a:xfrm>
            <a:off x="1009498" y="3355848"/>
            <a:ext cx="11859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THIS?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1009498" y="3670402"/>
            <a:ext cx="2724912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Understanding types of business harm.</a:t>
            </a:r>
            <a:endParaRPr lang="en-US" sz="1800" dirty="0"/>
          </a:p>
        </p:txBody>
      </p:sp>
      <p:sp>
        <p:nvSpPr>
          <p:cNvPr id="26" name="Text 22"/>
          <p:cNvSpPr txBox="1"/>
          <p:nvPr/>
        </p:nvSpPr>
        <p:spPr>
          <a:xfrm>
            <a:off x="4692701" y="3355848"/>
            <a:ext cx="11960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IT EXISTS</a:t>
            </a:r>
            <a:endParaRPr lang="en-US" sz="1000" dirty="0"/>
          </a:p>
        </p:txBody>
      </p:sp>
      <p:sp>
        <p:nvSpPr>
          <p:cNvPr id="27" name="Text 23"/>
          <p:cNvSpPr txBox="1"/>
          <p:nvPr/>
        </p:nvSpPr>
        <p:spPr>
          <a:xfrm>
            <a:off x="4692701" y="3670402"/>
            <a:ext cx="3029407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Guides triage urgency and resource allocation.</a:t>
            </a:r>
            <a:endParaRPr lang="en-US" sz="1800" dirty="0"/>
          </a:p>
        </p:txBody>
      </p:sp>
      <p:sp>
        <p:nvSpPr>
          <p:cNvPr id="28" name="Text 24"/>
          <p:cNvSpPr txBox="1"/>
          <p:nvPr/>
        </p:nvSpPr>
        <p:spPr>
          <a:xfrm>
            <a:off x="8375904" y="3355848"/>
            <a:ext cx="8339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VIEW</a:t>
            </a:r>
            <a:endParaRPr lang="en-US" sz="1000" dirty="0"/>
          </a:p>
        </p:txBody>
      </p:sp>
      <p:sp>
        <p:nvSpPr>
          <p:cNvPr id="29" name="Text 25"/>
          <p:cNvSpPr txBox="1"/>
          <p:nvPr/>
        </p:nvSpPr>
        <p:spPr>
          <a:xfrm>
            <a:off x="8375904" y="3670402"/>
            <a:ext cx="2648102" cy="924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always ask: "which business impact is threatened?"</a:t>
            </a:r>
            <a:endParaRPr lang="en-US" sz="1800" dirty="0"/>
          </a:p>
        </p:txBody>
      </p:sp>
      <p:sp>
        <p:nvSpPr>
          <p:cNvPr id="30" name="Text 26"/>
          <p:cNvSpPr txBox="1"/>
          <p:nvPr/>
        </p:nvSpPr>
        <p:spPr>
          <a:xfrm>
            <a:off x="761695" y="5629961"/>
            <a:ext cx="4005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Fund.</a:t>
            </a:r>
            <a:endParaRPr lang="en-US" sz="900" dirty="0"/>
          </a:p>
        </p:txBody>
      </p:sp>
      <p:sp>
        <p:nvSpPr>
          <p:cNvPr id="31" name="Text 27"/>
          <p:cNvSpPr txBox="1"/>
          <p:nvPr/>
        </p:nvSpPr>
        <p:spPr>
          <a:xfrm>
            <a:off x="2791663" y="5629961"/>
            <a:ext cx="2862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CIA</a:t>
            </a:r>
            <a:endParaRPr lang="en-US" sz="900" dirty="0"/>
          </a:p>
        </p:txBody>
      </p:sp>
      <p:sp>
        <p:nvSpPr>
          <p:cNvPr id="32" name="Text 28"/>
          <p:cNvSpPr txBox="1"/>
          <p:nvPr/>
        </p:nvSpPr>
        <p:spPr>
          <a:xfrm>
            <a:off x="4709160" y="5629961"/>
            <a:ext cx="3246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</a:t>
            </a:r>
            <a:endParaRPr lang="en-US" sz="900" dirty="0"/>
          </a:p>
        </p:txBody>
      </p:sp>
      <p:sp>
        <p:nvSpPr>
          <p:cNvPr id="33" name="Text 29"/>
          <p:cNvSpPr txBox="1"/>
          <p:nvPr/>
        </p:nvSpPr>
        <p:spPr>
          <a:xfrm>
            <a:off x="6659575" y="5629961"/>
            <a:ext cx="4672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</a:t>
            </a:r>
            <a:endParaRPr lang="en-US" sz="900" dirty="0"/>
          </a:p>
        </p:txBody>
      </p:sp>
      <p:sp>
        <p:nvSpPr>
          <p:cNvPr id="34" name="Text 30"/>
          <p:cNvSpPr txBox="1"/>
          <p:nvPr/>
        </p:nvSpPr>
        <p:spPr>
          <a:xfrm>
            <a:off x="8758123" y="5629961"/>
            <a:ext cx="6007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Role</a:t>
            </a:r>
            <a:endParaRPr lang="en-US" sz="900" dirty="0"/>
          </a:p>
        </p:txBody>
      </p:sp>
      <p:sp>
        <p:nvSpPr>
          <p:cNvPr id="35" name="Text 31"/>
          <p:cNvSpPr txBox="1"/>
          <p:nvPr/>
        </p:nvSpPr>
        <p:spPr>
          <a:xfrm>
            <a:off x="10987430" y="5629961"/>
            <a:ext cx="5340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7" name="Shape 33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8" name="Shape 34"/>
          <p:cNvSpPr/>
          <p:nvPr/>
        </p:nvSpPr>
        <p:spPr>
          <a:xfrm>
            <a:off x="304495" y="6538874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3B82F6"/>
          </a:solidFill>
          <a:ln/>
        </p:spPr>
      </p:sp>
      <p:sp>
        <p:nvSpPr>
          <p:cNvPr id="39" name="Text 35"/>
          <p:cNvSpPr txBox="1"/>
          <p:nvPr/>
        </p:nvSpPr>
        <p:spPr>
          <a:xfrm>
            <a:off x="457200" y="6495898"/>
            <a:ext cx="32342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Day-6: CIA Triad &amp; Cyberspace Risk Management</a:t>
            </a:r>
            <a:endParaRPr lang="en-US" sz="1000" dirty="0"/>
          </a:p>
        </p:txBody>
      </p:sp>
      <p:sp>
        <p:nvSpPr>
          <p:cNvPr id="40" name="Text 36"/>
          <p:cNvSpPr txBox="1"/>
          <p:nvPr/>
        </p:nvSpPr>
        <p:spPr>
          <a:xfrm>
            <a:off x="11378794" y="6495898"/>
            <a:ext cx="6144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47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572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rcRect l="-2994" r="-2994" t="0" b="0"/>
          <a:stretch/>
        </p:blipFill>
        <p:spPr>
          <a:xfrm>
            <a:off x="304495" y="228600"/>
            <a:ext cx="161849" cy="1527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3154" y="209398"/>
            <a:ext cx="3020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11087100" y="213970"/>
            <a:ext cx="9098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2026-01-18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304495" y="177759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What: Sensitive business or customer data is exposed or stolen.</a:t>
            </a:r>
            <a:endParaRPr lang="en-US" sz="2100" dirty="0"/>
          </a:p>
        </p:txBody>
      </p:sp>
      <p:sp>
        <p:nvSpPr>
          <p:cNvPr id="10" name="Text 6"/>
          <p:cNvSpPr txBox="1"/>
          <p:nvPr/>
        </p:nvSpPr>
        <p:spPr>
          <a:xfrm>
            <a:off x="304495" y="282915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Why: Leads to regulatory fines, fraud, and severe trust loss.</a:t>
            </a:r>
            <a:endParaRPr lang="en-US" sz="2100" dirty="0"/>
          </a:p>
        </p:txBody>
      </p:sp>
      <p:sp>
        <p:nvSpPr>
          <p:cNvPr id="11" name="Text 7"/>
          <p:cNvSpPr txBox="1"/>
          <p:nvPr/>
        </p:nvSpPr>
        <p:spPr>
          <a:xfrm>
            <a:off x="304495" y="388071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View: Estimate scope (how much?) and data types immediately.</a:t>
            </a:r>
            <a:endParaRPr lang="en-US" sz="2100" dirty="0"/>
          </a:p>
        </p:txBody>
      </p:sp>
      <p:sp>
        <p:nvSpPr>
          <p:cNvPr id="12" name="Shape 8"/>
          <p:cNvSpPr/>
          <p:nvPr/>
        </p:nvSpPr>
        <p:spPr>
          <a:xfrm>
            <a:off x="7607808" y="1777594"/>
            <a:ext cx="4286707" cy="2848356"/>
          </a:xfrm>
          <a:prstGeom prst="roundRect">
            <a:avLst>
              <a:gd name="adj" fmla="val 128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922362" y="2701138"/>
            <a:ext cx="365760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Shape 10"/>
          <p:cNvSpPr/>
          <p:nvPr/>
        </p:nvSpPr>
        <p:spPr>
          <a:xfrm>
            <a:off x="7922362" y="2091233"/>
            <a:ext cx="457200" cy="457200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055864" y="2224735"/>
            <a:ext cx="190195" cy="19019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04495" y="838505"/>
            <a:ext cx="4181551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Loss Impact</a:t>
            </a:r>
            <a:endParaRPr lang="en-US" sz="3600" dirty="0"/>
          </a:p>
        </p:txBody>
      </p:sp>
      <p:sp>
        <p:nvSpPr>
          <p:cNvPr id="17" name="Text 12"/>
          <p:cNvSpPr txBox="1"/>
          <p:nvPr/>
        </p:nvSpPr>
        <p:spPr>
          <a:xfrm>
            <a:off x="8532266" y="2177186"/>
            <a:ext cx="29242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GATHERING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7922362" y="2968142"/>
            <a:ext cx="3267151" cy="130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Quickly identify what left the network. Did it go to a public cloud, a USB drive, or an unknown IP?</a:t>
            </a:r>
            <a:endParaRPr lang="en-US" sz="1800" dirty="0"/>
          </a:p>
        </p:txBody>
      </p:sp>
      <p:sp>
        <p:nvSpPr>
          <p:cNvPr id="19" name="Shape 14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0" name="Shape 15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1" name="Shape 16"/>
          <p:cNvSpPr/>
          <p:nvPr/>
        </p:nvSpPr>
        <p:spPr>
          <a:xfrm>
            <a:off x="304495" y="6538874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3B82F6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457200" y="6495898"/>
            <a:ext cx="32342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Day-6: CIA Triad &amp; Cyberspace Risk Management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11371478" y="6495898"/>
            <a:ext cx="6245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48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572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rcRect l="-2994" r="-2994" t="0" b="0"/>
          <a:stretch/>
        </p:blipFill>
        <p:spPr>
          <a:xfrm>
            <a:off x="304495" y="228600"/>
            <a:ext cx="161849" cy="1527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3154" y="209398"/>
            <a:ext cx="3020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11087100" y="213970"/>
            <a:ext cx="9098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2026-01-18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304495" y="177759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What: Critical services become slow, unresponsive, or completely offline for users.</a:t>
            </a:r>
            <a:endParaRPr lang="en-US" sz="2100" dirty="0"/>
          </a:p>
        </p:txBody>
      </p:sp>
      <p:sp>
        <p:nvSpPr>
          <p:cNvPr id="10" name="Text 6"/>
          <p:cNvSpPr txBox="1"/>
          <p:nvPr/>
        </p:nvSpPr>
        <p:spPr>
          <a:xfrm>
            <a:off x="304495" y="282915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Why: Downtime halts revenue, freezes operations, and damages customer trust immediately.</a:t>
            </a:r>
            <a:endParaRPr lang="en-US" sz="2100" dirty="0"/>
          </a:p>
        </p:txBody>
      </p:sp>
      <p:sp>
        <p:nvSpPr>
          <p:cNvPr id="11" name="Text 7"/>
          <p:cNvSpPr txBox="1"/>
          <p:nvPr/>
        </p:nvSpPr>
        <p:spPr>
          <a:xfrm>
            <a:off x="304495" y="388071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View: We confirm scope, track outage duration, and identify the root cause.</a:t>
            </a:r>
            <a:endParaRPr lang="en-US" sz="2100" dirty="0"/>
          </a:p>
        </p:txBody>
      </p:sp>
      <p:sp>
        <p:nvSpPr>
          <p:cNvPr id="12" name="Shape 8"/>
          <p:cNvSpPr/>
          <p:nvPr/>
        </p:nvSpPr>
        <p:spPr>
          <a:xfrm>
            <a:off x="7607808" y="1777594"/>
            <a:ext cx="4286707" cy="2848356"/>
          </a:xfrm>
          <a:prstGeom prst="roundRect">
            <a:avLst>
              <a:gd name="adj" fmla="val 128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922362" y="2701138"/>
            <a:ext cx="365760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Shape 10"/>
          <p:cNvSpPr/>
          <p:nvPr/>
        </p:nvSpPr>
        <p:spPr>
          <a:xfrm>
            <a:off x="7922362" y="2091233"/>
            <a:ext cx="457200" cy="457200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rcRect l="-1648" r="-1648" t="0" b="0"/>
          <a:stretch/>
        </p:blipFill>
        <p:spPr>
          <a:xfrm>
            <a:off x="8065008" y="2224735"/>
            <a:ext cx="171907" cy="19019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04495" y="838505"/>
            <a:ext cx="6067958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Downtime Impact</a:t>
            </a:r>
            <a:endParaRPr lang="en-US" sz="3600" dirty="0"/>
          </a:p>
        </p:txBody>
      </p:sp>
      <p:sp>
        <p:nvSpPr>
          <p:cNvPr id="17" name="Text 12"/>
          <p:cNvSpPr txBox="1"/>
          <p:nvPr/>
        </p:nvSpPr>
        <p:spPr>
          <a:xfrm>
            <a:off x="8532266" y="2177186"/>
            <a:ext cx="22384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REALITY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7922362" y="2968142"/>
            <a:ext cx="3771900" cy="130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minute of downtime equals lost money. Speed in detection and escalation directly minimizes the financial bleeding.</a:t>
            </a:r>
            <a:endParaRPr lang="en-US" sz="1800" dirty="0"/>
          </a:p>
        </p:txBody>
      </p:sp>
      <p:sp>
        <p:nvSpPr>
          <p:cNvPr id="19" name="Shape 14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0" name="Shape 15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1" name="Shape 16"/>
          <p:cNvSpPr/>
          <p:nvPr/>
        </p:nvSpPr>
        <p:spPr>
          <a:xfrm>
            <a:off x="304495" y="6538874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3B82F6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457200" y="6495898"/>
            <a:ext cx="32342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Day-6: CIA Triad &amp; Cyberspace Risk Management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11371478" y="6495898"/>
            <a:ext cx="6245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49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572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rcRect l="-2994" r="-2994" t="0" b="0"/>
          <a:stretch/>
        </p:blipFill>
        <p:spPr>
          <a:xfrm>
            <a:off x="304495" y="228600"/>
            <a:ext cx="161849" cy="1527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3154" y="209398"/>
            <a:ext cx="3020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11087100" y="213970"/>
            <a:ext cx="9098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2026-01-18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304495" y="177759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What: Customers and partners lose confidence in the organization.</a:t>
            </a:r>
            <a:endParaRPr lang="en-US" sz="2100" dirty="0"/>
          </a:p>
        </p:txBody>
      </p:sp>
      <p:sp>
        <p:nvSpPr>
          <p:cNvPr id="10" name="Text 6"/>
          <p:cNvSpPr txBox="1"/>
          <p:nvPr/>
        </p:nvSpPr>
        <p:spPr>
          <a:xfrm>
            <a:off x="304495" y="282915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Why: Rebuilding broken trust is expensive and takes years.</a:t>
            </a:r>
            <a:endParaRPr lang="en-US" sz="2100" dirty="0"/>
          </a:p>
        </p:txBody>
      </p:sp>
      <p:sp>
        <p:nvSpPr>
          <p:cNvPr id="11" name="Text 7"/>
          <p:cNvSpPr txBox="1"/>
          <p:nvPr/>
        </p:nvSpPr>
        <p:spPr>
          <a:xfrm>
            <a:off x="304495" y="388071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View: Communicate facts carefully; never speculate on leaks.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304495" y="493227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Escalation: Immediately flag incidents that threaten public trust.</a:t>
            </a:r>
            <a:endParaRPr lang="en-US" sz="2100" dirty="0"/>
          </a:p>
        </p:txBody>
      </p:sp>
      <p:sp>
        <p:nvSpPr>
          <p:cNvPr id="13" name="Shape 9"/>
          <p:cNvSpPr/>
          <p:nvPr/>
        </p:nvSpPr>
        <p:spPr>
          <a:xfrm>
            <a:off x="7607808" y="1777594"/>
            <a:ext cx="4286707" cy="3419856"/>
          </a:xfrm>
          <a:prstGeom prst="roundRect">
            <a:avLst>
              <a:gd name="adj" fmla="val 89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922362" y="2929738"/>
            <a:ext cx="365760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Shape 11"/>
          <p:cNvSpPr/>
          <p:nvPr/>
        </p:nvSpPr>
        <p:spPr>
          <a:xfrm>
            <a:off x="7922362" y="2205533"/>
            <a:ext cx="390449" cy="457200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019288" y="2339035"/>
            <a:ext cx="190195" cy="19019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04495" y="838505"/>
            <a:ext cx="6124651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 &amp; Reputation Impact</a:t>
            </a:r>
            <a:endParaRPr lang="en-US" sz="3600" dirty="0"/>
          </a:p>
        </p:txBody>
      </p:sp>
      <p:sp>
        <p:nvSpPr>
          <p:cNvPr id="18" name="Text 13"/>
          <p:cNvSpPr txBox="1"/>
          <p:nvPr/>
        </p:nvSpPr>
        <p:spPr>
          <a:xfrm>
            <a:off x="8459114" y="2120494"/>
            <a:ext cx="2677363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COMMUNICATION IS CRITICAL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7922362" y="3196742"/>
            <a:ext cx="3771900" cy="1648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a crisis, the SOC provides the truth. Inaccurate reports can damage reputation more than the incident itself. Validate before you speak.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1" name="Shape 16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2" name="Shape 17"/>
          <p:cNvSpPr/>
          <p:nvPr/>
        </p:nvSpPr>
        <p:spPr>
          <a:xfrm>
            <a:off x="304495" y="6538874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3B82F6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457200" y="6495898"/>
            <a:ext cx="32342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Day-6: CIA Triad &amp; Cyberspace Risk Management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11376965" y="6495898"/>
            <a:ext cx="6144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50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572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rcRect l="-2994" r="-2994" t="0" b="0"/>
          <a:stretch/>
        </p:blipFill>
        <p:spPr>
          <a:xfrm>
            <a:off x="304495" y="228600"/>
            <a:ext cx="161849" cy="1527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3154" y="209398"/>
            <a:ext cx="3020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11087100" y="213970"/>
            <a:ext cx="9098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2026-01-18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761695" y="1239926"/>
            <a:ext cx="381305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Shape 6"/>
          <p:cNvSpPr/>
          <p:nvPr/>
        </p:nvSpPr>
        <p:spPr>
          <a:xfrm>
            <a:off x="761695" y="3496666"/>
            <a:ext cx="19202" cy="961949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Shape 7"/>
          <p:cNvSpPr/>
          <p:nvPr/>
        </p:nvSpPr>
        <p:spPr>
          <a:xfrm>
            <a:off x="4444898" y="3496666"/>
            <a:ext cx="19202" cy="961949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2" name="Shape 8"/>
          <p:cNvSpPr/>
          <p:nvPr/>
        </p:nvSpPr>
        <p:spPr>
          <a:xfrm>
            <a:off x="8128102" y="3496666"/>
            <a:ext cx="19202" cy="961949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Shape 9"/>
          <p:cNvSpPr/>
          <p:nvPr/>
        </p:nvSpPr>
        <p:spPr>
          <a:xfrm>
            <a:off x="761695" y="5060290"/>
            <a:ext cx="10668305" cy="75895"/>
          </a:xfrm>
          <a:prstGeom prst="roundRect">
            <a:avLst>
              <a:gd name="adj" fmla="val 602411"/>
            </a:avLst>
          </a:prstGeom>
          <a:solidFill>
            <a:srgbClr val="1E293B"/>
          </a:solidFill>
          <a:ln/>
        </p:spPr>
      </p:sp>
      <p:sp>
        <p:nvSpPr>
          <p:cNvPr id="14" name="Shape 10"/>
          <p:cNvSpPr/>
          <p:nvPr/>
        </p:nvSpPr>
        <p:spPr>
          <a:xfrm>
            <a:off x="761695" y="5060290"/>
            <a:ext cx="9068105" cy="7589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Shape 11"/>
          <p:cNvSpPr/>
          <p:nvPr/>
        </p:nvSpPr>
        <p:spPr>
          <a:xfrm>
            <a:off x="879653" y="5327294"/>
            <a:ext cx="75895" cy="75895"/>
          </a:xfrm>
          <a:prstGeom prst="ellipse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12700" dir="16200000">
              <a:srgbClr val="3b82f6">
                <a:alpha val="5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852014" y="5327294"/>
            <a:ext cx="75895" cy="75895"/>
          </a:xfrm>
          <a:prstGeom prst="ellipse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12700" dir="16200000">
              <a:srgbClr val="3b82f6">
                <a:alpha val="5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890211" y="5327294"/>
            <a:ext cx="75895" cy="75895"/>
          </a:xfrm>
          <a:prstGeom prst="ellipse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12700" dir="16200000">
              <a:srgbClr val="3b82f6">
                <a:alpha val="5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944868" y="5327294"/>
            <a:ext cx="75895" cy="75895"/>
          </a:xfrm>
          <a:prstGeom prst="ellipse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12700" dir="16200000">
              <a:srgbClr val="3b82f6">
                <a:alpha val="5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968435" y="5327294"/>
            <a:ext cx="75895" cy="75895"/>
          </a:xfrm>
          <a:prstGeom prst="ellipse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12700" dir="16200000">
              <a:srgbClr val="3b82f6">
                <a:alpha val="5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11133734" y="5327294"/>
            <a:ext cx="75895" cy="75895"/>
          </a:xfrm>
          <a:prstGeom prst="ellipse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12700" dir="16200000">
              <a:srgbClr val="3b82f6">
                <a:alpha val="50000"/>
              </a:srgbClr>
            </a:outerShdw>
          </a:effectLst>
        </p:spPr>
      </p:sp>
      <p:sp>
        <p:nvSpPr>
          <p:cNvPr id="21" name="Text 17"/>
          <p:cNvSpPr txBox="1"/>
          <p:nvPr/>
        </p:nvSpPr>
        <p:spPr>
          <a:xfrm>
            <a:off x="1257300" y="1130198"/>
            <a:ext cx="13386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08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761695" y="1492301"/>
            <a:ext cx="4267505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Role in</a:t>
            </a:r>
            <a:endParaRPr lang="en-US" sz="5400" dirty="0"/>
          </a:p>
        </p:txBody>
      </p:sp>
      <p:sp>
        <p:nvSpPr>
          <p:cNvPr id="23" name="Text 19"/>
          <p:cNvSpPr txBox="1"/>
          <p:nvPr/>
        </p:nvSpPr>
        <p:spPr>
          <a:xfrm>
            <a:off x="761695" y="2246681"/>
            <a:ext cx="4944161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Visibility</a:t>
            </a:r>
            <a:endParaRPr lang="en-US" sz="5400" dirty="0"/>
          </a:p>
        </p:txBody>
      </p:sp>
      <p:sp>
        <p:nvSpPr>
          <p:cNvPr id="24" name="Text 20"/>
          <p:cNvSpPr txBox="1"/>
          <p:nvPr/>
        </p:nvSpPr>
        <p:spPr>
          <a:xfrm>
            <a:off x="1009498" y="3515868"/>
            <a:ext cx="11859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THIS?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1009498" y="3830422"/>
            <a:ext cx="2448763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Making risk visible to decision-makers.</a:t>
            </a:r>
            <a:endParaRPr lang="en-US" sz="1800" dirty="0"/>
          </a:p>
        </p:txBody>
      </p:sp>
      <p:sp>
        <p:nvSpPr>
          <p:cNvPr id="26" name="Text 22"/>
          <p:cNvSpPr txBox="1"/>
          <p:nvPr/>
        </p:nvSpPr>
        <p:spPr>
          <a:xfrm>
            <a:off x="4692701" y="3515868"/>
            <a:ext cx="11960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IT EXISTS</a:t>
            </a:r>
            <a:endParaRPr lang="en-US" sz="1000" dirty="0"/>
          </a:p>
        </p:txBody>
      </p:sp>
      <p:sp>
        <p:nvSpPr>
          <p:cNvPr id="27" name="Text 23"/>
          <p:cNvSpPr txBox="1"/>
          <p:nvPr/>
        </p:nvSpPr>
        <p:spPr>
          <a:xfrm>
            <a:off x="4692701" y="3830422"/>
            <a:ext cx="304861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Clarity speeds responsible actions.</a:t>
            </a:r>
            <a:endParaRPr lang="en-US" sz="1800" dirty="0"/>
          </a:p>
        </p:txBody>
      </p:sp>
      <p:sp>
        <p:nvSpPr>
          <p:cNvPr id="28" name="Text 24"/>
          <p:cNvSpPr txBox="1"/>
          <p:nvPr/>
        </p:nvSpPr>
        <p:spPr>
          <a:xfrm>
            <a:off x="8375904" y="3515868"/>
            <a:ext cx="8339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VIEW</a:t>
            </a:r>
            <a:endParaRPr lang="en-US" sz="1000" dirty="0"/>
          </a:p>
        </p:txBody>
      </p:sp>
      <p:sp>
        <p:nvSpPr>
          <p:cNvPr id="29" name="Text 25"/>
          <p:cNvSpPr txBox="1"/>
          <p:nvPr/>
        </p:nvSpPr>
        <p:spPr>
          <a:xfrm>
            <a:off x="8375904" y="3830422"/>
            <a:ext cx="270571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first, opinions second.</a:t>
            </a:r>
            <a:endParaRPr lang="en-US" sz="1800" dirty="0"/>
          </a:p>
        </p:txBody>
      </p:sp>
      <p:sp>
        <p:nvSpPr>
          <p:cNvPr id="30" name="Text 26"/>
          <p:cNvSpPr txBox="1"/>
          <p:nvPr/>
        </p:nvSpPr>
        <p:spPr>
          <a:xfrm>
            <a:off x="761695" y="5469941"/>
            <a:ext cx="4005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Fund.</a:t>
            </a:r>
            <a:endParaRPr lang="en-US" sz="900" dirty="0"/>
          </a:p>
        </p:txBody>
      </p:sp>
      <p:sp>
        <p:nvSpPr>
          <p:cNvPr id="31" name="Text 27"/>
          <p:cNvSpPr txBox="1"/>
          <p:nvPr/>
        </p:nvSpPr>
        <p:spPr>
          <a:xfrm>
            <a:off x="2790749" y="5469941"/>
            <a:ext cx="2862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CIA</a:t>
            </a:r>
            <a:endParaRPr lang="en-US" sz="900" dirty="0"/>
          </a:p>
        </p:txBody>
      </p:sp>
      <p:sp>
        <p:nvSpPr>
          <p:cNvPr id="32" name="Text 28"/>
          <p:cNvSpPr txBox="1"/>
          <p:nvPr/>
        </p:nvSpPr>
        <p:spPr>
          <a:xfrm>
            <a:off x="4708246" y="5469941"/>
            <a:ext cx="5340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Balance</a:t>
            </a:r>
            <a:endParaRPr lang="en-US" sz="900" dirty="0"/>
          </a:p>
        </p:txBody>
      </p:sp>
      <p:sp>
        <p:nvSpPr>
          <p:cNvPr id="33" name="Text 29"/>
          <p:cNvSpPr txBox="1"/>
          <p:nvPr/>
        </p:nvSpPr>
        <p:spPr>
          <a:xfrm>
            <a:off x="6866230" y="5469941"/>
            <a:ext cx="3246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</a:t>
            </a:r>
            <a:endParaRPr lang="en-US" sz="900" dirty="0"/>
          </a:p>
        </p:txBody>
      </p:sp>
      <p:sp>
        <p:nvSpPr>
          <p:cNvPr id="34" name="Text 30"/>
          <p:cNvSpPr txBox="1"/>
          <p:nvPr/>
        </p:nvSpPr>
        <p:spPr>
          <a:xfrm>
            <a:off x="8816645" y="5469941"/>
            <a:ext cx="4672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</a:t>
            </a:r>
            <a:endParaRPr lang="en-US" sz="900" dirty="0"/>
          </a:p>
        </p:txBody>
      </p:sp>
      <p:sp>
        <p:nvSpPr>
          <p:cNvPr id="35" name="Text 31"/>
          <p:cNvSpPr txBox="1"/>
          <p:nvPr/>
        </p:nvSpPr>
        <p:spPr>
          <a:xfrm>
            <a:off x="10914278" y="5469941"/>
            <a:ext cx="6099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Role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7" name="Shape 33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8" name="Shape 34"/>
          <p:cNvSpPr/>
          <p:nvPr/>
        </p:nvSpPr>
        <p:spPr>
          <a:xfrm>
            <a:off x="304495" y="6538874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3B82F6"/>
          </a:solidFill>
          <a:ln/>
        </p:spPr>
      </p:sp>
      <p:sp>
        <p:nvSpPr>
          <p:cNvPr id="39" name="Text 35"/>
          <p:cNvSpPr txBox="1"/>
          <p:nvPr/>
        </p:nvSpPr>
        <p:spPr>
          <a:xfrm>
            <a:off x="457200" y="6495898"/>
            <a:ext cx="32342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Day-6: CIA Triad &amp; Cyberspace Risk Management</a:t>
            </a:r>
            <a:endParaRPr lang="en-US" sz="1000" dirty="0"/>
          </a:p>
        </p:txBody>
      </p:sp>
      <p:sp>
        <p:nvSpPr>
          <p:cNvPr id="40" name="Text 36"/>
          <p:cNvSpPr txBox="1"/>
          <p:nvPr/>
        </p:nvSpPr>
        <p:spPr>
          <a:xfrm>
            <a:off x="11407140" y="6495898"/>
            <a:ext cx="5861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51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572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rcRect l="-2994" r="-2994" t="0" b="0"/>
          <a:stretch/>
        </p:blipFill>
        <p:spPr>
          <a:xfrm>
            <a:off x="304495" y="228600"/>
            <a:ext cx="161849" cy="1527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3154" y="209398"/>
            <a:ext cx="3020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11087100" y="213970"/>
            <a:ext cx="9098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2026-01-18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304495" y="177759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What: Alerts, behavior anomalies, and system context clues.</a:t>
            </a:r>
            <a:endParaRPr lang="en-US" sz="2100" dirty="0"/>
          </a:p>
        </p:txBody>
      </p:sp>
      <p:sp>
        <p:nvSpPr>
          <p:cNvPr id="10" name="Text 6"/>
          <p:cNvSpPr txBox="1"/>
          <p:nvPr/>
        </p:nvSpPr>
        <p:spPr>
          <a:xfrm>
            <a:off x="304495" y="2829154"/>
            <a:ext cx="702076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Why: Raw signals are just noise without interpretation.</a:t>
            </a:r>
            <a:endParaRPr lang="en-US" sz="2100" dirty="0"/>
          </a:p>
        </p:txBody>
      </p:sp>
      <p:sp>
        <p:nvSpPr>
          <p:cNvPr id="11" name="Text 7"/>
          <p:cNvSpPr txBox="1"/>
          <p:nvPr/>
        </p:nvSpPr>
        <p:spPr>
          <a:xfrm>
            <a:off x="304495" y="350672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View: We confirm asset, scope, time, and owner first.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304495" y="4559198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Context: Logs show the "who, what, where" of an event.</a:t>
            </a:r>
            <a:endParaRPr lang="en-US" sz="2100" dirty="0"/>
          </a:p>
        </p:txBody>
      </p:sp>
      <p:sp>
        <p:nvSpPr>
          <p:cNvPr id="13" name="Shape 9"/>
          <p:cNvSpPr/>
          <p:nvPr/>
        </p:nvSpPr>
        <p:spPr>
          <a:xfrm>
            <a:off x="7607808" y="1777594"/>
            <a:ext cx="4286707" cy="2848356"/>
          </a:xfrm>
          <a:prstGeom prst="roundRect">
            <a:avLst>
              <a:gd name="adj" fmla="val 128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922362" y="2701138"/>
            <a:ext cx="365760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Shape 11"/>
          <p:cNvSpPr/>
          <p:nvPr/>
        </p:nvSpPr>
        <p:spPr>
          <a:xfrm>
            <a:off x="7922362" y="2091233"/>
            <a:ext cx="457200" cy="457200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055864" y="2224735"/>
            <a:ext cx="190195" cy="19019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04495" y="838505"/>
            <a:ext cx="384871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SOC Sees</a:t>
            </a:r>
            <a:endParaRPr lang="en-US" sz="3600" dirty="0"/>
          </a:p>
        </p:txBody>
      </p:sp>
      <p:sp>
        <p:nvSpPr>
          <p:cNvPr id="18" name="Text 13"/>
          <p:cNvSpPr txBox="1"/>
          <p:nvPr/>
        </p:nvSpPr>
        <p:spPr>
          <a:xfrm>
            <a:off x="8532266" y="2177186"/>
            <a:ext cx="23820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VISIBILITY FOCUS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7922362" y="2968142"/>
            <a:ext cx="3771900" cy="130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alert tells you "something happened." Visibility tells you "does it matter?" by revealing the asset's value and state.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1" name="Shape 16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2" name="Shape 17"/>
          <p:cNvSpPr/>
          <p:nvPr/>
        </p:nvSpPr>
        <p:spPr>
          <a:xfrm>
            <a:off x="304495" y="6538874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3B82F6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457200" y="6495898"/>
            <a:ext cx="32342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Day-6: CIA Triad &amp; Cyberspace Risk Management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11379708" y="6495898"/>
            <a:ext cx="6144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52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572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rcRect l="-2994" r="-2994" t="0" b="0"/>
          <a:stretch/>
        </p:blipFill>
        <p:spPr>
          <a:xfrm>
            <a:off x="304495" y="228600"/>
            <a:ext cx="161849" cy="1527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3154" y="209398"/>
            <a:ext cx="3020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11087100" y="213970"/>
            <a:ext cx="9098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2026-01-18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304495" y="1777594"/>
            <a:ext cx="7034479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What: We escalate events with meaningful impact potential, not just noise.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304495" y="2737714"/>
            <a:ext cx="7034479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Why: Escalation directs expert attention exactly where business harm is possible.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304495" y="3697834"/>
            <a:ext cx="7034479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View: Always include the CIA Tag (which goal is at risk).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304495" y="4657954"/>
            <a:ext cx="7034479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Asset &amp; Impact: Clearly name the Asset and the suspected Impact.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304495" y="5618074"/>
            <a:ext cx="7034479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Evidence: Attach logs or screenshots that prove the concern is real.</a:t>
            </a:r>
            <a:endParaRPr lang="en-US" sz="1900" dirty="0"/>
          </a:p>
        </p:txBody>
      </p:sp>
      <p:sp>
        <p:nvSpPr>
          <p:cNvPr id="14" name="Shape 10"/>
          <p:cNvSpPr/>
          <p:nvPr/>
        </p:nvSpPr>
        <p:spPr>
          <a:xfrm>
            <a:off x="7607808" y="1777594"/>
            <a:ext cx="4286707" cy="4600346"/>
          </a:xfrm>
          <a:prstGeom prst="roundRect">
            <a:avLst>
              <a:gd name="adj" fmla="val 56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922362" y="2701138"/>
            <a:ext cx="365760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6" name="Shape 12"/>
          <p:cNvSpPr/>
          <p:nvPr/>
        </p:nvSpPr>
        <p:spPr>
          <a:xfrm>
            <a:off x="7922362" y="2091233"/>
            <a:ext cx="457200" cy="457200"/>
          </a:xfrm>
          <a:prstGeom prst="ellipse">
            <a:avLst/>
          </a:prstGeom>
          <a:solidFill>
            <a:srgbClr val="EF4444">
              <a:alpha val="10000"/>
            </a:srgbClr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079638" y="2224735"/>
            <a:ext cx="142646" cy="19019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04495" y="838505"/>
            <a:ext cx="489661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SOC Escalates</a:t>
            </a:r>
            <a:endParaRPr lang="en-US" sz="3600" dirty="0"/>
          </a:p>
        </p:txBody>
      </p:sp>
      <p:sp>
        <p:nvSpPr>
          <p:cNvPr id="19" name="Text 14"/>
          <p:cNvSpPr txBox="1"/>
          <p:nvPr/>
        </p:nvSpPr>
        <p:spPr>
          <a:xfrm>
            <a:off x="8532266" y="2177186"/>
            <a:ext cx="29910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ESCALATION EXAMPLE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7922362" y="2968142"/>
            <a:ext cx="3314700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Ticket Subject: Possible Data Exfiltration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8113471" y="3805733"/>
            <a:ext cx="27249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CIA Tag: Confidentiality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8113471" y="4225442"/>
            <a:ext cx="31153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Asset: Customer DB Export</a:t>
            </a:r>
            <a:endParaRPr lang="en-US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8113471" y="4644238"/>
            <a:ext cx="3038551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Impact: Unauthorized data exposure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8113471" y="5405933"/>
            <a:ext cx="295351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Evidence: 5GB upload log attached</a:t>
            </a:r>
            <a:endParaRPr lang="en-US" sz="1800" dirty="0"/>
          </a:p>
        </p:txBody>
      </p:sp>
      <p:sp>
        <p:nvSpPr>
          <p:cNvPr id="25" name="Shape 20"/>
          <p:cNvSpPr/>
          <p:nvPr/>
        </p:nvSpPr>
        <p:spPr>
          <a:xfrm>
            <a:off x="0" y="6578194"/>
            <a:ext cx="12191695" cy="286207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6" name="Shape 21"/>
          <p:cNvSpPr/>
          <p:nvPr/>
        </p:nvSpPr>
        <p:spPr>
          <a:xfrm>
            <a:off x="0" y="6578194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7" name="Shape 22"/>
          <p:cNvSpPr/>
          <p:nvPr/>
        </p:nvSpPr>
        <p:spPr>
          <a:xfrm>
            <a:off x="304495" y="6685178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3B82F6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457200" y="6642202"/>
            <a:ext cx="32342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Day-6: CIA Triad &amp; Cyberspace Risk Management</a:t>
            </a:r>
            <a:endParaRPr lang="en-US" sz="1000" dirty="0"/>
          </a:p>
        </p:txBody>
      </p:sp>
      <p:sp>
        <p:nvSpPr>
          <p:cNvPr id="29" name="Text 24"/>
          <p:cNvSpPr txBox="1"/>
          <p:nvPr/>
        </p:nvSpPr>
        <p:spPr>
          <a:xfrm>
            <a:off x="11378794" y="6642202"/>
            <a:ext cx="6144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53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572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rcRect l="-2994" r="-2994" t="0" b="0"/>
          <a:stretch/>
        </p:blipFill>
        <p:spPr>
          <a:xfrm>
            <a:off x="304495" y="228600"/>
            <a:ext cx="161849" cy="1527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3154" y="209398"/>
            <a:ext cx="3020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11087100" y="213970"/>
            <a:ext cx="9098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2026-01-18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304495" y="1777594"/>
            <a:ext cx="64584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What: Risk tolerance, acceptance, and trade-offs.</a:t>
            </a:r>
            <a:endParaRPr lang="en-US" sz="2100" dirty="0"/>
          </a:p>
        </p:txBody>
      </p:sp>
      <p:sp>
        <p:nvSpPr>
          <p:cNvPr id="10" name="Text 6"/>
          <p:cNvSpPr txBox="1"/>
          <p:nvPr/>
        </p:nvSpPr>
        <p:spPr>
          <a:xfrm>
            <a:off x="304495" y="245516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Why: Business owners own these choices and consequences.</a:t>
            </a:r>
            <a:endParaRPr lang="en-US" sz="2100" dirty="0"/>
          </a:p>
        </p:txBody>
      </p:sp>
      <p:sp>
        <p:nvSpPr>
          <p:cNvPr id="11" name="Text 7"/>
          <p:cNvSpPr txBox="1"/>
          <p:nvPr/>
        </p:nvSpPr>
        <p:spPr>
          <a:xfrm>
            <a:off x="304495" y="3506724"/>
            <a:ext cx="704911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View: Provide options, evidence, and clarity, not verdicts.</a:t>
            </a:r>
            <a:endParaRPr lang="en-US" sz="2100" dirty="0"/>
          </a:p>
        </p:txBody>
      </p:sp>
      <p:sp>
        <p:nvSpPr>
          <p:cNvPr id="12" name="Shape 8"/>
          <p:cNvSpPr/>
          <p:nvPr/>
        </p:nvSpPr>
        <p:spPr>
          <a:xfrm>
            <a:off x="7607808" y="1777594"/>
            <a:ext cx="4286707" cy="3000146"/>
          </a:xfrm>
          <a:prstGeom prst="roundRect">
            <a:avLst>
              <a:gd name="adj" fmla="val 116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922362" y="2701138"/>
            <a:ext cx="365760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Shape 10"/>
          <p:cNvSpPr/>
          <p:nvPr/>
        </p:nvSpPr>
        <p:spPr>
          <a:xfrm>
            <a:off x="7922362" y="2091233"/>
            <a:ext cx="457200" cy="457200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032090" y="2224735"/>
            <a:ext cx="237744" cy="19019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04495" y="838505"/>
            <a:ext cx="6458407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SOC Does Not Decide</a:t>
            </a:r>
            <a:endParaRPr lang="en-US" sz="3600" dirty="0"/>
          </a:p>
        </p:txBody>
      </p:sp>
      <p:sp>
        <p:nvSpPr>
          <p:cNvPr id="17" name="Text 12"/>
          <p:cNvSpPr txBox="1"/>
          <p:nvPr/>
        </p:nvSpPr>
        <p:spPr>
          <a:xfrm>
            <a:off x="8532266" y="2177186"/>
            <a:ext cx="19531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 CLARITY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7922362" y="2968142"/>
            <a:ext cx="356250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SOC Analyst says: "Here is the risk we found."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7922362" y="3805733"/>
            <a:ext cx="3743554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Business Owner says: "We accept it," or "Fix it immediately."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1" name="Shape 16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2" name="Shape 17"/>
          <p:cNvSpPr/>
          <p:nvPr/>
        </p:nvSpPr>
        <p:spPr>
          <a:xfrm>
            <a:off x="304495" y="6538874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3B82F6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457200" y="6495898"/>
            <a:ext cx="32342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Day-6: CIA Triad &amp; Cyberspace Risk Management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11375136" y="6495898"/>
            <a:ext cx="6144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54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572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rcRect l="-2994" r="-2994" t="0" b="0"/>
          <a:stretch/>
        </p:blipFill>
        <p:spPr>
          <a:xfrm>
            <a:off x="304495" y="228600"/>
            <a:ext cx="161849" cy="1527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3154" y="209398"/>
            <a:ext cx="3020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11087100" y="213970"/>
            <a:ext cx="9098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2026-01-18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9669780" y="832104"/>
            <a:ext cx="2219249" cy="381305"/>
          </a:xfrm>
          <a:prstGeom prst="roundRect">
            <a:avLst>
              <a:gd name="adj" fmla="val 23981"/>
            </a:avLst>
          </a:prstGeom>
          <a:solidFill>
            <a:srgbClr val="3B82F6"/>
          </a:solidFill>
          <a:ln/>
          <a:effectLst>
            <a:outerShdw sx="100000" sy="100000" kx="0" ky="0" algn="bl" rotWithShape="0" blurRad="139700" dist="12700" dir="16200000">
              <a:srgbClr val="3b82f6">
                <a:alpha val="4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304495" y="1579169"/>
            <a:ext cx="6124651" cy="4714646"/>
          </a:xfrm>
          <a:prstGeom prst="roundRect">
            <a:avLst>
              <a:gd name="adj" fmla="val 470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  <a:effectLst>
            <a:outerShdw sx="100000" sy="100000" kx="0" ky="0" algn="bl" rotWithShape="0" blurRad="139700" dist="101600" dir="5400000">
              <a:srgbClr val="000000">
                <a:alpha val="3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14554" y="1588313"/>
            <a:ext cx="6105449" cy="562356"/>
          </a:xfrm>
          <a:prstGeom prst="rect">
            <a:avLst/>
          </a:prstGeom>
          <a:solidFill>
            <a:srgbClr val="B91C1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43154" y="1783994"/>
            <a:ext cx="171907" cy="17190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28446" y="1741018"/>
            <a:ext cx="301477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DLP ALERT: Mass Exfiltration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543154" y="2732227"/>
            <a:ext cx="5648249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Shape 10"/>
          <p:cNvSpPr/>
          <p:nvPr/>
        </p:nvSpPr>
        <p:spPr>
          <a:xfrm>
            <a:off x="543154" y="3244291"/>
            <a:ext cx="5648249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6" name="Shape 11"/>
          <p:cNvSpPr/>
          <p:nvPr/>
        </p:nvSpPr>
        <p:spPr>
          <a:xfrm>
            <a:off x="543154" y="3757270"/>
            <a:ext cx="5648249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7" name="Shape 12"/>
          <p:cNvSpPr/>
          <p:nvPr/>
        </p:nvSpPr>
        <p:spPr>
          <a:xfrm>
            <a:off x="1876349" y="3404311"/>
            <a:ext cx="4315054" cy="276149"/>
          </a:xfrm>
          <a:prstGeom prst="roundRect">
            <a:avLst>
              <a:gd name="adj" fmla="val 22836"/>
            </a:avLst>
          </a:prstGeom>
          <a:solidFill>
            <a:srgbClr val="B91C1C">
              <a:alpha val="20000"/>
            </a:srgbClr>
          </a:solidFill>
          <a:ln/>
        </p:spPr>
      </p:sp>
      <p:sp>
        <p:nvSpPr>
          <p:cNvPr id="18" name="Shape 13"/>
          <p:cNvSpPr/>
          <p:nvPr/>
        </p:nvSpPr>
        <p:spPr>
          <a:xfrm>
            <a:off x="543154" y="4269334"/>
            <a:ext cx="5648249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9" name="Shape 14"/>
          <p:cNvSpPr/>
          <p:nvPr/>
        </p:nvSpPr>
        <p:spPr>
          <a:xfrm>
            <a:off x="1876349" y="3916375"/>
            <a:ext cx="4315054" cy="276149"/>
          </a:xfrm>
          <a:prstGeom prst="roundRect">
            <a:avLst>
              <a:gd name="adj" fmla="val 22836"/>
            </a:avLst>
          </a:prstGeom>
          <a:solidFill>
            <a:srgbClr val="B91C1C">
              <a:alpha val="20000"/>
            </a:srgbClr>
          </a:solidFill>
          <a:ln/>
        </p:spPr>
      </p:sp>
      <p:sp>
        <p:nvSpPr>
          <p:cNvPr id="20" name="Shape 15"/>
          <p:cNvSpPr/>
          <p:nvPr/>
        </p:nvSpPr>
        <p:spPr>
          <a:xfrm>
            <a:off x="543154" y="4782312"/>
            <a:ext cx="5648249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1" name="Shape 16"/>
          <p:cNvSpPr/>
          <p:nvPr/>
        </p:nvSpPr>
        <p:spPr>
          <a:xfrm>
            <a:off x="6880860" y="2083918"/>
            <a:ext cx="5009998" cy="1920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2" name="Shape 17"/>
          <p:cNvSpPr/>
          <p:nvPr/>
        </p:nvSpPr>
        <p:spPr>
          <a:xfrm>
            <a:off x="6880860" y="2331720"/>
            <a:ext cx="342900" cy="342900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7015277" y="2374697"/>
            <a:ext cx="20482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6880860" y="3506724"/>
            <a:ext cx="342900" cy="342900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6997903" y="3549701"/>
            <a:ext cx="24323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6880860" y="4442155"/>
            <a:ext cx="342900" cy="342900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6996989" y="4485132"/>
            <a:ext cx="24323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6880860" y="5257800"/>
            <a:ext cx="5009998" cy="10287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Shape 24"/>
          <p:cNvSpPr/>
          <p:nvPr/>
        </p:nvSpPr>
        <p:spPr>
          <a:xfrm>
            <a:off x="6880860" y="5257800"/>
            <a:ext cx="38405" cy="10287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304495" y="761695"/>
            <a:ext cx="7935163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Exercise: CIA Impact – Data Exposure</a:t>
            </a:r>
            <a:endParaRPr lang="en-US" sz="330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5"/>
          <a:srcRect l="-2694" r="-2694" t="0" b="0"/>
          <a:stretch/>
        </p:blipFill>
        <p:spPr>
          <a:xfrm>
            <a:off x="9821570" y="946404"/>
            <a:ext cx="181051" cy="152705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10079431" y="927202"/>
            <a:ext cx="17721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OBSERVATION ONLY</a:t>
            </a:r>
            <a:endParaRPr lang="en-US" sz="1200" dirty="0"/>
          </a:p>
        </p:txBody>
      </p:sp>
      <p:sp>
        <p:nvSpPr>
          <p:cNvPr id="33" name="Text 27"/>
          <p:cNvSpPr txBox="1"/>
          <p:nvPr/>
        </p:nvSpPr>
        <p:spPr>
          <a:xfrm>
            <a:off x="543154" y="2398471"/>
            <a:ext cx="853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</a:t>
            </a:r>
            <a:endParaRPr lang="en-US" sz="1300" dirty="0"/>
          </a:p>
        </p:txBody>
      </p:sp>
      <p:sp>
        <p:nvSpPr>
          <p:cNvPr id="34" name="Text 28"/>
          <p:cNvSpPr txBox="1"/>
          <p:nvPr/>
        </p:nvSpPr>
        <p:spPr>
          <a:xfrm>
            <a:off x="1876349" y="2398471"/>
            <a:ext cx="22914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Endpoint (WKS-FIN-09)</a:t>
            </a:r>
            <a:endParaRPr lang="en-US" sz="1300" dirty="0"/>
          </a:p>
        </p:txBody>
      </p:sp>
      <p:sp>
        <p:nvSpPr>
          <p:cNvPr id="35" name="Text 29"/>
          <p:cNvSpPr txBox="1"/>
          <p:nvPr/>
        </p:nvSpPr>
        <p:spPr>
          <a:xfrm>
            <a:off x="543154" y="2910535"/>
            <a:ext cx="853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Target:</a:t>
            </a:r>
            <a:endParaRPr lang="en-US" sz="1300" dirty="0"/>
          </a:p>
        </p:txBody>
      </p:sp>
      <p:sp>
        <p:nvSpPr>
          <p:cNvPr id="36" name="Text 30"/>
          <p:cNvSpPr txBox="1"/>
          <p:nvPr/>
        </p:nvSpPr>
        <p:spPr>
          <a:xfrm>
            <a:off x="1876349" y="2910535"/>
            <a:ext cx="34244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Share: \\CONFIDENTIAL\HR_Records</a:t>
            </a:r>
            <a:endParaRPr lang="en-US" sz="1300" dirty="0"/>
          </a:p>
        </p:txBody>
      </p:sp>
      <p:sp>
        <p:nvSpPr>
          <p:cNvPr id="37" name="Text 31"/>
          <p:cNvSpPr txBox="1"/>
          <p:nvPr/>
        </p:nvSpPr>
        <p:spPr>
          <a:xfrm>
            <a:off x="543154" y="3423514"/>
            <a:ext cx="853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Action:</a:t>
            </a:r>
            <a:endParaRPr lang="en-US" sz="1300" dirty="0"/>
          </a:p>
        </p:txBody>
      </p:sp>
      <p:sp>
        <p:nvSpPr>
          <p:cNvPr id="38" name="Text 32"/>
          <p:cNvSpPr txBox="1"/>
          <p:nvPr/>
        </p:nvSpPr>
        <p:spPr>
          <a:xfrm>
            <a:off x="1914754" y="3423514"/>
            <a:ext cx="21963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Bulk Copy (Outgoing)</a:t>
            </a:r>
            <a:endParaRPr lang="en-US" sz="1300" dirty="0"/>
          </a:p>
        </p:txBody>
      </p:sp>
      <p:sp>
        <p:nvSpPr>
          <p:cNvPr id="39" name="Text 33"/>
          <p:cNvSpPr txBox="1"/>
          <p:nvPr/>
        </p:nvSpPr>
        <p:spPr>
          <a:xfrm>
            <a:off x="543154" y="3935578"/>
            <a:ext cx="853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Volume:</a:t>
            </a:r>
            <a:endParaRPr lang="en-US" sz="1300" dirty="0"/>
          </a:p>
        </p:txBody>
      </p:sp>
      <p:sp>
        <p:nvSpPr>
          <p:cNvPr id="40" name="Text 34"/>
          <p:cNvSpPr txBox="1"/>
          <p:nvPr/>
        </p:nvSpPr>
        <p:spPr>
          <a:xfrm>
            <a:off x="1914754" y="3935578"/>
            <a:ext cx="16815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 GB in 5 mins</a:t>
            </a:r>
            <a:endParaRPr lang="en-US" sz="1300" dirty="0"/>
          </a:p>
        </p:txBody>
      </p:sp>
      <p:sp>
        <p:nvSpPr>
          <p:cNvPr id="41" name="Text 35"/>
          <p:cNvSpPr txBox="1"/>
          <p:nvPr/>
        </p:nvSpPr>
        <p:spPr>
          <a:xfrm>
            <a:off x="543154" y="4447642"/>
            <a:ext cx="6528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User:</a:t>
            </a:r>
            <a:endParaRPr lang="en-US" sz="1300" dirty="0"/>
          </a:p>
        </p:txBody>
      </p:sp>
      <p:sp>
        <p:nvSpPr>
          <p:cNvPr id="42" name="Text 36"/>
          <p:cNvSpPr txBox="1"/>
          <p:nvPr/>
        </p:nvSpPr>
        <p:spPr>
          <a:xfrm>
            <a:off x="1876349" y="4447642"/>
            <a:ext cx="18818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j.doe (Marketing)</a:t>
            </a:r>
            <a:endParaRPr lang="en-US" sz="1300" dirty="0"/>
          </a:p>
        </p:txBody>
      </p:sp>
      <p:sp>
        <p:nvSpPr>
          <p:cNvPr id="43" name="Text 37"/>
          <p:cNvSpPr txBox="1"/>
          <p:nvPr/>
        </p:nvSpPr>
        <p:spPr>
          <a:xfrm>
            <a:off x="543154" y="4960620"/>
            <a:ext cx="11676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Timestamp:</a:t>
            </a:r>
            <a:endParaRPr lang="en-US" sz="1300" dirty="0"/>
          </a:p>
        </p:txBody>
      </p:sp>
      <p:sp>
        <p:nvSpPr>
          <p:cNvPr id="44" name="Text 38"/>
          <p:cNvSpPr txBox="1"/>
          <p:nvPr/>
        </p:nvSpPr>
        <p:spPr>
          <a:xfrm>
            <a:off x="1876349" y="4960620"/>
            <a:ext cx="25008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2026-01-18 03:14:22 UTC</a:t>
            </a:r>
            <a:endParaRPr lang="en-US" sz="1300" dirty="0"/>
          </a:p>
        </p:txBody>
      </p:sp>
      <p:sp>
        <p:nvSpPr>
          <p:cNvPr id="45" name="Text 39"/>
          <p:cNvSpPr txBox="1"/>
          <p:nvPr/>
        </p:nvSpPr>
        <p:spPr>
          <a:xfrm>
            <a:off x="6880860" y="1684325"/>
            <a:ext cx="221467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Thinking Tasks</a:t>
            </a:r>
            <a:endParaRPr lang="en-US" sz="1600" dirty="0"/>
          </a:p>
        </p:txBody>
      </p:sp>
      <p:sp>
        <p:nvSpPr>
          <p:cNvPr id="46" name="Text 40"/>
          <p:cNvSpPr txBox="1"/>
          <p:nvPr/>
        </p:nvSpPr>
        <p:spPr>
          <a:xfrm>
            <a:off x="7376465" y="2360066"/>
            <a:ext cx="30623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the Primary CIA Risk</a:t>
            </a:r>
            <a:endParaRPr lang="en-US" sz="1600" dirty="0"/>
          </a:p>
        </p:txBody>
      </p:sp>
      <p:sp>
        <p:nvSpPr>
          <p:cNvPr id="47" name="Text 41"/>
          <p:cNvSpPr txBox="1"/>
          <p:nvPr/>
        </p:nvSpPr>
        <p:spPr>
          <a:xfrm>
            <a:off x="7376465" y="2741371"/>
            <a:ext cx="372983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 this a loss of access, data modification, or unauthorized exposure?</a:t>
            </a:r>
            <a:endParaRPr lang="en-US" sz="1300" dirty="0"/>
          </a:p>
        </p:txBody>
      </p:sp>
      <p:sp>
        <p:nvSpPr>
          <p:cNvPr id="48" name="Text 42"/>
          <p:cNvSpPr txBox="1"/>
          <p:nvPr/>
        </p:nvSpPr>
        <p:spPr>
          <a:xfrm>
            <a:off x="7376465" y="3535985"/>
            <a:ext cx="28337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the Asset &amp; Scope</a:t>
            </a:r>
            <a:endParaRPr lang="en-US" sz="1600" dirty="0"/>
          </a:p>
        </p:txBody>
      </p:sp>
      <p:sp>
        <p:nvSpPr>
          <p:cNvPr id="49" name="Text 43"/>
          <p:cNvSpPr txBox="1"/>
          <p:nvPr/>
        </p:nvSpPr>
        <p:spPr>
          <a:xfrm>
            <a:off x="7376465" y="3916375"/>
            <a:ext cx="398678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specifically is being lost? Who controls it?</a:t>
            </a:r>
            <a:endParaRPr lang="en-US" sz="1300" dirty="0"/>
          </a:p>
        </p:txBody>
      </p:sp>
      <p:sp>
        <p:nvSpPr>
          <p:cNvPr id="50" name="Text 44"/>
          <p:cNvSpPr txBox="1"/>
          <p:nvPr/>
        </p:nvSpPr>
        <p:spPr>
          <a:xfrm>
            <a:off x="7376465" y="4471416"/>
            <a:ext cx="27578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Determine Next SOC Step</a:t>
            </a:r>
            <a:endParaRPr lang="en-US" sz="1600" dirty="0"/>
          </a:p>
        </p:txBody>
      </p:sp>
      <p:sp>
        <p:nvSpPr>
          <p:cNvPr id="51" name="Text 45"/>
          <p:cNvSpPr txBox="1"/>
          <p:nvPr/>
        </p:nvSpPr>
        <p:spPr>
          <a:xfrm>
            <a:off x="7376465" y="4851806"/>
            <a:ext cx="363382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you watch and wait, or intervene? Why?</a:t>
            </a:r>
            <a:endParaRPr lang="en-US" sz="1300" dirty="0"/>
          </a:p>
        </p:txBody>
      </p:sp>
      <p:sp>
        <p:nvSpPr>
          <p:cNvPr id="52" name="Text 46"/>
          <p:cNvSpPr txBox="1"/>
          <p:nvPr/>
        </p:nvSpPr>
        <p:spPr>
          <a:xfrm>
            <a:off x="7071055" y="5429707"/>
            <a:ext cx="16578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VIEW</a:t>
            </a:r>
            <a:endParaRPr lang="en-US" sz="1200" dirty="0"/>
          </a:p>
        </p:txBody>
      </p:sp>
      <p:sp>
        <p:nvSpPr>
          <p:cNvPr id="53" name="Text 47"/>
          <p:cNvSpPr txBox="1"/>
          <p:nvPr/>
        </p:nvSpPr>
        <p:spPr>
          <a:xfrm>
            <a:off x="7071055" y="5695798"/>
            <a:ext cx="25530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don't need math here. We see</a:t>
            </a:r>
            <a:endParaRPr lang="en-US" sz="1200" dirty="0"/>
          </a:p>
        </p:txBody>
      </p:sp>
      <p:sp>
        <p:nvSpPr>
          <p:cNvPr id="54" name="Text 48"/>
          <p:cNvSpPr txBox="1"/>
          <p:nvPr/>
        </p:nvSpPr>
        <p:spPr>
          <a:xfrm>
            <a:off x="9506102" y="5695798"/>
            <a:ext cx="12289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Confidentiality</a:t>
            </a:r>
            <a:endParaRPr lang="en-US" sz="1200" dirty="0"/>
          </a:p>
        </p:txBody>
      </p:sp>
      <p:sp>
        <p:nvSpPr>
          <p:cNvPr id="55" name="Text 49"/>
          <p:cNvSpPr txBox="1"/>
          <p:nvPr/>
        </p:nvSpPr>
        <p:spPr>
          <a:xfrm>
            <a:off x="7071055" y="5695798"/>
            <a:ext cx="4620463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 failing. The impact is</a:t>
            </a:r>
            <a:endParaRPr lang="en-US" sz="1200" dirty="0"/>
          </a:p>
        </p:txBody>
      </p:sp>
      <p:sp>
        <p:nvSpPr>
          <p:cNvPr id="56" name="Text 50"/>
          <p:cNvSpPr txBox="1"/>
          <p:nvPr/>
        </p:nvSpPr>
        <p:spPr>
          <a:xfrm>
            <a:off x="7719365" y="5924398"/>
            <a:ext cx="9336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Reputation</a:t>
            </a:r>
            <a:endParaRPr lang="en-US" sz="1200" dirty="0"/>
          </a:p>
        </p:txBody>
      </p:sp>
      <p:sp>
        <p:nvSpPr>
          <p:cNvPr id="57" name="Text 51"/>
          <p:cNvSpPr txBox="1"/>
          <p:nvPr/>
        </p:nvSpPr>
        <p:spPr>
          <a:xfrm>
            <a:off x="8529523" y="5924398"/>
            <a:ext cx="3913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</a:t>
            </a:r>
            <a:endParaRPr lang="en-US" sz="1200" dirty="0"/>
          </a:p>
        </p:txBody>
      </p:sp>
      <p:sp>
        <p:nvSpPr>
          <p:cNvPr id="58" name="Text 52"/>
          <p:cNvSpPr txBox="1"/>
          <p:nvPr/>
        </p:nvSpPr>
        <p:spPr>
          <a:xfrm>
            <a:off x="8798357" y="5924398"/>
            <a:ext cx="5239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Legal</a:t>
            </a:r>
            <a:endParaRPr lang="en-US" sz="1200" dirty="0"/>
          </a:p>
        </p:txBody>
      </p:sp>
      <p:sp>
        <p:nvSpPr>
          <p:cNvPr id="59" name="Text 53"/>
          <p:cNvSpPr txBox="1"/>
          <p:nvPr/>
        </p:nvSpPr>
        <p:spPr>
          <a:xfrm>
            <a:off x="9201607" y="5924398"/>
            <a:ext cx="1627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200" dirty="0"/>
          </a:p>
        </p:txBody>
      </p:sp>
      <p:sp>
        <p:nvSpPr>
          <p:cNvPr id="60" name="Text 54"/>
          <p:cNvSpPr txBox="1"/>
          <p:nvPr/>
        </p:nvSpPr>
        <p:spPr>
          <a:xfrm>
            <a:off x="5224882" y="1779422"/>
            <a:ext cx="10625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ID: #9942-XJ</a:t>
            </a:r>
            <a:endParaRPr lang="en-US" sz="1000" dirty="0"/>
          </a:p>
        </p:txBody>
      </p:sp>
      <p:sp>
        <p:nvSpPr>
          <p:cNvPr id="61" name="Shape 55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2" name="Shape 56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3" name="Shape 57"/>
          <p:cNvSpPr/>
          <p:nvPr/>
        </p:nvSpPr>
        <p:spPr>
          <a:xfrm>
            <a:off x="304495" y="6538874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3B82F6"/>
          </a:solidFill>
          <a:ln/>
        </p:spPr>
      </p:sp>
      <p:sp>
        <p:nvSpPr>
          <p:cNvPr id="64" name="Text 58"/>
          <p:cNvSpPr txBox="1"/>
          <p:nvPr/>
        </p:nvSpPr>
        <p:spPr>
          <a:xfrm>
            <a:off x="457200" y="6495898"/>
            <a:ext cx="32342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Day-6: CIA Triad &amp; Cyberspace Risk Management</a:t>
            </a:r>
            <a:endParaRPr lang="en-US" sz="1000" dirty="0"/>
          </a:p>
        </p:txBody>
      </p:sp>
      <p:sp>
        <p:nvSpPr>
          <p:cNvPr id="65" name="Text 59"/>
          <p:cNvSpPr txBox="1"/>
          <p:nvPr/>
        </p:nvSpPr>
        <p:spPr>
          <a:xfrm>
            <a:off x="11381537" y="6495898"/>
            <a:ext cx="6144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55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572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rcRect l="-2994" r="-2994" t="0" b="0"/>
          <a:stretch/>
        </p:blipFill>
        <p:spPr>
          <a:xfrm>
            <a:off x="304495" y="228600"/>
            <a:ext cx="161849" cy="1527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3154" y="209398"/>
            <a:ext cx="3020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11087100" y="213970"/>
            <a:ext cx="9098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2026-01-18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9669780" y="832104"/>
            <a:ext cx="2219249" cy="381305"/>
          </a:xfrm>
          <a:prstGeom prst="roundRect">
            <a:avLst>
              <a:gd name="adj" fmla="val 23981"/>
            </a:avLst>
          </a:prstGeom>
          <a:solidFill>
            <a:srgbClr val="3B82F6"/>
          </a:solidFill>
          <a:ln/>
          <a:effectLst>
            <a:outerShdw sx="100000" sy="100000" kx="0" ky="0" algn="bl" rotWithShape="0" blurRad="139700" dist="12700" dir="16200000">
              <a:srgbClr val="3b82f6">
                <a:alpha val="4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304495" y="1579169"/>
            <a:ext cx="6124651" cy="5505602"/>
          </a:xfrm>
          <a:prstGeom prst="roundRect">
            <a:avLst>
              <a:gd name="adj" fmla="val 345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  <a:effectLst>
            <a:outerShdw sx="100000" sy="100000" kx="0" ky="0" algn="bl" rotWithShape="0" blurRad="139700" dist="101600" dir="5400000">
              <a:srgbClr val="000000">
                <a:alpha val="3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14554" y="1588313"/>
            <a:ext cx="6105449" cy="562356"/>
          </a:xfrm>
          <a:prstGeom prst="rect">
            <a:avLst/>
          </a:prstGeom>
          <a:solidFill>
            <a:srgbClr val="B91C1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43154" y="1783994"/>
            <a:ext cx="171907" cy="17190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28446" y="1741018"/>
            <a:ext cx="301477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AVAILABILITY ALERT: Critical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543154" y="3008376"/>
            <a:ext cx="5648249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Shape 10"/>
          <p:cNvSpPr/>
          <p:nvPr/>
        </p:nvSpPr>
        <p:spPr>
          <a:xfrm>
            <a:off x="543154" y="3518611"/>
            <a:ext cx="5648249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6" name="Shape 11"/>
          <p:cNvSpPr/>
          <p:nvPr/>
        </p:nvSpPr>
        <p:spPr>
          <a:xfrm>
            <a:off x="543154" y="4069994"/>
            <a:ext cx="5648249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7" name="Shape 12"/>
          <p:cNvSpPr/>
          <p:nvPr/>
        </p:nvSpPr>
        <p:spPr>
          <a:xfrm>
            <a:off x="1971446" y="3678631"/>
            <a:ext cx="4219956" cy="314554"/>
          </a:xfrm>
          <a:prstGeom prst="roundRect">
            <a:avLst>
              <a:gd name="adj" fmla="val 17618"/>
            </a:avLst>
          </a:prstGeom>
          <a:solidFill>
            <a:srgbClr val="B91C1C">
              <a:alpha val="20000"/>
            </a:srgbClr>
          </a:solidFill>
          <a:ln/>
        </p:spPr>
      </p:sp>
      <p:sp>
        <p:nvSpPr>
          <p:cNvPr id="18" name="Shape 13"/>
          <p:cNvSpPr/>
          <p:nvPr/>
        </p:nvSpPr>
        <p:spPr>
          <a:xfrm>
            <a:off x="543154" y="4876495"/>
            <a:ext cx="5648249" cy="1962302"/>
          </a:xfrm>
          <a:prstGeom prst="roundRect">
            <a:avLst>
              <a:gd name="adj" fmla="val 1357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66598" y="5287061"/>
            <a:ext cx="5400446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0" name="Shape 15"/>
          <p:cNvSpPr/>
          <p:nvPr/>
        </p:nvSpPr>
        <p:spPr>
          <a:xfrm>
            <a:off x="666598" y="5654650"/>
            <a:ext cx="5400446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1" name="Shape 16"/>
          <p:cNvSpPr/>
          <p:nvPr/>
        </p:nvSpPr>
        <p:spPr>
          <a:xfrm>
            <a:off x="666598" y="6022238"/>
            <a:ext cx="5400446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2" name="Shape 17"/>
          <p:cNvSpPr/>
          <p:nvPr/>
        </p:nvSpPr>
        <p:spPr>
          <a:xfrm>
            <a:off x="666598" y="6389827"/>
            <a:ext cx="5400446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3" name="Shape 18"/>
          <p:cNvSpPr/>
          <p:nvPr/>
        </p:nvSpPr>
        <p:spPr>
          <a:xfrm>
            <a:off x="6880860" y="2083918"/>
            <a:ext cx="5009998" cy="1920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4" name="Shape 19"/>
          <p:cNvSpPr/>
          <p:nvPr/>
        </p:nvSpPr>
        <p:spPr>
          <a:xfrm>
            <a:off x="6880860" y="2331720"/>
            <a:ext cx="342900" cy="342900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7015277" y="2374697"/>
            <a:ext cx="20482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6880860" y="3267151"/>
            <a:ext cx="342900" cy="342900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6997903" y="3310128"/>
            <a:ext cx="24323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6880860" y="4442155"/>
            <a:ext cx="342900" cy="342900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6996989" y="4485132"/>
            <a:ext cx="24323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30" name="Shape 25"/>
          <p:cNvSpPr/>
          <p:nvPr/>
        </p:nvSpPr>
        <p:spPr>
          <a:xfrm>
            <a:off x="6880860" y="5819242"/>
            <a:ext cx="5009998" cy="12573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1" name="Shape 26"/>
          <p:cNvSpPr/>
          <p:nvPr/>
        </p:nvSpPr>
        <p:spPr>
          <a:xfrm>
            <a:off x="6880860" y="5819242"/>
            <a:ext cx="38405" cy="12573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304495" y="761695"/>
            <a:ext cx="8125358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Exercise: CIA Impact – Service Outage</a:t>
            </a:r>
            <a:endParaRPr lang="en-US" sz="3300" dirty="0"/>
          </a:p>
        </p:txBody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5"/>
          <a:srcRect l="-2694" r="-2694" t="0" b="0"/>
          <a:stretch/>
        </p:blipFill>
        <p:spPr>
          <a:xfrm>
            <a:off x="9821570" y="946404"/>
            <a:ext cx="181051" cy="152705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10079431" y="927202"/>
            <a:ext cx="17721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OBSERVATION ONLY</a:t>
            </a:r>
            <a:endParaRPr lang="en-US" sz="1200" dirty="0"/>
          </a:p>
        </p:txBody>
      </p:sp>
      <p:sp>
        <p:nvSpPr>
          <p:cNvPr id="35" name="Text 29"/>
          <p:cNvSpPr txBox="1"/>
          <p:nvPr/>
        </p:nvSpPr>
        <p:spPr>
          <a:xfrm>
            <a:off x="543154" y="2398471"/>
            <a:ext cx="957377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Service:</a:t>
            </a:r>
            <a:endParaRPr lang="en-US" sz="1300" dirty="0"/>
          </a:p>
        </p:txBody>
      </p:sp>
      <p:sp>
        <p:nvSpPr>
          <p:cNvPr id="36" name="Text 30"/>
          <p:cNvSpPr txBox="1"/>
          <p:nvPr/>
        </p:nvSpPr>
        <p:spPr>
          <a:xfrm>
            <a:off x="1971446" y="2398471"/>
            <a:ext cx="27102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Customer_Portal_Login_API</a:t>
            </a:r>
            <a:endParaRPr lang="en-US" sz="1300" dirty="0"/>
          </a:p>
        </p:txBody>
      </p:sp>
      <p:sp>
        <p:nvSpPr>
          <p:cNvPr id="37" name="Text 31"/>
          <p:cNvSpPr txBox="1"/>
          <p:nvPr/>
        </p:nvSpPr>
        <p:spPr>
          <a:xfrm>
            <a:off x="543154" y="3184855"/>
            <a:ext cx="12627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 Type:</a:t>
            </a:r>
            <a:endParaRPr lang="en-US" sz="1300" dirty="0"/>
          </a:p>
        </p:txBody>
      </p:sp>
      <p:sp>
        <p:nvSpPr>
          <p:cNvPr id="38" name="Text 32"/>
          <p:cNvSpPr txBox="1"/>
          <p:nvPr/>
        </p:nvSpPr>
        <p:spPr>
          <a:xfrm>
            <a:off x="1971446" y="3184855"/>
            <a:ext cx="34244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Synthetic Transaction (External)</a:t>
            </a:r>
            <a:endParaRPr lang="en-US" sz="1300" dirty="0"/>
          </a:p>
        </p:txBody>
      </p:sp>
      <p:sp>
        <p:nvSpPr>
          <p:cNvPr id="39" name="Text 33"/>
          <p:cNvSpPr txBox="1"/>
          <p:nvPr/>
        </p:nvSpPr>
        <p:spPr>
          <a:xfrm>
            <a:off x="543154" y="3697834"/>
            <a:ext cx="10625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Duration:</a:t>
            </a:r>
            <a:endParaRPr lang="en-US" sz="1300" dirty="0"/>
          </a:p>
        </p:txBody>
      </p:sp>
      <p:sp>
        <p:nvSpPr>
          <p:cNvPr id="40" name="Text 34"/>
          <p:cNvSpPr txBox="1"/>
          <p:nvPr/>
        </p:nvSpPr>
        <p:spPr>
          <a:xfrm>
            <a:off x="2029054" y="3716122"/>
            <a:ext cx="20912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 for 18 minutes</a:t>
            </a:r>
            <a:endParaRPr lang="en-US" sz="1300" dirty="0"/>
          </a:p>
        </p:txBody>
      </p:sp>
      <p:sp>
        <p:nvSpPr>
          <p:cNvPr id="41" name="Text 35"/>
          <p:cNvSpPr txBox="1"/>
          <p:nvPr/>
        </p:nvSpPr>
        <p:spPr>
          <a:xfrm>
            <a:off x="543154" y="4381805"/>
            <a:ext cx="162488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RECENT STATUS LOGS:</a:t>
            </a:r>
            <a:endParaRPr lang="en-US" sz="1000" dirty="0"/>
          </a:p>
        </p:txBody>
      </p:sp>
      <p:sp>
        <p:nvSpPr>
          <p:cNvPr id="42" name="Text 36"/>
          <p:cNvSpPr txBox="1"/>
          <p:nvPr/>
        </p:nvSpPr>
        <p:spPr>
          <a:xfrm>
            <a:off x="666598" y="5019142"/>
            <a:ext cx="9436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09:55 UTC</a:t>
            </a:r>
            <a:endParaRPr lang="en-US" sz="1200" dirty="0"/>
          </a:p>
        </p:txBody>
      </p:sp>
      <p:sp>
        <p:nvSpPr>
          <p:cNvPr id="43" name="Text 37"/>
          <p:cNvSpPr txBox="1"/>
          <p:nvPr/>
        </p:nvSpPr>
        <p:spPr>
          <a:xfrm>
            <a:off x="3089758" y="5019142"/>
            <a:ext cx="11247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 200 OK</a:t>
            </a:r>
            <a:endParaRPr lang="en-US" sz="1200" dirty="0"/>
          </a:p>
        </p:txBody>
      </p:sp>
      <p:sp>
        <p:nvSpPr>
          <p:cNvPr id="44" name="Text 38"/>
          <p:cNvSpPr txBox="1"/>
          <p:nvPr/>
        </p:nvSpPr>
        <p:spPr>
          <a:xfrm>
            <a:off x="5695798" y="5019142"/>
            <a:ext cx="4864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22ms</a:t>
            </a:r>
            <a:endParaRPr lang="en-US" sz="1200" dirty="0"/>
          </a:p>
        </p:txBody>
      </p:sp>
      <p:sp>
        <p:nvSpPr>
          <p:cNvPr id="45" name="Text 39"/>
          <p:cNvSpPr txBox="1"/>
          <p:nvPr/>
        </p:nvSpPr>
        <p:spPr>
          <a:xfrm>
            <a:off x="666598" y="5386730"/>
            <a:ext cx="9436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10:00 UTC</a:t>
            </a:r>
            <a:endParaRPr lang="en-US" sz="1200" dirty="0"/>
          </a:p>
        </p:txBody>
      </p:sp>
      <p:sp>
        <p:nvSpPr>
          <p:cNvPr id="46" name="Text 40"/>
          <p:cNvSpPr txBox="1"/>
          <p:nvPr/>
        </p:nvSpPr>
        <p:spPr>
          <a:xfrm>
            <a:off x="3089758" y="5386730"/>
            <a:ext cx="11247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 200 OK</a:t>
            </a:r>
            <a:endParaRPr lang="en-US" sz="1200" dirty="0"/>
          </a:p>
        </p:txBody>
      </p:sp>
      <p:sp>
        <p:nvSpPr>
          <p:cNvPr id="47" name="Text 41"/>
          <p:cNvSpPr txBox="1"/>
          <p:nvPr/>
        </p:nvSpPr>
        <p:spPr>
          <a:xfrm>
            <a:off x="5695798" y="5386730"/>
            <a:ext cx="4864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25ms</a:t>
            </a:r>
            <a:endParaRPr lang="en-US" sz="1200" dirty="0"/>
          </a:p>
        </p:txBody>
      </p:sp>
      <p:sp>
        <p:nvSpPr>
          <p:cNvPr id="48" name="Text 42"/>
          <p:cNvSpPr txBox="1"/>
          <p:nvPr/>
        </p:nvSpPr>
        <p:spPr>
          <a:xfrm>
            <a:off x="666598" y="5754319"/>
            <a:ext cx="9436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10:05 UTC</a:t>
            </a:r>
            <a:endParaRPr lang="en-US" sz="1200" dirty="0"/>
          </a:p>
        </p:txBody>
      </p:sp>
      <p:sp>
        <p:nvSpPr>
          <p:cNvPr id="49" name="Text 43"/>
          <p:cNvSpPr txBox="1"/>
          <p:nvPr/>
        </p:nvSpPr>
        <p:spPr>
          <a:xfrm>
            <a:off x="2678278" y="5754319"/>
            <a:ext cx="17629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 200 OK (Slow)</a:t>
            </a:r>
            <a:endParaRPr lang="en-US" sz="1200" dirty="0"/>
          </a:p>
        </p:txBody>
      </p:sp>
      <p:sp>
        <p:nvSpPr>
          <p:cNvPr id="50" name="Text 44"/>
          <p:cNvSpPr txBox="1"/>
          <p:nvPr/>
        </p:nvSpPr>
        <p:spPr>
          <a:xfrm>
            <a:off x="5512918" y="5754319"/>
            <a:ext cx="6675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4500ms</a:t>
            </a:r>
            <a:endParaRPr lang="en-US" sz="1200" dirty="0"/>
          </a:p>
        </p:txBody>
      </p:sp>
      <p:sp>
        <p:nvSpPr>
          <p:cNvPr id="51" name="Text 45"/>
          <p:cNvSpPr txBox="1"/>
          <p:nvPr/>
        </p:nvSpPr>
        <p:spPr>
          <a:xfrm>
            <a:off x="666598" y="6121908"/>
            <a:ext cx="9436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10:10 UTC</a:t>
            </a:r>
            <a:endParaRPr lang="en-US" sz="1200" dirty="0"/>
          </a:p>
        </p:txBody>
      </p:sp>
      <p:sp>
        <p:nvSpPr>
          <p:cNvPr id="52" name="Text 46"/>
          <p:cNvSpPr txBox="1"/>
          <p:nvPr/>
        </p:nvSpPr>
        <p:spPr>
          <a:xfrm>
            <a:off x="2175358" y="6121908"/>
            <a:ext cx="26773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 503 Service Unavailable</a:t>
            </a:r>
            <a:endParaRPr lang="en-US" sz="1200" dirty="0"/>
          </a:p>
        </p:txBody>
      </p:sp>
      <p:sp>
        <p:nvSpPr>
          <p:cNvPr id="53" name="Text 47"/>
          <p:cNvSpPr txBox="1"/>
          <p:nvPr/>
        </p:nvSpPr>
        <p:spPr>
          <a:xfrm>
            <a:off x="5421478" y="6121908"/>
            <a:ext cx="7626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TIMEOUT</a:t>
            </a:r>
            <a:endParaRPr lang="en-US" sz="1200" dirty="0"/>
          </a:p>
        </p:txBody>
      </p:sp>
      <p:sp>
        <p:nvSpPr>
          <p:cNvPr id="54" name="Text 48"/>
          <p:cNvSpPr txBox="1"/>
          <p:nvPr/>
        </p:nvSpPr>
        <p:spPr>
          <a:xfrm>
            <a:off x="666598" y="6489497"/>
            <a:ext cx="9436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10:15 UTC</a:t>
            </a:r>
            <a:endParaRPr lang="en-US" sz="1200" dirty="0"/>
          </a:p>
        </p:txBody>
      </p:sp>
      <p:sp>
        <p:nvSpPr>
          <p:cNvPr id="55" name="Text 49"/>
          <p:cNvSpPr txBox="1"/>
          <p:nvPr/>
        </p:nvSpPr>
        <p:spPr>
          <a:xfrm>
            <a:off x="2678278" y="6489497"/>
            <a:ext cx="17629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 Refused</a:t>
            </a:r>
            <a:endParaRPr lang="en-US" sz="1200" dirty="0"/>
          </a:p>
        </p:txBody>
      </p:sp>
      <p:sp>
        <p:nvSpPr>
          <p:cNvPr id="56" name="Text 50"/>
          <p:cNvSpPr txBox="1"/>
          <p:nvPr/>
        </p:nvSpPr>
        <p:spPr>
          <a:xfrm>
            <a:off x="5512918" y="6489497"/>
            <a:ext cx="6675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FAILED</a:t>
            </a:r>
            <a:endParaRPr lang="en-US" sz="1200" dirty="0"/>
          </a:p>
        </p:txBody>
      </p:sp>
      <p:sp>
        <p:nvSpPr>
          <p:cNvPr id="57" name="Text 51"/>
          <p:cNvSpPr txBox="1"/>
          <p:nvPr/>
        </p:nvSpPr>
        <p:spPr>
          <a:xfrm>
            <a:off x="6880860" y="1684325"/>
            <a:ext cx="221467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Thinking Tasks</a:t>
            </a:r>
            <a:endParaRPr lang="en-US" sz="1600" dirty="0"/>
          </a:p>
        </p:txBody>
      </p:sp>
      <p:sp>
        <p:nvSpPr>
          <p:cNvPr id="58" name="Text 52"/>
          <p:cNvSpPr txBox="1"/>
          <p:nvPr/>
        </p:nvSpPr>
        <p:spPr>
          <a:xfrm>
            <a:off x="7376465" y="2360066"/>
            <a:ext cx="24624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the CIA Failure</a:t>
            </a:r>
            <a:endParaRPr lang="en-US" sz="1600" dirty="0"/>
          </a:p>
        </p:txBody>
      </p:sp>
      <p:sp>
        <p:nvSpPr>
          <p:cNvPr id="59" name="Text 53"/>
          <p:cNvSpPr txBox="1"/>
          <p:nvPr/>
        </p:nvSpPr>
        <p:spPr>
          <a:xfrm>
            <a:off x="7376465" y="2741371"/>
            <a:ext cx="41202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 the data secret? Is it correct? Or is it just gone?</a:t>
            </a:r>
            <a:endParaRPr lang="en-US" sz="1300" dirty="0"/>
          </a:p>
        </p:txBody>
      </p:sp>
      <p:sp>
        <p:nvSpPr>
          <p:cNvPr id="60" name="Text 54"/>
          <p:cNvSpPr txBox="1"/>
          <p:nvPr/>
        </p:nvSpPr>
        <p:spPr>
          <a:xfrm>
            <a:off x="7376465" y="3295498"/>
            <a:ext cx="26151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Assess Business Impact</a:t>
            </a:r>
            <a:endParaRPr lang="en-US" sz="1600" dirty="0"/>
          </a:p>
        </p:txBody>
      </p:sp>
      <p:sp>
        <p:nvSpPr>
          <p:cNvPr id="61" name="Text 55"/>
          <p:cNvSpPr txBox="1"/>
          <p:nvPr/>
        </p:nvSpPr>
        <p:spPr>
          <a:xfrm>
            <a:off x="7376465" y="3676802"/>
            <a:ext cx="453908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customers can't login, what happens to revenue and trust?</a:t>
            </a:r>
            <a:endParaRPr lang="en-US" sz="1300" dirty="0"/>
          </a:p>
        </p:txBody>
      </p:sp>
      <p:sp>
        <p:nvSpPr>
          <p:cNvPr id="62" name="Text 56"/>
          <p:cNvSpPr txBox="1"/>
          <p:nvPr/>
        </p:nvSpPr>
        <p:spPr>
          <a:xfrm>
            <a:off x="7376465" y="4471416"/>
            <a:ext cx="14621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 Scope</a:t>
            </a:r>
            <a:endParaRPr lang="en-US" sz="1600" dirty="0"/>
          </a:p>
        </p:txBody>
      </p:sp>
      <p:sp>
        <p:nvSpPr>
          <p:cNvPr id="63" name="Text 57"/>
          <p:cNvSpPr txBox="1"/>
          <p:nvPr/>
        </p:nvSpPr>
        <p:spPr>
          <a:xfrm>
            <a:off x="7376465" y="4851806"/>
            <a:ext cx="451073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 this one user, or everyone globally? Check the error logs.</a:t>
            </a:r>
            <a:endParaRPr lang="en-US" sz="1300" dirty="0"/>
          </a:p>
        </p:txBody>
      </p:sp>
      <p:sp>
        <p:nvSpPr>
          <p:cNvPr id="64" name="Text 58"/>
          <p:cNvSpPr txBox="1"/>
          <p:nvPr/>
        </p:nvSpPr>
        <p:spPr>
          <a:xfrm>
            <a:off x="7071055" y="5991149"/>
            <a:ext cx="16578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VIEW</a:t>
            </a:r>
            <a:endParaRPr lang="en-US" sz="1200" dirty="0"/>
          </a:p>
        </p:txBody>
      </p:sp>
      <p:sp>
        <p:nvSpPr>
          <p:cNvPr id="65" name="Text 59"/>
          <p:cNvSpPr txBox="1"/>
          <p:nvPr/>
        </p:nvSpPr>
        <p:spPr>
          <a:xfrm>
            <a:off x="7071055" y="6257239"/>
            <a:ext cx="10863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is a pure</a:t>
            </a:r>
            <a:endParaRPr lang="en-US" sz="1200" dirty="0"/>
          </a:p>
        </p:txBody>
      </p:sp>
      <p:sp>
        <p:nvSpPr>
          <p:cNvPr id="66" name="Text 60"/>
          <p:cNvSpPr txBox="1"/>
          <p:nvPr/>
        </p:nvSpPr>
        <p:spPr>
          <a:xfrm>
            <a:off x="8035747" y="6257239"/>
            <a:ext cx="9436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Availability</a:t>
            </a:r>
            <a:endParaRPr lang="en-US" sz="1200" dirty="0"/>
          </a:p>
        </p:txBody>
      </p:sp>
      <p:sp>
        <p:nvSpPr>
          <p:cNvPr id="67" name="Text 61"/>
          <p:cNvSpPr txBox="1"/>
          <p:nvPr/>
        </p:nvSpPr>
        <p:spPr>
          <a:xfrm>
            <a:off x="7071055" y="6257239"/>
            <a:ext cx="4772254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failure. The data might be safe (Confidentiality) and correct (Integrity), but it is useless if no one can reach it.</a:t>
            </a:r>
            <a:endParaRPr lang="en-US" sz="1200" dirty="0"/>
          </a:p>
        </p:txBody>
      </p:sp>
      <p:sp>
        <p:nvSpPr>
          <p:cNvPr id="68" name="Text 62"/>
          <p:cNvSpPr txBox="1"/>
          <p:nvPr/>
        </p:nvSpPr>
        <p:spPr>
          <a:xfrm>
            <a:off x="4985309" y="1779422"/>
            <a:ext cx="13103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ID: #INC-404-GW</a:t>
            </a:r>
            <a:endParaRPr lang="en-US" sz="1000" dirty="0"/>
          </a:p>
        </p:txBody>
      </p:sp>
      <p:sp>
        <p:nvSpPr>
          <p:cNvPr id="69" name="Shape 63"/>
          <p:cNvSpPr/>
          <p:nvPr/>
        </p:nvSpPr>
        <p:spPr>
          <a:xfrm>
            <a:off x="0" y="7076542"/>
            <a:ext cx="12191695" cy="20939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0" name="Shape 64"/>
          <p:cNvSpPr/>
          <p:nvPr/>
        </p:nvSpPr>
        <p:spPr>
          <a:xfrm>
            <a:off x="0" y="7076542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71" name="Shape 65"/>
          <p:cNvSpPr/>
          <p:nvPr/>
        </p:nvSpPr>
        <p:spPr>
          <a:xfrm>
            <a:off x="304495" y="7147865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3B82F6"/>
          </a:solidFill>
          <a:ln/>
        </p:spPr>
      </p:sp>
      <p:sp>
        <p:nvSpPr>
          <p:cNvPr id="72" name="Text 66"/>
          <p:cNvSpPr txBox="1"/>
          <p:nvPr/>
        </p:nvSpPr>
        <p:spPr>
          <a:xfrm>
            <a:off x="457200" y="7104888"/>
            <a:ext cx="32342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Day-6: CIA Triad &amp; Cyberspace Risk Management</a:t>
            </a:r>
            <a:endParaRPr lang="en-US" sz="1000" dirty="0"/>
          </a:p>
        </p:txBody>
      </p:sp>
      <p:sp>
        <p:nvSpPr>
          <p:cNvPr id="73" name="Text 67"/>
          <p:cNvSpPr txBox="1"/>
          <p:nvPr/>
        </p:nvSpPr>
        <p:spPr>
          <a:xfrm>
            <a:off x="11377879" y="7104888"/>
            <a:ext cx="6144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56</a:t>
            </a:r>
            <a:endParaRPr lang="en-US" sz="10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572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rcRect l="-2994" r="-2994" t="0" b="0"/>
          <a:stretch/>
        </p:blipFill>
        <p:spPr>
          <a:xfrm>
            <a:off x="304495" y="228600"/>
            <a:ext cx="161849" cy="1527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3154" y="209398"/>
            <a:ext cx="3020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11087100" y="213970"/>
            <a:ext cx="9098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2026-01-18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9669780" y="832104"/>
            <a:ext cx="2219249" cy="381305"/>
          </a:xfrm>
          <a:prstGeom prst="roundRect">
            <a:avLst>
              <a:gd name="adj" fmla="val 23981"/>
            </a:avLst>
          </a:prstGeom>
          <a:solidFill>
            <a:srgbClr val="3B82F6"/>
          </a:solidFill>
          <a:ln/>
          <a:effectLst>
            <a:outerShdw sx="100000" sy="100000" kx="0" ky="0" algn="bl" rotWithShape="0" blurRad="139700" dist="12700" dir="16200000">
              <a:srgbClr val="3b82f6">
                <a:alpha val="4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304495" y="1579169"/>
            <a:ext cx="6124651" cy="5009998"/>
          </a:xfrm>
          <a:prstGeom prst="roundRect">
            <a:avLst>
              <a:gd name="adj" fmla="val 416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  <a:effectLst>
            <a:outerShdw sx="100000" sy="100000" kx="0" ky="0" algn="bl" rotWithShape="0" blurRad="139700" dist="101600" dir="5400000">
              <a:srgbClr val="000000">
                <a:alpha val="3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14554" y="1588313"/>
            <a:ext cx="6105449" cy="562356"/>
          </a:xfrm>
          <a:prstGeom prst="rect">
            <a:avLst/>
          </a:prstGeom>
          <a:solidFill>
            <a:srgbClr val="C2410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43154" y="1783994"/>
            <a:ext cx="171907" cy="17190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28446" y="1741018"/>
            <a:ext cx="3225089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 ALERT: Unauthorized Change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543154" y="2732227"/>
            <a:ext cx="5648249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Shape 10"/>
          <p:cNvSpPr/>
          <p:nvPr/>
        </p:nvSpPr>
        <p:spPr>
          <a:xfrm>
            <a:off x="543154" y="3244291"/>
            <a:ext cx="5648249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6" name="Shape 11"/>
          <p:cNvSpPr/>
          <p:nvPr/>
        </p:nvSpPr>
        <p:spPr>
          <a:xfrm>
            <a:off x="543154" y="3757270"/>
            <a:ext cx="5648249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7" name="Shape 12"/>
          <p:cNvSpPr/>
          <p:nvPr/>
        </p:nvSpPr>
        <p:spPr>
          <a:xfrm>
            <a:off x="1876349" y="3404311"/>
            <a:ext cx="4315054" cy="276149"/>
          </a:xfrm>
          <a:prstGeom prst="roundRect">
            <a:avLst>
              <a:gd name="adj" fmla="val 22836"/>
            </a:avLst>
          </a:prstGeom>
          <a:solidFill>
            <a:srgbClr val="C2410C">
              <a:alpha val="20000"/>
            </a:srgbClr>
          </a:solidFill>
          <a:ln/>
        </p:spPr>
      </p:sp>
      <p:sp>
        <p:nvSpPr>
          <p:cNvPr id="18" name="Shape 13"/>
          <p:cNvSpPr/>
          <p:nvPr/>
        </p:nvSpPr>
        <p:spPr>
          <a:xfrm>
            <a:off x="543154" y="4269334"/>
            <a:ext cx="5648249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9" name="Shape 14"/>
          <p:cNvSpPr/>
          <p:nvPr/>
        </p:nvSpPr>
        <p:spPr>
          <a:xfrm>
            <a:off x="1876349" y="3916375"/>
            <a:ext cx="4315054" cy="276149"/>
          </a:xfrm>
          <a:prstGeom prst="roundRect">
            <a:avLst>
              <a:gd name="adj" fmla="val 22836"/>
            </a:avLst>
          </a:prstGeom>
          <a:solidFill>
            <a:srgbClr val="C2410C">
              <a:alpha val="20000"/>
            </a:srgbClr>
          </a:solidFill>
          <a:ln/>
        </p:spPr>
      </p:sp>
      <p:sp>
        <p:nvSpPr>
          <p:cNvPr id="20" name="Shape 15"/>
          <p:cNvSpPr/>
          <p:nvPr/>
        </p:nvSpPr>
        <p:spPr>
          <a:xfrm>
            <a:off x="543154" y="4782312"/>
            <a:ext cx="5648249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1" name="Shape 16"/>
          <p:cNvSpPr/>
          <p:nvPr/>
        </p:nvSpPr>
        <p:spPr>
          <a:xfrm>
            <a:off x="6880860" y="2083918"/>
            <a:ext cx="5009998" cy="1920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2" name="Shape 17"/>
          <p:cNvSpPr/>
          <p:nvPr/>
        </p:nvSpPr>
        <p:spPr>
          <a:xfrm>
            <a:off x="6880860" y="2331720"/>
            <a:ext cx="342900" cy="342900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7015277" y="2374697"/>
            <a:ext cx="20482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6880860" y="3506724"/>
            <a:ext cx="342900" cy="342900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6997903" y="3549701"/>
            <a:ext cx="24323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6880860" y="4682642"/>
            <a:ext cx="342900" cy="342900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6996989" y="4725619"/>
            <a:ext cx="24323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6880860" y="5553151"/>
            <a:ext cx="5009998" cy="10287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Shape 24"/>
          <p:cNvSpPr/>
          <p:nvPr/>
        </p:nvSpPr>
        <p:spPr>
          <a:xfrm>
            <a:off x="6880860" y="5553151"/>
            <a:ext cx="38405" cy="10287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304495" y="761695"/>
            <a:ext cx="8591702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Exercise: CIA Impact – Data Modification</a:t>
            </a:r>
            <a:endParaRPr lang="en-US" sz="330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5"/>
          <a:srcRect l="-2694" r="-2694" t="0" b="0"/>
          <a:stretch/>
        </p:blipFill>
        <p:spPr>
          <a:xfrm>
            <a:off x="9821570" y="946404"/>
            <a:ext cx="181051" cy="152705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10079431" y="927202"/>
            <a:ext cx="17721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OBSERVATION ONLY</a:t>
            </a:r>
            <a:endParaRPr lang="en-US" sz="1200" dirty="0"/>
          </a:p>
        </p:txBody>
      </p:sp>
      <p:sp>
        <p:nvSpPr>
          <p:cNvPr id="33" name="Text 27"/>
          <p:cNvSpPr txBox="1"/>
          <p:nvPr/>
        </p:nvSpPr>
        <p:spPr>
          <a:xfrm>
            <a:off x="543154" y="2398471"/>
            <a:ext cx="853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System:</a:t>
            </a:r>
            <a:endParaRPr lang="en-US" sz="1300" dirty="0"/>
          </a:p>
        </p:txBody>
      </p:sp>
      <p:sp>
        <p:nvSpPr>
          <p:cNvPr id="34" name="Text 28"/>
          <p:cNvSpPr txBox="1"/>
          <p:nvPr/>
        </p:nvSpPr>
        <p:spPr>
          <a:xfrm>
            <a:off x="1876349" y="2398471"/>
            <a:ext cx="28053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DB-PRD-04 (Pricing Master)</a:t>
            </a:r>
            <a:endParaRPr lang="en-US" sz="1300" dirty="0"/>
          </a:p>
        </p:txBody>
      </p:sp>
      <p:sp>
        <p:nvSpPr>
          <p:cNvPr id="35" name="Text 29"/>
          <p:cNvSpPr txBox="1"/>
          <p:nvPr/>
        </p:nvSpPr>
        <p:spPr>
          <a:xfrm>
            <a:off x="543154" y="2910535"/>
            <a:ext cx="853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Action:</a:t>
            </a:r>
            <a:endParaRPr lang="en-US" sz="1300" dirty="0"/>
          </a:p>
        </p:txBody>
      </p:sp>
      <p:sp>
        <p:nvSpPr>
          <p:cNvPr id="36" name="Text 30"/>
          <p:cNvSpPr txBox="1"/>
          <p:nvPr/>
        </p:nvSpPr>
        <p:spPr>
          <a:xfrm>
            <a:off x="1876349" y="2910535"/>
            <a:ext cx="19860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 UPDATE (Batch)</a:t>
            </a:r>
            <a:endParaRPr lang="en-US" sz="1300" dirty="0"/>
          </a:p>
        </p:txBody>
      </p:sp>
      <p:sp>
        <p:nvSpPr>
          <p:cNvPr id="37" name="Text 31"/>
          <p:cNvSpPr txBox="1"/>
          <p:nvPr/>
        </p:nvSpPr>
        <p:spPr>
          <a:xfrm>
            <a:off x="543154" y="3423514"/>
            <a:ext cx="7479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Scope:</a:t>
            </a:r>
            <a:endParaRPr lang="en-US" sz="1300" dirty="0"/>
          </a:p>
        </p:txBody>
      </p:sp>
      <p:sp>
        <p:nvSpPr>
          <p:cNvPr id="38" name="Text 32"/>
          <p:cNvSpPr txBox="1"/>
          <p:nvPr/>
        </p:nvSpPr>
        <p:spPr>
          <a:xfrm>
            <a:off x="1914754" y="3423514"/>
            <a:ext cx="21963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 records modified</a:t>
            </a:r>
            <a:endParaRPr lang="en-US" sz="1300" dirty="0"/>
          </a:p>
        </p:txBody>
      </p:sp>
      <p:sp>
        <p:nvSpPr>
          <p:cNvPr id="39" name="Text 33"/>
          <p:cNvSpPr txBox="1"/>
          <p:nvPr/>
        </p:nvSpPr>
        <p:spPr>
          <a:xfrm>
            <a:off x="543154" y="3935578"/>
            <a:ext cx="11676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 ID:</a:t>
            </a:r>
            <a:endParaRPr lang="en-US" sz="1300" dirty="0"/>
          </a:p>
        </p:txBody>
      </p:sp>
      <p:sp>
        <p:nvSpPr>
          <p:cNvPr id="40" name="Text 34"/>
          <p:cNvSpPr txBox="1"/>
          <p:nvPr/>
        </p:nvSpPr>
        <p:spPr>
          <a:xfrm>
            <a:off x="1914754" y="3935578"/>
            <a:ext cx="19860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 (Unscheduled)</a:t>
            </a:r>
            <a:endParaRPr lang="en-US" sz="1300" dirty="0"/>
          </a:p>
        </p:txBody>
      </p:sp>
      <p:sp>
        <p:nvSpPr>
          <p:cNvPr id="41" name="Text 35"/>
          <p:cNvSpPr txBox="1"/>
          <p:nvPr/>
        </p:nvSpPr>
        <p:spPr>
          <a:xfrm>
            <a:off x="543154" y="4447642"/>
            <a:ext cx="9573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Account:</a:t>
            </a:r>
            <a:endParaRPr lang="en-US" sz="1300" dirty="0"/>
          </a:p>
        </p:txBody>
      </p:sp>
      <p:sp>
        <p:nvSpPr>
          <p:cNvPr id="42" name="Text 36"/>
          <p:cNvSpPr txBox="1"/>
          <p:nvPr/>
        </p:nvSpPr>
        <p:spPr>
          <a:xfrm>
            <a:off x="1876349" y="4447642"/>
            <a:ext cx="13670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svc_admin_01</a:t>
            </a:r>
            <a:endParaRPr lang="en-US" sz="1300" dirty="0"/>
          </a:p>
        </p:txBody>
      </p:sp>
      <p:sp>
        <p:nvSpPr>
          <p:cNvPr id="43" name="Text 37"/>
          <p:cNvSpPr txBox="1"/>
          <p:nvPr/>
        </p:nvSpPr>
        <p:spPr>
          <a:xfrm>
            <a:off x="543154" y="4960620"/>
            <a:ext cx="6528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Time:</a:t>
            </a:r>
            <a:endParaRPr lang="en-US" sz="1300" dirty="0"/>
          </a:p>
        </p:txBody>
      </p:sp>
      <p:sp>
        <p:nvSpPr>
          <p:cNvPr id="44" name="Text 38"/>
          <p:cNvSpPr txBox="1"/>
          <p:nvPr/>
        </p:nvSpPr>
        <p:spPr>
          <a:xfrm>
            <a:off x="1876349" y="4960620"/>
            <a:ext cx="34244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02:15 AM (Outside Maint. Window)</a:t>
            </a:r>
            <a:endParaRPr lang="en-US" sz="1300" dirty="0"/>
          </a:p>
        </p:txBody>
      </p:sp>
      <p:sp>
        <p:nvSpPr>
          <p:cNvPr id="45" name="Text 39"/>
          <p:cNvSpPr txBox="1"/>
          <p:nvPr/>
        </p:nvSpPr>
        <p:spPr>
          <a:xfrm>
            <a:off x="6880860" y="1684325"/>
            <a:ext cx="221467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Thinking Tasks</a:t>
            </a:r>
            <a:endParaRPr lang="en-US" sz="1600" dirty="0"/>
          </a:p>
        </p:txBody>
      </p:sp>
      <p:sp>
        <p:nvSpPr>
          <p:cNvPr id="46" name="Text 40"/>
          <p:cNvSpPr txBox="1"/>
          <p:nvPr/>
        </p:nvSpPr>
        <p:spPr>
          <a:xfrm>
            <a:off x="7376465" y="2360066"/>
            <a:ext cx="30623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the Primary CIA Risk</a:t>
            </a:r>
            <a:endParaRPr lang="en-US" sz="1600" dirty="0"/>
          </a:p>
        </p:txBody>
      </p:sp>
      <p:sp>
        <p:nvSpPr>
          <p:cNvPr id="47" name="Text 41"/>
          <p:cNvSpPr txBox="1"/>
          <p:nvPr/>
        </p:nvSpPr>
        <p:spPr>
          <a:xfrm>
            <a:off x="7376465" y="2741371"/>
            <a:ext cx="447233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data is still available and private, but is it correct? (Integrity)</a:t>
            </a:r>
            <a:endParaRPr lang="en-US" sz="1300" dirty="0"/>
          </a:p>
        </p:txBody>
      </p:sp>
      <p:sp>
        <p:nvSpPr>
          <p:cNvPr id="48" name="Text 42"/>
          <p:cNvSpPr txBox="1"/>
          <p:nvPr/>
        </p:nvSpPr>
        <p:spPr>
          <a:xfrm>
            <a:off x="7376465" y="3535985"/>
            <a:ext cx="202448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Assess the Impact</a:t>
            </a:r>
            <a:endParaRPr lang="en-US" sz="1600" dirty="0"/>
          </a:p>
        </p:txBody>
      </p:sp>
      <p:sp>
        <p:nvSpPr>
          <p:cNvPr id="49" name="Text 43"/>
          <p:cNvSpPr txBox="1"/>
          <p:nvPr/>
        </p:nvSpPr>
        <p:spPr>
          <a:xfrm>
            <a:off x="7376465" y="3916375"/>
            <a:ext cx="431962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these pricing records are wrong, what happens to revenue tomorrow?</a:t>
            </a:r>
            <a:endParaRPr lang="en-US" sz="1300" dirty="0"/>
          </a:p>
        </p:txBody>
      </p:sp>
      <p:sp>
        <p:nvSpPr>
          <p:cNvPr id="50" name="Text 44"/>
          <p:cNvSpPr txBox="1"/>
          <p:nvPr/>
        </p:nvSpPr>
        <p:spPr>
          <a:xfrm>
            <a:off x="7376465" y="4710989"/>
            <a:ext cx="27678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Determine SOC Response</a:t>
            </a:r>
            <a:endParaRPr lang="en-US" sz="1600" dirty="0"/>
          </a:p>
        </p:txBody>
      </p:sp>
      <p:sp>
        <p:nvSpPr>
          <p:cNvPr id="51" name="Text 45"/>
          <p:cNvSpPr txBox="1"/>
          <p:nvPr/>
        </p:nvSpPr>
        <p:spPr>
          <a:xfrm>
            <a:off x="7376465" y="5092294"/>
            <a:ext cx="4634179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need evidence. Is there a Change Request ticket for this?</a:t>
            </a:r>
            <a:endParaRPr lang="en-US" sz="1300" dirty="0"/>
          </a:p>
        </p:txBody>
      </p:sp>
      <p:sp>
        <p:nvSpPr>
          <p:cNvPr id="52" name="Text 46"/>
          <p:cNvSpPr txBox="1"/>
          <p:nvPr/>
        </p:nvSpPr>
        <p:spPr>
          <a:xfrm>
            <a:off x="7071055" y="5725058"/>
            <a:ext cx="16578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VIEW</a:t>
            </a:r>
            <a:endParaRPr lang="en-US" sz="1200" dirty="0"/>
          </a:p>
        </p:txBody>
      </p:sp>
      <p:sp>
        <p:nvSpPr>
          <p:cNvPr id="53" name="Text 47"/>
          <p:cNvSpPr txBox="1"/>
          <p:nvPr/>
        </p:nvSpPr>
        <p:spPr>
          <a:xfrm>
            <a:off x="7071055" y="5991149"/>
            <a:ext cx="31821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Silent changes are dangerous. We confirm</a:t>
            </a:r>
            <a:endParaRPr lang="en-US" sz="1200" dirty="0"/>
          </a:p>
        </p:txBody>
      </p:sp>
      <p:sp>
        <p:nvSpPr>
          <p:cNvPr id="54" name="Text 48"/>
          <p:cNvSpPr txBox="1"/>
          <p:nvPr/>
        </p:nvSpPr>
        <p:spPr>
          <a:xfrm>
            <a:off x="10128809" y="5991149"/>
            <a:ext cx="7525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Integrity</a:t>
            </a:r>
            <a:endParaRPr lang="en-US" sz="1200" dirty="0"/>
          </a:p>
        </p:txBody>
      </p:sp>
      <p:sp>
        <p:nvSpPr>
          <p:cNvPr id="55" name="Text 49"/>
          <p:cNvSpPr txBox="1"/>
          <p:nvPr/>
        </p:nvSpPr>
        <p:spPr>
          <a:xfrm>
            <a:off x="7071055" y="5991149"/>
            <a:ext cx="46863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checking Change Management logs before declaring an incident.</a:t>
            </a:r>
            <a:endParaRPr lang="en-US" sz="1200" dirty="0"/>
          </a:p>
        </p:txBody>
      </p:sp>
      <p:sp>
        <p:nvSpPr>
          <p:cNvPr id="56" name="Text 50"/>
          <p:cNvSpPr txBox="1"/>
          <p:nvPr/>
        </p:nvSpPr>
        <p:spPr>
          <a:xfrm>
            <a:off x="5224882" y="1779422"/>
            <a:ext cx="10625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ID: #409-MOD</a:t>
            </a:r>
            <a:endParaRPr lang="en-US" sz="1000" dirty="0"/>
          </a:p>
        </p:txBody>
      </p:sp>
      <p:sp>
        <p:nvSpPr>
          <p:cNvPr id="57" name="Shape 51"/>
          <p:cNvSpPr/>
          <p:nvPr/>
        </p:nvSpPr>
        <p:spPr>
          <a:xfrm>
            <a:off x="0" y="6581851"/>
            <a:ext cx="12191695" cy="276149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8" name="Shape 52"/>
          <p:cNvSpPr/>
          <p:nvPr/>
        </p:nvSpPr>
        <p:spPr>
          <a:xfrm>
            <a:off x="0" y="6581851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9" name="Shape 53"/>
          <p:cNvSpPr/>
          <p:nvPr/>
        </p:nvSpPr>
        <p:spPr>
          <a:xfrm>
            <a:off x="304495" y="6687007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3B82F6"/>
          </a:solidFill>
          <a:ln/>
        </p:spPr>
      </p:sp>
      <p:sp>
        <p:nvSpPr>
          <p:cNvPr id="60" name="Text 54"/>
          <p:cNvSpPr txBox="1"/>
          <p:nvPr/>
        </p:nvSpPr>
        <p:spPr>
          <a:xfrm>
            <a:off x="457200" y="6644030"/>
            <a:ext cx="32342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Day-6: CIA Triad &amp; Cyberspace Risk Management</a:t>
            </a:r>
            <a:endParaRPr lang="en-US" sz="1000" dirty="0"/>
          </a:p>
        </p:txBody>
      </p:sp>
      <p:sp>
        <p:nvSpPr>
          <p:cNvPr id="61" name="Text 55"/>
          <p:cNvSpPr txBox="1"/>
          <p:nvPr/>
        </p:nvSpPr>
        <p:spPr>
          <a:xfrm>
            <a:off x="11385194" y="6644030"/>
            <a:ext cx="6053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57</a:t>
            </a:r>
            <a:endParaRPr lang="en-US"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572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rcRect l="-2994" r="-2994" t="0" b="0"/>
          <a:stretch/>
        </p:blipFill>
        <p:spPr>
          <a:xfrm>
            <a:off x="304495" y="228600"/>
            <a:ext cx="161849" cy="1527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3154" y="209398"/>
            <a:ext cx="3020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11087100" y="213970"/>
            <a:ext cx="9098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2026-01-18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9669780" y="832104"/>
            <a:ext cx="2219249" cy="381305"/>
          </a:xfrm>
          <a:prstGeom prst="roundRect">
            <a:avLst>
              <a:gd name="adj" fmla="val 23981"/>
            </a:avLst>
          </a:prstGeom>
          <a:solidFill>
            <a:srgbClr val="3B82F6"/>
          </a:solidFill>
          <a:ln/>
          <a:effectLst>
            <a:outerShdw sx="100000" sy="100000" kx="0" ky="0" algn="bl" rotWithShape="0" blurRad="139700" dist="12700" dir="16200000">
              <a:srgbClr val="3b82f6">
                <a:alpha val="4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304495" y="1579169"/>
            <a:ext cx="6124651" cy="5162702"/>
          </a:xfrm>
          <a:prstGeom prst="roundRect">
            <a:avLst>
              <a:gd name="adj" fmla="val 392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  <a:effectLst>
            <a:outerShdw sx="100000" sy="100000" kx="0" ky="0" algn="bl" rotWithShape="0" blurRad="139700" dist="101600" dir="5400000">
              <a:srgbClr val="000000">
                <a:alpha val="3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14554" y="1588313"/>
            <a:ext cx="6105449" cy="562356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43154" y="1783994"/>
            <a:ext cx="171907" cy="17190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28446" y="1741018"/>
            <a:ext cx="291053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THINKING SCENARIO: PICK ONE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543154" y="2913278"/>
            <a:ext cx="5648249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Shape 10"/>
          <p:cNvSpPr/>
          <p:nvPr/>
        </p:nvSpPr>
        <p:spPr>
          <a:xfrm>
            <a:off x="543154" y="2827325"/>
            <a:ext cx="5648249" cy="9144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6" name="Shape 11"/>
          <p:cNvSpPr/>
          <p:nvPr/>
        </p:nvSpPr>
        <p:spPr>
          <a:xfrm>
            <a:off x="543154" y="3578047"/>
            <a:ext cx="5648249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7" name="Shape 12"/>
          <p:cNvSpPr/>
          <p:nvPr/>
        </p:nvSpPr>
        <p:spPr>
          <a:xfrm>
            <a:off x="1876349" y="3186684"/>
            <a:ext cx="4315054" cy="276149"/>
          </a:xfrm>
          <a:prstGeom prst="roundRect">
            <a:avLst>
              <a:gd name="adj" fmla="val 22836"/>
            </a:avLst>
          </a:prstGeom>
          <a:solidFill>
            <a:srgbClr val="2563EB">
              <a:alpha val="10000"/>
            </a:srgbClr>
          </a:solidFill>
          <a:ln/>
        </p:spPr>
      </p:sp>
      <p:sp>
        <p:nvSpPr>
          <p:cNvPr id="18" name="Shape 13"/>
          <p:cNvSpPr/>
          <p:nvPr/>
        </p:nvSpPr>
        <p:spPr>
          <a:xfrm>
            <a:off x="543154" y="4242816"/>
            <a:ext cx="5648249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9" name="Shape 14"/>
          <p:cNvSpPr/>
          <p:nvPr/>
        </p:nvSpPr>
        <p:spPr>
          <a:xfrm>
            <a:off x="1876349" y="3851453"/>
            <a:ext cx="4315054" cy="276149"/>
          </a:xfrm>
          <a:prstGeom prst="roundRect">
            <a:avLst>
              <a:gd name="adj" fmla="val 22836"/>
            </a:avLst>
          </a:prstGeom>
          <a:solidFill>
            <a:srgbClr val="2563EB">
              <a:alpha val="10000"/>
            </a:srgbClr>
          </a:solidFill>
          <a:ln/>
        </p:spPr>
      </p:sp>
      <p:sp>
        <p:nvSpPr>
          <p:cNvPr id="20" name="Shape 15"/>
          <p:cNvSpPr/>
          <p:nvPr/>
        </p:nvSpPr>
        <p:spPr>
          <a:xfrm>
            <a:off x="1876349" y="4516222"/>
            <a:ext cx="4315054" cy="276149"/>
          </a:xfrm>
          <a:prstGeom prst="roundRect">
            <a:avLst>
              <a:gd name="adj" fmla="val 22836"/>
            </a:avLst>
          </a:prstGeom>
          <a:solidFill>
            <a:srgbClr val="2563EB">
              <a:alpha val="10000"/>
            </a:srgbClr>
          </a:solidFill>
          <a:ln/>
        </p:spPr>
      </p:sp>
      <p:sp>
        <p:nvSpPr>
          <p:cNvPr id="21" name="Shape 16"/>
          <p:cNvSpPr/>
          <p:nvPr/>
        </p:nvSpPr>
        <p:spPr>
          <a:xfrm>
            <a:off x="6880860" y="2083918"/>
            <a:ext cx="5009998" cy="1920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2" name="Shape 17"/>
          <p:cNvSpPr/>
          <p:nvPr/>
        </p:nvSpPr>
        <p:spPr>
          <a:xfrm>
            <a:off x="6880860" y="2331720"/>
            <a:ext cx="342900" cy="342900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7015277" y="2374697"/>
            <a:ext cx="20482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6880860" y="3469234"/>
            <a:ext cx="342900" cy="342900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6997903" y="3512210"/>
            <a:ext cx="24323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6880860" y="4606747"/>
            <a:ext cx="342900" cy="342900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6996989" y="4648810"/>
            <a:ext cx="24323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6880860" y="5477256"/>
            <a:ext cx="5009998" cy="12573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Shape 24"/>
          <p:cNvSpPr/>
          <p:nvPr/>
        </p:nvSpPr>
        <p:spPr>
          <a:xfrm>
            <a:off x="6880860" y="5477256"/>
            <a:ext cx="38405" cy="12573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304495" y="761695"/>
            <a:ext cx="834390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Exercise: Risk Thinking &amp; SOC Visibility</a:t>
            </a:r>
            <a:endParaRPr lang="en-US" sz="330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5"/>
          <a:srcRect l="-2694" r="-2694" t="0" b="0"/>
          <a:stretch/>
        </p:blipFill>
        <p:spPr>
          <a:xfrm>
            <a:off x="9821570" y="946404"/>
            <a:ext cx="181051" cy="152705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10079431" y="927202"/>
            <a:ext cx="17721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OBSERVATION ONLY</a:t>
            </a:r>
            <a:endParaRPr lang="en-US" sz="1200" dirty="0"/>
          </a:p>
        </p:txBody>
      </p:sp>
      <p:sp>
        <p:nvSpPr>
          <p:cNvPr id="33" name="Text 27"/>
          <p:cNvSpPr txBox="1"/>
          <p:nvPr/>
        </p:nvSpPr>
        <p:spPr>
          <a:xfrm>
            <a:off x="543154" y="2493569"/>
            <a:ext cx="29105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Choose an asset to analyze:</a:t>
            </a:r>
            <a:endParaRPr lang="en-US" sz="1300" dirty="0"/>
          </a:p>
        </p:txBody>
      </p:sp>
      <p:sp>
        <p:nvSpPr>
          <p:cNvPr id="34" name="Text 28"/>
          <p:cNvSpPr txBox="1"/>
          <p:nvPr/>
        </p:nvSpPr>
        <p:spPr>
          <a:xfrm>
            <a:off x="543154" y="3205886"/>
            <a:ext cx="10625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 A:</a:t>
            </a:r>
            <a:endParaRPr lang="en-US" sz="1300" dirty="0"/>
          </a:p>
        </p:txBody>
      </p:sp>
      <p:sp>
        <p:nvSpPr>
          <p:cNvPr id="35" name="Text 29"/>
          <p:cNvSpPr txBox="1"/>
          <p:nvPr/>
        </p:nvSpPr>
        <p:spPr>
          <a:xfrm>
            <a:off x="1914754" y="3205886"/>
            <a:ext cx="25008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Corporate E-mail Server</a:t>
            </a:r>
            <a:endParaRPr lang="en-US" sz="1300" dirty="0"/>
          </a:p>
        </p:txBody>
      </p:sp>
      <p:sp>
        <p:nvSpPr>
          <p:cNvPr id="36" name="Text 30"/>
          <p:cNvSpPr txBox="1"/>
          <p:nvPr/>
        </p:nvSpPr>
        <p:spPr>
          <a:xfrm>
            <a:off x="543154" y="3870655"/>
            <a:ext cx="10625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 B:</a:t>
            </a:r>
            <a:endParaRPr lang="en-US" sz="1300" dirty="0"/>
          </a:p>
        </p:txBody>
      </p:sp>
      <p:sp>
        <p:nvSpPr>
          <p:cNvPr id="37" name="Text 31"/>
          <p:cNvSpPr txBox="1"/>
          <p:nvPr/>
        </p:nvSpPr>
        <p:spPr>
          <a:xfrm>
            <a:off x="1914754" y="3870655"/>
            <a:ext cx="27102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 Payment Database</a:t>
            </a:r>
            <a:endParaRPr lang="en-US" sz="1300" dirty="0"/>
          </a:p>
        </p:txBody>
      </p:sp>
      <p:sp>
        <p:nvSpPr>
          <p:cNvPr id="38" name="Text 32"/>
          <p:cNvSpPr txBox="1"/>
          <p:nvPr/>
        </p:nvSpPr>
        <p:spPr>
          <a:xfrm>
            <a:off x="543154" y="4535424"/>
            <a:ext cx="10625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 C:</a:t>
            </a:r>
            <a:endParaRPr lang="en-US" sz="1300" dirty="0"/>
          </a:p>
        </p:txBody>
      </p:sp>
      <p:sp>
        <p:nvSpPr>
          <p:cNvPr id="39" name="Text 33"/>
          <p:cNvSpPr txBox="1"/>
          <p:nvPr/>
        </p:nvSpPr>
        <p:spPr>
          <a:xfrm>
            <a:off x="1914754" y="4535424"/>
            <a:ext cx="29105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Internal Employee Directory</a:t>
            </a:r>
            <a:endParaRPr lang="en-US" sz="1300" dirty="0"/>
          </a:p>
        </p:txBody>
      </p:sp>
      <p:sp>
        <p:nvSpPr>
          <p:cNvPr id="40" name="Text 34"/>
          <p:cNvSpPr txBox="1"/>
          <p:nvPr/>
        </p:nvSpPr>
        <p:spPr>
          <a:xfrm>
            <a:off x="6880860" y="1684325"/>
            <a:ext cx="221467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Thinking Tasks</a:t>
            </a:r>
            <a:endParaRPr lang="en-US" sz="1600" dirty="0"/>
          </a:p>
        </p:txBody>
      </p:sp>
      <p:sp>
        <p:nvSpPr>
          <p:cNvPr id="41" name="Text 35"/>
          <p:cNvSpPr txBox="1"/>
          <p:nvPr/>
        </p:nvSpPr>
        <p:spPr>
          <a:xfrm>
            <a:off x="7376465" y="2360066"/>
            <a:ext cx="33869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Asset &amp; Possible Threat</a:t>
            </a:r>
            <a:endParaRPr lang="en-US" sz="1600" dirty="0"/>
          </a:p>
        </p:txBody>
      </p:sp>
      <p:sp>
        <p:nvSpPr>
          <p:cNvPr id="42" name="Text 36"/>
          <p:cNvSpPr txBox="1"/>
          <p:nvPr/>
        </p:nvSpPr>
        <p:spPr>
          <a:xfrm>
            <a:off x="7376465" y="2741371"/>
            <a:ext cx="447233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Pick one asset. What is a likely threat? (e.g., Phishing, SQL Injection, Credential Theft)</a:t>
            </a:r>
            <a:endParaRPr lang="en-US" sz="1300" dirty="0"/>
          </a:p>
        </p:txBody>
      </p:sp>
      <p:sp>
        <p:nvSpPr>
          <p:cNvPr id="43" name="Text 37"/>
          <p:cNvSpPr txBox="1"/>
          <p:nvPr/>
        </p:nvSpPr>
        <p:spPr>
          <a:xfrm>
            <a:off x="7376465" y="3497580"/>
            <a:ext cx="34536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 Possible Business Impact</a:t>
            </a:r>
            <a:endParaRPr lang="en-US" sz="1600" dirty="0"/>
          </a:p>
        </p:txBody>
      </p:sp>
      <p:sp>
        <p:nvSpPr>
          <p:cNvPr id="44" name="Text 38"/>
          <p:cNvSpPr txBox="1"/>
          <p:nvPr/>
        </p:nvSpPr>
        <p:spPr>
          <a:xfrm>
            <a:off x="7376465" y="3878885"/>
            <a:ext cx="4253789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the threat succeeds, does business stop? Is trust lost? Is data stolen?</a:t>
            </a:r>
            <a:endParaRPr lang="en-US" sz="1300" dirty="0"/>
          </a:p>
        </p:txBody>
      </p:sp>
      <p:sp>
        <p:nvSpPr>
          <p:cNvPr id="45" name="Text 39"/>
          <p:cNvSpPr txBox="1"/>
          <p:nvPr/>
        </p:nvSpPr>
        <p:spPr>
          <a:xfrm>
            <a:off x="7376465" y="4635094"/>
            <a:ext cx="29772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SOC Sees &amp; Escalates</a:t>
            </a:r>
            <a:endParaRPr lang="en-US" sz="1600" dirty="0"/>
          </a:p>
        </p:txBody>
      </p:sp>
      <p:sp>
        <p:nvSpPr>
          <p:cNvPr id="46" name="Text 40"/>
          <p:cNvSpPr txBox="1"/>
          <p:nvPr/>
        </p:nvSpPr>
        <p:spPr>
          <a:xfrm>
            <a:off x="7376465" y="5016398"/>
            <a:ext cx="442478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alerts would you see? You provide visibility, not risk decisions.</a:t>
            </a:r>
            <a:endParaRPr lang="en-US" sz="1300" dirty="0"/>
          </a:p>
        </p:txBody>
      </p:sp>
      <p:sp>
        <p:nvSpPr>
          <p:cNvPr id="47" name="Text 41"/>
          <p:cNvSpPr txBox="1"/>
          <p:nvPr/>
        </p:nvSpPr>
        <p:spPr>
          <a:xfrm>
            <a:off x="7071055" y="5648249"/>
            <a:ext cx="19531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BOUNDARY CHECK</a:t>
            </a:r>
            <a:endParaRPr lang="en-US" sz="1200" dirty="0"/>
          </a:p>
        </p:txBody>
      </p:sp>
      <p:sp>
        <p:nvSpPr>
          <p:cNvPr id="48" name="Text 42"/>
          <p:cNvSpPr txBox="1"/>
          <p:nvPr/>
        </p:nvSpPr>
        <p:spPr>
          <a:xfrm>
            <a:off x="7071055" y="5915254"/>
            <a:ext cx="9052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Important:</a:t>
            </a:r>
            <a:endParaRPr lang="en-US" sz="1200" dirty="0"/>
          </a:p>
        </p:txBody>
      </p:sp>
      <p:sp>
        <p:nvSpPr>
          <p:cNvPr id="49" name="Text 43"/>
          <p:cNvSpPr txBox="1"/>
          <p:nvPr/>
        </p:nvSpPr>
        <p:spPr>
          <a:xfrm>
            <a:off x="7071055" y="5915254"/>
            <a:ext cx="4258361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identify the asset and report the threat. We do</a:t>
            </a:r>
            <a:endParaRPr lang="en-US" sz="1200" dirty="0"/>
          </a:p>
        </p:txBody>
      </p:sp>
      <p:sp>
        <p:nvSpPr>
          <p:cNvPr id="50" name="Text 44"/>
          <p:cNvSpPr txBox="1"/>
          <p:nvPr/>
        </p:nvSpPr>
        <p:spPr>
          <a:xfrm>
            <a:off x="7255764" y="6143854"/>
            <a:ext cx="3529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</a:t>
            </a:r>
            <a:endParaRPr lang="en-US" sz="1200" dirty="0"/>
          </a:p>
        </p:txBody>
      </p:sp>
      <p:sp>
        <p:nvSpPr>
          <p:cNvPr id="51" name="Text 45"/>
          <p:cNvSpPr txBox="1"/>
          <p:nvPr/>
        </p:nvSpPr>
        <p:spPr>
          <a:xfrm>
            <a:off x="7071055" y="6143854"/>
            <a:ext cx="456285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decide if the risk is "acceptable" to the business—that's for management.</a:t>
            </a:r>
            <a:endParaRPr lang="en-US" sz="1200" dirty="0"/>
          </a:p>
        </p:txBody>
      </p:sp>
      <p:sp>
        <p:nvSpPr>
          <p:cNvPr id="52" name="Text 46"/>
          <p:cNvSpPr txBox="1"/>
          <p:nvPr/>
        </p:nvSpPr>
        <p:spPr>
          <a:xfrm>
            <a:off x="5145329" y="1779422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ID: THINK-001</a:t>
            </a:r>
            <a:endParaRPr lang="en-US" sz="1000" dirty="0"/>
          </a:p>
        </p:txBody>
      </p:sp>
      <p:sp>
        <p:nvSpPr>
          <p:cNvPr id="53" name="Shape 47"/>
          <p:cNvSpPr/>
          <p:nvPr/>
        </p:nvSpPr>
        <p:spPr>
          <a:xfrm>
            <a:off x="0" y="6734556"/>
            <a:ext cx="12191695" cy="20939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4" name="Shape 48"/>
          <p:cNvSpPr/>
          <p:nvPr/>
        </p:nvSpPr>
        <p:spPr>
          <a:xfrm>
            <a:off x="0" y="6734556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5" name="Shape 49"/>
          <p:cNvSpPr/>
          <p:nvPr/>
        </p:nvSpPr>
        <p:spPr>
          <a:xfrm>
            <a:off x="304495" y="6805879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3B82F6"/>
          </a:solidFill>
          <a:ln/>
        </p:spPr>
      </p:sp>
      <p:sp>
        <p:nvSpPr>
          <p:cNvPr id="56" name="Text 50"/>
          <p:cNvSpPr txBox="1"/>
          <p:nvPr/>
        </p:nvSpPr>
        <p:spPr>
          <a:xfrm>
            <a:off x="457200" y="6762902"/>
            <a:ext cx="32342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Day-6: CIA Triad &amp; Cyberspace Risk Management</a:t>
            </a:r>
            <a:endParaRPr lang="en-US" sz="1000" dirty="0"/>
          </a:p>
        </p:txBody>
      </p:sp>
      <p:sp>
        <p:nvSpPr>
          <p:cNvPr id="57" name="Text 51"/>
          <p:cNvSpPr txBox="1"/>
          <p:nvPr/>
        </p:nvSpPr>
        <p:spPr>
          <a:xfrm>
            <a:off x="11378794" y="6762902"/>
            <a:ext cx="6144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58</a:t>
            </a:r>
            <a:endParaRPr lang="en-US" sz="1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572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rcRect l="-2994" r="-2994" t="0" b="0"/>
          <a:stretch/>
        </p:blipFill>
        <p:spPr>
          <a:xfrm>
            <a:off x="304495" y="228600"/>
            <a:ext cx="161849" cy="1527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3154" y="209398"/>
            <a:ext cx="3020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11087100" y="213970"/>
            <a:ext cx="9098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2026-01-18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304495" y="2326234"/>
            <a:ext cx="3600907" cy="1657807"/>
          </a:xfrm>
          <a:prstGeom prst="roundRect">
            <a:avLst>
              <a:gd name="adj" fmla="val 380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43154" y="2563978"/>
            <a:ext cx="304495" cy="304495"/>
          </a:xfrm>
          <a:prstGeom prst="ellipse">
            <a:avLst/>
          </a:prstGeom>
          <a:solidFill>
            <a:srgbClr val="10B981">
              <a:alpha val="15000"/>
            </a:srgbClr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rcRect l="0" r="0" t="-43" b="-43"/>
          <a:stretch/>
        </p:blipFill>
        <p:spPr>
          <a:xfrm>
            <a:off x="629107" y="2639873"/>
            <a:ext cx="133502" cy="152705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127602" y="2326234"/>
            <a:ext cx="3600907" cy="1657807"/>
          </a:xfrm>
          <a:prstGeom prst="roundRect">
            <a:avLst>
              <a:gd name="adj" fmla="val 380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4365346" y="2563978"/>
            <a:ext cx="304495" cy="304495"/>
          </a:xfrm>
          <a:prstGeom prst="ellipse">
            <a:avLst/>
          </a:prstGeom>
          <a:solidFill>
            <a:srgbClr val="10B981">
              <a:alpha val="15000"/>
            </a:srgbClr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5"/>
          <a:srcRect l="0" r="0" t="-43" b="-43"/>
          <a:stretch/>
        </p:blipFill>
        <p:spPr>
          <a:xfrm>
            <a:off x="4451299" y="2639873"/>
            <a:ext cx="133502" cy="152705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304495" y="4211726"/>
            <a:ext cx="3600907" cy="1657807"/>
          </a:xfrm>
          <a:prstGeom prst="roundRect">
            <a:avLst>
              <a:gd name="adj" fmla="val 380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543154" y="4450385"/>
            <a:ext cx="304495" cy="304495"/>
          </a:xfrm>
          <a:prstGeom prst="ellipse">
            <a:avLst/>
          </a:prstGeom>
          <a:solidFill>
            <a:srgbClr val="10B981">
              <a:alpha val="15000"/>
            </a:srgbClr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6"/>
          <a:srcRect l="0" r="0" t="-43" b="-43"/>
          <a:stretch/>
        </p:blipFill>
        <p:spPr>
          <a:xfrm>
            <a:off x="629107" y="4526280"/>
            <a:ext cx="133502" cy="152705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4127602" y="4211726"/>
            <a:ext cx="3600907" cy="1657807"/>
          </a:xfrm>
          <a:prstGeom prst="roundRect">
            <a:avLst>
              <a:gd name="adj" fmla="val 380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2"/>
          <p:cNvSpPr/>
          <p:nvPr/>
        </p:nvSpPr>
        <p:spPr>
          <a:xfrm>
            <a:off x="4365346" y="4450385"/>
            <a:ext cx="304495" cy="304495"/>
          </a:xfrm>
          <a:prstGeom prst="ellipse">
            <a:avLst/>
          </a:prstGeom>
          <a:solidFill>
            <a:srgbClr val="10B981">
              <a:alpha val="15000"/>
            </a:srgbClr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7"/>
          <a:srcRect l="0" r="0" t="-43" b="-43"/>
          <a:stretch/>
        </p:blipFill>
        <p:spPr>
          <a:xfrm>
            <a:off x="4451299" y="4526280"/>
            <a:ext cx="133502" cy="152705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304495" y="838505"/>
            <a:ext cx="9829800" cy="1114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Summary: Security Mindset &amp; Risk Awareness</a:t>
            </a:r>
            <a:endParaRPr lang="en-US" sz="3600" dirty="0"/>
          </a:p>
        </p:txBody>
      </p:sp>
      <p:sp>
        <p:nvSpPr>
          <p:cNvPr id="22" name="Text 14"/>
          <p:cNvSpPr txBox="1"/>
          <p:nvPr/>
        </p:nvSpPr>
        <p:spPr>
          <a:xfrm>
            <a:off x="961949" y="2602382"/>
            <a:ext cx="21058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CIA is the Foundation</a:t>
            </a:r>
            <a:endParaRPr lang="en-US" sz="1500" dirty="0"/>
          </a:p>
        </p:txBody>
      </p:sp>
      <p:sp>
        <p:nvSpPr>
          <p:cNvPr id="23" name="Text 15"/>
          <p:cNvSpPr txBox="1"/>
          <p:nvPr/>
        </p:nvSpPr>
        <p:spPr>
          <a:xfrm>
            <a:off x="543154" y="3078785"/>
            <a:ext cx="3229661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alert affects Confidentiality, Integrity, or Availability. Use these terms to communicate clearly.</a:t>
            </a:r>
            <a:endParaRPr lang="en-US" sz="1200" dirty="0"/>
          </a:p>
        </p:txBody>
      </p:sp>
      <p:sp>
        <p:nvSpPr>
          <p:cNvPr id="24" name="Text 16"/>
          <p:cNvSpPr txBox="1"/>
          <p:nvPr/>
        </p:nvSpPr>
        <p:spPr>
          <a:xfrm>
            <a:off x="4785055" y="2602382"/>
            <a:ext cx="20098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= Threat × Vuln</a:t>
            </a:r>
            <a:endParaRPr lang="en-US" sz="1500" dirty="0"/>
          </a:p>
        </p:txBody>
      </p:sp>
      <p:sp>
        <p:nvSpPr>
          <p:cNvPr id="25" name="Text 17"/>
          <p:cNvSpPr txBox="1"/>
          <p:nvPr/>
        </p:nvSpPr>
        <p:spPr>
          <a:xfrm>
            <a:off x="4365346" y="3078785"/>
            <a:ext cx="3143707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happens when a threat meets a weakness. We spot the connection before impact occurs.</a:t>
            </a:r>
            <a:endParaRPr lang="en-US" sz="1200" dirty="0"/>
          </a:p>
        </p:txBody>
      </p:sp>
      <p:sp>
        <p:nvSpPr>
          <p:cNvPr id="26" name="Text 18"/>
          <p:cNvSpPr txBox="1"/>
          <p:nvPr/>
        </p:nvSpPr>
        <p:spPr>
          <a:xfrm>
            <a:off x="961949" y="4487875"/>
            <a:ext cx="17245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Over Fear</a:t>
            </a:r>
            <a:endParaRPr lang="en-US" sz="1500" dirty="0"/>
          </a:p>
        </p:txBody>
      </p:sp>
      <p:sp>
        <p:nvSpPr>
          <p:cNvPr id="27" name="Text 19"/>
          <p:cNvSpPr txBox="1"/>
          <p:nvPr/>
        </p:nvSpPr>
        <p:spPr>
          <a:xfrm>
            <a:off x="543154" y="4964278"/>
            <a:ext cx="3219602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Don't just react to scary words. Ask: "What is the business impact?" and "Which asset is at risk?"</a:t>
            </a:r>
            <a:endParaRPr lang="en-US" sz="1200" dirty="0"/>
          </a:p>
        </p:txBody>
      </p:sp>
      <p:sp>
        <p:nvSpPr>
          <p:cNvPr id="28" name="Text 20"/>
          <p:cNvSpPr txBox="1"/>
          <p:nvPr/>
        </p:nvSpPr>
        <p:spPr>
          <a:xfrm>
            <a:off x="4785055" y="4487875"/>
            <a:ext cx="22576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Provides Visibility</a:t>
            </a:r>
            <a:endParaRPr lang="en-US" sz="1500" dirty="0"/>
          </a:p>
        </p:txBody>
      </p:sp>
      <p:sp>
        <p:nvSpPr>
          <p:cNvPr id="29" name="Text 21"/>
          <p:cNvSpPr txBox="1"/>
          <p:nvPr/>
        </p:nvSpPr>
        <p:spPr>
          <a:xfrm>
            <a:off x="4365346" y="4964278"/>
            <a:ext cx="3143707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don't decide risk acceptance. We provide the evidence needed for business owners to decide.</a:t>
            </a:r>
            <a:endParaRPr lang="en-US" sz="1200" dirty="0"/>
          </a:p>
        </p:txBody>
      </p:sp>
      <p:sp>
        <p:nvSpPr>
          <p:cNvPr id="30" name="Shape 22"/>
          <p:cNvSpPr/>
          <p:nvPr/>
        </p:nvSpPr>
        <p:spPr>
          <a:xfrm>
            <a:off x="8178394" y="2326234"/>
            <a:ext cx="3715207" cy="3733495"/>
          </a:xfrm>
          <a:prstGeom prst="roundRect">
            <a:avLst>
              <a:gd name="adj" fmla="val 757"/>
            </a:avLst>
          </a:prstGeom>
          <a:noFill/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39700" dist="101600" dir="5400000">
              <a:srgbClr val="000000">
                <a:alpha val="30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8492947" y="2201875"/>
            <a:ext cx="2286000" cy="276149"/>
          </a:xfrm>
          <a:prstGeom prst="roundRect">
            <a:avLst>
              <a:gd name="adj" fmla="val 331126"/>
            </a:avLst>
          </a:prstGeom>
          <a:solidFill>
            <a:srgbClr val="3B82F6"/>
          </a:solidFill>
          <a:ln/>
        </p:spPr>
      </p:sp>
      <p:sp>
        <p:nvSpPr>
          <p:cNvPr id="32" name="Text 24"/>
          <p:cNvSpPr txBox="1"/>
          <p:nvPr/>
        </p:nvSpPr>
        <p:spPr>
          <a:xfrm>
            <a:off x="8645652" y="2259482"/>
            <a:ext cx="20820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TO THINK NEXT SHIFT</a:t>
            </a:r>
            <a:endParaRPr lang="en-US" sz="1000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8"/>
          <a:srcRect l="0" r="0" t="-58112" b="-58112"/>
          <a:stretch/>
        </p:blipFill>
        <p:spPr>
          <a:xfrm>
            <a:off x="8492947" y="3201314"/>
            <a:ext cx="171907" cy="495605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8816645" y="3182112"/>
            <a:ext cx="27057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Pause &amp; Categorize: Is this a C, I, or A problem?</a:t>
            </a:r>
            <a:endParaRPr lang="en-US" sz="1500" dirty="0"/>
          </a:p>
        </p:txBody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9"/>
          <a:srcRect l="0" r="0" t="-58400" b="-58400"/>
          <a:stretch/>
        </p:blipFill>
        <p:spPr>
          <a:xfrm>
            <a:off x="8492947" y="3963010"/>
            <a:ext cx="228600" cy="495605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8874252" y="3943807"/>
            <a:ext cx="254386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Value: Is this asset critical to the business?</a:t>
            </a:r>
            <a:endParaRPr lang="en-US" sz="1500" dirty="0"/>
          </a:p>
        </p:txBody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10"/>
          <a:srcRect l="0" r="0" t="-58276" b="-58276"/>
          <a:stretch/>
        </p:blipFill>
        <p:spPr>
          <a:xfrm>
            <a:off x="8492947" y="4725619"/>
            <a:ext cx="200254" cy="495605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8845906" y="4706417"/>
            <a:ext cx="2638958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Escalate Facts: Report what you see, not what you fear.</a:t>
            </a:r>
            <a:endParaRPr lang="en-US" sz="1500" dirty="0"/>
          </a:p>
        </p:txBody>
      </p:sp>
      <p:sp>
        <p:nvSpPr>
          <p:cNvPr id="39" name="Shape 28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0" name="Shape 29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1" name="Shape 30"/>
          <p:cNvSpPr/>
          <p:nvPr/>
        </p:nvSpPr>
        <p:spPr>
          <a:xfrm>
            <a:off x="304495" y="6538874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3B82F6"/>
          </a:solidFill>
          <a:ln/>
        </p:spPr>
      </p:sp>
      <p:sp>
        <p:nvSpPr>
          <p:cNvPr id="42" name="Text 31"/>
          <p:cNvSpPr txBox="1"/>
          <p:nvPr/>
        </p:nvSpPr>
        <p:spPr>
          <a:xfrm>
            <a:off x="457200" y="6495898"/>
            <a:ext cx="32342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Day-6: CIA Triad &amp; Cyberspace Risk Management</a:t>
            </a:r>
            <a:endParaRPr lang="en-US" sz="1000" dirty="0"/>
          </a:p>
        </p:txBody>
      </p:sp>
      <p:sp>
        <p:nvSpPr>
          <p:cNvPr id="43" name="Text 32"/>
          <p:cNvSpPr txBox="1"/>
          <p:nvPr/>
        </p:nvSpPr>
        <p:spPr>
          <a:xfrm>
            <a:off x="11377879" y="6495898"/>
            <a:ext cx="6144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59</a:t>
            </a:r>
            <a:endParaRPr lang="en-US" sz="1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572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rcRect l="-2994" r="-2994" t="0" b="0"/>
          <a:stretch/>
        </p:blipFill>
        <p:spPr>
          <a:xfrm>
            <a:off x="304495" y="228600"/>
            <a:ext cx="161849" cy="1527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3154" y="209398"/>
            <a:ext cx="3020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ANALYST TRAINING PROGRAM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11087100" y="213970"/>
            <a:ext cx="9098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2026-01-18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5639105" y="1644091"/>
            <a:ext cx="914400" cy="914400"/>
          </a:xfrm>
          <a:prstGeom prst="ellipse">
            <a:avLst/>
          </a:prstGeom>
          <a:solidFill>
            <a:srgbClr val="10B981">
              <a:alpha val="10000"/>
            </a:srgbClr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292100" dist="12700" dir="16200000">
              <a:srgbClr val="10b981">
                <a:alpha val="20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/>
          <a:srcRect l="-17" r="-17" t="0" b="0"/>
          <a:stretch/>
        </p:blipFill>
        <p:spPr>
          <a:xfrm>
            <a:off x="5928970" y="1911096"/>
            <a:ext cx="333756" cy="381305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5524805" y="5071262"/>
            <a:ext cx="1143000" cy="38405"/>
          </a:xfrm>
          <a:prstGeom prst="roundRect">
            <a:avLst>
              <a:gd name="adj" fmla="val 1190470"/>
            </a:avLst>
          </a:prstGeom>
          <a:solidFill>
            <a:srgbClr val="3B82F6"/>
          </a:solidFill>
          <a:ln/>
        </p:spPr>
      </p:sp>
      <p:sp>
        <p:nvSpPr>
          <p:cNvPr id="12" name="Text 7"/>
          <p:cNvSpPr txBox="1"/>
          <p:nvPr/>
        </p:nvSpPr>
        <p:spPr>
          <a:xfrm>
            <a:off x="5015484" y="2948940"/>
            <a:ext cx="22914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06 COMPLETE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1360627" y="3434486"/>
            <a:ext cx="9820656" cy="1162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“You now understand the CIA Triad and how SOC teams view cyber risk and impact.”</a:t>
            </a:r>
            <a:endParaRPr lang="en-US" sz="3600" dirty="0"/>
          </a:p>
        </p:txBody>
      </p:sp>
      <p:sp>
        <p:nvSpPr>
          <p:cNvPr id="14" name="Shape 9"/>
          <p:cNvSpPr/>
          <p:nvPr/>
        </p:nvSpPr>
        <p:spPr>
          <a:xfrm>
            <a:off x="0" y="6286500"/>
            <a:ext cx="12191695" cy="571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5" name="Shape 10"/>
          <p:cNvSpPr/>
          <p:nvPr/>
        </p:nvSpPr>
        <p:spPr>
          <a:xfrm>
            <a:off x="0" y="6286500"/>
            <a:ext cx="12191695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6" name="Shape 11"/>
          <p:cNvSpPr/>
          <p:nvPr/>
        </p:nvSpPr>
        <p:spPr>
          <a:xfrm>
            <a:off x="304495" y="6538874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3B82F6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457200" y="6495898"/>
            <a:ext cx="32342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Day-6: CIA Triad &amp; Cyberspace Risk Management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11373307" y="6495898"/>
            <a:ext cx="6144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60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60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2026-01-18T04:51:06Z</dcterms:created>
  <dcterms:modified xsi:type="dcterms:W3CDTF">2026-01-18T04:51:06Z</dcterms:modified>
</cp:coreProperties>
</file>
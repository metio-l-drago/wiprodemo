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</p:sldIdLst>
  <p:notesMasterIdLst>
    <p:notesMasterId r:id="rId1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notesMaster" Target="notesMasters/notesMaster1.xml"/><Relationship Id="rId143" Type="http://schemas.openxmlformats.org/officeDocument/2006/relationships/presProps" Target="presProps.xml"/><Relationship Id="rId144" Type="http://schemas.openxmlformats.org/officeDocument/2006/relationships/viewProps" Target="viewProps.xml"/><Relationship Id="rId145" Type="http://schemas.openxmlformats.org/officeDocument/2006/relationships/theme" Target="theme/theme1.xml"/><Relationship Id="rId1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image" Target="../media/image-3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image" Target="../media/image-3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image" Target="../media/image-35-5.png"/><Relationship Id="rId6" Type="http://schemas.openxmlformats.org/officeDocument/2006/relationships/image" Target="../media/image-3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image" Target="../media/image-40-5.png"/><Relationship Id="rId6" Type="http://schemas.openxmlformats.org/officeDocument/2006/relationships/image" Target="../media/image-4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image" Target="../media/image-41-4.png"/><Relationship Id="rId5" Type="http://schemas.openxmlformats.org/officeDocument/2006/relationships/image" Target="../media/image-41-5.png"/><Relationship Id="rId6" Type="http://schemas.openxmlformats.org/officeDocument/2006/relationships/image" Target="../media/image-4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image" Target="../media/image-42-5.png"/><Relationship Id="rId6" Type="http://schemas.openxmlformats.org/officeDocument/2006/relationships/image" Target="../media/image-4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image" Target="../media/image-44-4.png"/><Relationship Id="rId5" Type="http://schemas.openxmlformats.org/officeDocument/2006/relationships/image" Target="../media/image-4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image" Target="../media/image-45-4.png"/><Relationship Id="rId5" Type="http://schemas.openxmlformats.org/officeDocument/2006/relationships/image" Target="../media/image-4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image" Target="../media/image-46-3.png"/><Relationship Id="rId4" Type="http://schemas.openxmlformats.org/officeDocument/2006/relationships/image" Target="../media/image-46-4.png"/><Relationship Id="rId5" Type="http://schemas.openxmlformats.org/officeDocument/2006/relationships/image" Target="../media/image-4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image" Target="../media/image-47-4.png"/><Relationship Id="rId5" Type="http://schemas.openxmlformats.org/officeDocument/2006/relationships/image" Target="../media/image-47-5.png"/><Relationship Id="rId6" Type="http://schemas.openxmlformats.org/officeDocument/2006/relationships/image" Target="../media/image-4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image" Target="../media/image-48-4.png"/><Relationship Id="rId5" Type="http://schemas.openxmlformats.org/officeDocument/2006/relationships/image" Target="../media/image-4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image" Target="../media/image-49-4.png"/><Relationship Id="rId5" Type="http://schemas.openxmlformats.org/officeDocument/2006/relationships/image" Target="../media/image-49-5.png"/><Relationship Id="rId6" Type="http://schemas.openxmlformats.org/officeDocument/2006/relationships/image" Target="../media/image-4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image" Target="../media/image-5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png"/><Relationship Id="rId4" Type="http://schemas.openxmlformats.org/officeDocument/2006/relationships/image" Target="../media/image-51-4.png"/><Relationship Id="rId5" Type="http://schemas.openxmlformats.org/officeDocument/2006/relationships/image" Target="../media/image-51-5.png"/><Relationship Id="rId6" Type="http://schemas.openxmlformats.org/officeDocument/2006/relationships/image" Target="../media/image-5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3.png"/><Relationship Id="rId4" Type="http://schemas.openxmlformats.org/officeDocument/2006/relationships/image" Target="../media/image-52-4.png"/><Relationship Id="rId5" Type="http://schemas.openxmlformats.org/officeDocument/2006/relationships/image" Target="../media/image-52-5.png"/><Relationship Id="rId6" Type="http://schemas.openxmlformats.org/officeDocument/2006/relationships/image" Target="../media/image-5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image" Target="../media/image-53-3.png"/><Relationship Id="rId4" Type="http://schemas.openxmlformats.org/officeDocument/2006/relationships/image" Target="../media/image-5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image" Target="../media/image-55-4.png"/><Relationship Id="rId5" Type="http://schemas.openxmlformats.org/officeDocument/2006/relationships/image" Target="../media/image-55-5.png"/><Relationship Id="rId6" Type="http://schemas.openxmlformats.org/officeDocument/2006/relationships/image" Target="../media/image-5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image" Target="../media/image-56-3.png"/><Relationship Id="rId4" Type="http://schemas.openxmlformats.org/officeDocument/2006/relationships/image" Target="../media/image-56-4.png"/><Relationship Id="rId5" Type="http://schemas.openxmlformats.org/officeDocument/2006/relationships/image" Target="../media/image-56-5.png"/><Relationship Id="rId6" Type="http://schemas.openxmlformats.org/officeDocument/2006/relationships/image" Target="../media/image-56-6.png"/><Relationship Id="rId7" Type="http://schemas.openxmlformats.org/officeDocument/2006/relationships/image" Target="../media/image-56-7.png"/><Relationship Id="rId8" Type="http://schemas.openxmlformats.org/officeDocument/2006/relationships/image" Target="../media/image-56-8.png"/><Relationship Id="rId9" Type="http://schemas.openxmlformats.org/officeDocument/2006/relationships/image" Target="../media/image-5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image" Target="../media/image-57-3.png"/><Relationship Id="rId4" Type="http://schemas.openxmlformats.org/officeDocument/2006/relationships/image" Target="../media/image-57-4.png"/><Relationship Id="rId5" Type="http://schemas.openxmlformats.org/officeDocument/2006/relationships/image" Target="../media/image-57-5.png"/><Relationship Id="rId6" Type="http://schemas.openxmlformats.org/officeDocument/2006/relationships/image" Target="../media/image-5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image" Target="../media/image-58-3.png"/><Relationship Id="rId4" Type="http://schemas.openxmlformats.org/officeDocument/2006/relationships/image" Target="../media/image-58-4.png"/><Relationship Id="rId5" Type="http://schemas.openxmlformats.org/officeDocument/2006/relationships/image" Target="../media/image-58-5.png"/><Relationship Id="rId6" Type="http://schemas.openxmlformats.org/officeDocument/2006/relationships/image" Target="../media/image-5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image" Target="../media/image-59-3.png"/><Relationship Id="rId4" Type="http://schemas.openxmlformats.org/officeDocument/2006/relationships/image" Target="../media/image-59-4.png"/><Relationship Id="rId5" Type="http://schemas.openxmlformats.org/officeDocument/2006/relationships/image" Target="../media/image-59-5.png"/><Relationship Id="rId6" Type="http://schemas.openxmlformats.org/officeDocument/2006/relationships/image" Target="../media/image-5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image" Target="../media/image-60-3.png"/><Relationship Id="rId4" Type="http://schemas.openxmlformats.org/officeDocument/2006/relationships/image" Target="../media/image-60-4.png"/><Relationship Id="rId5" Type="http://schemas.openxmlformats.org/officeDocument/2006/relationships/image" Target="../media/image-60-5.png"/><Relationship Id="rId6" Type="http://schemas.openxmlformats.org/officeDocument/2006/relationships/image" Target="../media/image-6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image" Target="../media/image-63-3.png"/><Relationship Id="rId4" Type="http://schemas.openxmlformats.org/officeDocument/2006/relationships/image" Target="../media/image-63-4.png"/><Relationship Id="rId5" Type="http://schemas.openxmlformats.org/officeDocument/2006/relationships/image" Target="../media/image-63-5.png"/><Relationship Id="rId6" Type="http://schemas.openxmlformats.org/officeDocument/2006/relationships/image" Target="../media/image-6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png"/><Relationship Id="rId3" Type="http://schemas.openxmlformats.org/officeDocument/2006/relationships/image" Target="../media/image-65-3.png"/><Relationship Id="rId4" Type="http://schemas.openxmlformats.org/officeDocument/2006/relationships/image" Target="../media/image-65-4.png"/><Relationship Id="rId5" Type="http://schemas.openxmlformats.org/officeDocument/2006/relationships/image" Target="../media/image-65-5.png"/><Relationship Id="rId6" Type="http://schemas.openxmlformats.org/officeDocument/2006/relationships/image" Target="../media/image-6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png"/><Relationship Id="rId3" Type="http://schemas.openxmlformats.org/officeDocument/2006/relationships/image" Target="../media/image-68-3.png"/><Relationship Id="rId4" Type="http://schemas.openxmlformats.org/officeDocument/2006/relationships/image" Target="../media/image-68-4.png"/><Relationship Id="rId5" Type="http://schemas.openxmlformats.org/officeDocument/2006/relationships/image" Target="../media/image-6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image" Target="../media/image-7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image" Target="../media/image-71-2.png"/><Relationship Id="rId3" Type="http://schemas.openxmlformats.org/officeDocument/2006/relationships/image" Target="../media/image-71-3.png"/><Relationship Id="rId4" Type="http://schemas.openxmlformats.org/officeDocument/2006/relationships/image" Target="../media/image-71-4.png"/><Relationship Id="rId5" Type="http://schemas.openxmlformats.org/officeDocument/2006/relationships/image" Target="../media/image-71-5.png"/><Relationship Id="rId6" Type="http://schemas.openxmlformats.org/officeDocument/2006/relationships/image" Target="../media/image-7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72-2.png"/><Relationship Id="rId3" Type="http://schemas.openxmlformats.org/officeDocument/2006/relationships/image" Target="../media/image-72-3.png"/><Relationship Id="rId4" Type="http://schemas.openxmlformats.org/officeDocument/2006/relationships/image" Target="../media/image-72-4.png"/><Relationship Id="rId5" Type="http://schemas.openxmlformats.org/officeDocument/2006/relationships/image" Target="../media/image-72-5.png"/><Relationship Id="rId6" Type="http://schemas.openxmlformats.org/officeDocument/2006/relationships/image" Target="../media/image-7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image" Target="../media/image-73-2.png"/><Relationship Id="rId3" Type="http://schemas.openxmlformats.org/officeDocument/2006/relationships/image" Target="../media/image-73-3.png"/><Relationship Id="rId4" Type="http://schemas.openxmlformats.org/officeDocument/2006/relationships/image" Target="../media/image-73-4.png"/><Relationship Id="rId5" Type="http://schemas.openxmlformats.org/officeDocument/2006/relationships/image" Target="../media/image-73-5.png"/><Relationship Id="rId6" Type="http://schemas.openxmlformats.org/officeDocument/2006/relationships/image" Target="../media/image-7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image" Target="../media/image-74-2.png"/><Relationship Id="rId3" Type="http://schemas.openxmlformats.org/officeDocument/2006/relationships/image" Target="../media/image-74-3.png"/><Relationship Id="rId4" Type="http://schemas.openxmlformats.org/officeDocument/2006/relationships/image" Target="../media/image-74-4.png"/><Relationship Id="rId5" Type="http://schemas.openxmlformats.org/officeDocument/2006/relationships/image" Target="../media/image-74-5.png"/><Relationship Id="rId6" Type="http://schemas.openxmlformats.org/officeDocument/2006/relationships/image" Target="../media/image-7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75-2.png"/><Relationship Id="rId3" Type="http://schemas.openxmlformats.org/officeDocument/2006/relationships/image" Target="../media/image-75-3.png"/><Relationship Id="rId4" Type="http://schemas.openxmlformats.org/officeDocument/2006/relationships/image" Target="../media/image-7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image" Target="../media/image-76-2.png"/><Relationship Id="rId3" Type="http://schemas.openxmlformats.org/officeDocument/2006/relationships/image" Target="../media/image-76-3.png"/><Relationship Id="rId4" Type="http://schemas.openxmlformats.org/officeDocument/2006/relationships/image" Target="../media/image-76-4.png"/><Relationship Id="rId5" Type="http://schemas.openxmlformats.org/officeDocument/2006/relationships/image" Target="../media/image-7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image" Target="../media/image-77-2.png"/><Relationship Id="rId3" Type="http://schemas.openxmlformats.org/officeDocument/2006/relationships/image" Target="../media/image-77-3.png"/><Relationship Id="rId4" Type="http://schemas.openxmlformats.org/officeDocument/2006/relationships/image" Target="../media/image-77-4.png"/><Relationship Id="rId5" Type="http://schemas.openxmlformats.org/officeDocument/2006/relationships/image" Target="../media/image-77-5.png"/><Relationship Id="rId6" Type="http://schemas.openxmlformats.org/officeDocument/2006/relationships/image" Target="../media/image-7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image" Target="../media/image-78-2.png"/><Relationship Id="rId3" Type="http://schemas.openxmlformats.org/officeDocument/2006/relationships/image" Target="../media/image-78-3.png"/><Relationship Id="rId4" Type="http://schemas.openxmlformats.org/officeDocument/2006/relationships/image" Target="../media/image-7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image" Target="../media/image-79-2.png"/><Relationship Id="rId3" Type="http://schemas.openxmlformats.org/officeDocument/2006/relationships/image" Target="../media/image-79-3.png"/><Relationship Id="rId4" Type="http://schemas.openxmlformats.org/officeDocument/2006/relationships/image" Target="../media/image-79-4.png"/><Relationship Id="rId5" Type="http://schemas.openxmlformats.org/officeDocument/2006/relationships/image" Target="../media/image-79-5.png"/><Relationship Id="rId6" Type="http://schemas.openxmlformats.org/officeDocument/2006/relationships/image" Target="../media/image-7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image" Target="../media/image-80-2.png"/><Relationship Id="rId3" Type="http://schemas.openxmlformats.org/officeDocument/2006/relationships/image" Target="../media/image-80-3.png"/><Relationship Id="rId4" Type="http://schemas.openxmlformats.org/officeDocument/2006/relationships/image" Target="../media/image-80-4.png"/><Relationship Id="rId5" Type="http://schemas.openxmlformats.org/officeDocument/2006/relationships/image" Target="../media/image-8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image" Target="../media/image-81-2.png"/><Relationship Id="rId3" Type="http://schemas.openxmlformats.org/officeDocument/2006/relationships/image" Target="../media/image-81-3.png"/><Relationship Id="rId4" Type="http://schemas.openxmlformats.org/officeDocument/2006/relationships/image" Target="../media/image-81-4.png"/><Relationship Id="rId5" Type="http://schemas.openxmlformats.org/officeDocument/2006/relationships/image" Target="../media/image-81-5.png"/><Relationship Id="rId6" Type="http://schemas.openxmlformats.org/officeDocument/2006/relationships/image" Target="../media/image-8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image" Target="../media/image-82-2.png"/><Relationship Id="rId3" Type="http://schemas.openxmlformats.org/officeDocument/2006/relationships/image" Target="../media/image-82-3.png"/><Relationship Id="rId4" Type="http://schemas.openxmlformats.org/officeDocument/2006/relationships/image" Target="../media/image-8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image" Target="../media/image-8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image" Target="../media/image-84-2.png"/><Relationship Id="rId3" Type="http://schemas.openxmlformats.org/officeDocument/2006/relationships/image" Target="../media/image-84-3.png"/><Relationship Id="rId4" Type="http://schemas.openxmlformats.org/officeDocument/2006/relationships/image" Target="../media/image-8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image" Target="../media/image-8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image" Target="../media/image-87-2.png"/><Relationship Id="rId3" Type="http://schemas.openxmlformats.org/officeDocument/2006/relationships/image" Target="../media/image-8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image" Target="../media/image-88-2.png"/><Relationship Id="rId3" Type="http://schemas.openxmlformats.org/officeDocument/2006/relationships/image" Target="../media/image-88-3.png"/><Relationship Id="rId4" Type="http://schemas.openxmlformats.org/officeDocument/2006/relationships/image" Target="../media/image-88-4.png"/><Relationship Id="rId5" Type="http://schemas.openxmlformats.org/officeDocument/2006/relationships/image" Target="../media/image-88-5.png"/><Relationship Id="rId6" Type="http://schemas.openxmlformats.org/officeDocument/2006/relationships/image" Target="../media/image-8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image" Target="../media/image-89-2.png"/><Relationship Id="rId3" Type="http://schemas.openxmlformats.org/officeDocument/2006/relationships/image" Target="../media/image-89-3.png"/><Relationship Id="rId4" Type="http://schemas.openxmlformats.org/officeDocument/2006/relationships/image" Target="../media/image-89-4.png"/><Relationship Id="rId5" Type="http://schemas.openxmlformats.org/officeDocument/2006/relationships/image" Target="../media/image-89-5.png"/><Relationship Id="rId6" Type="http://schemas.openxmlformats.org/officeDocument/2006/relationships/image" Target="../media/image-8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png"/><Relationship Id="rId2" Type="http://schemas.openxmlformats.org/officeDocument/2006/relationships/image" Target="../media/image-90-2.png"/><Relationship Id="rId3" Type="http://schemas.openxmlformats.org/officeDocument/2006/relationships/image" Target="../media/image-90-3.png"/><Relationship Id="rId4" Type="http://schemas.openxmlformats.org/officeDocument/2006/relationships/image" Target="../media/image-90-4.png"/><Relationship Id="rId5" Type="http://schemas.openxmlformats.org/officeDocument/2006/relationships/image" Target="../media/image-90-5.png"/><Relationship Id="rId6" Type="http://schemas.openxmlformats.org/officeDocument/2006/relationships/image" Target="../media/image-9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image" Target="../media/image-91-2.png"/><Relationship Id="rId3" Type="http://schemas.openxmlformats.org/officeDocument/2006/relationships/image" Target="../media/image-91-3.png"/><Relationship Id="rId4" Type="http://schemas.openxmlformats.org/officeDocument/2006/relationships/image" Target="../media/image-91-4.png"/><Relationship Id="rId5" Type="http://schemas.openxmlformats.org/officeDocument/2006/relationships/image" Target="../media/image-91-5.png"/><Relationship Id="rId6" Type="http://schemas.openxmlformats.org/officeDocument/2006/relationships/image" Target="../media/image-9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7-1.png"/><Relationship Id="rId2" Type="http://schemas.openxmlformats.org/officeDocument/2006/relationships/image" Target="../media/image-97-2.png"/><Relationship Id="rId3" Type="http://schemas.openxmlformats.org/officeDocument/2006/relationships/image" Target="../media/image-97-3.png"/><Relationship Id="rId4" Type="http://schemas.openxmlformats.org/officeDocument/2006/relationships/image" Target="../media/image-97-4.png"/><Relationship Id="rId5" Type="http://schemas.openxmlformats.org/officeDocument/2006/relationships/image" Target="../media/image-97-5.png"/><Relationship Id="rId6" Type="http://schemas.openxmlformats.org/officeDocument/2006/relationships/image" Target="../media/image-9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png"/><Relationship Id="rId2" Type="http://schemas.openxmlformats.org/officeDocument/2006/relationships/image" Target="../media/image-9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-1.png"/><Relationship Id="rId2" Type="http://schemas.openxmlformats.org/officeDocument/2006/relationships/image" Target="../media/image-10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5-1.png"/><Relationship Id="rId2" Type="http://schemas.openxmlformats.org/officeDocument/2006/relationships/image" Target="../media/image-105-2.png"/><Relationship Id="rId3" Type="http://schemas.openxmlformats.org/officeDocument/2006/relationships/image" Target="../media/image-105-3.png"/><Relationship Id="rId4" Type="http://schemas.openxmlformats.org/officeDocument/2006/relationships/image" Target="../media/image-105-4.png"/><Relationship Id="rId5" Type="http://schemas.openxmlformats.org/officeDocument/2006/relationships/image" Target="../media/image-105-5.png"/><Relationship Id="rId6" Type="http://schemas.openxmlformats.org/officeDocument/2006/relationships/image" Target="../media/image-10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6-1.png"/><Relationship Id="rId2" Type="http://schemas.openxmlformats.org/officeDocument/2006/relationships/image" Target="../media/image-10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7-1.png"/><Relationship Id="rId2" Type="http://schemas.openxmlformats.org/officeDocument/2006/relationships/image" Target="../media/image-10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8-1.png"/><Relationship Id="rId2" Type="http://schemas.openxmlformats.org/officeDocument/2006/relationships/image" Target="../media/image-108-2.png"/><Relationship Id="rId3" Type="http://schemas.openxmlformats.org/officeDocument/2006/relationships/image" Target="../media/image-108-3.png"/><Relationship Id="rId4" Type="http://schemas.openxmlformats.org/officeDocument/2006/relationships/image" Target="../media/image-108-4.png"/><Relationship Id="rId5" Type="http://schemas.openxmlformats.org/officeDocument/2006/relationships/image" Target="../media/image-108-5.png"/><Relationship Id="rId6" Type="http://schemas.openxmlformats.org/officeDocument/2006/relationships/image" Target="../media/image-10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0-1.png"/><Relationship Id="rId2" Type="http://schemas.openxmlformats.org/officeDocument/2006/relationships/image" Target="../media/image-110-2.png"/><Relationship Id="rId3" Type="http://schemas.openxmlformats.org/officeDocument/2006/relationships/image" Target="../media/image-110-3.png"/><Relationship Id="rId4" Type="http://schemas.openxmlformats.org/officeDocument/2006/relationships/image" Target="../media/image-110-4.png"/><Relationship Id="rId5" Type="http://schemas.openxmlformats.org/officeDocument/2006/relationships/image" Target="../media/image-110-5.png"/><Relationship Id="rId6" Type="http://schemas.openxmlformats.org/officeDocument/2006/relationships/image" Target="../media/image-110-6.png"/><Relationship Id="rId7" Type="http://schemas.openxmlformats.org/officeDocument/2006/relationships/image" Target="../media/image-110-7.png"/><Relationship Id="rId8" Type="http://schemas.openxmlformats.org/officeDocument/2006/relationships/image" Target="../media/image-110-8.png"/><Relationship Id="rId9" Type="http://schemas.openxmlformats.org/officeDocument/2006/relationships/image" Target="../media/image-1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1-1.png"/><Relationship Id="rId2" Type="http://schemas.openxmlformats.org/officeDocument/2006/relationships/image" Target="../media/image-111-2.png"/><Relationship Id="rId3" Type="http://schemas.openxmlformats.org/officeDocument/2006/relationships/image" Target="../media/image-111-3.png"/><Relationship Id="rId4" Type="http://schemas.openxmlformats.org/officeDocument/2006/relationships/image" Target="../media/image-111-4.png"/><Relationship Id="rId5" Type="http://schemas.openxmlformats.org/officeDocument/2006/relationships/image" Target="../media/image-111-5.png"/><Relationship Id="rId6" Type="http://schemas.openxmlformats.org/officeDocument/2006/relationships/image" Target="../media/image-1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2-1.png"/><Relationship Id="rId2" Type="http://schemas.openxmlformats.org/officeDocument/2006/relationships/image" Target="../media/image-112-2.png"/><Relationship Id="rId3" Type="http://schemas.openxmlformats.org/officeDocument/2006/relationships/image" Target="../media/image-112-3.png"/><Relationship Id="rId4" Type="http://schemas.openxmlformats.org/officeDocument/2006/relationships/image" Target="../media/image-112-4.png"/><Relationship Id="rId5" Type="http://schemas.openxmlformats.org/officeDocument/2006/relationships/image" Target="../media/image-112-5.png"/><Relationship Id="rId6" Type="http://schemas.openxmlformats.org/officeDocument/2006/relationships/image" Target="../media/image-1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3-1.png"/><Relationship Id="rId2" Type="http://schemas.openxmlformats.org/officeDocument/2006/relationships/image" Target="../media/image-113-2.png"/><Relationship Id="rId3" Type="http://schemas.openxmlformats.org/officeDocument/2006/relationships/image" Target="../media/image-113-3.png"/><Relationship Id="rId4" Type="http://schemas.openxmlformats.org/officeDocument/2006/relationships/image" Target="../media/image-113-4.png"/><Relationship Id="rId5" Type="http://schemas.openxmlformats.org/officeDocument/2006/relationships/image" Target="../media/image-1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5-1.png"/><Relationship Id="rId2" Type="http://schemas.openxmlformats.org/officeDocument/2006/relationships/image" Target="../media/image-115-2.png"/><Relationship Id="rId3" Type="http://schemas.openxmlformats.org/officeDocument/2006/relationships/image" Target="../media/image-115-3.png"/><Relationship Id="rId4" Type="http://schemas.openxmlformats.org/officeDocument/2006/relationships/image" Target="../media/image-115-4.png"/><Relationship Id="rId5" Type="http://schemas.openxmlformats.org/officeDocument/2006/relationships/image" Target="../media/image-115-5.png"/><Relationship Id="rId6" Type="http://schemas.openxmlformats.org/officeDocument/2006/relationships/image" Target="../media/image-1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6-1.png"/><Relationship Id="rId2" Type="http://schemas.openxmlformats.org/officeDocument/2006/relationships/image" Target="../media/image-116-2.png"/><Relationship Id="rId3" Type="http://schemas.openxmlformats.org/officeDocument/2006/relationships/image" Target="../media/image-116-3.png"/><Relationship Id="rId4" Type="http://schemas.openxmlformats.org/officeDocument/2006/relationships/image" Target="../media/image-116-4.png"/><Relationship Id="rId5" Type="http://schemas.openxmlformats.org/officeDocument/2006/relationships/image" Target="../media/image-1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7-1.png"/><Relationship Id="rId2" Type="http://schemas.openxmlformats.org/officeDocument/2006/relationships/image" Target="../media/image-117-2.png"/><Relationship Id="rId3" Type="http://schemas.openxmlformats.org/officeDocument/2006/relationships/image" Target="../media/image-117-3.png"/><Relationship Id="rId4" Type="http://schemas.openxmlformats.org/officeDocument/2006/relationships/image" Target="../media/image-117-4.png"/><Relationship Id="rId5" Type="http://schemas.openxmlformats.org/officeDocument/2006/relationships/image" Target="../media/image-117-5.png"/><Relationship Id="rId6" Type="http://schemas.openxmlformats.org/officeDocument/2006/relationships/image" Target="../media/image-1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8-1.png"/><Relationship Id="rId2" Type="http://schemas.openxmlformats.org/officeDocument/2006/relationships/image" Target="../media/image-118-2.png"/><Relationship Id="rId3" Type="http://schemas.openxmlformats.org/officeDocument/2006/relationships/image" Target="../media/image-1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9-1.png"/><Relationship Id="rId2" Type="http://schemas.openxmlformats.org/officeDocument/2006/relationships/image" Target="../media/image-119-2.png"/><Relationship Id="rId3" Type="http://schemas.openxmlformats.org/officeDocument/2006/relationships/image" Target="../media/image-119-3.png"/><Relationship Id="rId4" Type="http://schemas.openxmlformats.org/officeDocument/2006/relationships/image" Target="../media/image-119-4.png"/><Relationship Id="rId5" Type="http://schemas.openxmlformats.org/officeDocument/2006/relationships/image" Target="../media/image-119-5.png"/><Relationship Id="rId6" Type="http://schemas.openxmlformats.org/officeDocument/2006/relationships/image" Target="../media/image-1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3-1.png"/><Relationship Id="rId2" Type="http://schemas.openxmlformats.org/officeDocument/2006/relationships/image" Target="../media/image-1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4-1.png"/><Relationship Id="rId2" Type="http://schemas.openxmlformats.org/officeDocument/2006/relationships/image" Target="../media/image-124-2.png"/><Relationship Id="rId3" Type="http://schemas.openxmlformats.org/officeDocument/2006/relationships/image" Target="../media/image-124-3.png"/><Relationship Id="rId4" Type="http://schemas.openxmlformats.org/officeDocument/2006/relationships/image" Target="../media/image-124-4.png"/><Relationship Id="rId5" Type="http://schemas.openxmlformats.org/officeDocument/2006/relationships/image" Target="../media/image-124-5.png"/><Relationship Id="rId6" Type="http://schemas.openxmlformats.org/officeDocument/2006/relationships/image" Target="../media/image-12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5-1.png"/><Relationship Id="rId2" Type="http://schemas.openxmlformats.org/officeDocument/2006/relationships/image" Target="../media/image-125-2.png"/><Relationship Id="rId3" Type="http://schemas.openxmlformats.org/officeDocument/2006/relationships/image" Target="../media/image-125-3.png"/><Relationship Id="rId4" Type="http://schemas.openxmlformats.org/officeDocument/2006/relationships/image" Target="../media/image-125-4.png"/><Relationship Id="rId5" Type="http://schemas.openxmlformats.org/officeDocument/2006/relationships/image" Target="../media/image-125-5.png"/><Relationship Id="rId6" Type="http://schemas.openxmlformats.org/officeDocument/2006/relationships/image" Target="../media/image-12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6-1.png"/><Relationship Id="rId2" Type="http://schemas.openxmlformats.org/officeDocument/2006/relationships/image" Target="../media/image-126-2.png"/><Relationship Id="rId3" Type="http://schemas.openxmlformats.org/officeDocument/2006/relationships/image" Target="../media/image-126-3.png"/><Relationship Id="rId4" Type="http://schemas.openxmlformats.org/officeDocument/2006/relationships/image" Target="../media/image-126-4.png"/><Relationship Id="rId5" Type="http://schemas.openxmlformats.org/officeDocument/2006/relationships/image" Target="../media/image-126-5.png"/><Relationship Id="rId6" Type="http://schemas.openxmlformats.org/officeDocument/2006/relationships/image" Target="../media/image-12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7-1.png"/><Relationship Id="rId2" Type="http://schemas.openxmlformats.org/officeDocument/2006/relationships/image" Target="../media/image-1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8-1.png"/><Relationship Id="rId2" Type="http://schemas.openxmlformats.org/officeDocument/2006/relationships/image" Target="../media/image-138-2.png"/><Relationship Id="rId3" Type="http://schemas.openxmlformats.org/officeDocument/2006/relationships/image" Target="../media/image-138-3.png"/><Relationship Id="rId4" Type="http://schemas.openxmlformats.org/officeDocument/2006/relationships/image" Target="../media/image-138-4.png"/><Relationship Id="rId5" Type="http://schemas.openxmlformats.org/officeDocument/2006/relationships/image" Target="../media/image-138-5.png"/><Relationship Id="rId6" Type="http://schemas.openxmlformats.org/officeDocument/2006/relationships/image" Target="../media/image-13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9-1.png"/><Relationship Id="rId2" Type="http://schemas.openxmlformats.org/officeDocument/2006/relationships/image" Target="../media/image-139-2.png"/><Relationship Id="rId3" Type="http://schemas.openxmlformats.org/officeDocument/2006/relationships/image" Target="../media/image-139-3.png"/><Relationship Id="rId4" Type="http://schemas.openxmlformats.org/officeDocument/2006/relationships/image" Target="../media/image-139-4.png"/><Relationship Id="rId5" Type="http://schemas.openxmlformats.org/officeDocument/2006/relationships/image" Target="../media/image-139-5.png"/><Relationship Id="rId6" Type="http://schemas.openxmlformats.org/officeDocument/2006/relationships/image" Target="../media/image-13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0-1.png"/><Relationship Id="rId2" Type="http://schemas.openxmlformats.org/officeDocument/2006/relationships/image" Target="../media/image-140-2.png"/><Relationship Id="rId3" Type="http://schemas.openxmlformats.org/officeDocument/2006/relationships/image" Target="../media/image-140-3.png"/><Relationship Id="rId4" Type="http://schemas.openxmlformats.org/officeDocument/2006/relationships/image" Target="../media/image-140-4.png"/><Relationship Id="rId5" Type="http://schemas.openxmlformats.org/officeDocument/2006/relationships/image" Target="../media/image-140-5.png"/><Relationship Id="rId6" Type="http://schemas.openxmlformats.org/officeDocument/2006/relationships/image" Target="../media/image-14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4300"/>
            <a:ext cx="12191695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6" name="Shape 4"/>
          <p:cNvSpPr/>
          <p:nvPr/>
        </p:nvSpPr>
        <p:spPr>
          <a:xfrm>
            <a:off x="609905" y="5982005"/>
            <a:ext cx="10972800" cy="9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-1064" r="-1064" t="0" b="0"/>
          <a:stretch/>
        </p:blipFill>
        <p:spPr>
          <a:xfrm>
            <a:off x="2390242" y="6262726"/>
            <a:ext cx="219456" cy="17190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704795" y="6248095"/>
            <a:ext cx="28913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Trainer: Corporate IT Learning Team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-760" r="-760" t="0" b="0"/>
          <a:stretch/>
        </p:blipFill>
        <p:spPr>
          <a:xfrm>
            <a:off x="6036869" y="6262726"/>
            <a:ext cx="152705" cy="17190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283757" y="6248095"/>
            <a:ext cx="14721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Date: 2026-01-12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93024" y="6262726"/>
            <a:ext cx="171907" cy="17190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459114" y="6248095"/>
            <a:ext cx="14721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Duration: 8 Hours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9334195" y="4000500"/>
            <a:ext cx="2857500" cy="2857500"/>
          </a:xfrm>
          <a:prstGeom prst="roundRect">
            <a:avLst>
              <a:gd name="adj" fmla="val 32000"/>
            </a:avLst>
          </a:prstGeom>
          <a:solidFill>
            <a:srgbClr val="F8FAFC"/>
          </a:solidFill>
          <a:ln/>
        </p:spPr>
      </p:sp>
      <p:sp>
        <p:nvSpPr>
          <p:cNvPr id="14" name="Shape 9"/>
          <p:cNvSpPr/>
          <p:nvPr/>
        </p:nvSpPr>
        <p:spPr>
          <a:xfrm>
            <a:off x="5619902" y="5528462"/>
            <a:ext cx="952805" cy="38405"/>
          </a:xfrm>
          <a:prstGeom prst="roundRect">
            <a:avLst>
              <a:gd name="adj" fmla="val 1190470"/>
            </a:avLst>
          </a:prstGeom>
          <a:solidFill>
            <a:srgbClr val="3498DB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790895" y="1443838"/>
            <a:ext cx="609905" cy="60990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2775204" y="2396642"/>
            <a:ext cx="7105802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Operating Systems &amp;</a:t>
            </a:r>
            <a:endParaRPr lang="en-US" sz="4800" dirty="0"/>
          </a:p>
        </p:txBody>
      </p:sp>
      <p:sp>
        <p:nvSpPr>
          <p:cNvPr id="17" name="Text 11"/>
          <p:cNvSpPr txBox="1"/>
          <p:nvPr/>
        </p:nvSpPr>
        <p:spPr>
          <a:xfrm>
            <a:off x="3842309" y="3066898"/>
            <a:ext cx="4972507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Linux Training</a:t>
            </a:r>
            <a:endParaRPr lang="en-US" sz="4800" dirty="0"/>
          </a:p>
        </p:txBody>
      </p:sp>
      <p:sp>
        <p:nvSpPr>
          <p:cNvPr id="18" name="Text 12"/>
          <p:cNvSpPr txBox="1"/>
          <p:nvPr/>
        </p:nvSpPr>
        <p:spPr>
          <a:xfrm>
            <a:off x="2265883" y="4042562"/>
            <a:ext cx="78967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8-hour Onboarding Program for Fresh Graduates</a:t>
            </a:r>
            <a:endParaRPr lang="en-US" sz="2400" dirty="0"/>
          </a:p>
        </p:txBody>
      </p:sp>
      <p:sp>
        <p:nvSpPr>
          <p:cNvPr id="19" name="Text 13"/>
          <p:cNvSpPr txBox="1"/>
          <p:nvPr/>
        </p:nvSpPr>
        <p:spPr>
          <a:xfrm>
            <a:off x="3294583" y="4652467"/>
            <a:ext cx="57817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Designed for Final-Year Students &amp; New Corporate Hires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0" b="0"/>
          <a:stretch/>
        </p:blipFill>
        <p:spPr>
          <a:xfrm>
            <a:off x="8858707" y="2438705"/>
            <a:ext cx="3810305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80010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Welcome &amp; Learning Objectives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1996135"/>
            <a:ext cx="1426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606795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Bridge college theory to workplace practice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2756002"/>
            <a:ext cx="142646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5646" y="2680106"/>
            <a:ext cx="907816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 OS concepts across Windows, macOS, Android, Linux</a:t>
            </a:r>
            <a:endParaRPr lang="en-US" sz="2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5646" y="3439973"/>
            <a:ext cx="479145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Install and navigate Ubuntu safely</a:t>
            </a:r>
            <a:endParaRPr lang="en-US" sz="2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833018" y="4276649"/>
            <a:ext cx="142646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85646" y="4200754"/>
            <a:ext cx="520110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Practice core commands and scripts</a:t>
            </a:r>
            <a:endParaRPr lang="en-US" sz="2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85646" y="4960620"/>
            <a:ext cx="57534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Leave with confidence to learn on the job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903866" y="6362395"/>
            <a:ext cx="16486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1: Introduction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rcRect l="-5" r="-5" t="0" b="0"/>
          <a:stretch/>
        </p:blipFill>
        <p:spPr>
          <a:xfrm>
            <a:off x="9667951" y="3567074"/>
            <a:ext cx="2143354" cy="2857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13240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4"/>
          <p:cNvSpPr/>
          <p:nvPr/>
        </p:nvSpPr>
        <p:spPr>
          <a:xfrm>
            <a:off x="761695" y="1281989"/>
            <a:ext cx="952805" cy="3840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61695" y="466344"/>
            <a:ext cx="764895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Housekeeping &amp; Ground Rules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761695" y="1796796"/>
            <a:ext cx="10668305" cy="752551"/>
          </a:xfrm>
          <a:prstGeom prst="roundRect">
            <a:avLst>
              <a:gd name="adj" fmla="val 184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61695" y="1796796"/>
            <a:ext cx="57607" cy="752551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04595" y="2039112"/>
            <a:ext cx="267005" cy="26700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61695" y="2815438"/>
            <a:ext cx="10668305" cy="752551"/>
          </a:xfrm>
          <a:prstGeom prst="roundRect">
            <a:avLst>
              <a:gd name="adj" fmla="val 184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61695" y="2815438"/>
            <a:ext cx="57607" cy="752551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104595" y="3058668"/>
            <a:ext cx="267005" cy="267005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761695" y="3834994"/>
            <a:ext cx="10668305" cy="752551"/>
          </a:xfrm>
          <a:prstGeom prst="roundRect">
            <a:avLst>
              <a:gd name="adj" fmla="val 184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61695" y="3834994"/>
            <a:ext cx="57607" cy="752551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104595" y="4077310"/>
            <a:ext cx="267005" cy="267005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761695" y="4853635"/>
            <a:ext cx="10668305" cy="752551"/>
          </a:xfrm>
          <a:prstGeom prst="roundRect">
            <a:avLst>
              <a:gd name="adj" fmla="val 184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61695" y="4853635"/>
            <a:ext cx="57607" cy="752551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104595" y="5096866"/>
            <a:ext cx="267005" cy="267005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761695" y="5873191"/>
            <a:ext cx="10668305" cy="752551"/>
          </a:xfrm>
          <a:prstGeom prst="roundRect">
            <a:avLst>
              <a:gd name="adj" fmla="val 184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761695" y="5873191"/>
            <a:ext cx="57607" cy="752551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104595" y="6115507"/>
            <a:ext cx="267005" cy="267005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609344" y="2025396"/>
            <a:ext cx="581558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Ask questions anytime; note complex ones for Q&amp;A</a:t>
            </a:r>
            <a:endParaRPr lang="en-US" sz="1900" dirty="0"/>
          </a:p>
        </p:txBody>
      </p:sp>
      <p:sp>
        <p:nvSpPr>
          <p:cNvPr id="25" name="Text 17"/>
          <p:cNvSpPr txBox="1"/>
          <p:nvPr/>
        </p:nvSpPr>
        <p:spPr>
          <a:xfrm>
            <a:off x="1609344" y="3044038"/>
            <a:ext cx="465338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Hands-on later—don’t run commands yet</a:t>
            </a:r>
            <a:endParaRPr lang="en-US" sz="1900" dirty="0"/>
          </a:p>
        </p:txBody>
      </p:sp>
      <p:sp>
        <p:nvSpPr>
          <p:cNvPr id="26" name="Text 18"/>
          <p:cNvSpPr txBox="1"/>
          <p:nvPr/>
        </p:nvSpPr>
        <p:spPr>
          <a:xfrm>
            <a:off x="1609344" y="4063594"/>
            <a:ext cx="563453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slides uncluttered; follow along at your pace</a:t>
            </a:r>
            <a:endParaRPr lang="en-US" sz="1900" dirty="0"/>
          </a:p>
        </p:txBody>
      </p:sp>
      <p:sp>
        <p:nvSpPr>
          <p:cNvPr id="27" name="Text 19"/>
          <p:cNvSpPr txBox="1"/>
          <p:nvPr/>
        </p:nvSpPr>
        <p:spPr>
          <a:xfrm>
            <a:off x="1609344" y="5082235"/>
            <a:ext cx="570128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the provided VM only—no production systems</a:t>
            </a:r>
            <a:endParaRPr lang="en-US" sz="1900" dirty="0"/>
          </a:p>
        </p:txBody>
      </p:sp>
      <p:sp>
        <p:nvSpPr>
          <p:cNvPr id="28" name="Text 20"/>
          <p:cNvSpPr txBox="1"/>
          <p:nvPr/>
        </p:nvSpPr>
        <p:spPr>
          <a:xfrm>
            <a:off x="1609344" y="6101791"/>
            <a:ext cx="469178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Breaks at scheduled times; stay hydrated</a:t>
            </a:r>
            <a:endParaRPr lang="en-US" sz="1900" dirty="0"/>
          </a:p>
        </p:txBody>
      </p:sp>
      <p:sp>
        <p:nvSpPr>
          <p:cNvPr id="29" name="Shape 21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10609783" y="6362395"/>
            <a:ext cx="9436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Introduction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rcRect l="0" r="0" t="0" b="0"/>
          <a:stretch/>
        </p:blipFill>
        <p:spPr>
          <a:xfrm>
            <a:off x="7905902" y="1390802"/>
            <a:ext cx="3810305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0292486" y="6362395"/>
            <a:ext cx="1257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Morning Session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61695" y="371246"/>
            <a:ext cx="611093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Training Schedule (8 Hours)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3333902" y="1527962"/>
            <a:ext cx="8096098" cy="886054"/>
          </a:xfrm>
          <a:prstGeom prst="roundRect">
            <a:avLst>
              <a:gd name="adj" fmla="val 887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33902" y="1527962"/>
            <a:ext cx="38405" cy="88605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52144" y="1842516"/>
            <a:ext cx="139628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10:30 – 11:30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00907" y="1698955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1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3600907" y="1956816"/>
            <a:ext cx="55440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A20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Systems: Foundations &amp; Workplace Usage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2876702" y="1894637"/>
            <a:ext cx="152705" cy="152705"/>
          </a:xfrm>
          <a:prstGeom prst="ellipse">
            <a:avLst/>
          </a:prstGeom>
          <a:solidFill>
            <a:srgbClr val="FFFFFF"/>
          </a:solidFill>
          <a:ln w="50800">
            <a:solidFill>
              <a:srgbClr val="2C3E5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33902" y="2680106"/>
            <a:ext cx="8096098" cy="886054"/>
          </a:xfrm>
          <a:prstGeom prst="roundRect">
            <a:avLst>
              <a:gd name="adj" fmla="val 887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333902" y="2680106"/>
            <a:ext cx="38405" cy="88605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171346" y="2994660"/>
            <a:ext cx="137708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11:30 – 12:30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3600907" y="2852014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2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3600907" y="3108960"/>
            <a:ext cx="50392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A20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Linux Fundamentals: Theory &amp; VirtualBox Setup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2876702" y="3046781"/>
            <a:ext cx="152705" cy="152705"/>
          </a:xfrm>
          <a:prstGeom prst="ellipse">
            <a:avLst/>
          </a:prstGeom>
          <a:solidFill>
            <a:srgbClr val="FFFFFF"/>
          </a:solidFill>
          <a:ln w="50800">
            <a:solidFill>
              <a:srgbClr val="2C3E5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333902" y="3833165"/>
            <a:ext cx="8096098" cy="886054"/>
          </a:xfrm>
          <a:prstGeom prst="roundRect">
            <a:avLst>
              <a:gd name="adj" fmla="val 887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333902" y="3833165"/>
            <a:ext cx="38405" cy="88605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1110082" y="4146804"/>
            <a:ext cx="143377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12:30 – 01:30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3600907" y="4004158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3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3600907" y="4261104"/>
            <a:ext cx="44010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A20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Linux Distributions: From Ubuntu to RHEL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2876702" y="4199839"/>
            <a:ext cx="152705" cy="152705"/>
          </a:xfrm>
          <a:prstGeom prst="ellipse">
            <a:avLst/>
          </a:prstGeom>
          <a:solidFill>
            <a:srgbClr val="FFFFFF"/>
          </a:solidFill>
          <a:ln w="50800">
            <a:solidFill>
              <a:srgbClr val="2C3E5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333902" y="4985309"/>
            <a:ext cx="8096098" cy="886054"/>
          </a:xfrm>
          <a:prstGeom prst="roundRect">
            <a:avLst>
              <a:gd name="adj" fmla="val 8877"/>
            </a:avLst>
          </a:prstGeom>
          <a:solidFill>
            <a:srgbClr val="FFFBEB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333902" y="4985309"/>
            <a:ext cx="38405" cy="886054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48817" y="5299862"/>
            <a:ext cx="149138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01:30 – 02:30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3600907" y="5157216"/>
            <a:ext cx="5669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BREAK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3600907" y="5414162"/>
            <a:ext cx="14383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A20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Lunch Break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2876702" y="5351983"/>
            <a:ext cx="152705" cy="152705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AB30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333902" y="6138367"/>
            <a:ext cx="8096098" cy="886054"/>
          </a:xfrm>
          <a:prstGeom prst="roundRect">
            <a:avLst>
              <a:gd name="adj" fmla="val 887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3333902" y="6138367"/>
            <a:ext cx="38405" cy="88605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1008583" y="6452006"/>
            <a:ext cx="153893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02:30 – 03:30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3600907" y="6309360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4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3600907" y="6566306"/>
            <a:ext cx="32964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A20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Components of Linux Systems</a:t>
            </a:r>
            <a:endParaRPr lang="en-US" sz="1800" dirty="0"/>
          </a:p>
        </p:txBody>
      </p:sp>
      <p:sp>
        <p:nvSpPr>
          <p:cNvPr id="38" name="Shape 35"/>
          <p:cNvSpPr/>
          <p:nvPr/>
        </p:nvSpPr>
        <p:spPr>
          <a:xfrm>
            <a:off x="2876702" y="6505042"/>
            <a:ext cx="152705" cy="152705"/>
          </a:xfrm>
          <a:prstGeom prst="ellipse">
            <a:avLst/>
          </a:prstGeom>
          <a:solidFill>
            <a:srgbClr val="FFFFFF"/>
          </a:solidFill>
          <a:ln w="50800">
            <a:solidFill>
              <a:srgbClr val="2C3E5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rcRect l="0" r="0" t="0" b="0"/>
          <a:stretch/>
        </p:blipFill>
        <p:spPr>
          <a:xfrm>
            <a:off x="7905902" y="1390802"/>
            <a:ext cx="3810305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0178186" y="6362395"/>
            <a:ext cx="1371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Afternoon Session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61695" y="371246"/>
            <a:ext cx="553943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Training Schedule (cont.)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3333902" y="1527962"/>
            <a:ext cx="8096098" cy="819302"/>
          </a:xfrm>
          <a:prstGeom prst="roundRect">
            <a:avLst>
              <a:gd name="adj" fmla="val 1038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33902" y="1527962"/>
            <a:ext cx="38405" cy="81930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86638" y="1808683"/>
            <a:ext cx="155813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03:30 – 04:30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00907" y="1680667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5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3600907" y="1937614"/>
            <a:ext cx="332018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20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Linux File Systems &amp; Permissions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876702" y="1860804"/>
            <a:ext cx="152705" cy="152705"/>
          </a:xfrm>
          <a:prstGeom prst="ellipse">
            <a:avLst/>
          </a:prstGeom>
          <a:solidFill>
            <a:srgbClr val="FFFFFF"/>
          </a:solidFill>
          <a:ln w="50800">
            <a:solidFill>
              <a:srgbClr val="2C3E5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33902" y="2585009"/>
            <a:ext cx="8096098" cy="819302"/>
          </a:xfrm>
          <a:prstGeom prst="roundRect">
            <a:avLst>
              <a:gd name="adj" fmla="val 1038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333902" y="2585009"/>
            <a:ext cx="38405" cy="81930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83894" y="2865730"/>
            <a:ext cx="155813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04:30 – 05:30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3600907" y="2737714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6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3600907" y="2994660"/>
            <a:ext cx="28154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20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Bash &amp; PowerShell Scripting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2876702" y="2918765"/>
            <a:ext cx="152705" cy="152705"/>
          </a:xfrm>
          <a:prstGeom prst="ellipse">
            <a:avLst/>
          </a:prstGeom>
          <a:solidFill>
            <a:srgbClr val="FFFFFF"/>
          </a:solidFill>
          <a:ln w="50800">
            <a:solidFill>
              <a:srgbClr val="2C3E5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333902" y="3642055"/>
            <a:ext cx="8096098" cy="819302"/>
          </a:xfrm>
          <a:prstGeom prst="roundRect">
            <a:avLst>
              <a:gd name="adj" fmla="val 10382"/>
            </a:avLst>
          </a:prstGeom>
          <a:solidFill>
            <a:srgbClr val="FFFBEB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333902" y="3642055"/>
            <a:ext cx="38405" cy="819302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1004011" y="3923690"/>
            <a:ext cx="153893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05:30 – 05:45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3600907" y="3794760"/>
            <a:ext cx="5669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BREAK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3600907" y="4051706"/>
            <a:ext cx="126278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20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Short Break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2876702" y="3975811"/>
            <a:ext cx="152705" cy="152705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AB30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333902" y="4700016"/>
            <a:ext cx="8096098" cy="819302"/>
          </a:xfrm>
          <a:prstGeom prst="roundRect">
            <a:avLst>
              <a:gd name="adj" fmla="val 1038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333902" y="4700016"/>
            <a:ext cx="38405" cy="81930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993038" y="4980737"/>
            <a:ext cx="154807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05:45 – 06:45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3600907" y="4851806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7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3600907" y="5109667"/>
            <a:ext cx="320588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20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Boot Loaders, Kernels, Daemons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2876702" y="5032858"/>
            <a:ext cx="152705" cy="152705"/>
          </a:xfrm>
          <a:prstGeom prst="ellipse">
            <a:avLst/>
          </a:prstGeom>
          <a:solidFill>
            <a:srgbClr val="FFFFFF"/>
          </a:solidFill>
          <a:ln w="50800">
            <a:solidFill>
              <a:srgbClr val="2C3E5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333902" y="5757062"/>
            <a:ext cx="8096098" cy="819302"/>
          </a:xfrm>
          <a:prstGeom prst="roundRect">
            <a:avLst>
              <a:gd name="adj" fmla="val 1038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3333902" y="5757062"/>
            <a:ext cx="38405" cy="81930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994867" y="6037783"/>
            <a:ext cx="154807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06:45 – 07:30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3600907" y="5909767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8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3600907" y="6166714"/>
            <a:ext cx="202448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20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Linux Hands-on Lab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2876702" y="6089904"/>
            <a:ext cx="152705" cy="152705"/>
          </a:xfrm>
          <a:prstGeom prst="ellipse">
            <a:avLst/>
          </a:prstGeom>
          <a:solidFill>
            <a:srgbClr val="FFFFFF"/>
          </a:solidFill>
          <a:ln w="50800">
            <a:solidFill>
              <a:srgbClr val="2C3E5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rcRect l="-5" r="-5" t="0" b="0"/>
          <a:stretch/>
        </p:blipFill>
        <p:spPr>
          <a:xfrm>
            <a:off x="9667951" y="3567074"/>
            <a:ext cx="2143354" cy="2857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13240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4"/>
          <p:cNvSpPr/>
          <p:nvPr/>
        </p:nvSpPr>
        <p:spPr>
          <a:xfrm>
            <a:off x="761695" y="1281989"/>
            <a:ext cx="952805" cy="3840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61695" y="466344"/>
            <a:ext cx="98682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to Get the Most From This Training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761695" y="1796796"/>
            <a:ext cx="10668305" cy="752551"/>
          </a:xfrm>
          <a:prstGeom prst="roundRect">
            <a:avLst>
              <a:gd name="adj" fmla="val 184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61695" y="1796796"/>
            <a:ext cx="57607" cy="752551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04595" y="2039112"/>
            <a:ext cx="267005" cy="26700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61695" y="2815438"/>
            <a:ext cx="10668305" cy="752551"/>
          </a:xfrm>
          <a:prstGeom prst="roundRect">
            <a:avLst>
              <a:gd name="adj" fmla="val 184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61695" y="2815438"/>
            <a:ext cx="57607" cy="752551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104595" y="3058668"/>
            <a:ext cx="267005" cy="267005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761695" y="3834994"/>
            <a:ext cx="10668305" cy="752551"/>
          </a:xfrm>
          <a:prstGeom prst="roundRect">
            <a:avLst>
              <a:gd name="adj" fmla="val 184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61695" y="3834994"/>
            <a:ext cx="57607" cy="752551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104595" y="4077310"/>
            <a:ext cx="267005" cy="267005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761695" y="4853635"/>
            <a:ext cx="10668305" cy="752551"/>
          </a:xfrm>
          <a:prstGeom prst="roundRect">
            <a:avLst>
              <a:gd name="adj" fmla="val 184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61695" y="4853635"/>
            <a:ext cx="57607" cy="752551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104595" y="5096866"/>
            <a:ext cx="267005" cy="267005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761695" y="5873191"/>
            <a:ext cx="10668305" cy="752551"/>
          </a:xfrm>
          <a:prstGeom prst="roundRect">
            <a:avLst>
              <a:gd name="adj" fmla="val 184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761695" y="5873191"/>
            <a:ext cx="57607" cy="752551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104595" y="6115507"/>
            <a:ext cx="267005" cy="267005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609344" y="2025396"/>
            <a:ext cx="5319979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Think: WHAT, WHY, WHERE, WHEN, WHO, HOW</a:t>
            </a:r>
            <a:endParaRPr lang="en-US" sz="1900" dirty="0"/>
          </a:p>
        </p:txBody>
      </p:sp>
      <p:sp>
        <p:nvSpPr>
          <p:cNvPr id="25" name="Text 17"/>
          <p:cNvSpPr txBox="1"/>
          <p:nvPr/>
        </p:nvSpPr>
        <p:spPr>
          <a:xfrm>
            <a:off x="1609344" y="3044038"/>
            <a:ext cx="467258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Translate concepts to real tasks you’ll do</a:t>
            </a:r>
            <a:endParaRPr lang="en-US" sz="1900" dirty="0"/>
          </a:p>
        </p:txBody>
      </p:sp>
      <p:sp>
        <p:nvSpPr>
          <p:cNvPr id="26" name="Text 18"/>
          <p:cNvSpPr txBox="1"/>
          <p:nvPr/>
        </p:nvSpPr>
        <p:spPr>
          <a:xfrm>
            <a:off x="1609344" y="4063594"/>
            <a:ext cx="533918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Capture terms to revisit (kernel, shell, systemd)</a:t>
            </a:r>
            <a:endParaRPr lang="en-US" sz="1900" dirty="0"/>
          </a:p>
        </p:txBody>
      </p:sp>
      <p:sp>
        <p:nvSpPr>
          <p:cNvPr id="27" name="Text 19"/>
          <p:cNvSpPr txBox="1"/>
          <p:nvPr/>
        </p:nvSpPr>
        <p:spPr>
          <a:xfrm>
            <a:off x="1609344" y="5082235"/>
            <a:ext cx="351952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Follow step-by-step; don’t rush</a:t>
            </a:r>
            <a:endParaRPr lang="en-US" sz="1900" dirty="0"/>
          </a:p>
        </p:txBody>
      </p:sp>
      <p:sp>
        <p:nvSpPr>
          <p:cNvPr id="28" name="Text 20"/>
          <p:cNvSpPr txBox="1"/>
          <p:nvPr/>
        </p:nvSpPr>
        <p:spPr>
          <a:xfrm>
            <a:off x="1609344" y="6101791"/>
            <a:ext cx="3948379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Practice after class using your VM</a:t>
            </a:r>
            <a:endParaRPr lang="en-US" sz="1900" dirty="0"/>
          </a:p>
        </p:txBody>
      </p:sp>
      <p:sp>
        <p:nvSpPr>
          <p:cNvPr id="29" name="Shape 21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10609783" y="6362395"/>
            <a:ext cx="9436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Introduction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2606040"/>
            <a:ext cx="12191695" cy="4257446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-76" r="-76" t="0" b="0"/>
          <a:stretch/>
        </p:blipFill>
        <p:spPr>
          <a:xfrm>
            <a:off x="8591702" y="3567074"/>
            <a:ext cx="3219602" cy="28575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09598" y="3003804"/>
            <a:ext cx="8572500" cy="3457346"/>
          </a:xfrm>
          <a:prstGeom prst="roundRect">
            <a:avLst>
              <a:gd name="adj" fmla="val 11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41300" dist="101600" dir="5400000">
              <a:srgbClr val="000000">
                <a:alpha val="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809598" y="3003804"/>
            <a:ext cx="75895" cy="345734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457907" y="3412541"/>
            <a:ext cx="20436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TOPICS COVERED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-46154" r="-46154" t="0" b="0"/>
          <a:stretch/>
        </p:blipFill>
        <p:spPr>
          <a:xfrm>
            <a:off x="2457907" y="3934663"/>
            <a:ext cx="228600" cy="19019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876702" y="3888943"/>
            <a:ext cx="51343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operating systems are and why they matter</a:t>
            </a:r>
            <a:endParaRPr lang="en-US" sz="18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-46154" r="-46154" t="0" b="0"/>
          <a:stretch/>
        </p:blipFill>
        <p:spPr>
          <a:xfrm>
            <a:off x="2457907" y="4407408"/>
            <a:ext cx="228600" cy="19019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876702" y="4361688"/>
            <a:ext cx="3143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Windows 10 in the workplace</a:t>
            </a:r>
            <a:endParaRPr lang="en-US" sz="18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rcRect l="-46154" r="-46154" t="0" b="0"/>
          <a:stretch/>
        </p:blipFill>
        <p:spPr>
          <a:xfrm>
            <a:off x="2457907" y="4879238"/>
            <a:ext cx="228600" cy="19019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2876702" y="4833518"/>
            <a:ext cx="29626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macOS: professional usage</a:t>
            </a:r>
            <a:endParaRPr lang="en-US" sz="18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-46154" r="-46154" t="0" b="0"/>
          <a:stretch/>
        </p:blipFill>
        <p:spPr>
          <a:xfrm>
            <a:off x="2457907" y="5351983"/>
            <a:ext cx="228600" cy="190195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2876702" y="5306263"/>
            <a:ext cx="33055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Android: mobile basics at work</a:t>
            </a:r>
            <a:endParaRPr lang="en-US" sz="18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rcRect l="-46154" r="-46154" t="0" b="0"/>
          <a:stretch/>
        </p:blipFill>
        <p:spPr>
          <a:xfrm>
            <a:off x="2457907" y="5824728"/>
            <a:ext cx="228600" cy="190195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2876702" y="5779008"/>
            <a:ext cx="31345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Golden images in enterprises</a:t>
            </a:r>
            <a:endParaRPr lang="en-US" sz="1800" dirty="0"/>
          </a:p>
        </p:txBody>
      </p:sp>
      <p:sp>
        <p:nvSpPr>
          <p:cNvPr id="19" name="Shape 11"/>
          <p:cNvSpPr/>
          <p:nvPr/>
        </p:nvSpPr>
        <p:spPr>
          <a:xfrm>
            <a:off x="0" y="0"/>
            <a:ext cx="12191695" cy="260969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0" name="Text 12"/>
          <p:cNvSpPr txBox="1"/>
          <p:nvPr/>
        </p:nvSpPr>
        <p:spPr>
          <a:xfrm>
            <a:off x="5333695" y="748894"/>
            <a:ext cx="17053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MODULE 1</a:t>
            </a:r>
            <a:endParaRPr lang="en-US" sz="1800" dirty="0"/>
          </a:p>
        </p:txBody>
      </p:sp>
      <p:sp>
        <p:nvSpPr>
          <p:cNvPr id="21" name="Text 13"/>
          <p:cNvSpPr txBox="1"/>
          <p:nvPr/>
        </p:nvSpPr>
        <p:spPr>
          <a:xfrm>
            <a:off x="3002890" y="1176833"/>
            <a:ext cx="6648602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Operating Systems</a:t>
            </a:r>
            <a:endParaRPr lang="en-US" sz="4800" dirty="0"/>
          </a:p>
        </p:txBody>
      </p:sp>
      <p:sp>
        <p:nvSpPr>
          <p:cNvPr id="22" name="Shape 14"/>
          <p:cNvSpPr/>
          <p:nvPr/>
        </p:nvSpPr>
        <p:spPr>
          <a:xfrm>
            <a:off x="11201400" y="228600"/>
            <a:ext cx="761695" cy="761695"/>
          </a:xfrm>
          <a:prstGeom prst="rect">
            <a:avLst/>
          </a:prstGeom>
          <a:noFill/>
          <a:ln w="508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228600" y="1615745"/>
            <a:ext cx="761695" cy="761695"/>
          </a:xfrm>
          <a:prstGeom prst="rect">
            <a:avLst/>
          </a:prstGeom>
          <a:noFill/>
          <a:ln w="508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0" y="2530145"/>
            <a:ext cx="12191695" cy="75895"/>
          </a:xfrm>
          <a:prstGeom prst="rect">
            <a:avLst/>
          </a:prstGeom>
          <a:solidFill>
            <a:srgbClr val="3498D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-7" b="-7"/>
          <a:stretch/>
        </p:blipFill>
        <p:spPr>
          <a:xfrm>
            <a:off x="7905902" y="2438705"/>
            <a:ext cx="4762195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85350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Operating System: What and Why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761695" y="1891894"/>
            <a:ext cx="705825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WHAT: Software that manages hardware and apps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61695" y="2651760"/>
            <a:ext cx="66870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WHY: Provides a stable, secure, usable platform</a:t>
            </a:r>
            <a:endParaRPr lang="en-US" sz="24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5646" y="3439973"/>
            <a:ext cx="63057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Manages CPU, memory, storage, and devices</a:t>
            </a:r>
            <a:endParaRPr lang="en-US" sz="24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4276649"/>
            <a:ext cx="142646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85646" y="4200754"/>
            <a:ext cx="588690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Runs programs and enforces permissions</a:t>
            </a:r>
            <a:endParaRPr lang="en-US" sz="24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285646" y="4960620"/>
            <a:ext cx="656356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Enables users and applications to work reliably</a:t>
            </a:r>
            <a:endParaRPr lang="en-US" sz="2400" dirty="0"/>
          </a:p>
        </p:txBody>
      </p:sp>
      <p:sp>
        <p:nvSpPr>
          <p:cNvPr id="16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9442094" y="6362395"/>
            <a:ext cx="21058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1: Operating Systems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-7" b="-7"/>
          <a:stretch/>
        </p:blipFill>
        <p:spPr>
          <a:xfrm>
            <a:off x="7905902" y="2438705"/>
            <a:ext cx="4762195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6106363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Functions of an OS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1996135"/>
            <a:ext cx="1426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694395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 management (start/stop/schedule apps)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2756002"/>
            <a:ext cx="142646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5646" y="2680106"/>
            <a:ext cx="64008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Memory management (allocate/protect RAM)</a:t>
            </a:r>
            <a:endParaRPr lang="en-US" sz="2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5646" y="3439973"/>
            <a:ext cx="524865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File systems (store and retrieve data)</a:t>
            </a:r>
            <a:endParaRPr lang="en-US" sz="2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833018" y="4276649"/>
            <a:ext cx="142646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85646" y="4200754"/>
            <a:ext cx="601035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Device management (drivers for hardware)</a:t>
            </a:r>
            <a:endParaRPr lang="en-US" sz="2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85646" y="4960620"/>
            <a:ext cx="545805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 (users, permissions, isolation)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442094" y="6362395"/>
            <a:ext cx="21058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1: Operating Systems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-1" r="-1" t="0" b="0"/>
          <a:stretch/>
        </p:blipFill>
        <p:spPr>
          <a:xfrm>
            <a:off x="8382305" y="2438705"/>
            <a:ext cx="4286707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70491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Types of Operating Systems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761695" y="1891894"/>
            <a:ext cx="65059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Desktop OS: Windows, macOS, Linux desktops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61695" y="2651760"/>
            <a:ext cx="6792163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Server OS: RHEL, Windows Server, Ubuntu Server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761695" y="3411626"/>
            <a:ext cx="34290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Mobile OS: Android, iOS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761695" y="4171493"/>
            <a:ext cx="56299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Embedded/IoT OS: Specialized, minimal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761695" y="4932274"/>
            <a:ext cx="62298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Virtualized/Cloud images: Prebuilt server OS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442094" y="6362395"/>
            <a:ext cx="21058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1: Operating Systems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0" b="0"/>
          <a:stretch/>
        </p:blipFill>
        <p:spPr>
          <a:xfrm>
            <a:off x="8858707" y="2438705"/>
            <a:ext cx="3810305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100017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Windows 10: From College to Workplace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1996135"/>
            <a:ext cx="1426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553486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Domain-joined PCs vs personal laptops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2756002"/>
            <a:ext cx="142646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5646" y="2680106"/>
            <a:ext cx="639165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Company policies apply (updates, encryption)</a:t>
            </a:r>
            <a:endParaRPr lang="en-US" sz="2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5646" y="3439973"/>
            <a:ext cx="519196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Standard software via IT deployment</a:t>
            </a:r>
            <a:endParaRPr lang="en-US" sz="2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833018" y="4276649"/>
            <a:ext cx="142646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85646" y="4200754"/>
            <a:ext cx="55632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accounts tied to corporate identity</a:t>
            </a:r>
            <a:endParaRPr lang="en-US" sz="2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85646" y="4960620"/>
            <a:ext cx="562996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handling and support expectations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442094" y="6362395"/>
            <a:ext cx="21058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1: Operating Systems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0" b="0"/>
          <a:stretch/>
        </p:blipFill>
        <p:spPr>
          <a:xfrm>
            <a:off x="8858707" y="2438705"/>
            <a:ext cx="3810305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9306763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Windows 10: Key Workplace Features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1996135"/>
            <a:ext cx="1426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374355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BitLocker drive encryption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2756002"/>
            <a:ext cx="142646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5646" y="2680106"/>
            <a:ext cx="428670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Windows Update for Business</a:t>
            </a:r>
            <a:endParaRPr lang="en-US" sz="2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5646" y="3439973"/>
            <a:ext cx="513435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Windows Defender security baseline</a:t>
            </a:r>
            <a:endParaRPr lang="en-US" sz="2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833018" y="4276649"/>
            <a:ext cx="142646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85646" y="4200754"/>
            <a:ext cx="38103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Group Policy configuration</a:t>
            </a:r>
            <a:endParaRPr lang="en-US" sz="2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85646" y="4960620"/>
            <a:ext cx="52578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Company Portal/Intune management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442094" y="6362395"/>
            <a:ext cx="21058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1: Operating Systems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0" b="0"/>
          <a:stretch/>
        </p:blipFill>
        <p:spPr>
          <a:xfrm>
            <a:off x="8858707" y="2438705"/>
            <a:ext cx="3810305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92967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Windows 10: Common Business Apps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1996135"/>
            <a:ext cx="1426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588690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Microsoft 365 (Outlook, Teams, OneDrive)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2756002"/>
            <a:ext cx="142646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5646" y="2680106"/>
            <a:ext cx="49533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Browsers with SSO (Edge/Chrome)</a:t>
            </a:r>
            <a:endParaRPr lang="en-US" sz="2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5646" y="3439973"/>
            <a:ext cx="446775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VPN and remote access clients</a:t>
            </a:r>
            <a:endParaRPr lang="en-US" sz="2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833018" y="4276649"/>
            <a:ext cx="142646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85646" y="4200754"/>
            <a:ext cx="389625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Endpoint protection agents</a:t>
            </a:r>
            <a:endParaRPr lang="en-US" sz="2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85646" y="4960620"/>
            <a:ext cx="48198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Line-of-business apps (ERP/CRM)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442094" y="6362395"/>
            <a:ext cx="21058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1: Operating Systems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-7" b="-7"/>
          <a:stretch/>
        </p:blipFill>
        <p:spPr>
          <a:xfrm>
            <a:off x="7905902" y="2438705"/>
            <a:ext cx="4762195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764895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macOS: Professional Overview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1996135"/>
            <a:ext cx="1426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70683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Used by engineering, design, and leadership teams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2756002"/>
            <a:ext cx="142646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5646" y="2680106"/>
            <a:ext cx="637245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Integrated with MDM solutions (Jamf, Intune)</a:t>
            </a:r>
            <a:endParaRPr lang="en-US" sz="2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5646" y="3439973"/>
            <a:ext cx="54681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FileVault encryption enabled by default</a:t>
            </a:r>
            <a:endParaRPr lang="en-US" sz="2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833018" y="4276649"/>
            <a:ext cx="142646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85646" y="4200754"/>
            <a:ext cx="668700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Terminal and powerful developer tools available</a:t>
            </a:r>
            <a:endParaRPr lang="en-US" sz="2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85646" y="4960620"/>
            <a:ext cx="80010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Cross-platform collaboration with Windows environments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442094" y="6362395"/>
            <a:ext cx="21058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1: Operating Systems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-7" b="-7"/>
          <a:stretch/>
        </p:blipFill>
        <p:spPr>
          <a:xfrm>
            <a:off x="7905902" y="2438705"/>
            <a:ext cx="4762195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808695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macOS at Work: When and Why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1996135"/>
            <a:ext cx="1426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479145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Creative and developer workflows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2756002"/>
            <a:ext cx="142646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5646" y="2680106"/>
            <a:ext cx="421995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UNIX tools built-in (bash/zsh)</a:t>
            </a:r>
            <a:endParaRPr lang="en-US" sz="2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5646" y="3439973"/>
            <a:ext cx="492495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Hardware reliability and battery life</a:t>
            </a:r>
            <a:endParaRPr lang="en-US" sz="2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833018" y="4276649"/>
            <a:ext cx="142646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85646" y="4200754"/>
            <a:ext cx="467715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 features embraced by IT</a:t>
            </a:r>
            <a:endParaRPr lang="en-US" sz="2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85646" y="4960620"/>
            <a:ext cx="47055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Choice programs to attract talent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442094" y="6362395"/>
            <a:ext cx="21058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1: Operating Systems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-1" r="-1" t="0" b="0"/>
          <a:stretch/>
        </p:blipFill>
        <p:spPr>
          <a:xfrm>
            <a:off x="8382305" y="2438705"/>
            <a:ext cx="4286707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660105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Android OS: Mobile Basics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1996135"/>
            <a:ext cx="1426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45720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Touch-first, app-centric platform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2756002"/>
            <a:ext cx="142646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5646" y="2680106"/>
            <a:ext cx="566745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Runs on phones, tablets, rugged devices</a:t>
            </a:r>
            <a:endParaRPr lang="en-US" sz="2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5646" y="3439973"/>
            <a:ext cx="502005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Play Store + managed app catalogs</a:t>
            </a:r>
            <a:endParaRPr lang="en-US" sz="2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833018" y="4276649"/>
            <a:ext cx="142646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85646" y="4200754"/>
            <a:ext cx="505846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File sandboxing per app for security</a:t>
            </a:r>
            <a:endParaRPr lang="en-US" sz="2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85646" y="4960620"/>
            <a:ext cx="53346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Battery and network-aware processes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442094" y="6362395"/>
            <a:ext cx="21058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1: Operating Systems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-4" b="-4"/>
          <a:stretch/>
        </p:blipFill>
        <p:spPr>
          <a:xfrm>
            <a:off x="9810598" y="2438705"/>
            <a:ext cx="2857500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64008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Android in the Enterprise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1996135"/>
            <a:ext cx="1426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530626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 profile separates work/personal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2756002"/>
            <a:ext cx="142646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5646" y="2680106"/>
            <a:ext cx="471556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Managed devices via MDM/EMM</a:t>
            </a:r>
            <a:endParaRPr lang="en-US" sz="2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5646" y="3439973"/>
            <a:ext cx="467715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Corporate apps: email, chat, VPN</a:t>
            </a:r>
            <a:endParaRPr lang="en-US" sz="2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833018" y="4276649"/>
            <a:ext cx="142646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85646" y="4200754"/>
            <a:ext cx="42108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Kiosk and frontline use cases</a:t>
            </a:r>
            <a:endParaRPr lang="en-US" sz="2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85646" y="4960620"/>
            <a:ext cx="43818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Compliance checks for access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442094" y="6362395"/>
            <a:ext cx="21058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1: Operating Systems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0" b="0"/>
          <a:stretch/>
        </p:blipFill>
        <p:spPr>
          <a:xfrm>
            <a:off x="8858707" y="2438705"/>
            <a:ext cx="3810305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806775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Golden Images: What Are They?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1996135"/>
            <a:ext cx="1426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519196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standard, pre-configured OS image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2756002"/>
            <a:ext cx="142646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5646" y="2680106"/>
            <a:ext cx="56391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Includes patches, drivers, and core apps</a:t>
            </a:r>
            <a:endParaRPr lang="en-US" sz="2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5646" y="3439973"/>
            <a:ext cx="669615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Built by IT to ensure consistency across devices</a:t>
            </a:r>
            <a:endParaRPr lang="en-US" sz="2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833018" y="4276649"/>
            <a:ext cx="142646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85646" y="4200754"/>
            <a:ext cx="547725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Used to deploy many machines quickly</a:t>
            </a:r>
            <a:endParaRPr lang="en-US" sz="2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85646" y="4960620"/>
            <a:ext cx="60771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Sometimes called "base" or "master" image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442094" y="6362395"/>
            <a:ext cx="21058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1: Operating Systems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0" b="0"/>
          <a:stretch/>
        </p:blipFill>
        <p:spPr>
          <a:xfrm>
            <a:off x="8858707" y="2438705"/>
            <a:ext cx="3810305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1063995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Golden Images: Why Companies Use Them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1996135"/>
            <a:ext cx="1426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484906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Speed up onboarding and rebuilds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2756002"/>
            <a:ext cx="142646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5646" y="2680106"/>
            <a:ext cx="374355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 configuration drift</a:t>
            </a:r>
            <a:endParaRPr lang="en-US" sz="2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5646" y="3439973"/>
            <a:ext cx="47055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 security and compliance</a:t>
            </a:r>
            <a:endParaRPr lang="en-US" sz="2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833018" y="4276649"/>
            <a:ext cx="142646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85646" y="4200754"/>
            <a:ext cx="524865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Simplify support and troubleshooting</a:t>
            </a:r>
            <a:endParaRPr lang="en-US" sz="2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85646" y="4960620"/>
            <a:ext cx="49533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 predictable user experience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442094" y="6362395"/>
            <a:ext cx="21058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1: Operating Systems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rcRect l="-60" r="-60" t="0" b="0"/>
          <a:stretch/>
        </p:blipFill>
        <p:spPr>
          <a:xfrm>
            <a:off x="8210398" y="2769718"/>
            <a:ext cx="4172407" cy="33339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9442094" y="6362395"/>
            <a:ext cx="21058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1: Operating Systems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61695" y="371246"/>
            <a:ext cx="701527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Golden Images: How They Work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1162202" y="2054657"/>
            <a:ext cx="38405" cy="370514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7"/>
          <p:cNvSpPr/>
          <p:nvPr/>
        </p:nvSpPr>
        <p:spPr>
          <a:xfrm>
            <a:off x="952805" y="1906524"/>
            <a:ext cx="457200" cy="457200"/>
          </a:xfrm>
          <a:prstGeom prst="ellipse">
            <a:avLst/>
          </a:prstGeom>
          <a:solidFill>
            <a:srgbClr val="3498DB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1136599" y="1964131"/>
            <a:ext cx="2670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695298" y="1826057"/>
            <a:ext cx="9734702" cy="619049"/>
          </a:xfrm>
          <a:prstGeom prst="roundRect">
            <a:avLst>
              <a:gd name="adj" fmla="val 1818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695298" y="1826057"/>
            <a:ext cx="38405" cy="61904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962302" y="2016252"/>
            <a:ext cx="335767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builds a clean reference system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952805" y="2792578"/>
            <a:ext cx="457200" cy="457200"/>
          </a:xfrm>
          <a:prstGeom prst="ellipse">
            <a:avLst/>
          </a:prstGeom>
          <a:solidFill>
            <a:srgbClr val="3498DB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1113739" y="2850185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695298" y="2712110"/>
            <a:ext cx="9734702" cy="619049"/>
          </a:xfrm>
          <a:prstGeom prst="roundRect">
            <a:avLst>
              <a:gd name="adj" fmla="val 1818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695298" y="2712110"/>
            <a:ext cx="38405" cy="61904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962302" y="2902306"/>
            <a:ext cx="330098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Generalize and capture the image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952805" y="3678631"/>
            <a:ext cx="457200" cy="457200"/>
          </a:xfrm>
          <a:prstGeom prst="ellipse">
            <a:avLst/>
          </a:prstGeom>
          <a:solidFill>
            <a:srgbClr val="3498DB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1113739" y="3735324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1695298" y="3597250"/>
            <a:ext cx="9734702" cy="619049"/>
          </a:xfrm>
          <a:prstGeom prst="roundRect">
            <a:avLst>
              <a:gd name="adj" fmla="val 1818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695298" y="3597250"/>
            <a:ext cx="38405" cy="61904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962302" y="3788359"/>
            <a:ext cx="375818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Store in deployment tool (SCCM/MDT)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952805" y="4564685"/>
            <a:ext cx="457200" cy="457200"/>
          </a:xfrm>
          <a:prstGeom prst="ellipse">
            <a:avLst/>
          </a:prstGeom>
          <a:solidFill>
            <a:srgbClr val="3498DB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1101852" y="4621378"/>
            <a:ext cx="3337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1695298" y="4483303"/>
            <a:ext cx="9734702" cy="619049"/>
          </a:xfrm>
          <a:prstGeom prst="roundRect">
            <a:avLst>
              <a:gd name="adj" fmla="val 1818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1695298" y="4483303"/>
            <a:ext cx="38405" cy="61904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962302" y="4673498"/>
            <a:ext cx="33768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 to devices with automation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952805" y="5449824"/>
            <a:ext cx="457200" cy="457200"/>
          </a:xfrm>
          <a:prstGeom prst="ellipse">
            <a:avLst/>
          </a:prstGeom>
          <a:solidFill>
            <a:srgbClr val="3498DB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1112825" y="5507431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1695298" y="5369357"/>
            <a:ext cx="9734702" cy="619049"/>
          </a:xfrm>
          <a:prstGeom prst="roundRect">
            <a:avLst>
              <a:gd name="adj" fmla="val 1818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1695298" y="5369357"/>
            <a:ext cx="38405" cy="61904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1962302" y="5559552"/>
            <a:ext cx="351038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Post-deploy scripts finalize settings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442094" y="6362395"/>
            <a:ext cx="21058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1: Operating Systems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61695" y="371246"/>
            <a:ext cx="717712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Comparison: Workplace View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761695" y="1241755"/>
            <a:ext cx="5143500" cy="5238598"/>
          </a:xfrm>
          <a:prstGeom prst="roundRect">
            <a:avLst>
              <a:gd name="adj" fmla="val 395"/>
            </a:avLst>
          </a:prstGeom>
          <a:solidFill>
            <a:srgbClr val="F0F9FF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1695" y="1241755"/>
            <a:ext cx="5143500" cy="57607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Shape 8"/>
          <p:cNvSpPr/>
          <p:nvPr/>
        </p:nvSpPr>
        <p:spPr>
          <a:xfrm>
            <a:off x="1047902" y="2070202"/>
            <a:ext cx="4572000" cy="19202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-107" r="-107" t="0" b="0"/>
          <a:stretch/>
        </p:blipFill>
        <p:spPr>
          <a:xfrm>
            <a:off x="1047902" y="1603858"/>
            <a:ext cx="267005" cy="30449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047902" y="2280514"/>
            <a:ext cx="47155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Windows: Dominates general business; AD/Intune management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047902" y="2994660"/>
            <a:ext cx="46771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macOS: Creative roles &amp; executives; UNIX-based tools</a:t>
            </a:r>
            <a:endParaRPr lang="en-US" sz="15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47902" y="3499409"/>
            <a:ext cx="133502" cy="133502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47902" y="3928262"/>
            <a:ext cx="133502" cy="13350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286500" y="1241755"/>
            <a:ext cx="5143500" cy="5238598"/>
          </a:xfrm>
          <a:prstGeom prst="roundRect">
            <a:avLst>
              <a:gd name="adj" fmla="val 395"/>
            </a:avLst>
          </a:prstGeom>
          <a:solidFill>
            <a:srgbClr val="F0FDF4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286500" y="1241755"/>
            <a:ext cx="5143500" cy="57607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8" name="Shape 13"/>
          <p:cNvSpPr/>
          <p:nvPr/>
        </p:nvSpPr>
        <p:spPr>
          <a:xfrm>
            <a:off x="6572707" y="2070202"/>
            <a:ext cx="4572000" cy="19202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-107" r="-107" t="0" b="0"/>
          <a:stretch/>
        </p:blipFill>
        <p:spPr>
          <a:xfrm>
            <a:off x="6572707" y="1603858"/>
            <a:ext cx="267005" cy="30449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572707" y="2280514"/>
            <a:ext cx="427756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Linux: Servers, cloud, containers, and automation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6572707" y="2709367"/>
            <a:ext cx="45537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Android: Frontline workers, kiosk mode, mobile apps</a:t>
            </a:r>
            <a:endParaRPr lang="en-US" sz="15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572707" y="3214116"/>
            <a:ext cx="133502" cy="13350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572707" y="3642055"/>
            <a:ext cx="133502" cy="13350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457554" y="1613916"/>
            <a:ext cx="25246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Standard Corporate</a:t>
            </a:r>
            <a:endParaRPr lang="en-US" sz="1800" dirty="0"/>
          </a:p>
        </p:txBody>
      </p:sp>
      <p:sp>
        <p:nvSpPr>
          <p:cNvPr id="25" name="Text 17"/>
          <p:cNvSpPr txBox="1"/>
          <p:nvPr/>
        </p:nvSpPr>
        <p:spPr>
          <a:xfrm>
            <a:off x="1295705" y="3451860"/>
            <a:ext cx="35625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 on productivity suites (Office 365)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1295705" y="3880714"/>
            <a:ext cx="3410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 endpoint security &amp; compliance</a:t>
            </a:r>
            <a:endParaRPr lang="en-US" sz="1500" dirty="0"/>
          </a:p>
        </p:txBody>
      </p:sp>
      <p:sp>
        <p:nvSpPr>
          <p:cNvPr id="27" name="Text 19"/>
          <p:cNvSpPr txBox="1"/>
          <p:nvPr/>
        </p:nvSpPr>
        <p:spPr>
          <a:xfrm>
            <a:off x="6981444" y="1613916"/>
            <a:ext cx="29434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Infrastructure &amp; Mobile</a:t>
            </a:r>
            <a:endParaRPr lang="en-US" sz="1800" dirty="0"/>
          </a:p>
        </p:txBody>
      </p:sp>
      <p:sp>
        <p:nvSpPr>
          <p:cNvPr id="28" name="Text 20"/>
          <p:cNvSpPr txBox="1"/>
          <p:nvPr/>
        </p:nvSpPr>
        <p:spPr>
          <a:xfrm>
            <a:off x="6819595" y="3166567"/>
            <a:ext cx="3905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 on stability, uptime, and specific tasks</a:t>
            </a:r>
            <a:endParaRPr lang="en-US" sz="1500" dirty="0"/>
          </a:p>
        </p:txBody>
      </p:sp>
      <p:sp>
        <p:nvSpPr>
          <p:cNvPr id="29" name="Text 21"/>
          <p:cNvSpPr txBox="1"/>
          <p:nvPr/>
        </p:nvSpPr>
        <p:spPr>
          <a:xfrm>
            <a:off x="6819595" y="3594506"/>
            <a:ext cx="400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Managed via specialized MDM or config tools</a:t>
            </a:r>
            <a:endParaRPr lang="en-US" sz="1500" dirty="0"/>
          </a:p>
        </p:txBody>
      </p:sp>
      <p:sp>
        <p:nvSpPr>
          <p:cNvPr id="30" name="Shape 22"/>
          <p:cNvSpPr/>
          <p:nvPr/>
        </p:nvSpPr>
        <p:spPr>
          <a:xfrm>
            <a:off x="5810098" y="3143707"/>
            <a:ext cx="571500" cy="571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F3F4F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Text 23"/>
          <p:cNvSpPr txBox="1"/>
          <p:nvPr/>
        </p:nvSpPr>
        <p:spPr>
          <a:xfrm>
            <a:off x="5939028" y="3258007"/>
            <a:ext cx="4864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1809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VS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2" b="-2"/>
          <a:stretch/>
        </p:blipFill>
        <p:spPr>
          <a:xfrm>
            <a:off x="9334195" y="2438705"/>
            <a:ext cx="3333902" cy="381030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381805" y="2347265"/>
            <a:ext cx="7048195" cy="1920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381805" y="1604772"/>
            <a:ext cx="428213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Module 1 Summary</a:t>
            </a:r>
            <a:endParaRPr lang="en-US" sz="3100" dirty="0"/>
          </a:p>
        </p:txBody>
      </p:sp>
      <p:sp>
        <p:nvSpPr>
          <p:cNvPr id="8" name="Text 5"/>
          <p:cNvSpPr txBox="1"/>
          <p:nvPr/>
        </p:nvSpPr>
        <p:spPr>
          <a:xfrm>
            <a:off x="4381805" y="2747772"/>
            <a:ext cx="37627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OS = foundation for users and apps</a:t>
            </a:r>
            <a:endParaRPr lang="en-US" sz="18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1805" y="3354019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800600" y="3325673"/>
            <a:ext cx="50292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Windows/macOS/Android serve different needs</a:t>
            </a:r>
            <a:endParaRPr lang="en-US" sz="18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1805" y="3911803"/>
            <a:ext cx="228600" cy="2286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800600" y="3883457"/>
            <a:ext cx="44677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Enterprises standardize via golden images</a:t>
            </a:r>
            <a:endParaRPr lang="en-US" sz="18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1805" y="4470502"/>
            <a:ext cx="228600" cy="2286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800600" y="4441241"/>
            <a:ext cx="43150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 and manageability drive choices</a:t>
            </a:r>
            <a:endParaRPr lang="en-US" sz="18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1805" y="5028286"/>
            <a:ext cx="228600" cy="22860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4800600" y="4999939"/>
            <a:ext cx="36960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You’ll interact with several OS daily</a:t>
            </a:r>
            <a:endParaRPr lang="en-US" sz="1800" dirty="0"/>
          </a:p>
        </p:txBody>
      </p:sp>
      <p:sp>
        <p:nvSpPr>
          <p:cNvPr id="17" name="Shape 10"/>
          <p:cNvSpPr/>
          <p:nvPr/>
        </p:nvSpPr>
        <p:spPr>
          <a:xfrm>
            <a:off x="7619695" y="6019495"/>
            <a:ext cx="3810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1"/>
          <p:cNvSpPr txBox="1"/>
          <p:nvPr/>
        </p:nvSpPr>
        <p:spPr>
          <a:xfrm>
            <a:off x="7619695" y="6191402"/>
            <a:ext cx="169072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000" dirty="0"/>
          </a:p>
        </p:txBody>
      </p:sp>
      <p:sp>
        <p:nvSpPr>
          <p:cNvPr id="19" name="Text 12"/>
          <p:cNvSpPr txBox="1"/>
          <p:nvPr/>
        </p:nvSpPr>
        <p:spPr>
          <a:xfrm>
            <a:off x="9701784" y="6191402"/>
            <a:ext cx="1300277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1: Operating Systems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1" name="Shape 14"/>
          <p:cNvSpPr/>
          <p:nvPr/>
        </p:nvSpPr>
        <p:spPr>
          <a:xfrm>
            <a:off x="1143000" y="2031797"/>
            <a:ext cx="1333195" cy="1333195"/>
          </a:xfrm>
          <a:prstGeom prst="ellipse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25" b="-25"/>
          <a:stretch/>
        </p:blipFill>
        <p:spPr>
          <a:xfrm>
            <a:off x="1580998" y="2393899"/>
            <a:ext cx="457200" cy="609905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461211" y="3641141"/>
            <a:ext cx="9628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</a:t>
            </a:r>
            <a:endParaRPr lang="en-US" sz="2700" dirty="0"/>
          </a:p>
        </p:txBody>
      </p:sp>
      <p:sp>
        <p:nvSpPr>
          <p:cNvPr id="24" name="Text 16"/>
          <p:cNvSpPr txBox="1"/>
          <p:nvPr/>
        </p:nvSpPr>
        <p:spPr>
          <a:xfrm>
            <a:off x="788213" y="4052621"/>
            <a:ext cx="23052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Takeaways</a:t>
            </a:r>
            <a:endParaRPr lang="en-US" sz="2700" dirty="0"/>
          </a:p>
        </p:txBody>
      </p:sp>
      <p:sp>
        <p:nvSpPr>
          <p:cNvPr id="25" name="Text 17"/>
          <p:cNvSpPr txBox="1"/>
          <p:nvPr/>
        </p:nvSpPr>
        <p:spPr>
          <a:xfrm>
            <a:off x="1495044" y="4597603"/>
            <a:ext cx="7671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RECAP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0" y="0"/>
            <a:ext cx="3619195" cy="95098"/>
          </a:xfrm>
          <a:prstGeom prst="rect">
            <a:avLst/>
          </a:prstGeom>
          <a:solidFill>
            <a:srgbClr val="F1C40F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2606040"/>
            <a:ext cx="12191695" cy="4257446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-103" r="-103" t="0" b="0"/>
          <a:stretch/>
        </p:blipFill>
        <p:spPr>
          <a:xfrm>
            <a:off x="9305849" y="3567074"/>
            <a:ext cx="2505456" cy="28575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09598" y="3003804"/>
            <a:ext cx="8572500" cy="3457346"/>
          </a:xfrm>
          <a:prstGeom prst="roundRect">
            <a:avLst>
              <a:gd name="adj" fmla="val 11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41300" dist="101600" dir="5400000">
              <a:srgbClr val="000000">
                <a:alpha val="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809598" y="3003804"/>
            <a:ext cx="75895" cy="345734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457907" y="3412541"/>
            <a:ext cx="20436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TOPICS COVERED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-46154" r="-46154" t="0" b="0"/>
          <a:stretch/>
        </p:blipFill>
        <p:spPr>
          <a:xfrm>
            <a:off x="2457907" y="3934663"/>
            <a:ext cx="228600" cy="19019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876702" y="3888943"/>
            <a:ext cx="32772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Linux is and why it exists</a:t>
            </a:r>
            <a:endParaRPr lang="en-US" sz="18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-46154" r="-46154" t="0" b="0"/>
          <a:stretch/>
        </p:blipFill>
        <p:spPr>
          <a:xfrm>
            <a:off x="2457907" y="4407408"/>
            <a:ext cx="228600" cy="19019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876702" y="4361688"/>
            <a:ext cx="34390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 Linux runs so many servers</a:t>
            </a:r>
            <a:endParaRPr lang="en-US" sz="18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rcRect l="-46154" r="-46154" t="0" b="0"/>
          <a:stretch/>
        </p:blipFill>
        <p:spPr>
          <a:xfrm>
            <a:off x="2457907" y="4879238"/>
            <a:ext cx="228600" cy="19019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2876702" y="4833518"/>
            <a:ext cx="35625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VirtualBox setup for safe practice</a:t>
            </a:r>
            <a:endParaRPr lang="en-US" sz="18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-46154" r="-46154" t="0" b="0"/>
          <a:stretch/>
        </p:blipFill>
        <p:spPr>
          <a:xfrm>
            <a:off x="2457907" y="5351983"/>
            <a:ext cx="228600" cy="190195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2876702" y="5306263"/>
            <a:ext cx="27432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Ubuntu install at a glance</a:t>
            </a:r>
            <a:endParaRPr lang="en-US" sz="18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rcRect l="-46154" r="-46154" t="0" b="0"/>
          <a:stretch/>
        </p:blipFill>
        <p:spPr>
          <a:xfrm>
            <a:off x="2457907" y="5824728"/>
            <a:ext cx="228600" cy="190195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2876702" y="5779008"/>
            <a:ext cx="28483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 look at Linux desktop</a:t>
            </a:r>
            <a:endParaRPr lang="en-US" sz="1800" dirty="0"/>
          </a:p>
        </p:txBody>
      </p:sp>
      <p:sp>
        <p:nvSpPr>
          <p:cNvPr id="19" name="Shape 11"/>
          <p:cNvSpPr/>
          <p:nvPr/>
        </p:nvSpPr>
        <p:spPr>
          <a:xfrm>
            <a:off x="0" y="0"/>
            <a:ext cx="12191695" cy="260969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0" name="Text 12"/>
          <p:cNvSpPr txBox="1"/>
          <p:nvPr/>
        </p:nvSpPr>
        <p:spPr>
          <a:xfrm>
            <a:off x="5310835" y="748894"/>
            <a:ext cx="17437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MODULE 2</a:t>
            </a:r>
            <a:endParaRPr lang="en-US" sz="1800" dirty="0"/>
          </a:p>
        </p:txBody>
      </p:sp>
      <p:sp>
        <p:nvSpPr>
          <p:cNvPr id="21" name="Text 13"/>
          <p:cNvSpPr txBox="1"/>
          <p:nvPr/>
        </p:nvSpPr>
        <p:spPr>
          <a:xfrm>
            <a:off x="2779776" y="1176833"/>
            <a:ext cx="7096658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Linux Fundamentals</a:t>
            </a:r>
            <a:endParaRPr lang="en-US" sz="4800" dirty="0"/>
          </a:p>
        </p:txBody>
      </p:sp>
      <p:sp>
        <p:nvSpPr>
          <p:cNvPr id="22" name="Shape 14"/>
          <p:cNvSpPr/>
          <p:nvPr/>
        </p:nvSpPr>
        <p:spPr>
          <a:xfrm>
            <a:off x="11201400" y="228600"/>
            <a:ext cx="761695" cy="761695"/>
          </a:xfrm>
          <a:prstGeom prst="rect">
            <a:avLst/>
          </a:prstGeom>
          <a:noFill/>
          <a:ln w="508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228600" y="1615745"/>
            <a:ext cx="761695" cy="761695"/>
          </a:xfrm>
          <a:prstGeom prst="rect">
            <a:avLst/>
          </a:prstGeom>
          <a:noFill/>
          <a:ln w="508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0" y="2530145"/>
            <a:ext cx="12191695" cy="75895"/>
          </a:xfrm>
          <a:prstGeom prst="rect">
            <a:avLst/>
          </a:prstGeom>
          <a:solidFill>
            <a:srgbClr val="3498DB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-2" b="-2"/>
          <a:stretch/>
        </p:blipFill>
        <p:spPr>
          <a:xfrm>
            <a:off x="9334195" y="2438705"/>
            <a:ext cx="3333902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39246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Linux?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1996135"/>
            <a:ext cx="1426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568665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open-source operating system family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2756002"/>
            <a:ext cx="142646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5646" y="2680106"/>
            <a:ext cx="681045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Composed of a Kernel + userland tools and apps</a:t>
            </a:r>
            <a:endParaRPr lang="en-US" sz="2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5646" y="3439973"/>
            <a:ext cx="593445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Available in multiple distributions (distros)</a:t>
            </a:r>
            <a:endParaRPr lang="en-US" sz="2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833018" y="4276649"/>
            <a:ext cx="142646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85646" y="4200754"/>
            <a:ext cx="79251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Runs on servers, desktops, cloud, and embedded devices</a:t>
            </a:r>
            <a:endParaRPr lang="en-US" sz="2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85646" y="4960620"/>
            <a:ext cx="668700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Free to use with community and vendor support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356141" y="6362395"/>
            <a:ext cx="21909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2: Linux Fundamentals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-2" b="-2"/>
          <a:stretch/>
        </p:blipFill>
        <p:spPr>
          <a:xfrm>
            <a:off x="9334195" y="2438705"/>
            <a:ext cx="3333902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57918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Does Linux Exist?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1996135"/>
            <a:ext cx="1426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635325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Created to share, learn, and improve software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2756002"/>
            <a:ext cx="142646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5646" y="2680106"/>
            <a:ext cx="686805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licenses enable global collaboration</a:t>
            </a:r>
            <a:endParaRPr lang="en-US" sz="2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5646" y="3439973"/>
            <a:ext cx="559155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Vendors build stable enterprise editions</a:t>
            </a:r>
            <a:endParaRPr lang="en-US" sz="2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833018" y="4276649"/>
            <a:ext cx="142646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85646" y="4200754"/>
            <a:ext cx="492495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Community drives rapid innovation</a:t>
            </a:r>
            <a:endParaRPr lang="en-US" sz="2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85646" y="4960620"/>
            <a:ext cx="574426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Cost-effective and flexible for many uses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356141" y="6362395"/>
            <a:ext cx="21909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2: Linux Fundamentals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356141" y="6362395"/>
            <a:ext cx="21909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2: Linux Fundamentals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61695" y="371246"/>
            <a:ext cx="763432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Linux vs Windows: Key Differences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761695" y="1241755"/>
            <a:ext cx="5143500" cy="5238598"/>
          </a:xfrm>
          <a:prstGeom prst="roundRect">
            <a:avLst>
              <a:gd name="adj" fmla="val 395"/>
            </a:avLst>
          </a:prstGeom>
          <a:solidFill>
            <a:srgbClr val="F0F9FF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1695" y="1241755"/>
            <a:ext cx="5143500" cy="57607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Shape 8"/>
          <p:cNvSpPr/>
          <p:nvPr/>
        </p:nvSpPr>
        <p:spPr>
          <a:xfrm>
            <a:off x="1047902" y="2070202"/>
            <a:ext cx="4572000" cy="19202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-107" r="-107" t="0" b="0"/>
          <a:stretch/>
        </p:blipFill>
        <p:spPr>
          <a:xfrm>
            <a:off x="1047902" y="1603858"/>
            <a:ext cx="267005" cy="30449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047902" y="2280514"/>
            <a:ext cx="359359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Licensing: Proprietary &amp; Commercial (Paid)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047902" y="2723998"/>
            <a:ext cx="398404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Software Mgmt: Installers (.exe, .msi) &amp; Wizards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047902" y="3168396"/>
            <a:ext cx="375544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Interface: GUI-First (Graphical User Interface)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047902" y="3611880"/>
            <a:ext cx="364114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Filesystem: NTFS (Case-Insensitive usually)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047902" y="4055364"/>
            <a:ext cx="352684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Primary Role: Corporate Desktops &amp; Office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286500" y="1241755"/>
            <a:ext cx="5143500" cy="5238598"/>
          </a:xfrm>
          <a:prstGeom prst="roundRect">
            <a:avLst>
              <a:gd name="adj" fmla="val 395"/>
            </a:avLst>
          </a:prstGeom>
          <a:solidFill>
            <a:srgbClr val="FFFAF0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86500" y="1241755"/>
            <a:ext cx="5143500" cy="57607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9" name="Shape 16"/>
          <p:cNvSpPr/>
          <p:nvPr/>
        </p:nvSpPr>
        <p:spPr>
          <a:xfrm>
            <a:off x="6572707" y="2070202"/>
            <a:ext cx="4572000" cy="19202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rcRect l="-107" r="-107" t="0" b="0"/>
          <a:stretch/>
        </p:blipFill>
        <p:spPr>
          <a:xfrm>
            <a:off x="6572707" y="1603858"/>
            <a:ext cx="267005" cy="304495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6572707" y="2280514"/>
            <a:ext cx="308884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Licensing: Open Source (GPL) &amp; Free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6572707" y="2723998"/>
            <a:ext cx="422269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Software Mgmt: Package Managers (apt, yum, dnf)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6572707" y="3168396"/>
            <a:ext cx="377464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Interface: CLI-First (Command Line Interface)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6572707" y="3611880"/>
            <a:ext cx="312724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Filesystem: ext4, xfs (Case-Sensitive)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6572707" y="4055364"/>
            <a:ext cx="393649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Primary Role: Servers, Cloud &amp; Supercomputers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1457554" y="1613916"/>
            <a:ext cx="13057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Windows</a:t>
            </a:r>
            <a:endParaRPr lang="en-US" sz="1800" dirty="0"/>
          </a:p>
        </p:txBody>
      </p:sp>
      <p:sp>
        <p:nvSpPr>
          <p:cNvPr id="27" name="Text 23"/>
          <p:cNvSpPr txBox="1"/>
          <p:nvPr/>
        </p:nvSpPr>
        <p:spPr>
          <a:xfrm>
            <a:off x="6981444" y="1613916"/>
            <a:ext cx="8385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Linux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5810098" y="3143707"/>
            <a:ext cx="571500" cy="571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F3F4F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9" name="Text 25"/>
          <p:cNvSpPr txBox="1"/>
          <p:nvPr/>
        </p:nvSpPr>
        <p:spPr>
          <a:xfrm>
            <a:off x="5939028" y="3258007"/>
            <a:ext cx="4864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1809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VS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0" b="0"/>
          <a:stretch/>
        </p:blipFill>
        <p:spPr>
          <a:xfrm>
            <a:off x="8858707" y="2438705"/>
            <a:ext cx="3810305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10335463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Companies Choose Linux for Servers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761695" y="1891894"/>
            <a:ext cx="89446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Stability and Uptime: Designed to run for years without rebooting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61695" y="2651760"/>
            <a:ext cx="97447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 Security Model: Built-in permission isolation and user privileges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761695" y="3411626"/>
            <a:ext cx="93826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Automation Friendly: Powerful CLI and scripting for managing fleets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761695" y="4171493"/>
            <a:ext cx="96012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 &amp; Containers: The native foundation for Docker and Kubernetes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761695" y="4932274"/>
            <a:ext cx="83823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 Effective: Open-source licensing reduces costs at scale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356141" y="6362395"/>
            <a:ext cx="21909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2: Linux Fundamentals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0" b="0"/>
          <a:stretch/>
        </p:blipFill>
        <p:spPr>
          <a:xfrm>
            <a:off x="8858707" y="2438705"/>
            <a:ext cx="3810305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786841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You’ll See Linux at Work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90956" y="1996135"/>
            <a:ext cx="228600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67437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 servers, APIs, and microservices (Backend)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-57" r="-57" t="0" b="0"/>
          <a:stretch/>
        </p:blipFill>
        <p:spPr>
          <a:xfrm>
            <a:off x="804672" y="2756002"/>
            <a:ext cx="200254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5646" y="2680106"/>
            <a:ext cx="64008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Databases and message brokers (Data Layer)</a:t>
            </a:r>
            <a:endParaRPr lang="en-US" sz="2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-57" r="-57" t="0" b="0"/>
          <a:stretch/>
        </p:blipFill>
        <p:spPr>
          <a:xfrm>
            <a:off x="804672" y="3516782"/>
            <a:ext cx="200254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5646" y="3439973"/>
            <a:ext cx="57918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CI/CD runners and build agents (DevOps)</a:t>
            </a:r>
            <a:endParaRPr lang="en-US" sz="2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-80" r="-80" t="0" b="0"/>
          <a:stretch/>
        </p:blipFill>
        <p:spPr>
          <a:xfrm>
            <a:off x="761695" y="4276649"/>
            <a:ext cx="286207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85646" y="4200754"/>
            <a:ext cx="694395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 VMs and Kubernetes nodes (Infrastructure)</a:t>
            </a:r>
            <a:endParaRPr lang="en-US" sz="2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90956" y="5036515"/>
            <a:ext cx="228600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85646" y="4960620"/>
            <a:ext cx="57534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 appliances and monitoring tools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356141" y="6362395"/>
            <a:ext cx="21909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2: Linux Fundamentals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-1" r="-1" t="0" b="0"/>
          <a:stretch/>
        </p:blipFill>
        <p:spPr>
          <a:xfrm>
            <a:off x="8382305" y="2438705"/>
            <a:ext cx="4286707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673455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VirtualBox: What and Why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1996135"/>
            <a:ext cx="1426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376275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Desktop virtualization tool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2756002"/>
            <a:ext cx="142646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5646" y="2680106"/>
            <a:ext cx="444855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 Linux safely inside your PC</a:t>
            </a:r>
            <a:endParaRPr lang="en-US" sz="2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5646" y="3439973"/>
            <a:ext cx="440100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Snapshot before risky changes</a:t>
            </a:r>
            <a:endParaRPr lang="en-US" sz="2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833018" y="4276649"/>
            <a:ext cx="142646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85646" y="4200754"/>
            <a:ext cx="385785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impact on your host OS</a:t>
            </a:r>
            <a:endParaRPr lang="en-US" sz="2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85646" y="4960620"/>
            <a:ext cx="462046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Free and widely used for training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356141" y="6362395"/>
            <a:ext cx="21909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2: Linux Fundamentals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rcRect l="-5" r="-5" t="0" b="0"/>
          <a:stretch/>
        </p:blipFill>
        <p:spPr>
          <a:xfrm>
            <a:off x="9667951" y="3567074"/>
            <a:ext cx="2143354" cy="2857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13240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4"/>
          <p:cNvSpPr/>
          <p:nvPr/>
        </p:nvSpPr>
        <p:spPr>
          <a:xfrm>
            <a:off x="761695" y="1281989"/>
            <a:ext cx="952805" cy="3840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61695" y="466344"/>
            <a:ext cx="823965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VirtualBox: Setup Considerations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761695" y="1917497"/>
            <a:ext cx="10668305" cy="685800"/>
          </a:xfrm>
          <a:prstGeom prst="roundRect">
            <a:avLst>
              <a:gd name="adj" fmla="val 2222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61695" y="1917497"/>
            <a:ext cx="57607" cy="6858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04595" y="2136038"/>
            <a:ext cx="247802" cy="24780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61695" y="2831897"/>
            <a:ext cx="10668305" cy="685800"/>
          </a:xfrm>
          <a:prstGeom prst="roundRect">
            <a:avLst>
              <a:gd name="adj" fmla="val 2222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61695" y="2831897"/>
            <a:ext cx="57607" cy="6858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476" b="-476"/>
          <a:stretch/>
        </p:blipFill>
        <p:spPr>
          <a:xfrm>
            <a:off x="1104595" y="3050438"/>
            <a:ext cx="276149" cy="24780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761695" y="3746297"/>
            <a:ext cx="10668305" cy="685800"/>
          </a:xfrm>
          <a:prstGeom prst="roundRect">
            <a:avLst>
              <a:gd name="adj" fmla="val 2222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61695" y="3746297"/>
            <a:ext cx="57607" cy="6858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104595" y="3964838"/>
            <a:ext cx="247802" cy="24780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761695" y="4660697"/>
            <a:ext cx="10668305" cy="685800"/>
          </a:xfrm>
          <a:prstGeom prst="roundRect">
            <a:avLst>
              <a:gd name="adj" fmla="val 2222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61695" y="4660697"/>
            <a:ext cx="57607" cy="6858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-775" r="-775" t="0" b="0"/>
          <a:stretch/>
        </p:blipFill>
        <p:spPr>
          <a:xfrm>
            <a:off x="1104595" y="4879238"/>
            <a:ext cx="314554" cy="247802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761695" y="5575097"/>
            <a:ext cx="10668305" cy="685800"/>
          </a:xfrm>
          <a:prstGeom prst="roundRect">
            <a:avLst>
              <a:gd name="adj" fmla="val 2222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761695" y="5575097"/>
            <a:ext cx="57607" cy="6858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104595" y="5793638"/>
            <a:ext cx="247802" cy="24780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591056" y="2126894"/>
            <a:ext cx="60103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 CPU virtualization (VT-x/AMD-V) is enabled in BIOS</a:t>
            </a:r>
            <a:endParaRPr lang="en-US" sz="1800" dirty="0"/>
          </a:p>
        </p:txBody>
      </p:sp>
      <p:sp>
        <p:nvSpPr>
          <p:cNvPr id="25" name="Text 17"/>
          <p:cNvSpPr txBox="1"/>
          <p:nvPr/>
        </p:nvSpPr>
        <p:spPr>
          <a:xfrm>
            <a:off x="1619402" y="3041294"/>
            <a:ext cx="58201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Allocate 2–4 GB RAM to the VM (leave enough for host)</a:t>
            </a:r>
            <a:endParaRPr lang="en-US" sz="1800" dirty="0"/>
          </a:p>
        </p:txBody>
      </p:sp>
      <p:sp>
        <p:nvSpPr>
          <p:cNvPr id="26" name="Text 18"/>
          <p:cNvSpPr txBox="1"/>
          <p:nvPr/>
        </p:nvSpPr>
        <p:spPr>
          <a:xfrm>
            <a:off x="1591056" y="3955694"/>
            <a:ext cx="43726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Reserve 20–30 GB disk space for storage</a:t>
            </a:r>
            <a:endParaRPr lang="en-US" sz="1800" dirty="0"/>
          </a:p>
        </p:txBody>
      </p:sp>
      <p:sp>
        <p:nvSpPr>
          <p:cNvPr id="27" name="Text 19"/>
          <p:cNvSpPr txBox="1"/>
          <p:nvPr/>
        </p:nvSpPr>
        <p:spPr>
          <a:xfrm>
            <a:off x="1657807" y="4870094"/>
            <a:ext cx="50484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 network adapter (NAT is default/easiest)</a:t>
            </a:r>
            <a:endParaRPr lang="en-US" sz="1800" dirty="0"/>
          </a:p>
        </p:txBody>
      </p:sp>
      <p:sp>
        <p:nvSpPr>
          <p:cNvPr id="28" name="Text 20"/>
          <p:cNvSpPr txBox="1"/>
          <p:nvPr/>
        </p:nvSpPr>
        <p:spPr>
          <a:xfrm>
            <a:off x="1591056" y="5784494"/>
            <a:ext cx="58485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Download installer from official site only (virtualbox.org)</a:t>
            </a:r>
            <a:endParaRPr lang="en-US" sz="1800" dirty="0"/>
          </a:p>
        </p:txBody>
      </p:sp>
      <p:sp>
        <p:nvSpPr>
          <p:cNvPr id="29" name="Shape 21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9356141" y="6362395"/>
            <a:ext cx="21909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2: Linux Fundamentals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rcRect l="0" r="0" t="0" b="0"/>
          <a:stretch/>
        </p:blipFill>
        <p:spPr>
          <a:xfrm>
            <a:off x="8001000" y="1390802"/>
            <a:ext cx="3810305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9356141" y="6362395"/>
            <a:ext cx="21909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2: Linux Fundamentals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61695" y="371246"/>
            <a:ext cx="597743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Install VirtualBox: Steps 1–2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61695" y="2225650"/>
            <a:ext cx="10477195" cy="1133856"/>
          </a:xfrm>
          <a:prstGeom prst="roundRect">
            <a:avLst>
              <a:gd name="adj" fmla="val 813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61695" y="2225650"/>
            <a:ext cx="57607" cy="113385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Shape 8"/>
          <p:cNvSpPr/>
          <p:nvPr/>
        </p:nvSpPr>
        <p:spPr>
          <a:xfrm>
            <a:off x="1047902" y="2454250"/>
            <a:ext cx="571500" cy="571500"/>
          </a:xfrm>
          <a:prstGeom prst="roundRect">
            <a:avLst>
              <a:gd name="adj" fmla="val 26667"/>
            </a:avLst>
          </a:prstGeom>
          <a:solidFill>
            <a:srgbClr val="3498DB"/>
          </a:solidFill>
          <a:ln/>
          <a:effectLst>
            <a:outerShdw sx="100000" sy="100000" kx="0" ky="0" algn="bl" rotWithShape="0" blurRad="63500" dist="38100" dir="5400000">
              <a:srgbClr val="3498db">
                <a:alpha val="3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1273759" y="2511857"/>
            <a:ext cx="3529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761695" y="3588106"/>
            <a:ext cx="10477195" cy="1809598"/>
          </a:xfrm>
          <a:prstGeom prst="roundRect">
            <a:avLst>
              <a:gd name="adj" fmla="val 319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61695" y="3588106"/>
            <a:ext cx="57607" cy="180959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5" name="Shape 12"/>
          <p:cNvSpPr/>
          <p:nvPr/>
        </p:nvSpPr>
        <p:spPr>
          <a:xfrm>
            <a:off x="1047902" y="3816706"/>
            <a:ext cx="571500" cy="571500"/>
          </a:xfrm>
          <a:prstGeom prst="roundRect">
            <a:avLst>
              <a:gd name="adj" fmla="val 26667"/>
            </a:avLst>
          </a:prstGeom>
          <a:solidFill>
            <a:srgbClr val="3498DB"/>
          </a:solidFill>
          <a:ln/>
          <a:effectLst>
            <a:outerShdw sx="100000" sy="100000" kx="0" ky="0" algn="bl" rotWithShape="0" blurRad="63500" dist="38100" dir="5400000">
              <a:srgbClr val="3498db">
                <a:alpha val="3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1243584" y="3873398"/>
            <a:ext cx="4096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1848002" y="2492654"/>
            <a:ext cx="32772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Download installer for your OS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848002" y="2902306"/>
            <a:ext cx="75684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Visit the official website and select the package for your host system (Windows, macOS, or Linux).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848002" y="3855110"/>
            <a:ext cx="4134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 installer as admin; accept defaults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2038198" y="4312310"/>
            <a:ext cx="31766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Verify network driver installation prompt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2038198" y="4607662"/>
            <a:ext cx="25676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Confirm the installation location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2038198" y="4902098"/>
            <a:ext cx="37481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Complete the wizard and launch the application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rcRect l="-1" r="-1" t="0" b="0"/>
          <a:stretch/>
        </p:blipFill>
        <p:spPr>
          <a:xfrm>
            <a:off x="7524598" y="1390802"/>
            <a:ext cx="4286707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9356141" y="6362395"/>
            <a:ext cx="21909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2: Linux Fundamentals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61695" y="371246"/>
            <a:ext cx="611093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Install VirtualBox: Steps 3–4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61695" y="1888236"/>
            <a:ext cx="10477195" cy="1809598"/>
          </a:xfrm>
          <a:prstGeom prst="roundRect">
            <a:avLst>
              <a:gd name="adj" fmla="val 319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61695" y="1888236"/>
            <a:ext cx="57607" cy="180959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Shape 8"/>
          <p:cNvSpPr/>
          <p:nvPr/>
        </p:nvSpPr>
        <p:spPr>
          <a:xfrm>
            <a:off x="1047902" y="2116836"/>
            <a:ext cx="571500" cy="571500"/>
          </a:xfrm>
          <a:prstGeom prst="roundRect">
            <a:avLst>
              <a:gd name="adj" fmla="val 26667"/>
            </a:avLst>
          </a:prstGeom>
          <a:solidFill>
            <a:srgbClr val="3498DB"/>
          </a:solidFill>
          <a:ln/>
          <a:effectLst>
            <a:outerShdw sx="100000" sy="100000" kx="0" ky="0" algn="bl" rotWithShape="0" blurRad="63500" dist="38100" dir="5400000">
              <a:srgbClr val="3498db">
                <a:alpha val="3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1243584" y="2173529"/>
            <a:ext cx="4096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761695" y="3926434"/>
            <a:ext cx="10477195" cy="1809598"/>
          </a:xfrm>
          <a:prstGeom prst="roundRect">
            <a:avLst>
              <a:gd name="adj" fmla="val 319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61695" y="3926434"/>
            <a:ext cx="57607" cy="180959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5" name="Shape 12"/>
          <p:cNvSpPr/>
          <p:nvPr/>
        </p:nvSpPr>
        <p:spPr>
          <a:xfrm>
            <a:off x="1047902" y="4155034"/>
            <a:ext cx="571500" cy="571500"/>
          </a:xfrm>
          <a:prstGeom prst="roundRect">
            <a:avLst>
              <a:gd name="adj" fmla="val 26667"/>
            </a:avLst>
          </a:prstGeom>
          <a:solidFill>
            <a:srgbClr val="3498DB"/>
          </a:solidFill>
          <a:ln/>
          <a:effectLst>
            <a:outerShdw sx="100000" sy="100000" kx="0" ky="0" algn="bl" rotWithShape="0" blurRad="63500" dist="38100" dir="5400000">
              <a:srgbClr val="3498db">
                <a:alpha val="3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1228039" y="4211726"/>
            <a:ext cx="448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1848002" y="2154326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new VM: Name: Ubuntu, Type: Linux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848002" y="4192524"/>
            <a:ext cx="36292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Attach Ubuntu ISO to optical drive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2038198" y="2611526"/>
            <a:ext cx="36914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 Base Memory (RAM): 2048 MB to 4096 MB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2038198" y="2906878"/>
            <a:ext cx="34436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a Virtual Hard Disk now (VDI format)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2038198" y="3202229"/>
            <a:ext cx="45006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Choose "Dynamically allocated" storage, set size to 25 GB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2038198" y="4649724"/>
            <a:ext cx="35295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 VM Settings &gt; Storage &gt; Controller: IDE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2038198" y="4945075"/>
            <a:ext cx="43964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the empty disk icon and select your Ubuntu ISO file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2038198" y="5240426"/>
            <a:ext cx="23198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OK to save VM settings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-7990" b="-7990"/>
          <a:stretch/>
        </p:blipFill>
        <p:spPr>
          <a:xfrm>
            <a:off x="8973007" y="2438705"/>
            <a:ext cx="3696005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86868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Ubuntu: A Beginner-Friendly Linux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1996135"/>
            <a:ext cx="1426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526785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Popular, well-documented, and stable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2756002"/>
            <a:ext cx="142646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5646" y="2680106"/>
            <a:ext cx="766815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Regular releases with LTS (Long Term Support) options</a:t>
            </a:r>
            <a:endParaRPr lang="en-US" sz="2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5646" y="3439973"/>
            <a:ext cx="684885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Large community support and extensive tutorials</a:t>
            </a:r>
            <a:endParaRPr lang="en-US" sz="2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833018" y="4276649"/>
            <a:ext cx="142646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85646" y="4200754"/>
            <a:ext cx="68580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Excellent flavors for both Desktop and Server use</a:t>
            </a:r>
            <a:endParaRPr lang="en-US" sz="2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85646" y="4960620"/>
            <a:ext cx="64008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 seamlessly in VirtualBox environments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356141" y="6362395"/>
            <a:ext cx="21909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2: Linux Fundamentals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-7990" b="-7990"/>
          <a:stretch/>
        </p:blipFill>
        <p:spPr>
          <a:xfrm>
            <a:off x="8973007" y="2438705"/>
            <a:ext cx="3696005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80394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We Use Ubuntu in Training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1996135"/>
            <a:ext cx="1426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665866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Simple installer and safe defaults for new users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2756002"/>
            <a:ext cx="142646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5646" y="2680106"/>
            <a:ext cx="804946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Modern package manager (apt) simplifies software install</a:t>
            </a:r>
            <a:endParaRPr lang="en-US" sz="2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5646" y="3439973"/>
            <a:ext cx="679216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 hardware support in VirtualBox and cloud</a:t>
            </a:r>
            <a:endParaRPr lang="en-US" sz="2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833018" y="4276649"/>
            <a:ext cx="142646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85646" y="4200754"/>
            <a:ext cx="68397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Matches environment of many real-world servers</a:t>
            </a:r>
            <a:endParaRPr lang="en-US" sz="2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85646" y="4960620"/>
            <a:ext cx="675375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Easy launching pad to pivot to other distros later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356141" y="6362395"/>
            <a:ext cx="21909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2: Linux Fundamentals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rcRect l="-5" r="-5" t="0" b="0"/>
          <a:stretch/>
        </p:blipFill>
        <p:spPr>
          <a:xfrm>
            <a:off x="9667951" y="3567074"/>
            <a:ext cx="2143354" cy="2857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13240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4"/>
          <p:cNvSpPr/>
          <p:nvPr/>
        </p:nvSpPr>
        <p:spPr>
          <a:xfrm>
            <a:off x="761695" y="1281989"/>
            <a:ext cx="952805" cy="3840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61695" y="466344"/>
            <a:ext cx="68205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Install Ubuntu: Preparation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761695" y="1796796"/>
            <a:ext cx="10668305" cy="752551"/>
          </a:xfrm>
          <a:prstGeom prst="roundRect">
            <a:avLst>
              <a:gd name="adj" fmla="val 184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61695" y="1796796"/>
            <a:ext cx="57607" cy="752551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04595" y="2039112"/>
            <a:ext cx="267005" cy="26700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61695" y="2815438"/>
            <a:ext cx="10668305" cy="752551"/>
          </a:xfrm>
          <a:prstGeom prst="roundRect">
            <a:avLst>
              <a:gd name="adj" fmla="val 184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61695" y="2815438"/>
            <a:ext cx="57607" cy="752551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104595" y="3058668"/>
            <a:ext cx="267005" cy="267005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761695" y="3834994"/>
            <a:ext cx="10668305" cy="752551"/>
          </a:xfrm>
          <a:prstGeom prst="roundRect">
            <a:avLst>
              <a:gd name="adj" fmla="val 184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61695" y="3834994"/>
            <a:ext cx="57607" cy="752551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104595" y="4077310"/>
            <a:ext cx="267005" cy="267005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761695" y="4853635"/>
            <a:ext cx="10668305" cy="752551"/>
          </a:xfrm>
          <a:prstGeom prst="roundRect">
            <a:avLst>
              <a:gd name="adj" fmla="val 184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61695" y="4853635"/>
            <a:ext cx="57607" cy="752551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104595" y="5096866"/>
            <a:ext cx="267005" cy="267005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761695" y="5873191"/>
            <a:ext cx="10668305" cy="752551"/>
          </a:xfrm>
          <a:prstGeom prst="roundRect">
            <a:avLst>
              <a:gd name="adj" fmla="val 184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761695" y="5873191"/>
            <a:ext cx="57607" cy="752551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104595" y="6115507"/>
            <a:ext cx="267005" cy="267005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609344" y="2025396"/>
            <a:ext cx="487283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Download Ubuntu ISO (LTS recommended)</a:t>
            </a:r>
            <a:endParaRPr lang="en-US" sz="1900" dirty="0"/>
          </a:p>
        </p:txBody>
      </p:sp>
      <p:sp>
        <p:nvSpPr>
          <p:cNvPr id="25" name="Text 17"/>
          <p:cNvSpPr txBox="1"/>
          <p:nvPr/>
        </p:nvSpPr>
        <p:spPr>
          <a:xfrm>
            <a:off x="1609344" y="3044038"/>
            <a:ext cx="512978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Verify checksum (optional but good practice)</a:t>
            </a:r>
            <a:endParaRPr lang="en-US" sz="1900" dirty="0"/>
          </a:p>
        </p:txBody>
      </p:sp>
      <p:sp>
        <p:nvSpPr>
          <p:cNvPr id="26" name="Text 18"/>
          <p:cNvSpPr txBox="1"/>
          <p:nvPr/>
        </p:nvSpPr>
        <p:spPr>
          <a:xfrm>
            <a:off x="1609344" y="4063594"/>
            <a:ext cx="359633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Ensure VM boots from ISO first</a:t>
            </a:r>
            <a:endParaRPr lang="en-US" sz="1900" dirty="0"/>
          </a:p>
        </p:txBody>
      </p:sp>
      <p:sp>
        <p:nvSpPr>
          <p:cNvPr id="27" name="Text 19"/>
          <p:cNvSpPr txBox="1"/>
          <p:nvPr/>
        </p:nvSpPr>
        <p:spPr>
          <a:xfrm>
            <a:off x="1609344" y="5082235"/>
            <a:ext cx="331012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Keyboard and network ready</a:t>
            </a:r>
            <a:endParaRPr lang="en-US" sz="1900" dirty="0"/>
          </a:p>
        </p:txBody>
      </p:sp>
      <p:sp>
        <p:nvSpPr>
          <p:cNvPr id="28" name="Text 20"/>
          <p:cNvSpPr txBox="1"/>
          <p:nvPr/>
        </p:nvSpPr>
        <p:spPr>
          <a:xfrm>
            <a:off x="1609344" y="6101791"/>
            <a:ext cx="393923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Have a non-company test account</a:t>
            </a:r>
            <a:endParaRPr lang="en-US" sz="1900" dirty="0"/>
          </a:p>
        </p:txBody>
      </p:sp>
      <p:sp>
        <p:nvSpPr>
          <p:cNvPr id="29" name="Shape 21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761695" y="6362395"/>
            <a:ext cx="21909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2: Linux Fundamentals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10678363" y="6362395"/>
            <a:ext cx="8668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Installation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rcRect l="0" r="0" t="0" b="0"/>
          <a:stretch/>
        </p:blipFill>
        <p:spPr>
          <a:xfrm>
            <a:off x="8001000" y="1390802"/>
            <a:ext cx="3810305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9356141" y="6362395"/>
            <a:ext cx="21909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2: Linux Fundamentals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61695" y="371246"/>
            <a:ext cx="5367528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Install Ubuntu: Steps 1–3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61695" y="1869034"/>
            <a:ext cx="10477195" cy="981151"/>
          </a:xfrm>
          <a:prstGeom prst="roundRect">
            <a:avLst>
              <a:gd name="adj" fmla="val 10858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61695" y="1869034"/>
            <a:ext cx="57607" cy="981151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Shape 8"/>
          <p:cNvSpPr/>
          <p:nvPr/>
        </p:nvSpPr>
        <p:spPr>
          <a:xfrm>
            <a:off x="1047902" y="2059229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3498DB"/>
          </a:solidFill>
          <a:ln/>
          <a:effectLst>
            <a:outerShdw sx="100000" sy="100000" kx="0" ky="0" algn="bl" rotWithShape="0" blurRad="63500" dist="38100" dir="5400000">
              <a:srgbClr val="3498db">
                <a:alpha val="3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1233526" y="2097634"/>
            <a:ext cx="3054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761695" y="3040380"/>
            <a:ext cx="10477195" cy="981151"/>
          </a:xfrm>
          <a:prstGeom prst="roundRect">
            <a:avLst>
              <a:gd name="adj" fmla="val 10858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61695" y="3040380"/>
            <a:ext cx="57607" cy="981151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5" name="Shape 12"/>
          <p:cNvSpPr/>
          <p:nvPr/>
        </p:nvSpPr>
        <p:spPr>
          <a:xfrm>
            <a:off x="1047902" y="3230575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3498DB"/>
          </a:solidFill>
          <a:ln/>
          <a:effectLst>
            <a:outerShdw sx="100000" sy="100000" kx="0" ky="0" algn="bl" rotWithShape="0" blurRad="63500" dist="38100" dir="5400000">
              <a:srgbClr val="3498db">
                <a:alpha val="3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1207008" y="3268980"/>
            <a:ext cx="3621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761695" y="4211726"/>
            <a:ext cx="10477195" cy="1543507"/>
          </a:xfrm>
          <a:prstGeom prst="roundRect">
            <a:avLst>
              <a:gd name="adj" fmla="val 4388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61695" y="4211726"/>
            <a:ext cx="57607" cy="1543507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9" name="Shape 16"/>
          <p:cNvSpPr/>
          <p:nvPr/>
        </p:nvSpPr>
        <p:spPr>
          <a:xfrm>
            <a:off x="1047902" y="4402836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3498DB"/>
          </a:solidFill>
          <a:ln/>
          <a:effectLst>
            <a:outerShdw sx="100000" sy="100000" kx="0" ky="0" algn="bl" rotWithShape="0" blurRad="63500" dist="38100" dir="5400000">
              <a:srgbClr val="3498db">
                <a:alpha val="30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1207008" y="4440326"/>
            <a:ext cx="3621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100" dirty="0"/>
          </a:p>
        </p:txBody>
      </p:sp>
      <p:sp>
        <p:nvSpPr>
          <p:cNvPr id="21" name="Text 18"/>
          <p:cNvSpPr txBox="1"/>
          <p:nvPr/>
        </p:nvSpPr>
        <p:spPr>
          <a:xfrm>
            <a:off x="1714500" y="2097634"/>
            <a:ext cx="299648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Boot VM; select Install Ubuntu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714500" y="2449678"/>
            <a:ext cx="89730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Start your VirtualBox VM with the ISO attached. When the welcome screen appears, choose "Install Ubuntu" instead of "Try Ubuntu".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714500" y="3268980"/>
            <a:ext cx="310073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Choose language and keyboard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714500" y="3621024"/>
            <a:ext cx="76105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Select your preferred language (e.g., English) and verify your keyboard layout by typing in the test field provided.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714500" y="4440326"/>
            <a:ext cx="342442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Normal installation; install updates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1886407" y="4840834"/>
            <a:ext cx="41148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Select "Normal installation" (includes web browser, utilities)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1886407" y="5088636"/>
            <a:ext cx="35058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 "Download updates while installing Ubuntu"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1886407" y="5335524"/>
            <a:ext cx="44577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"Minimal installation" only if you have very limited RAM/Disk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rcRect l="0" r="0" t="0" b="0"/>
          <a:stretch/>
        </p:blipFill>
        <p:spPr>
          <a:xfrm>
            <a:off x="8001000" y="1390802"/>
            <a:ext cx="3810305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9356141" y="6362395"/>
            <a:ext cx="21909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2: Linux Fundamentals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61695" y="371246"/>
            <a:ext cx="5511089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Install Ubuntu: Steps 4–6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61695" y="1836115"/>
            <a:ext cx="10477195" cy="972007"/>
          </a:xfrm>
          <a:prstGeom prst="roundRect">
            <a:avLst>
              <a:gd name="adj" fmla="val 110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61695" y="1836115"/>
            <a:ext cx="57607" cy="972007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Shape 8"/>
          <p:cNvSpPr/>
          <p:nvPr/>
        </p:nvSpPr>
        <p:spPr>
          <a:xfrm>
            <a:off x="1047902" y="2081174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3498DB"/>
          </a:solidFill>
          <a:ln/>
          <a:effectLst>
            <a:outerShdw sx="100000" sy="100000" kx="0" ky="0" algn="bl" rotWithShape="0" blurRad="63500" dist="38100" dir="5400000">
              <a:srgbClr val="3498db">
                <a:alpha val="3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1194206" y="2119579"/>
            <a:ext cx="391363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761695" y="2992831"/>
            <a:ext cx="10477195" cy="972007"/>
          </a:xfrm>
          <a:prstGeom prst="roundRect">
            <a:avLst>
              <a:gd name="adj" fmla="val 110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61695" y="2992831"/>
            <a:ext cx="57607" cy="972007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5" name="Shape 12"/>
          <p:cNvSpPr/>
          <p:nvPr/>
        </p:nvSpPr>
        <p:spPr>
          <a:xfrm>
            <a:off x="1047902" y="3237890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3498DB"/>
          </a:solidFill>
          <a:ln/>
          <a:effectLst>
            <a:outerShdw sx="100000" sy="100000" kx="0" ky="0" algn="bl" rotWithShape="0" blurRad="63500" dist="38100" dir="5400000">
              <a:srgbClr val="3498db">
                <a:alpha val="3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1206094" y="3275381"/>
            <a:ext cx="3621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761695" y="4149547"/>
            <a:ext cx="10477195" cy="1543507"/>
          </a:xfrm>
          <a:prstGeom prst="roundRect">
            <a:avLst>
              <a:gd name="adj" fmla="val 4388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61695" y="4149547"/>
            <a:ext cx="57607" cy="1543507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9" name="Shape 16"/>
          <p:cNvSpPr/>
          <p:nvPr/>
        </p:nvSpPr>
        <p:spPr>
          <a:xfrm>
            <a:off x="1047902" y="4682642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3498DB"/>
          </a:solidFill>
          <a:ln/>
          <a:effectLst>
            <a:outerShdw sx="100000" sy="100000" kx="0" ky="0" algn="bl" rotWithShape="0" blurRad="63500" dist="38100" dir="5400000">
              <a:srgbClr val="3498db">
                <a:alpha val="30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1200607" y="4721047"/>
            <a:ext cx="37216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2100" dirty="0"/>
          </a:p>
        </p:txBody>
      </p:sp>
      <p:sp>
        <p:nvSpPr>
          <p:cNvPr id="21" name="Text 18"/>
          <p:cNvSpPr txBox="1"/>
          <p:nvPr/>
        </p:nvSpPr>
        <p:spPr>
          <a:xfrm>
            <a:off x="1752905" y="2064715"/>
            <a:ext cx="37197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Erase disk (inside VM only) and install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752905" y="2407615"/>
            <a:ext cx="89638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Select "Erase disk and install Ubuntu". This is safe because it only formats the virtual hard disk file, leaving your host PC untouched.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752905" y="3221431"/>
            <a:ext cx="325343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user; set strong password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752905" y="3564331"/>
            <a:ext cx="86776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Enter your name, username, and a secure password. Remember this password—you will need it for administrative (sudo) tasks.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752905" y="4378147"/>
            <a:ext cx="28053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Timezone; begin installation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1943100" y="4777740"/>
            <a:ext cx="38679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Select your timezone and continue to start copying files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1943100" y="5025542"/>
            <a:ext cx="25338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Wait for the installation to complete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1943100" y="5273345"/>
            <a:ext cx="36292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Reboot when prompted and remove the ISO if asked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-7990" b="-7990"/>
          <a:stretch/>
        </p:blipFill>
        <p:spPr>
          <a:xfrm>
            <a:off x="8973007" y="2438705"/>
            <a:ext cx="3696005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69348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First Look: Ubuntu Desktop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761695" y="1796796"/>
            <a:ext cx="10883189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Launcher &amp; Activities: The side dock for favorite apps and "Activities" view for open windows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761695" y="2882189"/>
            <a:ext cx="10883189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Terminal: The command-line interface where administrators do most work (Ctrl+Alt+T)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761695" y="3968496"/>
            <a:ext cx="918697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Software Updater: Keeps the system patched and secure automatically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761695" y="4654296"/>
            <a:ext cx="913942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Files (Nautilus): The graphical file explorer similar to Windows Explorer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761695" y="5340096"/>
            <a:ext cx="899678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 Tray: Top right menu for network, volume, power, and settings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356141" y="6362395"/>
            <a:ext cx="21909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2: Linux Fundamentals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2" b="-2"/>
          <a:stretch/>
        </p:blipFill>
        <p:spPr>
          <a:xfrm>
            <a:off x="9334195" y="2438705"/>
            <a:ext cx="3333902" cy="381030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381805" y="2347265"/>
            <a:ext cx="7048195" cy="1920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381805" y="1604772"/>
            <a:ext cx="4368089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Module 2 Summary</a:t>
            </a:r>
            <a:endParaRPr lang="en-US" sz="3100" dirty="0"/>
          </a:p>
        </p:txBody>
      </p:sp>
      <p:sp>
        <p:nvSpPr>
          <p:cNvPr id="8" name="Text 5"/>
          <p:cNvSpPr txBox="1"/>
          <p:nvPr/>
        </p:nvSpPr>
        <p:spPr>
          <a:xfrm>
            <a:off x="4381805" y="2747772"/>
            <a:ext cx="397215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Linux is open, stable, and widely used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381805" y="3306470"/>
            <a:ext cx="31912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VirtualBox provides a safe lab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381805" y="3864254"/>
            <a:ext cx="321045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Ubuntu is friendly and popular</a:t>
            </a:r>
            <a:endParaRPr lang="en-US" sz="18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1805" y="4470502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800600" y="4441241"/>
            <a:ext cx="32004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 can install and boot a VM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381805" y="4980737"/>
            <a:ext cx="29626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Next: Dive into distributions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7619695" y="6019495"/>
            <a:ext cx="3810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619695" y="6191402"/>
            <a:ext cx="169072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9661550" y="6191402"/>
            <a:ext cx="104333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2: Linux Fundamentals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8" name="Shape 14"/>
          <p:cNvSpPr/>
          <p:nvPr/>
        </p:nvSpPr>
        <p:spPr>
          <a:xfrm>
            <a:off x="1143000" y="2031797"/>
            <a:ext cx="1333195" cy="1333195"/>
          </a:xfrm>
          <a:prstGeom prst="ellipse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25" b="-25"/>
          <a:stretch/>
        </p:blipFill>
        <p:spPr>
          <a:xfrm>
            <a:off x="1580998" y="2393899"/>
            <a:ext cx="457200" cy="60990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461211" y="3641141"/>
            <a:ext cx="9628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</a:t>
            </a:r>
            <a:endParaRPr lang="en-US" sz="2700" dirty="0"/>
          </a:p>
        </p:txBody>
      </p:sp>
      <p:sp>
        <p:nvSpPr>
          <p:cNvPr id="21" name="Text 16"/>
          <p:cNvSpPr txBox="1"/>
          <p:nvPr/>
        </p:nvSpPr>
        <p:spPr>
          <a:xfrm>
            <a:off x="788213" y="4052621"/>
            <a:ext cx="23052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Takeaways</a:t>
            </a:r>
            <a:endParaRPr lang="en-US" sz="2700" dirty="0"/>
          </a:p>
        </p:txBody>
      </p:sp>
      <p:sp>
        <p:nvSpPr>
          <p:cNvPr id="22" name="Text 17"/>
          <p:cNvSpPr txBox="1"/>
          <p:nvPr/>
        </p:nvSpPr>
        <p:spPr>
          <a:xfrm>
            <a:off x="1495044" y="4597603"/>
            <a:ext cx="7671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RECAP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0" y="0"/>
            <a:ext cx="3619195" cy="95098"/>
          </a:xfrm>
          <a:prstGeom prst="rect">
            <a:avLst/>
          </a:prstGeom>
          <a:solidFill>
            <a:srgbClr val="F1C40F"/>
          </a:solidFill>
          <a:ln/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2606040"/>
            <a:ext cx="12191695" cy="4257446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-103" r="-103" t="0" b="0"/>
          <a:stretch/>
        </p:blipFill>
        <p:spPr>
          <a:xfrm>
            <a:off x="9305849" y="3567074"/>
            <a:ext cx="2505456" cy="28575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09598" y="3003804"/>
            <a:ext cx="8572500" cy="3457346"/>
          </a:xfrm>
          <a:prstGeom prst="roundRect">
            <a:avLst>
              <a:gd name="adj" fmla="val 11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41300" dist="101600" dir="5400000">
              <a:srgbClr val="000000">
                <a:alpha val="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809598" y="3003804"/>
            <a:ext cx="75895" cy="345734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457907" y="3412541"/>
            <a:ext cx="20436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TOPICS COVERED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-46154" r="-46154" t="0" b="0"/>
          <a:stretch/>
        </p:blipFill>
        <p:spPr>
          <a:xfrm>
            <a:off x="2457907" y="3934663"/>
            <a:ext cx="228600" cy="19019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876702" y="3888943"/>
            <a:ext cx="23244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a distribution is</a:t>
            </a:r>
            <a:endParaRPr lang="en-US" sz="18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-46154" r="-46154" t="0" b="0"/>
          <a:stretch/>
        </p:blipFill>
        <p:spPr>
          <a:xfrm>
            <a:off x="2457907" y="4407408"/>
            <a:ext cx="228600" cy="19019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876702" y="4361688"/>
            <a:ext cx="37060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 there are many different types</a:t>
            </a:r>
            <a:endParaRPr lang="en-US" sz="18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rcRect l="-46154" r="-46154" t="0" b="0"/>
          <a:stretch/>
        </p:blipFill>
        <p:spPr>
          <a:xfrm>
            <a:off x="2457907" y="4879238"/>
            <a:ext cx="228600" cy="19019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2876702" y="4833518"/>
            <a:ext cx="34957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Common families and use cases</a:t>
            </a:r>
            <a:endParaRPr lang="en-US" sz="18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-46154" r="-46154" t="0" b="0"/>
          <a:stretch/>
        </p:blipFill>
        <p:spPr>
          <a:xfrm>
            <a:off x="2457907" y="5351983"/>
            <a:ext cx="228600" cy="190195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2876702" y="5306263"/>
            <a:ext cx="26005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to choose for work</a:t>
            </a:r>
            <a:endParaRPr lang="en-US" sz="18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rcRect l="-46154" r="-46154" t="0" b="0"/>
          <a:stretch/>
        </p:blipFill>
        <p:spPr>
          <a:xfrm>
            <a:off x="2457907" y="5824728"/>
            <a:ext cx="228600" cy="190195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2876702" y="5779008"/>
            <a:ext cx="22384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Recap and guidance</a:t>
            </a:r>
            <a:endParaRPr lang="en-US" sz="1800" dirty="0"/>
          </a:p>
        </p:txBody>
      </p:sp>
      <p:sp>
        <p:nvSpPr>
          <p:cNvPr id="19" name="Shape 11"/>
          <p:cNvSpPr/>
          <p:nvPr/>
        </p:nvSpPr>
        <p:spPr>
          <a:xfrm>
            <a:off x="0" y="0"/>
            <a:ext cx="12191695" cy="260969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0" name="Text 12"/>
          <p:cNvSpPr txBox="1"/>
          <p:nvPr/>
        </p:nvSpPr>
        <p:spPr>
          <a:xfrm>
            <a:off x="5310835" y="748894"/>
            <a:ext cx="17437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MODULE 3</a:t>
            </a:r>
            <a:endParaRPr lang="en-US" sz="1800" dirty="0"/>
          </a:p>
        </p:txBody>
      </p:sp>
      <p:sp>
        <p:nvSpPr>
          <p:cNvPr id="21" name="Text 13"/>
          <p:cNvSpPr txBox="1"/>
          <p:nvPr/>
        </p:nvSpPr>
        <p:spPr>
          <a:xfrm>
            <a:off x="2997403" y="1176833"/>
            <a:ext cx="6658661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Linux Distributions</a:t>
            </a:r>
            <a:endParaRPr lang="en-US" sz="4800" dirty="0"/>
          </a:p>
        </p:txBody>
      </p:sp>
      <p:sp>
        <p:nvSpPr>
          <p:cNvPr id="22" name="Shape 14"/>
          <p:cNvSpPr/>
          <p:nvPr/>
        </p:nvSpPr>
        <p:spPr>
          <a:xfrm>
            <a:off x="11201400" y="228600"/>
            <a:ext cx="761695" cy="761695"/>
          </a:xfrm>
          <a:prstGeom prst="rect">
            <a:avLst/>
          </a:prstGeom>
          <a:noFill/>
          <a:ln w="508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228600" y="1615745"/>
            <a:ext cx="761695" cy="761695"/>
          </a:xfrm>
          <a:prstGeom prst="rect">
            <a:avLst/>
          </a:prstGeom>
          <a:noFill/>
          <a:ln w="508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0" y="2530145"/>
            <a:ext cx="12191695" cy="75895"/>
          </a:xfrm>
          <a:prstGeom prst="rect">
            <a:avLst/>
          </a:prstGeom>
          <a:solidFill>
            <a:srgbClr val="3498DB"/>
          </a:solidFill>
          <a:ln/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-7" b="-7"/>
          <a:stretch/>
        </p:blipFill>
        <p:spPr>
          <a:xfrm>
            <a:off x="7905902" y="2438705"/>
            <a:ext cx="4762195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730605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a Linux Distribution?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1996135"/>
            <a:ext cx="1426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68772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Linux kernel plus packaged userland applications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2756002"/>
            <a:ext cx="142646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5646" y="2680106"/>
            <a:ext cx="72969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Includes installer, defaults, and package repositories</a:t>
            </a:r>
            <a:endParaRPr lang="en-US" sz="2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5646" y="3439973"/>
            <a:ext cx="656356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Provides tools for system updates and support</a:t>
            </a:r>
            <a:endParaRPr lang="en-US" sz="2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833018" y="4276649"/>
            <a:ext cx="142646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85646" y="4200754"/>
            <a:ext cx="794430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Maintained by community groups or commercial vendors</a:t>
            </a:r>
            <a:endParaRPr lang="en-US" sz="2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85646" y="4960620"/>
            <a:ext cx="72201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Examples: Ubuntu, Debian, Red Hat Enterprise Linux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463126" y="6362395"/>
            <a:ext cx="20866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3: Linux Distributions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-1" r="-1" t="0" b="0"/>
          <a:stretch/>
        </p:blipFill>
        <p:spPr>
          <a:xfrm>
            <a:off x="8382305" y="2438705"/>
            <a:ext cx="4286707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808695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Multiple Distributions Exist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1996135"/>
            <a:ext cx="1426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59253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Different goals: stability vs. latest features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2756002"/>
            <a:ext cx="142646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5646" y="2680106"/>
            <a:ext cx="646755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users: enterprise, desktop, or developer</a:t>
            </a:r>
            <a:endParaRPr lang="en-US" sz="2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5646" y="3439973"/>
            <a:ext cx="648675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Package formats and tooling vary (apt vs. dnf)</a:t>
            </a:r>
            <a:endParaRPr lang="en-US" sz="2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833018" y="4276649"/>
            <a:ext cx="142646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85646" y="4200754"/>
            <a:ext cx="70866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 models: community-driven vs. paid vendor</a:t>
            </a:r>
            <a:endParaRPr lang="en-US" sz="2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85646" y="4960620"/>
            <a:ext cx="597286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Regional and industry-specific preferences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463126" y="6362395"/>
            <a:ext cx="20866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3: Linux Distributions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-1" r="-1" t="0" b="0"/>
          <a:stretch/>
        </p:blipFill>
        <p:spPr>
          <a:xfrm>
            <a:off x="8382305" y="2438705"/>
            <a:ext cx="4286707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77349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Distribution Families Overview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761695" y="1891894"/>
            <a:ext cx="50868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Debian Family: Debian, Ubuntu, Mint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61695" y="2651760"/>
            <a:ext cx="51819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 Hat Family: RHEL, Rocky, Fedora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761695" y="3411626"/>
            <a:ext cx="43251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SUSE Family: SLES, openSUSE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761695" y="4171493"/>
            <a:ext cx="48006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Independent: Arch, Gentoo, Alpine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761695" y="4932274"/>
            <a:ext cx="45720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 Specialized: Kali, Parrot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463126" y="6362395"/>
            <a:ext cx="20866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3: Linux Distributions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-7990" b="-7990"/>
          <a:stretch/>
        </p:blipFill>
        <p:spPr>
          <a:xfrm>
            <a:off x="8973007" y="2438705"/>
            <a:ext cx="3696005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772485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Ubuntu: Beginners &amp; Desktops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1996135"/>
            <a:ext cx="1426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679216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Great documentation &amp; easy installation process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2756002"/>
            <a:ext cx="142646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5646" y="2680106"/>
            <a:ext cx="669615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Frequent updates with Long Term Support (LTS)</a:t>
            </a:r>
            <a:endParaRPr lang="en-US" sz="2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5646" y="3439973"/>
            <a:ext cx="63249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Available in both Desktop and Server editions</a:t>
            </a:r>
            <a:endParaRPr lang="en-US" sz="2400" dirty="0"/>
          </a:p>
        </p:txBody>
      </p:sp>
      <p:sp>
        <p:nvSpPr>
          <p:cNvPr id="14" name="Text 8"/>
          <p:cNvSpPr txBox="1"/>
          <p:nvPr/>
        </p:nvSpPr>
        <p:spPr>
          <a:xfrm>
            <a:off x="761695" y="4171493"/>
            <a:ext cx="62965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Uses apt and snap for package management</a:t>
            </a:r>
            <a:endParaRPr lang="en-US" sz="24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285646" y="4960620"/>
            <a:ext cx="62682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 support for cloud and developer tools</a:t>
            </a:r>
            <a:endParaRPr lang="en-US" sz="2400" dirty="0"/>
          </a:p>
        </p:txBody>
      </p:sp>
      <p:sp>
        <p:nvSpPr>
          <p:cNvPr id="17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19" name="Text 12"/>
          <p:cNvSpPr txBox="1"/>
          <p:nvPr/>
        </p:nvSpPr>
        <p:spPr>
          <a:xfrm>
            <a:off x="9463126" y="6362395"/>
            <a:ext cx="20866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3: Linux Distributions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0" b="0"/>
          <a:stretch/>
        </p:blipFill>
        <p:spPr>
          <a:xfrm>
            <a:off x="8858707" y="2438705"/>
            <a:ext cx="3810305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77349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Debian: The Stable Foundation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1996135"/>
            <a:ext cx="1426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620146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Very stable; known for conservative updates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2756002"/>
            <a:ext cx="142646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5646" y="2680106"/>
            <a:ext cx="795345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Upstream foundation for many distros (including Ubuntu)</a:t>
            </a:r>
            <a:endParaRPr lang="en-US" sz="2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5646" y="3439973"/>
            <a:ext cx="543885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Large repository of packages available</a:t>
            </a:r>
            <a:endParaRPr lang="en-US" sz="2400" dirty="0"/>
          </a:p>
        </p:txBody>
      </p:sp>
      <p:sp>
        <p:nvSpPr>
          <p:cNvPr id="14" name="Text 8"/>
          <p:cNvSpPr txBox="1"/>
          <p:nvPr/>
        </p:nvSpPr>
        <p:spPr>
          <a:xfrm>
            <a:off x="761695" y="4171493"/>
            <a:ext cx="55824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Uses apt package management system</a:t>
            </a:r>
            <a:endParaRPr lang="en-US" sz="24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285646" y="4960620"/>
            <a:ext cx="740115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Used where reliability comes first (servers, core infra)</a:t>
            </a:r>
            <a:endParaRPr lang="en-US" sz="2400" dirty="0"/>
          </a:p>
        </p:txBody>
      </p:sp>
      <p:sp>
        <p:nvSpPr>
          <p:cNvPr id="17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19" name="Text 12"/>
          <p:cNvSpPr txBox="1"/>
          <p:nvPr/>
        </p:nvSpPr>
        <p:spPr>
          <a:xfrm>
            <a:off x="9463126" y="6362395"/>
            <a:ext cx="20866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3: Linux Distributions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-4" b="-4"/>
          <a:stretch/>
        </p:blipFill>
        <p:spPr>
          <a:xfrm>
            <a:off x="9810598" y="2438705"/>
            <a:ext cx="2857500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614385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RHEL: Enterprise Choice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90956" y="1996135"/>
            <a:ext cx="228600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61539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Paid support and professional certifications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0956" y="2756002"/>
            <a:ext cx="228600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5646" y="2680106"/>
            <a:ext cx="681045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Strict enterprise security baselines &amp; compliance</a:t>
            </a:r>
            <a:endParaRPr lang="en-US" sz="2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-57" r="-57" t="0" b="0"/>
          <a:stretch/>
        </p:blipFill>
        <p:spPr>
          <a:xfrm>
            <a:off x="804672" y="3516782"/>
            <a:ext cx="200254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5646" y="3439973"/>
            <a:ext cx="64776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Long-term support (LTS) lifecycles (10+ years)</a:t>
            </a:r>
            <a:endParaRPr lang="en-US" sz="2400" dirty="0"/>
          </a:p>
        </p:txBody>
      </p:sp>
      <p:sp>
        <p:nvSpPr>
          <p:cNvPr id="14" name="Text 8"/>
          <p:cNvSpPr txBox="1"/>
          <p:nvPr/>
        </p:nvSpPr>
        <p:spPr>
          <a:xfrm>
            <a:off x="761695" y="4171493"/>
            <a:ext cx="625815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Uses yum and dnf package managers (RPM)</a:t>
            </a:r>
            <a:endParaRPr lang="en-US" sz="24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90956" y="5036515"/>
            <a:ext cx="228600" cy="22860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285646" y="4960620"/>
            <a:ext cx="64776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Standard OS in corporate data centers &amp; cloud</a:t>
            </a:r>
            <a:endParaRPr lang="en-US" sz="2400" dirty="0"/>
          </a:p>
        </p:txBody>
      </p:sp>
      <p:sp>
        <p:nvSpPr>
          <p:cNvPr id="17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19" name="Text 12"/>
          <p:cNvSpPr txBox="1"/>
          <p:nvPr/>
        </p:nvSpPr>
        <p:spPr>
          <a:xfrm>
            <a:off x="9463126" y="6362395"/>
            <a:ext cx="20866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3: Linux Distributions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0" b="0"/>
          <a:stretch/>
        </p:blipFill>
        <p:spPr>
          <a:xfrm>
            <a:off x="8858707" y="2438705"/>
            <a:ext cx="3810305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56583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CentOS &amp; Rocky Linux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1996135"/>
            <a:ext cx="1426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633496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RHEL-compatible, free enterprise alternatives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2756002"/>
            <a:ext cx="142646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5646" y="2680106"/>
            <a:ext cx="70866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Community-supported rebuilds of Red Hat sources</a:t>
            </a:r>
            <a:endParaRPr lang="en-US" sz="2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5646" y="3439973"/>
            <a:ext cx="75255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Good for labs, development, and testing environments</a:t>
            </a:r>
            <a:endParaRPr lang="en-US" sz="2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833018" y="4276649"/>
            <a:ext cx="142646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85646" y="4200754"/>
            <a:ext cx="67629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Same look-and-feel as RHEL (binary compatible)</a:t>
            </a:r>
            <a:endParaRPr lang="en-US" sz="2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85646" y="4960620"/>
            <a:ext cx="559155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Popular choice for cost-sensitive teams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463126" y="6362395"/>
            <a:ext cx="20866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3: Linux Distributions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-2" b="-2"/>
          <a:stretch/>
        </p:blipFill>
        <p:spPr>
          <a:xfrm>
            <a:off x="9334195" y="2438705"/>
            <a:ext cx="3333902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54105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Fedora: Cutting Edge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1996135"/>
            <a:ext cx="1426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774405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Upstream "testbed" for Red Hat Enterprise Linux (RHEL)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2756002"/>
            <a:ext cx="142646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5646" y="2680106"/>
            <a:ext cx="75255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 release cadence (new versions every ~6 months)</a:t>
            </a:r>
            <a:endParaRPr lang="en-US" sz="2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5646" y="3439973"/>
            <a:ext cx="66678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Ideal for developers requiring the latest libraries</a:t>
            </a:r>
            <a:endParaRPr lang="en-US" sz="2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833018" y="4276649"/>
            <a:ext cx="142646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85646" y="4200754"/>
            <a:ext cx="87252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Features the newest Kernels and GNOME desktop environment</a:t>
            </a:r>
            <a:endParaRPr lang="en-US" sz="2400" dirty="0"/>
          </a:p>
        </p:txBody>
      </p:sp>
      <p:sp>
        <p:nvSpPr>
          <p:cNvPr id="16" name="Text 9"/>
          <p:cNvSpPr txBox="1"/>
          <p:nvPr/>
        </p:nvSpPr>
        <p:spPr>
          <a:xfrm>
            <a:off x="761695" y="4932274"/>
            <a:ext cx="67821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Uses dnf package management (same as RHEL)</a:t>
            </a:r>
            <a:endParaRPr lang="en-US" sz="2400" dirty="0"/>
          </a:p>
        </p:txBody>
      </p:sp>
      <p:sp>
        <p:nvSpPr>
          <p:cNvPr id="17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19" name="Text 12"/>
          <p:cNvSpPr txBox="1"/>
          <p:nvPr/>
        </p:nvSpPr>
        <p:spPr>
          <a:xfrm>
            <a:off x="9463126" y="6362395"/>
            <a:ext cx="20866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3: Linux Distributions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0" b="0"/>
          <a:stretch/>
        </p:blipFill>
        <p:spPr>
          <a:xfrm>
            <a:off x="8858707" y="2438705"/>
            <a:ext cx="3810305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639165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SUSE: Enterprise Favorite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1996135"/>
            <a:ext cx="1426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61347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SLES for enterprises; openSUSE community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2756002"/>
            <a:ext cx="142646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5646" y="2680106"/>
            <a:ext cx="65919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YaST administration tool for easy management</a:t>
            </a:r>
            <a:endParaRPr lang="en-US" sz="2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5646" y="3439973"/>
            <a:ext cx="69348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 presence in Europe and SAP environments</a:t>
            </a:r>
            <a:endParaRPr lang="en-US" sz="2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833018" y="4276649"/>
            <a:ext cx="142646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85646" y="4200754"/>
            <a:ext cx="64392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Transactional updates (MicroOS) for reliability</a:t>
            </a:r>
            <a:endParaRPr lang="en-US" sz="2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85646" y="4960620"/>
            <a:ext cx="82488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Robust server and High Performance Computing (HPC) use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463126" y="6362395"/>
            <a:ext cx="20866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3: Linux Distributions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0" b="0"/>
          <a:stretch/>
        </p:blipFill>
        <p:spPr>
          <a:xfrm>
            <a:off x="8858707" y="2438705"/>
            <a:ext cx="3810305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70299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 Linux: Advanced Users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761695" y="3411626"/>
            <a:ext cx="62106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Uses pacman package manager for updates</a:t>
            </a:r>
            <a:endParaRPr lang="en-US" sz="2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90956" y="1996135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5646" y="1920240"/>
            <a:ext cx="749625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Rolling release model with a minimal base installation</a:t>
            </a:r>
            <a:endParaRPr lang="en-US" sz="2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0956" y="2756002"/>
            <a:ext cx="228600" cy="2286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85646" y="2680106"/>
            <a:ext cx="72201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 build exactly what you need from the ground up</a:t>
            </a:r>
            <a:endParaRPr lang="en-US" sz="2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rcRect l="-80" r="-80" t="0" b="0"/>
          <a:stretch/>
        </p:blipFill>
        <p:spPr>
          <a:xfrm>
            <a:off x="761695" y="4276649"/>
            <a:ext cx="286207" cy="2286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85646" y="4200754"/>
            <a:ext cx="70866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Great for learning Linux internals and configuration</a:t>
            </a:r>
            <a:endParaRPr lang="en-US" sz="2400" dirty="0"/>
          </a:p>
        </p:txBody>
      </p:sp>
      <p:sp>
        <p:nvSpPr>
          <p:cNvPr id="15" name="Text 9"/>
          <p:cNvSpPr txBox="1"/>
          <p:nvPr/>
        </p:nvSpPr>
        <p:spPr>
          <a:xfrm>
            <a:off x="1285646" y="4960620"/>
            <a:ext cx="842985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 typical for enterprise servers (stability vs. bleeding edge)</a:t>
            </a:r>
            <a:endParaRPr lang="en-US" sz="2400" dirty="0"/>
          </a:p>
        </p:txBody>
      </p:sp>
      <p:sp>
        <p:nvSpPr>
          <p:cNvPr id="16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9463126" y="6362395"/>
            <a:ext cx="20866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3: Linux Distributions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-7" b="-7"/>
          <a:stretch/>
        </p:blipFill>
        <p:spPr>
          <a:xfrm>
            <a:off x="7905902" y="2438705"/>
            <a:ext cx="4762195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67821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Kali Linux: Security Testing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1996135"/>
            <a:ext cx="1426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76206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Preloaded with hundreds of security &amp; pentesting tools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2756002"/>
            <a:ext cx="142646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5646" y="2680106"/>
            <a:ext cx="67437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Used primarily in ethical hacking labs and audits</a:t>
            </a:r>
            <a:endParaRPr lang="en-US" sz="2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5646" y="3439973"/>
            <a:ext cx="742035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 designed for daily desktop use or general servers</a:t>
            </a:r>
            <a:endParaRPr lang="en-US" sz="2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833018" y="4276649"/>
            <a:ext cx="142646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85646" y="4200754"/>
            <a:ext cx="641085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Requires responsible usage and authorization</a:t>
            </a:r>
            <a:endParaRPr lang="en-US" sz="2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85646" y="4960620"/>
            <a:ext cx="68772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Often run in isolated Virtual Machines for training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463126" y="6362395"/>
            <a:ext cx="20866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3: Linux Distributions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0" b="0"/>
          <a:stretch/>
        </p:blipFill>
        <p:spPr>
          <a:xfrm>
            <a:off x="8858707" y="2438705"/>
            <a:ext cx="3810305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798271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Choosing the Right Distribution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1996135"/>
            <a:ext cx="1426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572505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Match to app requirements (Web, DB, AI)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2756002"/>
            <a:ext cx="142646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5646" y="2680106"/>
            <a:ext cx="59820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Consider support lifecycle (LTS vs. Rolling)</a:t>
            </a:r>
            <a:endParaRPr lang="en-US" sz="2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5646" y="3439973"/>
            <a:ext cx="618225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Select tooling your team knows (apt vs. dnf)</a:t>
            </a:r>
            <a:endParaRPr lang="en-US" sz="2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833018" y="4276649"/>
            <a:ext cx="142646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85646" y="4200754"/>
            <a:ext cx="494416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Balance stability vs. latest features</a:t>
            </a:r>
            <a:endParaRPr lang="en-US" sz="2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85646" y="4960620"/>
            <a:ext cx="62490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Follow your company standards and policies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463126" y="6362395"/>
            <a:ext cx="20866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3: Linux Distributions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2" b="-2"/>
          <a:stretch/>
        </p:blipFill>
        <p:spPr>
          <a:xfrm>
            <a:off x="9334195" y="2438705"/>
            <a:ext cx="3333902" cy="381030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381805" y="2347265"/>
            <a:ext cx="7048195" cy="1920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381805" y="1604772"/>
            <a:ext cx="4368089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Module 3 Summary</a:t>
            </a:r>
            <a:endParaRPr lang="en-US" sz="3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1805" y="2795321"/>
            <a:ext cx="228600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800600" y="2766974"/>
            <a:ext cx="42199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Distros package Linux for specific goals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4381805" y="3306470"/>
            <a:ext cx="53913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Debian/Red Hat/SUSE families dominate enterprise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4381805" y="3864254"/>
            <a:ext cx="37719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Developers may use Fedora or Arch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381805" y="4422038"/>
            <a:ext cx="43059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 labs use Kali in virtual machines</a:t>
            </a:r>
            <a:endParaRPr lang="en-US" sz="18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1805" y="5028286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800600" y="4999939"/>
            <a:ext cx="44101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Choose per workload and company policy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7619695" y="6019495"/>
            <a:ext cx="3810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619695" y="6191402"/>
            <a:ext cx="169072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9711842" y="6191402"/>
            <a:ext cx="104333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3: Linux Distributions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9" name="Shape 14"/>
          <p:cNvSpPr/>
          <p:nvPr/>
        </p:nvSpPr>
        <p:spPr>
          <a:xfrm>
            <a:off x="1143000" y="2031797"/>
            <a:ext cx="1333195" cy="1333195"/>
          </a:xfrm>
          <a:prstGeom prst="ellipse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25" b="-25"/>
          <a:stretch/>
        </p:blipFill>
        <p:spPr>
          <a:xfrm>
            <a:off x="1580998" y="2393899"/>
            <a:ext cx="457200" cy="6099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61211" y="3641141"/>
            <a:ext cx="9628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</a:t>
            </a:r>
            <a:endParaRPr lang="en-US" sz="2700" dirty="0"/>
          </a:p>
        </p:txBody>
      </p:sp>
      <p:sp>
        <p:nvSpPr>
          <p:cNvPr id="22" name="Text 16"/>
          <p:cNvSpPr txBox="1"/>
          <p:nvPr/>
        </p:nvSpPr>
        <p:spPr>
          <a:xfrm>
            <a:off x="788213" y="4052621"/>
            <a:ext cx="23052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Takeaways</a:t>
            </a:r>
            <a:endParaRPr lang="en-US" sz="2700" dirty="0"/>
          </a:p>
        </p:txBody>
      </p:sp>
      <p:sp>
        <p:nvSpPr>
          <p:cNvPr id="23" name="Text 17"/>
          <p:cNvSpPr txBox="1"/>
          <p:nvPr/>
        </p:nvSpPr>
        <p:spPr>
          <a:xfrm>
            <a:off x="1495044" y="4597603"/>
            <a:ext cx="7671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RECAP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0" y="0"/>
            <a:ext cx="3619195" cy="95098"/>
          </a:xfrm>
          <a:prstGeom prst="rect">
            <a:avLst/>
          </a:prstGeom>
          <a:solidFill>
            <a:srgbClr val="F1C40F"/>
          </a:solidFill>
          <a:ln/>
        </p:spPr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0F9FF"/>
          </a:solidFill>
          <a:ln/>
        </p:spPr>
      </p:sp>
      <p:sp>
        <p:nvSpPr>
          <p:cNvPr id="5" name="Shape 3"/>
          <p:cNvSpPr/>
          <p:nvPr/>
        </p:nvSpPr>
        <p:spPr>
          <a:xfrm>
            <a:off x="-1429207" y="3524098"/>
            <a:ext cx="4762195" cy="4762195"/>
          </a:xfrm>
          <a:prstGeom prst="ellipse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884725" y="6362395"/>
            <a:ext cx="25438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33695" y="171907"/>
            <a:ext cx="1524305" cy="1524305"/>
          </a:xfrm>
          <a:prstGeom prst="ellipse">
            <a:avLst/>
          </a:prstGeom>
          <a:solidFill>
            <a:srgbClr val="E0F2FE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241300" dist="101600" dir="5400000">
              <a:srgbClr val="38bdf8">
                <a:alpha val="1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2549" y="599846"/>
            <a:ext cx="666598" cy="66659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819802" y="2876702"/>
            <a:ext cx="2553005" cy="647395"/>
          </a:xfrm>
          <a:prstGeom prst="roundRect">
            <a:avLst>
              <a:gd name="adj" fmla="val 10385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115154" y="3066898"/>
            <a:ext cx="267005" cy="26700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715000" y="3905402"/>
            <a:ext cx="761695" cy="57607"/>
          </a:xfrm>
          <a:prstGeom prst="roundRect">
            <a:avLst>
              <a:gd name="adj" fmla="val 793654"/>
            </a:avLst>
          </a:prstGeom>
          <a:solidFill>
            <a:srgbClr val="CBD5E1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4382719" y="2057400"/>
            <a:ext cx="3829507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Lunch Break</a:t>
            </a:r>
            <a:endParaRPr lang="en-US" sz="4200" dirty="0"/>
          </a:p>
        </p:txBody>
      </p:sp>
      <p:sp>
        <p:nvSpPr>
          <p:cNvPr id="13" name="Text 9"/>
          <p:cNvSpPr txBox="1"/>
          <p:nvPr/>
        </p:nvSpPr>
        <p:spPr>
          <a:xfrm>
            <a:off x="5381244" y="3038551"/>
            <a:ext cx="189555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01:30 – 02:30</a:t>
            </a:r>
            <a:endParaRPr lang="en-US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4983480" y="4381805"/>
            <a:ext cx="238658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 away and recharge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800600" y="4848149"/>
            <a:ext cx="275783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 back on time to continue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4517136" y="5315407"/>
            <a:ext cx="332018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Questions? Bring them after lunch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4615891" y="5781751"/>
            <a:ext cx="3119933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your VM paused if running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5121554" y="6372454"/>
            <a:ext cx="21241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4C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See you at 02:30</a:t>
            </a:r>
            <a:endParaRPr lang="en-US" sz="1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2606040"/>
            <a:ext cx="12191695" cy="4257446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-76" r="-76" t="0" b="0"/>
          <a:stretch/>
        </p:blipFill>
        <p:spPr>
          <a:xfrm>
            <a:off x="8591702" y="3567074"/>
            <a:ext cx="3219602" cy="28575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09598" y="3003804"/>
            <a:ext cx="8572500" cy="3457346"/>
          </a:xfrm>
          <a:prstGeom prst="roundRect">
            <a:avLst>
              <a:gd name="adj" fmla="val 11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41300" dist="101600" dir="5400000">
              <a:srgbClr val="000000">
                <a:alpha val="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809598" y="3003804"/>
            <a:ext cx="75895" cy="345734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457907" y="3412541"/>
            <a:ext cx="20436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TOPICS COVERED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-46154" r="-46154" t="0" b="0"/>
          <a:stretch/>
        </p:blipFill>
        <p:spPr>
          <a:xfrm>
            <a:off x="2457907" y="3934663"/>
            <a:ext cx="228600" cy="19019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876702" y="3888943"/>
            <a:ext cx="35250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Kernel, shell, libraries, user space</a:t>
            </a:r>
            <a:endParaRPr lang="en-US" sz="18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-46154" r="-46154" t="0" b="0"/>
          <a:stretch/>
        </p:blipFill>
        <p:spPr>
          <a:xfrm>
            <a:off x="2457907" y="4407408"/>
            <a:ext cx="228600" cy="19019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876702" y="4361688"/>
            <a:ext cx="34390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components work together</a:t>
            </a:r>
            <a:endParaRPr lang="en-US" sz="18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rcRect l="-46154" r="-46154" t="0" b="0"/>
          <a:stretch/>
        </p:blipFill>
        <p:spPr>
          <a:xfrm>
            <a:off x="2457907" y="4879238"/>
            <a:ext cx="228600" cy="19019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2876702" y="4833518"/>
            <a:ext cx="30861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 calls in simple terms</a:t>
            </a:r>
            <a:endParaRPr lang="en-US" sz="18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-46154" r="-46154" t="0" b="0"/>
          <a:stretch/>
        </p:blipFill>
        <p:spPr>
          <a:xfrm>
            <a:off x="2457907" y="5351983"/>
            <a:ext cx="228600" cy="190195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2876702" y="5306263"/>
            <a:ext cx="3419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Real-world process walkthrough</a:t>
            </a:r>
            <a:endParaRPr lang="en-US" sz="18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rcRect l="-46154" r="-46154" t="0" b="0"/>
          <a:stretch/>
        </p:blipFill>
        <p:spPr>
          <a:xfrm>
            <a:off x="2457907" y="5824728"/>
            <a:ext cx="228600" cy="190195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2876702" y="5779008"/>
            <a:ext cx="28959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summary and Q&amp;A</a:t>
            </a:r>
            <a:endParaRPr lang="en-US" sz="1800" dirty="0"/>
          </a:p>
        </p:txBody>
      </p:sp>
      <p:sp>
        <p:nvSpPr>
          <p:cNvPr id="19" name="Shape 11"/>
          <p:cNvSpPr/>
          <p:nvPr/>
        </p:nvSpPr>
        <p:spPr>
          <a:xfrm>
            <a:off x="0" y="0"/>
            <a:ext cx="12191695" cy="260969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0" name="Text 12"/>
          <p:cNvSpPr txBox="1"/>
          <p:nvPr/>
        </p:nvSpPr>
        <p:spPr>
          <a:xfrm>
            <a:off x="5298948" y="748894"/>
            <a:ext cx="17721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MODULE 4</a:t>
            </a:r>
            <a:endParaRPr lang="en-US" sz="1800" dirty="0"/>
          </a:p>
        </p:txBody>
      </p:sp>
      <p:sp>
        <p:nvSpPr>
          <p:cNvPr id="21" name="Text 13"/>
          <p:cNvSpPr txBox="1"/>
          <p:nvPr/>
        </p:nvSpPr>
        <p:spPr>
          <a:xfrm>
            <a:off x="1168603" y="1176833"/>
            <a:ext cx="10316261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Components of Linux Systems</a:t>
            </a:r>
            <a:endParaRPr lang="en-US" sz="4800" dirty="0"/>
          </a:p>
        </p:txBody>
      </p:sp>
      <p:sp>
        <p:nvSpPr>
          <p:cNvPr id="22" name="Shape 14"/>
          <p:cNvSpPr/>
          <p:nvPr/>
        </p:nvSpPr>
        <p:spPr>
          <a:xfrm>
            <a:off x="11201400" y="228600"/>
            <a:ext cx="761695" cy="761695"/>
          </a:xfrm>
          <a:prstGeom prst="rect">
            <a:avLst/>
          </a:prstGeom>
          <a:noFill/>
          <a:ln w="508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228600" y="1615745"/>
            <a:ext cx="761695" cy="761695"/>
          </a:xfrm>
          <a:prstGeom prst="rect">
            <a:avLst/>
          </a:prstGeom>
          <a:noFill/>
          <a:ln w="508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0" y="2530145"/>
            <a:ext cx="12191695" cy="75895"/>
          </a:xfrm>
          <a:prstGeom prst="rect">
            <a:avLst/>
          </a:prstGeom>
          <a:solidFill>
            <a:srgbClr val="3498DB"/>
          </a:solidFill>
          <a:ln/>
        </p:spPr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53882" y="6362395"/>
            <a:ext cx="28959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4: Components of Linux Systems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61695" y="371246"/>
            <a:ext cx="586313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Linux System Architecture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10287000" y="2673706"/>
            <a:ext cx="190195" cy="1809598"/>
          </a:xfrm>
          <a:prstGeom prst="rect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73207" y="2682850"/>
            <a:ext cx="9573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MODE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573207" y="2911450"/>
            <a:ext cx="102321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Restricted Access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0287000" y="6102706"/>
            <a:ext cx="190195" cy="1047902"/>
          </a:xfrm>
          <a:prstGeom prst="rect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73207" y="4207154"/>
            <a:ext cx="113842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KERNEL MODE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0573207" y="4435754"/>
            <a:ext cx="101407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Privileged Access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809598" y="1864462"/>
            <a:ext cx="8572500" cy="952805"/>
          </a:xfrm>
          <a:prstGeom prst="roundRect">
            <a:avLst>
              <a:gd name="adj" fmla="val 7678"/>
            </a:avLst>
          </a:prstGeom>
          <a:solidFill>
            <a:srgbClr val="E0F2FE"/>
          </a:solidFill>
          <a:ln w="25400">
            <a:solidFill>
              <a:srgbClr val="7DD3FC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545836" y="2059229"/>
            <a:ext cx="12198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SPACE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854196" y="2345436"/>
            <a:ext cx="819302" cy="295351"/>
          </a:xfrm>
          <a:prstGeom prst="roundRect">
            <a:avLst>
              <a:gd name="adj" fmla="val 39948"/>
            </a:avLst>
          </a:prstGeom>
          <a:solidFill>
            <a:srgbClr val="FFFFFF">
              <a:alpha val="70000"/>
            </a:srgbClr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rcRect l="-837" r="-837" t="0" b="0"/>
          <a:stretch/>
        </p:blipFill>
        <p:spPr>
          <a:xfrm>
            <a:off x="3996842" y="2425903"/>
            <a:ext cx="152705" cy="133502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4225442" y="2392985"/>
            <a:ext cx="4050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Shell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856378" y="2345436"/>
            <a:ext cx="1057046" cy="295351"/>
          </a:xfrm>
          <a:prstGeom prst="roundRect">
            <a:avLst>
              <a:gd name="adj" fmla="val 39948"/>
            </a:avLst>
          </a:prstGeom>
          <a:solidFill>
            <a:srgbClr val="FFFFFF">
              <a:alpha val="70000"/>
            </a:srgbClr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999025" y="2425903"/>
            <a:ext cx="133502" cy="133502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208422" y="2392985"/>
            <a:ext cx="6620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GUI Apps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098134" y="2345436"/>
            <a:ext cx="990295" cy="295351"/>
          </a:xfrm>
          <a:prstGeom prst="roundRect">
            <a:avLst>
              <a:gd name="adj" fmla="val 39948"/>
            </a:avLst>
          </a:prstGeom>
          <a:solidFill>
            <a:srgbClr val="FFFFFF">
              <a:alpha val="70000"/>
            </a:srgbClr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-1507" r="-1507" t="0" b="0"/>
          <a:stretch/>
        </p:blipFill>
        <p:spPr>
          <a:xfrm>
            <a:off x="6240780" y="2425903"/>
            <a:ext cx="171907" cy="133502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488582" y="2392985"/>
            <a:ext cx="5577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Utilities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7277710" y="2345436"/>
            <a:ext cx="1067105" cy="295351"/>
          </a:xfrm>
          <a:prstGeom prst="roundRect">
            <a:avLst>
              <a:gd name="adj" fmla="val 39948"/>
            </a:avLst>
          </a:prstGeom>
          <a:solidFill>
            <a:srgbClr val="FFFFFF">
              <a:alpha val="70000"/>
            </a:srgbClr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420356" y="2425903"/>
            <a:ext cx="133502" cy="13350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630668" y="2392985"/>
            <a:ext cx="6720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Daemons</a:t>
            </a:r>
            <a:endParaRPr lang="en-US" sz="10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024982" y="4616806"/>
            <a:ext cx="142646" cy="190195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1809598" y="4883810"/>
            <a:ext cx="8572500" cy="761695"/>
          </a:xfrm>
          <a:prstGeom prst="roundRect">
            <a:avLst>
              <a:gd name="adj" fmla="val 12005"/>
            </a:avLst>
          </a:prstGeom>
          <a:solidFill>
            <a:srgbClr val="1E293B"/>
          </a:solidFill>
          <a:ln w="25400">
            <a:solidFill>
              <a:srgbClr val="0F172A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30" name="Text 23"/>
          <p:cNvSpPr txBox="1"/>
          <p:nvPr/>
        </p:nvSpPr>
        <p:spPr>
          <a:xfrm>
            <a:off x="5059375" y="5035601"/>
            <a:ext cx="21909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HARDWARE PLATFORM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4495190" y="5341010"/>
            <a:ext cx="33101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CPU • RAM • DISK • NETWORK • PERIPHERALS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1809598" y="3626510"/>
            <a:ext cx="8572500" cy="1047902"/>
          </a:xfrm>
          <a:prstGeom prst="roundRect">
            <a:avLst>
              <a:gd name="adj" fmla="val 6346"/>
            </a:avLst>
          </a:prstGeom>
          <a:solidFill>
            <a:srgbClr val="3B82F6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3275381" y="4155034"/>
            <a:ext cx="1371600" cy="295351"/>
          </a:xfrm>
          <a:prstGeom prst="roundRect">
            <a:avLst>
              <a:gd name="adj" fmla="val 39948"/>
            </a:avLst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418027" y="4235501"/>
            <a:ext cx="133502" cy="133502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3627425" y="4202582"/>
            <a:ext cx="9765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 Mgmt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4832604" y="4155034"/>
            <a:ext cx="1399946" cy="295351"/>
          </a:xfrm>
          <a:prstGeom prst="roundRect">
            <a:avLst>
              <a:gd name="adj" fmla="val 39948"/>
            </a:avLst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rcRect l="-837" r="-837" t="0" b="0"/>
          <a:stretch/>
        </p:blipFill>
        <p:spPr>
          <a:xfrm>
            <a:off x="4976165" y="4235501"/>
            <a:ext cx="152705" cy="133502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5204765" y="4202582"/>
            <a:ext cx="9866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Memory Mgmt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6419088" y="4155034"/>
            <a:ext cx="1123798" cy="295351"/>
          </a:xfrm>
          <a:prstGeom prst="roundRect">
            <a:avLst>
              <a:gd name="adj" fmla="val 39948"/>
            </a:avLst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rcRect l="-1507" r="-1507" t="0" b="0"/>
          <a:stretch/>
        </p:blipFill>
        <p:spPr>
          <a:xfrm>
            <a:off x="6562649" y="4235501"/>
            <a:ext cx="171907" cy="133502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6809537" y="4202582"/>
            <a:ext cx="6912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Net Stack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7724851" y="4155034"/>
            <a:ext cx="1200607" cy="295351"/>
          </a:xfrm>
          <a:prstGeom prst="roundRect">
            <a:avLst>
              <a:gd name="adj" fmla="val 39948"/>
            </a:avLst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7868412" y="4235501"/>
            <a:ext cx="133502" cy="133502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8077810" y="4202582"/>
            <a:ext cx="8055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File System</a:t>
            </a:r>
            <a:endParaRPr lang="en-US" sz="1000" dirty="0"/>
          </a:p>
        </p:txBody>
      </p:sp>
      <p:sp>
        <p:nvSpPr>
          <p:cNvPr id="45" name="Text 34"/>
          <p:cNvSpPr txBox="1"/>
          <p:nvPr/>
        </p:nvSpPr>
        <p:spPr>
          <a:xfrm>
            <a:off x="5248656" y="3868826"/>
            <a:ext cx="18105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LINUX KERNEL</a:t>
            </a:r>
            <a:endParaRPr lang="en-US" sz="1200" dirty="0"/>
          </a:p>
        </p:txBody>
      </p:sp>
      <p:sp>
        <p:nvSpPr>
          <p:cNvPr id="46" name="Shape 35"/>
          <p:cNvSpPr/>
          <p:nvPr/>
        </p:nvSpPr>
        <p:spPr>
          <a:xfrm>
            <a:off x="2238451" y="3055010"/>
            <a:ext cx="7715707" cy="571500"/>
          </a:xfrm>
          <a:prstGeom prst="roundRect">
            <a:avLst>
              <a:gd name="adj" fmla="val 21333"/>
            </a:avLst>
          </a:prstGeom>
          <a:solidFill>
            <a:srgbClr val="F3E8FF"/>
          </a:solidFill>
          <a:ln w="25400">
            <a:solidFill>
              <a:srgbClr val="D8B4FE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47" name="Text 36"/>
          <p:cNvSpPr txBox="1"/>
          <p:nvPr/>
        </p:nvSpPr>
        <p:spPr>
          <a:xfrm>
            <a:off x="5244084" y="3297326"/>
            <a:ext cx="18050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E22C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 LIBRARIES (glibc)</a:t>
            </a:r>
            <a:endParaRPr lang="en-US" sz="1000" dirty="0"/>
          </a:p>
        </p:txBody>
      </p:sp>
      <p:sp>
        <p:nvSpPr>
          <p:cNvPr id="48" name="Shape 37"/>
          <p:cNvSpPr/>
          <p:nvPr/>
        </p:nvSpPr>
        <p:spPr>
          <a:xfrm>
            <a:off x="5524805" y="2863901"/>
            <a:ext cx="1143000" cy="1527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38"/>
          <p:cNvSpPr txBox="1"/>
          <p:nvPr/>
        </p:nvSpPr>
        <p:spPr>
          <a:xfrm>
            <a:off x="5683910" y="2873959"/>
            <a:ext cx="9144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SYSTEM CALLS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0" b="0"/>
          <a:stretch/>
        </p:blipFill>
        <p:spPr>
          <a:xfrm>
            <a:off x="8858707" y="2438705"/>
            <a:ext cx="3810305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5763463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Kernel: What Is It?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1996135"/>
            <a:ext cx="1426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41532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of the operating system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2756002"/>
            <a:ext cx="142646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5646" y="2680106"/>
            <a:ext cx="42108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Mediates access to hardware</a:t>
            </a:r>
            <a:endParaRPr lang="en-US" sz="2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5646" y="3439973"/>
            <a:ext cx="474390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Manages processes and memory</a:t>
            </a:r>
            <a:endParaRPr lang="en-US" sz="2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833018" y="4276649"/>
            <a:ext cx="142646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85646" y="4200754"/>
            <a:ext cx="42675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Provides system calls to apps</a:t>
            </a:r>
            <a:endParaRPr lang="en-US" sz="2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85646" y="4960620"/>
            <a:ext cx="34674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Runs in privileged mode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8653882" y="6362395"/>
            <a:ext cx="28959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4: Components of Linux Systems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0" b="0"/>
          <a:stretch/>
        </p:blipFill>
        <p:spPr>
          <a:xfrm>
            <a:off x="8858707" y="2438705"/>
            <a:ext cx="3810305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73728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Kernel: What Does It Do?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1996135"/>
            <a:ext cx="1426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601035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Schedules CPU time for running processes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2756002"/>
            <a:ext cx="142646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5646" y="2680106"/>
            <a:ext cx="60396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Allocates and frees system memory (RAM)</a:t>
            </a:r>
            <a:endParaRPr lang="en-US" sz="2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5646" y="3439973"/>
            <a:ext cx="580095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Reads/writes to files and storage devices</a:t>
            </a:r>
            <a:endParaRPr lang="en-US" sz="2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833018" y="4276649"/>
            <a:ext cx="142646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85646" y="4200754"/>
            <a:ext cx="69915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Handles networking stacks and data transmission</a:t>
            </a:r>
            <a:endParaRPr lang="en-US" sz="2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85646" y="4960620"/>
            <a:ext cx="654436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Loads hardware drivers (modules) dynamically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8653882" y="6362395"/>
            <a:ext cx="28959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4: Components of Linux Systems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0" b="0"/>
          <a:stretch/>
        </p:blipFill>
        <p:spPr>
          <a:xfrm>
            <a:off x="8858707" y="2438705"/>
            <a:ext cx="3810305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570585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Kernel: Why It Matters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1996135"/>
            <a:ext cx="1426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371520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Performance and stability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2756002"/>
            <a:ext cx="142646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5646" y="2680106"/>
            <a:ext cx="473476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 boundaries and isolation</a:t>
            </a:r>
            <a:endParaRPr lang="en-US" sz="2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5646" y="3439973"/>
            <a:ext cx="337230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Hardware compatibility</a:t>
            </a:r>
            <a:endParaRPr lang="en-US" sz="2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833018" y="4276649"/>
            <a:ext cx="142646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85646" y="4200754"/>
            <a:ext cx="60204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 availability (cgroups, namespaces)</a:t>
            </a:r>
            <a:endParaRPr lang="en-US" sz="2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85646" y="4960620"/>
            <a:ext cx="451530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Predictable behavior under load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8653882" y="6362395"/>
            <a:ext cx="28959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4: Components of Linux Systems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-1" r="-1" t="0" b="0"/>
          <a:stretch/>
        </p:blipFill>
        <p:spPr>
          <a:xfrm>
            <a:off x="8382305" y="2438705"/>
            <a:ext cx="4286707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77724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Shell: Your Command Interface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1996135"/>
            <a:ext cx="1426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43251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Text-based interface to the OS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2756002"/>
            <a:ext cx="142646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5646" y="2680106"/>
            <a:ext cx="410565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Runs commands and scripts</a:t>
            </a:r>
            <a:endParaRPr lang="en-US" sz="2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5646" y="3439973"/>
            <a:ext cx="44202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Glues tools together with pipes</a:t>
            </a:r>
            <a:endParaRPr lang="en-US" sz="2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833018" y="4276649"/>
            <a:ext cx="142646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85646" y="4200754"/>
            <a:ext cx="385785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Customizable environment</a:t>
            </a:r>
            <a:endParaRPr lang="en-US" sz="2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85646" y="4960620"/>
            <a:ext cx="507766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Efficient for admins and automation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8653882" y="6362395"/>
            <a:ext cx="28959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4: Components of Linux Systems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-1" r="-1" t="0" b="0"/>
          <a:stretch/>
        </p:blipFill>
        <p:spPr>
          <a:xfrm>
            <a:off x="8382305" y="2438705"/>
            <a:ext cx="4286707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39054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Types of Shells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761695" y="1891894"/>
            <a:ext cx="6563563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Bash: Default shell on many Linux distributions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61695" y="2651760"/>
            <a:ext cx="71250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Zsh: Modern shell with user-friendly enhancements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761695" y="3411626"/>
            <a:ext cx="81061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Fish: Focuses on interactive features and autosuggestions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761695" y="4171493"/>
            <a:ext cx="72301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 / dash: Lightweight shells optimized for scripting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761695" y="4932274"/>
            <a:ext cx="818205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PowerShell: Cross-platform option for Windows integration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653882" y="6362395"/>
            <a:ext cx="28959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4: Components of Linux Systems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rcRect l="-27" r="-27" t="0" b="0"/>
          <a:stretch/>
        </p:blipFill>
        <p:spPr>
          <a:xfrm>
            <a:off x="8630107" y="2769718"/>
            <a:ext cx="3752698" cy="33339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653882" y="6362395"/>
            <a:ext cx="28959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4: Components of Linux Systems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61695" y="371246"/>
            <a:ext cx="437723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Shell: How It Works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1162202" y="2054657"/>
            <a:ext cx="38405" cy="370514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7"/>
          <p:cNvSpPr/>
          <p:nvPr/>
        </p:nvSpPr>
        <p:spPr>
          <a:xfrm>
            <a:off x="952805" y="1906524"/>
            <a:ext cx="457200" cy="457200"/>
          </a:xfrm>
          <a:prstGeom prst="ellipse">
            <a:avLst/>
          </a:prstGeom>
          <a:solidFill>
            <a:srgbClr val="3498DB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1136599" y="1964131"/>
            <a:ext cx="2670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695298" y="1826057"/>
            <a:ext cx="9734702" cy="619049"/>
          </a:xfrm>
          <a:prstGeom prst="roundRect">
            <a:avLst>
              <a:gd name="adj" fmla="val 1818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695298" y="1826057"/>
            <a:ext cx="38405" cy="61904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962302" y="2016252"/>
            <a:ext cx="30339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Reads input and parses tokens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952805" y="2792578"/>
            <a:ext cx="457200" cy="457200"/>
          </a:xfrm>
          <a:prstGeom prst="ellipse">
            <a:avLst/>
          </a:prstGeom>
          <a:solidFill>
            <a:srgbClr val="3498DB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1113739" y="2850185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695298" y="2712110"/>
            <a:ext cx="9734702" cy="619049"/>
          </a:xfrm>
          <a:prstGeom prst="roundRect">
            <a:avLst>
              <a:gd name="adj" fmla="val 1818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695298" y="2712110"/>
            <a:ext cx="38405" cy="61904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962302" y="2902306"/>
            <a:ext cx="321503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Expands variables and wildcards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952805" y="3678631"/>
            <a:ext cx="457200" cy="457200"/>
          </a:xfrm>
          <a:prstGeom prst="ellipse">
            <a:avLst/>
          </a:prstGeom>
          <a:solidFill>
            <a:srgbClr val="3498DB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1113739" y="3735324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1695298" y="3597250"/>
            <a:ext cx="9734702" cy="619049"/>
          </a:xfrm>
          <a:prstGeom prst="roundRect">
            <a:avLst>
              <a:gd name="adj" fmla="val 1818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695298" y="3597250"/>
            <a:ext cx="38405" cy="61904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962302" y="3788359"/>
            <a:ext cx="236738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Finds binaries via PATH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952805" y="4564685"/>
            <a:ext cx="457200" cy="457200"/>
          </a:xfrm>
          <a:prstGeom prst="ellipse">
            <a:avLst/>
          </a:prstGeom>
          <a:solidFill>
            <a:srgbClr val="3498DB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1101852" y="4621378"/>
            <a:ext cx="3337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1695298" y="4483303"/>
            <a:ext cx="9734702" cy="619049"/>
          </a:xfrm>
          <a:prstGeom prst="roundRect">
            <a:avLst>
              <a:gd name="adj" fmla="val 1818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1695298" y="4483303"/>
            <a:ext cx="38405" cy="61904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962302" y="4673498"/>
            <a:ext cx="287213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Creates a process to execute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952805" y="5449824"/>
            <a:ext cx="457200" cy="457200"/>
          </a:xfrm>
          <a:prstGeom prst="ellipse">
            <a:avLst/>
          </a:prstGeom>
          <a:solidFill>
            <a:srgbClr val="3498DB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1112825" y="5507431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1695298" y="5369357"/>
            <a:ext cx="9734702" cy="619049"/>
          </a:xfrm>
          <a:prstGeom prst="roundRect">
            <a:avLst>
              <a:gd name="adj" fmla="val 1818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1695298" y="5369357"/>
            <a:ext cx="38405" cy="61904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1962302" y="5559552"/>
            <a:ext cx="272948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Returns exit status to caller</a:t>
            </a:r>
            <a:endParaRPr lang="en-US" sz="16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0" b="0"/>
          <a:stretch/>
        </p:blipFill>
        <p:spPr>
          <a:xfrm>
            <a:off x="8858707" y="2438705"/>
            <a:ext cx="3810305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561075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Libraries: Role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1996135"/>
            <a:ext cx="1426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57534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Prebuilt code that applications can reuse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2756002"/>
            <a:ext cx="142646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5646" y="2680106"/>
            <a:ext cx="71634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Handle common tasks: I/O, math, and cryptography</a:t>
            </a:r>
            <a:endParaRPr lang="en-US" sz="2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5646" y="3439973"/>
            <a:ext cx="740115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 application size and development complexity</a:t>
            </a:r>
            <a:endParaRPr lang="en-US" sz="2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833018" y="4276649"/>
            <a:ext cx="142646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85646" y="4200754"/>
            <a:ext cx="578175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Versioned and maintained by OS vendors</a:t>
            </a:r>
            <a:endParaRPr lang="en-US" sz="2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85646" y="4960620"/>
            <a:ext cx="69723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Link dynamically at runtime (Shared Objects / .so)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8653882" y="6362395"/>
            <a:ext cx="28959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4: Components of Linux Systems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-1" r="-1" t="0" b="0"/>
          <a:stretch/>
        </p:blipFill>
        <p:spPr>
          <a:xfrm>
            <a:off x="8382305" y="2438705"/>
            <a:ext cx="4286707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68580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Libraries: Examples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761695" y="1891894"/>
            <a:ext cx="60679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glibc: standard C library (core system calls)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61695" y="2651760"/>
            <a:ext cx="55824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OpenSSL: encryption and TLS protocols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761695" y="3411626"/>
            <a:ext cx="50868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libpthread: POSIX threading support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761695" y="4171493"/>
            <a:ext cx="41916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libm: mathematical functions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761695" y="4932274"/>
            <a:ext cx="66870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libsystemd: interfaces for systemd components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653882" y="6362395"/>
            <a:ext cx="28959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4: Components of Linux Systems</a:t>
            </a:r>
            <a:endParaRPr lang="en-US" sz="1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-1" r="-1" t="0" b="0"/>
          <a:stretch/>
        </p:blipFill>
        <p:spPr>
          <a:xfrm>
            <a:off x="8382305" y="2438705"/>
            <a:ext cx="4286707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732525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Space: Where Apps Live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1996135"/>
            <a:ext cx="1426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743955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Normal privilege level (restricted access to hardware)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2756002"/>
            <a:ext cx="142646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5646" y="2680106"/>
            <a:ext cx="77916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Apps and services run here (Web browsers, Office tools)</a:t>
            </a:r>
            <a:endParaRPr lang="en-US" sz="2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5646" y="3439973"/>
            <a:ext cx="648675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Isolated from kernel space for system stability</a:t>
            </a:r>
            <a:endParaRPr lang="en-US" sz="2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833018" y="4276649"/>
            <a:ext cx="142646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85646" y="4200754"/>
            <a:ext cx="614385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Crashes typically impact fewer components</a:t>
            </a:r>
            <a:endParaRPr lang="en-US" sz="2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85646" y="4960620"/>
            <a:ext cx="663945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Easier to update and manage without rebooting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8653882" y="6362395"/>
            <a:ext cx="28959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4: Components of Linux Systems</a:t>
            </a:r>
            <a:endParaRPr lang="en-US" sz="1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53882" y="6362395"/>
            <a:ext cx="28959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4: Components of Linux Systems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61695" y="371246"/>
            <a:ext cx="604418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Space vs Kernel Space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761695" y="1241755"/>
            <a:ext cx="5143500" cy="5238598"/>
          </a:xfrm>
          <a:prstGeom prst="roundRect">
            <a:avLst>
              <a:gd name="adj" fmla="val 395"/>
            </a:avLst>
          </a:prstGeom>
          <a:solidFill>
            <a:srgbClr val="F0F9FF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1695" y="1241755"/>
            <a:ext cx="5143500" cy="57607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Shape 8"/>
          <p:cNvSpPr/>
          <p:nvPr/>
        </p:nvSpPr>
        <p:spPr>
          <a:xfrm>
            <a:off x="1047902" y="2098548"/>
            <a:ext cx="4572000" cy="19202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-90" r="-90" t="0" b="0"/>
          <a:stretch/>
        </p:blipFill>
        <p:spPr>
          <a:xfrm>
            <a:off x="1047902" y="1618488"/>
            <a:ext cx="381305" cy="30449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047902" y="2356409"/>
            <a:ext cx="4729277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Restricted Privilege: Cannot access hardware directly (safe).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047902" y="3181198"/>
            <a:ext cx="4729277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Isolation: Each app runs in its own memory sandbox.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047902" y="4005986"/>
            <a:ext cx="4729277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Contained Bugs: A crash here only kills the application.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047902" y="4830775"/>
            <a:ext cx="4729277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Communication: Must use System Calls to request resources.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286500" y="1241755"/>
            <a:ext cx="5143500" cy="5238598"/>
          </a:xfrm>
          <a:prstGeom prst="roundRect">
            <a:avLst>
              <a:gd name="adj" fmla="val 395"/>
            </a:avLst>
          </a:prstGeom>
          <a:solidFill>
            <a:srgbClr val="FEF2F2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86500" y="1241755"/>
            <a:ext cx="5143500" cy="57607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8" name="Shape 15"/>
          <p:cNvSpPr/>
          <p:nvPr/>
        </p:nvSpPr>
        <p:spPr>
          <a:xfrm>
            <a:off x="6572707" y="2098548"/>
            <a:ext cx="4572000" cy="19202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72707" y="1618488"/>
            <a:ext cx="304495" cy="304495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6572707" y="2356409"/>
            <a:ext cx="4729277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Privilege: Complete access to all memory and hardware.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6572707" y="3181198"/>
            <a:ext cx="4729277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Isolation: Shared environment for core drivers and code.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6572707" y="4005986"/>
            <a:ext cx="4729277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System-Wide Risk: A crash here causes a system halt (Panic/BSOD).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6572707" y="4830775"/>
            <a:ext cx="4729277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Performance: Direct execution with zero overhead.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1571854" y="1613916"/>
            <a:ext cx="163403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Space</a:t>
            </a:r>
            <a:endParaRPr lang="en-US" sz="1900" dirty="0"/>
          </a:p>
        </p:txBody>
      </p:sp>
      <p:sp>
        <p:nvSpPr>
          <p:cNvPr id="25" name="Text 21"/>
          <p:cNvSpPr txBox="1"/>
          <p:nvPr/>
        </p:nvSpPr>
        <p:spPr>
          <a:xfrm>
            <a:off x="7019849" y="1613916"/>
            <a:ext cx="188183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Kernel Space</a:t>
            </a:r>
            <a:endParaRPr lang="en-US" sz="1900" dirty="0"/>
          </a:p>
        </p:txBody>
      </p:sp>
      <p:sp>
        <p:nvSpPr>
          <p:cNvPr id="26" name="Shape 22"/>
          <p:cNvSpPr/>
          <p:nvPr/>
        </p:nvSpPr>
        <p:spPr>
          <a:xfrm>
            <a:off x="5762549" y="3095244"/>
            <a:ext cx="666598" cy="666598"/>
          </a:xfrm>
          <a:prstGeom prst="ellipse">
            <a:avLst/>
          </a:prstGeom>
          <a:solidFill>
            <a:srgbClr val="FFFFFF"/>
          </a:solidFill>
          <a:ln w="63500">
            <a:solidFill>
              <a:srgbClr val="F3F4F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7" name="Text 23"/>
          <p:cNvSpPr txBox="1"/>
          <p:nvPr/>
        </p:nvSpPr>
        <p:spPr>
          <a:xfrm>
            <a:off x="5913425" y="3228746"/>
            <a:ext cx="5715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71809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VS</a:t>
            </a:r>
            <a:endParaRPr lang="en-US" sz="21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rcRect l="-27" r="-27" t="0" b="0"/>
          <a:stretch/>
        </p:blipFill>
        <p:spPr>
          <a:xfrm>
            <a:off x="8630107" y="2769718"/>
            <a:ext cx="3752698" cy="33339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653882" y="6362395"/>
            <a:ext cx="28959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4: Components of Linux Systems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61695" y="371246"/>
            <a:ext cx="732983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Components Work Together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1162202" y="2054657"/>
            <a:ext cx="38405" cy="370514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7"/>
          <p:cNvSpPr/>
          <p:nvPr/>
        </p:nvSpPr>
        <p:spPr>
          <a:xfrm>
            <a:off x="952805" y="1906524"/>
            <a:ext cx="457200" cy="457200"/>
          </a:xfrm>
          <a:prstGeom prst="ellipse">
            <a:avLst/>
          </a:prstGeom>
          <a:solidFill>
            <a:srgbClr val="3498DB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1136599" y="1964131"/>
            <a:ext cx="2670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695298" y="1826057"/>
            <a:ext cx="9734702" cy="619049"/>
          </a:xfrm>
          <a:prstGeom prst="roundRect">
            <a:avLst>
              <a:gd name="adj" fmla="val 1818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695298" y="1826057"/>
            <a:ext cx="38405" cy="61904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962302" y="2016252"/>
            <a:ext cx="312907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 asks shell to run a program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952805" y="2792578"/>
            <a:ext cx="457200" cy="457200"/>
          </a:xfrm>
          <a:prstGeom prst="ellipse">
            <a:avLst/>
          </a:prstGeom>
          <a:solidFill>
            <a:srgbClr val="3498DB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1113739" y="2850185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695298" y="2712110"/>
            <a:ext cx="9734702" cy="619049"/>
          </a:xfrm>
          <a:prstGeom prst="roundRect">
            <a:avLst>
              <a:gd name="adj" fmla="val 1818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695298" y="2712110"/>
            <a:ext cx="38405" cy="61904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962302" y="2902306"/>
            <a:ext cx="379658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Shell requests kernel to create process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952805" y="3678631"/>
            <a:ext cx="457200" cy="457200"/>
          </a:xfrm>
          <a:prstGeom prst="ellipse">
            <a:avLst/>
          </a:prstGeom>
          <a:solidFill>
            <a:srgbClr val="3498DB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1113739" y="3735324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1695298" y="3597250"/>
            <a:ext cx="9734702" cy="619049"/>
          </a:xfrm>
          <a:prstGeom prst="roundRect">
            <a:avLst>
              <a:gd name="adj" fmla="val 1818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695298" y="3597250"/>
            <a:ext cx="38405" cy="61904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962302" y="3788359"/>
            <a:ext cx="24624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 links to libraries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952805" y="4564685"/>
            <a:ext cx="457200" cy="457200"/>
          </a:xfrm>
          <a:prstGeom prst="ellipse">
            <a:avLst/>
          </a:prstGeom>
          <a:solidFill>
            <a:srgbClr val="3498DB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1101852" y="4621378"/>
            <a:ext cx="3337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1695298" y="4483303"/>
            <a:ext cx="9734702" cy="619049"/>
          </a:xfrm>
          <a:prstGeom prst="roundRect">
            <a:avLst>
              <a:gd name="adj" fmla="val 1818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1695298" y="4483303"/>
            <a:ext cx="38405" cy="61904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962302" y="4673498"/>
            <a:ext cx="324337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Kernel manages I/O and memory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952805" y="5449824"/>
            <a:ext cx="457200" cy="457200"/>
          </a:xfrm>
          <a:prstGeom prst="ellipse">
            <a:avLst/>
          </a:prstGeom>
          <a:solidFill>
            <a:srgbClr val="3498DB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1112825" y="5507431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1695298" y="5369357"/>
            <a:ext cx="9734702" cy="619049"/>
          </a:xfrm>
          <a:prstGeom prst="roundRect">
            <a:avLst>
              <a:gd name="adj" fmla="val 1818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1695298" y="5369357"/>
            <a:ext cx="38405" cy="61904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1962302" y="5559552"/>
            <a:ext cx="278617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Results return to user space</a:t>
            </a:r>
            <a:endParaRPr lang="en-US" sz="16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-7" b="-7"/>
          <a:stretch/>
        </p:blipFill>
        <p:spPr>
          <a:xfrm>
            <a:off x="7905902" y="2438705"/>
            <a:ext cx="4762195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65919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Calls: Simple View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1996135"/>
            <a:ext cx="1426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55248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APIs bridging applications to the kernel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761695" y="2651760"/>
            <a:ext cx="459120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Examples: open, read, write, fork</a:t>
            </a:r>
            <a:endParaRPr lang="en-US" sz="2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85646" y="3439973"/>
            <a:ext cx="65343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Abstracts hardware complexity from programs</a:t>
            </a:r>
            <a:endParaRPr lang="en-US" sz="2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4276649"/>
            <a:ext cx="142646" cy="2286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85646" y="4200754"/>
            <a:ext cx="60579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Controlled, audited entry points for security</a:t>
            </a:r>
            <a:endParaRPr lang="en-US" sz="24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285646" y="4960620"/>
            <a:ext cx="702076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essential foundation for all system operations</a:t>
            </a:r>
            <a:endParaRPr lang="en-US" sz="2400" dirty="0"/>
          </a:p>
        </p:txBody>
      </p:sp>
      <p:sp>
        <p:nvSpPr>
          <p:cNvPr id="17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19" name="Text 12"/>
          <p:cNvSpPr txBox="1"/>
          <p:nvPr/>
        </p:nvSpPr>
        <p:spPr>
          <a:xfrm>
            <a:off x="8653882" y="6362395"/>
            <a:ext cx="28959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4: Components of Linux Systems</a:t>
            </a:r>
            <a:endParaRPr lang="en-US" sz="12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rcRect l="-27" r="-27" t="0" b="0"/>
          <a:stretch/>
        </p:blipFill>
        <p:spPr>
          <a:xfrm>
            <a:off x="8630107" y="2769718"/>
            <a:ext cx="3752698" cy="33339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653882" y="6362395"/>
            <a:ext cx="28959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4: Components of Linux Systems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61695" y="371246"/>
            <a:ext cx="537758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Example: Opening a File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1162202" y="2111350"/>
            <a:ext cx="38405" cy="359084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7"/>
          <p:cNvSpPr/>
          <p:nvPr/>
        </p:nvSpPr>
        <p:spPr>
          <a:xfrm>
            <a:off x="952805" y="1964131"/>
            <a:ext cx="457200" cy="457200"/>
          </a:xfrm>
          <a:prstGeom prst="ellipse">
            <a:avLst/>
          </a:prstGeom>
          <a:solidFill>
            <a:srgbClr val="3498DB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1136599" y="2020824"/>
            <a:ext cx="2670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695298" y="1882750"/>
            <a:ext cx="9734702" cy="619049"/>
          </a:xfrm>
          <a:prstGeom prst="roundRect">
            <a:avLst>
              <a:gd name="adj" fmla="val 1818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695298" y="1882750"/>
            <a:ext cx="38405" cy="61904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962302" y="2073859"/>
            <a:ext cx="307238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Shell invokes app (e.g., cat file)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952805" y="2820924"/>
            <a:ext cx="457200" cy="457200"/>
          </a:xfrm>
          <a:prstGeom prst="ellipse">
            <a:avLst/>
          </a:prstGeom>
          <a:solidFill>
            <a:srgbClr val="3498DB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1113739" y="2878531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695298" y="2740457"/>
            <a:ext cx="9734702" cy="619049"/>
          </a:xfrm>
          <a:prstGeom prst="roundRect">
            <a:avLst>
              <a:gd name="adj" fmla="val 1818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695298" y="2740457"/>
            <a:ext cx="38405" cy="61904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962302" y="2930652"/>
            <a:ext cx="3920033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 calls open() via system library (libc)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952805" y="3678631"/>
            <a:ext cx="457200" cy="457200"/>
          </a:xfrm>
          <a:prstGeom prst="ellipse">
            <a:avLst/>
          </a:prstGeom>
          <a:solidFill>
            <a:srgbClr val="3498DB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1113739" y="3735324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1695298" y="3597250"/>
            <a:ext cx="9734702" cy="619049"/>
          </a:xfrm>
          <a:prstGeom prst="roundRect">
            <a:avLst>
              <a:gd name="adj" fmla="val 1818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695298" y="3597250"/>
            <a:ext cx="38405" cy="61904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962302" y="3788359"/>
            <a:ext cx="399592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Kernel checks file permissions and inode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952805" y="4535424"/>
            <a:ext cx="457200" cy="457200"/>
          </a:xfrm>
          <a:prstGeom prst="ellipse">
            <a:avLst/>
          </a:prstGeom>
          <a:solidFill>
            <a:srgbClr val="3498DB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1101852" y="4593031"/>
            <a:ext cx="3337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1695298" y="4454957"/>
            <a:ext cx="9734702" cy="619049"/>
          </a:xfrm>
          <a:prstGeom prst="roundRect">
            <a:avLst>
              <a:gd name="adj" fmla="val 1818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1695298" y="4454957"/>
            <a:ext cx="38405" cy="61904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962302" y="4645152"/>
            <a:ext cx="392917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Kernel returns file descriptor (integer ID)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952805" y="5393131"/>
            <a:ext cx="457200" cy="457200"/>
          </a:xfrm>
          <a:prstGeom prst="ellipse">
            <a:avLst/>
          </a:prstGeom>
          <a:solidFill>
            <a:srgbClr val="3498DB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1112825" y="5449824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1695298" y="5311750"/>
            <a:ext cx="9734702" cy="619049"/>
          </a:xfrm>
          <a:prstGeom prst="roundRect">
            <a:avLst>
              <a:gd name="adj" fmla="val 1818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1695298" y="5311750"/>
            <a:ext cx="38405" cy="61904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1962302" y="5502859"/>
            <a:ext cx="45198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 reads; kernel schedules disk I/O operation</a:t>
            </a:r>
            <a:endParaRPr lang="en-US" sz="16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2" b="-2"/>
          <a:stretch/>
        </p:blipFill>
        <p:spPr>
          <a:xfrm>
            <a:off x="9334195" y="2438705"/>
            <a:ext cx="3333902" cy="381030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381805" y="2347265"/>
            <a:ext cx="7048195" cy="1920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381805" y="1604772"/>
            <a:ext cx="4405579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Module 4 Summary</a:t>
            </a:r>
            <a:endParaRPr lang="en-US" sz="3100" dirty="0"/>
          </a:p>
        </p:txBody>
      </p:sp>
      <p:sp>
        <p:nvSpPr>
          <p:cNvPr id="8" name="Text 5"/>
          <p:cNvSpPr txBox="1"/>
          <p:nvPr/>
        </p:nvSpPr>
        <p:spPr>
          <a:xfrm>
            <a:off x="4381805" y="2747772"/>
            <a:ext cx="5715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Kernel, shell, libraries, user space form the architecture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381805" y="3306470"/>
            <a:ext cx="48006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Clear separation improves safety and stability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381805" y="3864254"/>
            <a:ext cx="540136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 calls bridge applications to kernel functions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381805" y="4422038"/>
            <a:ext cx="583935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Know where your task runs: User Space vs Kernel Space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381805" y="4980737"/>
            <a:ext cx="481065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Preps you for understanding file systems next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619695" y="6019495"/>
            <a:ext cx="3810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619695" y="6191402"/>
            <a:ext cx="169072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384487" y="6191402"/>
            <a:ext cx="1986077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4: Components of Linux Systems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7" name="Shape 14"/>
          <p:cNvSpPr/>
          <p:nvPr/>
        </p:nvSpPr>
        <p:spPr>
          <a:xfrm>
            <a:off x="1143000" y="2031797"/>
            <a:ext cx="1333195" cy="1333195"/>
          </a:xfrm>
          <a:prstGeom prst="ellipse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25" b="-25"/>
          <a:stretch/>
        </p:blipFill>
        <p:spPr>
          <a:xfrm>
            <a:off x="1580998" y="2393899"/>
            <a:ext cx="457200" cy="609905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461211" y="3641141"/>
            <a:ext cx="9628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</a:t>
            </a:r>
            <a:endParaRPr lang="en-US" sz="2700" dirty="0"/>
          </a:p>
        </p:txBody>
      </p:sp>
      <p:sp>
        <p:nvSpPr>
          <p:cNvPr id="20" name="Text 16"/>
          <p:cNvSpPr txBox="1"/>
          <p:nvPr/>
        </p:nvSpPr>
        <p:spPr>
          <a:xfrm>
            <a:off x="788213" y="4052621"/>
            <a:ext cx="23052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Takeaways</a:t>
            </a:r>
            <a:endParaRPr lang="en-US" sz="2700" dirty="0"/>
          </a:p>
        </p:txBody>
      </p:sp>
      <p:sp>
        <p:nvSpPr>
          <p:cNvPr id="21" name="Text 17"/>
          <p:cNvSpPr txBox="1"/>
          <p:nvPr/>
        </p:nvSpPr>
        <p:spPr>
          <a:xfrm>
            <a:off x="1495044" y="4597603"/>
            <a:ext cx="7671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RECAP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0" y="0"/>
            <a:ext cx="3619195" cy="95098"/>
          </a:xfrm>
          <a:prstGeom prst="rect">
            <a:avLst/>
          </a:prstGeom>
          <a:solidFill>
            <a:srgbClr val="F1C40F"/>
          </a:solidFill>
          <a:ln/>
        </p:spPr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2606040"/>
            <a:ext cx="12191695" cy="4257446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-76" r="-76" t="0" b="0"/>
          <a:stretch/>
        </p:blipFill>
        <p:spPr>
          <a:xfrm>
            <a:off x="8591702" y="3567074"/>
            <a:ext cx="3219602" cy="28575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09598" y="3003804"/>
            <a:ext cx="8572500" cy="3457346"/>
          </a:xfrm>
          <a:prstGeom prst="roundRect">
            <a:avLst>
              <a:gd name="adj" fmla="val 11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41300" dist="101600" dir="5400000">
              <a:srgbClr val="000000">
                <a:alpha val="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809598" y="3003804"/>
            <a:ext cx="75895" cy="345734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457907" y="3412541"/>
            <a:ext cx="20436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TOPICS COVERED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-46154" r="-46154" t="0" b="0"/>
          <a:stretch/>
        </p:blipFill>
        <p:spPr>
          <a:xfrm>
            <a:off x="2457907" y="3934663"/>
            <a:ext cx="228600" cy="19019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876702" y="3888943"/>
            <a:ext cx="3143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Directory tree and key folders</a:t>
            </a:r>
            <a:endParaRPr lang="en-US" sz="18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-46154" r="-46154" t="0" b="0"/>
          <a:stretch/>
        </p:blipFill>
        <p:spPr>
          <a:xfrm>
            <a:off x="2457907" y="4407408"/>
            <a:ext cx="228600" cy="19019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876702" y="4361688"/>
            <a:ext cx="2991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Permissions and ownership</a:t>
            </a:r>
            <a:endParaRPr lang="en-US" sz="18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rcRect l="-46154" r="-46154" t="0" b="0"/>
          <a:stretch/>
        </p:blipFill>
        <p:spPr>
          <a:xfrm>
            <a:off x="2457907" y="4879238"/>
            <a:ext cx="228600" cy="19019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2876702" y="4833518"/>
            <a:ext cx="32196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View and change permissions</a:t>
            </a:r>
            <a:endParaRPr lang="en-US" sz="18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-46154" r="-46154" t="0" b="0"/>
          <a:stretch/>
        </p:blipFill>
        <p:spPr>
          <a:xfrm>
            <a:off x="2457907" y="5351983"/>
            <a:ext cx="228600" cy="190195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2876702" y="5306263"/>
            <a:ext cx="27532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Practical navigation skills</a:t>
            </a:r>
            <a:endParaRPr lang="en-US" sz="18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rcRect l="-46154" r="-46154" t="0" b="0"/>
          <a:stretch/>
        </p:blipFill>
        <p:spPr>
          <a:xfrm>
            <a:off x="2457907" y="5824728"/>
            <a:ext cx="228600" cy="190195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2876702" y="5779008"/>
            <a:ext cx="20199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Summary and tips</a:t>
            </a:r>
            <a:endParaRPr lang="en-US" sz="1800" dirty="0"/>
          </a:p>
        </p:txBody>
      </p:sp>
      <p:sp>
        <p:nvSpPr>
          <p:cNvPr id="19" name="Shape 11"/>
          <p:cNvSpPr/>
          <p:nvPr/>
        </p:nvSpPr>
        <p:spPr>
          <a:xfrm>
            <a:off x="0" y="0"/>
            <a:ext cx="12191695" cy="260969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0" name="Text 12"/>
          <p:cNvSpPr txBox="1"/>
          <p:nvPr/>
        </p:nvSpPr>
        <p:spPr>
          <a:xfrm>
            <a:off x="5309921" y="748894"/>
            <a:ext cx="17437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MODULE 5</a:t>
            </a:r>
            <a:endParaRPr lang="en-US" sz="1800" dirty="0"/>
          </a:p>
        </p:txBody>
      </p:sp>
      <p:sp>
        <p:nvSpPr>
          <p:cNvPr id="21" name="Text 13"/>
          <p:cNvSpPr txBox="1"/>
          <p:nvPr/>
        </p:nvSpPr>
        <p:spPr>
          <a:xfrm>
            <a:off x="3080614" y="1176833"/>
            <a:ext cx="6496812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Linux File Systems</a:t>
            </a:r>
            <a:endParaRPr lang="en-US" sz="4800" dirty="0"/>
          </a:p>
        </p:txBody>
      </p:sp>
      <p:sp>
        <p:nvSpPr>
          <p:cNvPr id="22" name="Shape 14"/>
          <p:cNvSpPr/>
          <p:nvPr/>
        </p:nvSpPr>
        <p:spPr>
          <a:xfrm>
            <a:off x="11201400" y="228600"/>
            <a:ext cx="761695" cy="761695"/>
          </a:xfrm>
          <a:prstGeom prst="rect">
            <a:avLst/>
          </a:prstGeom>
          <a:noFill/>
          <a:ln w="508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228600" y="1615745"/>
            <a:ext cx="761695" cy="761695"/>
          </a:xfrm>
          <a:prstGeom prst="rect">
            <a:avLst/>
          </a:prstGeom>
          <a:noFill/>
          <a:ln w="508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0" y="2530145"/>
            <a:ext cx="12191695" cy="75895"/>
          </a:xfrm>
          <a:prstGeom prst="rect">
            <a:avLst/>
          </a:prstGeom>
          <a:solidFill>
            <a:srgbClr val="3498DB"/>
          </a:solidFill>
          <a:ln/>
        </p:spPr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-1" r="-1" t="0" b="0"/>
          <a:stretch/>
        </p:blipFill>
        <p:spPr>
          <a:xfrm>
            <a:off x="8382305" y="2438705"/>
            <a:ext cx="4286707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8735263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Linux Directory Structure: The Tree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1996135"/>
            <a:ext cx="1426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572505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Single root directory (/) for entire system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2756002"/>
            <a:ext cx="142646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5646" y="2680106"/>
            <a:ext cx="62106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Everything is a file (folders, devices, configs)</a:t>
            </a:r>
            <a:endParaRPr lang="en-US" sz="2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5646" y="3439973"/>
            <a:ext cx="928756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Standardized layout based on FHS (Filesystem Hierarchy Standard)</a:t>
            </a:r>
            <a:endParaRPr lang="en-US" sz="2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833018" y="4276649"/>
            <a:ext cx="142646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85646" y="4200754"/>
            <a:ext cx="637245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data strictly separated from system files</a:t>
            </a:r>
            <a:endParaRPr lang="en-US" sz="2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85646" y="4960620"/>
            <a:ext cx="713506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Predictable structure aids automation and backups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462211" y="6362395"/>
            <a:ext cx="20866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5: Linux File Systems</a:t>
            </a:r>
            <a:endParaRPr lang="en-US" sz="1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-1" r="-1" t="0" b="0"/>
          <a:stretch/>
        </p:blipFill>
        <p:spPr>
          <a:xfrm>
            <a:off x="8382305" y="2438705"/>
            <a:ext cx="4286707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70107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Root Directory (/) Explained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1996135"/>
            <a:ext cx="1426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307695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 of the filesystem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2756002"/>
            <a:ext cx="142646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5646" y="2680106"/>
            <a:ext cx="452445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Contains system-critical folders</a:t>
            </a:r>
            <a:endParaRPr lang="en-US" sz="2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5646" y="3439973"/>
            <a:ext cx="44394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Never delete or move randomly</a:t>
            </a:r>
            <a:endParaRPr lang="en-US" sz="2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833018" y="4276649"/>
            <a:ext cx="142646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85646" y="4200754"/>
            <a:ext cx="475305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Mounted filesystems appear here</a:t>
            </a:r>
            <a:endParaRPr lang="en-US" sz="2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85646" y="4960620"/>
            <a:ext cx="577260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Requires admin permissions for changes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462211" y="6362395"/>
            <a:ext cx="20866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5: Linux File Systems</a:t>
            </a:r>
            <a:endParaRPr lang="en-US" sz="12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-1" r="-1" t="0" b="0"/>
          <a:stretch/>
        </p:blipFill>
        <p:spPr>
          <a:xfrm>
            <a:off x="8382305" y="2438705"/>
            <a:ext cx="4286707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705825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/home: Your Personal Space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1996135"/>
            <a:ext cx="1426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28200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folder per user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2756002"/>
            <a:ext cx="142646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5646" y="2680106"/>
            <a:ext cx="454365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Documents, configs, downloads</a:t>
            </a:r>
            <a:endParaRPr lang="en-US" sz="2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5646" y="3439973"/>
            <a:ext cx="31629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Safe place to practice</a:t>
            </a:r>
            <a:endParaRPr lang="en-US" sz="2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833018" y="4276649"/>
            <a:ext cx="142646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85646" y="4200754"/>
            <a:ext cx="395295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Backup your important files</a:t>
            </a:r>
            <a:endParaRPr lang="en-US" sz="2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85646" y="4960620"/>
            <a:ext cx="440100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Limited permissions by default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462211" y="6362395"/>
            <a:ext cx="20866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5: Linux File Systems</a:t>
            </a:r>
            <a:endParaRPr lang="en-US" sz="1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-7" b="-7"/>
          <a:stretch/>
        </p:blipFill>
        <p:spPr>
          <a:xfrm>
            <a:off x="7905902" y="2438705"/>
            <a:ext cx="4762195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602955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/etc: Configuration Files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1996135"/>
            <a:ext cx="1426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68580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System-wide settings live here (not user-specific)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2756002"/>
            <a:ext cx="142646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5646" y="2680106"/>
            <a:ext cx="702076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Text-based, human-readable files (easy to inspect)</a:t>
            </a:r>
            <a:endParaRPr lang="en-US" sz="2400" dirty="0"/>
          </a:p>
        </p:txBody>
      </p:sp>
      <p:sp>
        <p:nvSpPr>
          <p:cNvPr id="12" name="Text 7"/>
          <p:cNvSpPr txBox="1"/>
          <p:nvPr/>
        </p:nvSpPr>
        <p:spPr>
          <a:xfrm>
            <a:off x="761695" y="3411626"/>
            <a:ext cx="64776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Examples: /etc/ssh/sshd_config, /etc/passwd</a:t>
            </a:r>
            <a:endParaRPr lang="en-US" sz="2400" dirty="0"/>
          </a:p>
        </p:txBody>
      </p:sp>
      <p:sp>
        <p:nvSpPr>
          <p:cNvPr id="13" name="Text 8"/>
          <p:cNvSpPr txBox="1"/>
          <p:nvPr/>
        </p:nvSpPr>
        <p:spPr>
          <a:xfrm>
            <a:off x="761695" y="4171493"/>
            <a:ext cx="54964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Changes affect all users on the system</a:t>
            </a:r>
            <a:endParaRPr lang="en-US" sz="24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285646" y="4960620"/>
            <a:ext cx="629655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Edit with care and always make backups first</a:t>
            </a:r>
            <a:endParaRPr lang="en-US" sz="2400" dirty="0"/>
          </a:p>
        </p:txBody>
      </p:sp>
      <p:sp>
        <p:nvSpPr>
          <p:cNvPr id="16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9462211" y="6362395"/>
            <a:ext cx="20866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5: Linux File Systems</a:t>
            </a:r>
            <a:endParaRPr lang="en-US" sz="12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-2" b="-2"/>
          <a:stretch/>
        </p:blipFill>
        <p:spPr>
          <a:xfrm>
            <a:off x="9334195" y="2438705"/>
            <a:ext cx="3333902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6449263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/var: Variable Data &amp; Logs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761695" y="1891894"/>
            <a:ext cx="561990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Logs: /var/log (primary system records)</a:t>
            </a:r>
            <a:endParaRPr lang="en-US" sz="2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2756002"/>
            <a:ext cx="142646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5646" y="2680106"/>
            <a:ext cx="68205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Spools and caches (e.g., mail queues, apt cache)</a:t>
            </a:r>
            <a:endParaRPr lang="en-US" sz="2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85646" y="3439973"/>
            <a:ext cx="69540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Growing over time—monitor disk usage frequently</a:t>
            </a:r>
            <a:endParaRPr lang="en-US" sz="2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4276649"/>
            <a:ext cx="142646" cy="2286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85646" y="4200754"/>
            <a:ext cx="725850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Useful for troubleshooting errors and system events</a:t>
            </a:r>
            <a:endParaRPr lang="en-US" sz="24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285646" y="4960620"/>
            <a:ext cx="66486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Rotate to manage size (automated log rotation)</a:t>
            </a:r>
            <a:endParaRPr lang="en-US" sz="2400" dirty="0"/>
          </a:p>
        </p:txBody>
      </p:sp>
      <p:sp>
        <p:nvSpPr>
          <p:cNvPr id="17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19" name="Text 12"/>
          <p:cNvSpPr txBox="1"/>
          <p:nvPr/>
        </p:nvSpPr>
        <p:spPr>
          <a:xfrm>
            <a:off x="9462211" y="6362395"/>
            <a:ext cx="20866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5: Linux File Systems</a:t>
            </a:r>
            <a:endParaRPr lang="en-US" sz="12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-1" r="-1" t="0" b="0"/>
          <a:stretch/>
        </p:blipFill>
        <p:spPr>
          <a:xfrm>
            <a:off x="8382305" y="2438705"/>
            <a:ext cx="4286707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50484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/usr: User Programs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1996135"/>
            <a:ext cx="1426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38679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Installed apps and libraries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2756002"/>
            <a:ext cx="142646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5646" y="2680106"/>
            <a:ext cx="48390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/usr/bin and /usr/sbin commands</a:t>
            </a:r>
            <a:endParaRPr lang="en-US" sz="2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5646" y="3439973"/>
            <a:ext cx="435345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Large share of system content</a:t>
            </a:r>
            <a:endParaRPr lang="en-US" sz="2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833018" y="4276649"/>
            <a:ext cx="142646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85646" y="4200754"/>
            <a:ext cx="43251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Mostly read-only in production</a:t>
            </a:r>
            <a:endParaRPr lang="en-US" sz="2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85646" y="4960620"/>
            <a:ext cx="418155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Managed by package system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462211" y="6362395"/>
            <a:ext cx="20866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5: Linux File Systems</a:t>
            </a:r>
            <a:endParaRPr lang="en-US" sz="12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-1" r="-1" t="0" b="0"/>
          <a:stretch/>
        </p:blipFill>
        <p:spPr>
          <a:xfrm>
            <a:off x="8382305" y="2438705"/>
            <a:ext cx="4286707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852495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/bin and /sbin: System Commands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761695" y="1891894"/>
            <a:ext cx="660105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/bin: Essential user commands (e.g., ls, cp, cat)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61695" y="2651760"/>
            <a:ext cx="72109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/sbin: System admin commands (e.g., reboot, fdisk)</a:t>
            </a:r>
            <a:endParaRPr lang="en-US" sz="24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5646" y="3439973"/>
            <a:ext cx="58677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Available in single-user mode for recovery</a:t>
            </a:r>
            <a:endParaRPr lang="en-US" sz="24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4276649"/>
            <a:ext cx="142646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85646" y="4200754"/>
            <a:ext cx="60963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 not remove or modify these system files</a:t>
            </a:r>
            <a:endParaRPr lang="en-US" sz="24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285646" y="4960620"/>
            <a:ext cx="43251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Used early in the boot process</a:t>
            </a:r>
            <a:endParaRPr lang="en-US" sz="2400" dirty="0"/>
          </a:p>
        </p:txBody>
      </p:sp>
      <p:sp>
        <p:nvSpPr>
          <p:cNvPr id="16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9462211" y="6362395"/>
            <a:ext cx="20866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5: Linux File Systems</a:t>
            </a:r>
            <a:endParaRPr lang="en-US" sz="12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-4" b="-4"/>
          <a:stretch/>
        </p:blipFill>
        <p:spPr>
          <a:xfrm>
            <a:off x="9810598" y="2438705"/>
            <a:ext cx="2857500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55632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/tmp: Temporary Files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1996135"/>
            <a:ext cx="1426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522945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Short-lived application scratch space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2756002"/>
            <a:ext cx="142646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5646" y="2680106"/>
            <a:ext cx="645840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Often cleaned automatically on system reboot</a:t>
            </a:r>
            <a:endParaRPr lang="en-US" sz="2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5646" y="3439973"/>
            <a:ext cx="557235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Anyone can write here; exercise caution</a:t>
            </a:r>
            <a:endParaRPr lang="en-US" sz="2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833018" y="4276649"/>
            <a:ext cx="142646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85646" y="4200754"/>
            <a:ext cx="58677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 not store important or permanent data</a:t>
            </a:r>
            <a:endParaRPr lang="en-US" sz="2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85646" y="4960620"/>
            <a:ext cx="53913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case: Quick tests or transient files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462211" y="6362395"/>
            <a:ext cx="20866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5: Linux File Systems</a:t>
            </a:r>
            <a:endParaRPr lang="en-US" sz="12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0" b="0"/>
          <a:stretch/>
        </p:blipFill>
        <p:spPr>
          <a:xfrm>
            <a:off x="8858707" y="2438705"/>
            <a:ext cx="3810305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44769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/dev: Device Files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1996135"/>
            <a:ext cx="1426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55824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Hardware components exposed as files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761695" y="2651760"/>
            <a:ext cx="59728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Examples: /dev/sda (disk), /dev/null (void)</a:t>
            </a:r>
            <a:endParaRPr lang="en-US" sz="2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85646" y="3439973"/>
            <a:ext cx="578175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 controlled strictly by permissions</a:t>
            </a:r>
            <a:endParaRPr lang="en-US" sz="2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4276649"/>
            <a:ext cx="142646" cy="2286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85646" y="4200754"/>
            <a:ext cx="60396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Used by system tools and hardware drivers</a:t>
            </a:r>
            <a:endParaRPr lang="en-US" sz="24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90956" y="5036515"/>
            <a:ext cx="228600" cy="22860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285646" y="4960620"/>
            <a:ext cx="410565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E53E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 not edit directly manually</a:t>
            </a:r>
            <a:endParaRPr lang="en-US" sz="2400" dirty="0"/>
          </a:p>
        </p:txBody>
      </p:sp>
      <p:sp>
        <p:nvSpPr>
          <p:cNvPr id="17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19" name="Text 12"/>
          <p:cNvSpPr txBox="1"/>
          <p:nvPr/>
        </p:nvSpPr>
        <p:spPr>
          <a:xfrm>
            <a:off x="9462211" y="6362395"/>
            <a:ext cx="20866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5: Linux File Systems</a:t>
            </a:r>
            <a:endParaRPr lang="en-US" sz="12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0" b="0"/>
          <a:stretch/>
        </p:blipFill>
        <p:spPr>
          <a:xfrm>
            <a:off x="8858707" y="2438705"/>
            <a:ext cx="3810305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66678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/proc: Process Information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1996135"/>
            <a:ext cx="1426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80202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Virtual filesystem residing in memory (pseudo-filesystem)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2756002"/>
            <a:ext cx="142646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5646" y="2680106"/>
            <a:ext cx="64968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Contains per-process folders organized by PID</a:t>
            </a:r>
            <a:endParaRPr lang="en-US" sz="2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5646" y="3439973"/>
            <a:ext cx="68397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Exposes real-time kernel and system information</a:t>
            </a:r>
            <a:endParaRPr lang="en-US" sz="2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833018" y="4276649"/>
            <a:ext cx="142646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85646" y="4200754"/>
            <a:ext cx="63825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Provides read-only insights for administrators</a:t>
            </a:r>
            <a:endParaRPr lang="en-US" sz="2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85646" y="4960620"/>
            <a:ext cx="702076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Great resource for troubleshooting and monitoring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462211" y="6362395"/>
            <a:ext cx="20866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5: Linux File Systems</a:t>
            </a:r>
            <a:endParaRPr lang="en-US" sz="12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-2" b="-2"/>
          <a:stretch/>
        </p:blipFill>
        <p:spPr>
          <a:xfrm>
            <a:off x="9334195" y="2438705"/>
            <a:ext cx="3333902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67629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File Permissions: Overview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761695" y="1891894"/>
            <a:ext cx="6106363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modes: Read (r), Write (w), Execute (x)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61695" y="2651760"/>
            <a:ext cx="65443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Applied to three levels: User, Group, and Others</a:t>
            </a:r>
            <a:endParaRPr lang="en-US" sz="24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5646" y="3439973"/>
            <a:ext cx="885870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Represented in symbolic (e.g., rwx) and octal (e.g., 755) formats</a:t>
            </a:r>
            <a:endParaRPr lang="en-US" sz="24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4276649"/>
            <a:ext cx="142646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85646" y="4200754"/>
            <a:ext cx="908730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Determines access for both individual files and directory contents</a:t>
            </a:r>
            <a:endParaRPr lang="en-US" sz="24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285646" y="4960620"/>
            <a:ext cx="883036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Always check permissions before running scripts or commands</a:t>
            </a:r>
            <a:endParaRPr lang="en-US" sz="2400" dirty="0"/>
          </a:p>
        </p:txBody>
      </p:sp>
      <p:sp>
        <p:nvSpPr>
          <p:cNvPr id="16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9462211" y="6362395"/>
            <a:ext cx="20866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5: Linux File Systems</a:t>
            </a:r>
            <a:endParaRPr lang="en-US" sz="12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0" b="0"/>
          <a:stretch/>
        </p:blipFill>
        <p:spPr>
          <a:xfrm>
            <a:off x="8858707" y="2438705"/>
            <a:ext cx="3810305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78108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Read, Write, Execute Explained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761695" y="1891894"/>
            <a:ext cx="60396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Files: r = View, w = Modify, x = Run program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61695" y="2604211"/>
            <a:ext cx="78967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Directories: r = List contents, w = Create/Delete, x = Enter</a:t>
            </a:r>
            <a:endParaRPr lang="en-US" sz="24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-80" r="-80" t="0" b="0"/>
          <a:stretch/>
        </p:blipFill>
        <p:spPr>
          <a:xfrm>
            <a:off x="761695" y="3421685"/>
            <a:ext cx="286207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5646" y="3344875"/>
            <a:ext cx="740115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Permissions combine per role (Owner, Group, Others)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761695" y="4028846"/>
            <a:ext cx="66678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Common sets: 644 (rw-r--r--) and 755 (rwxr-xr-x)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761695" y="4741164"/>
            <a:ext cx="847740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Least Privilege: Always grant the minimum necessary access</a:t>
            </a:r>
            <a:endParaRPr lang="en-US" sz="2400" dirty="0"/>
          </a:p>
        </p:txBody>
      </p:sp>
      <p:sp>
        <p:nvSpPr>
          <p:cNvPr id="14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9462211" y="6362395"/>
            <a:ext cx="20866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5: Linux File Systems</a:t>
            </a:r>
            <a:endParaRPr lang="en-US" sz="12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-7" b="-7"/>
          <a:stretch/>
        </p:blipFill>
        <p:spPr>
          <a:xfrm>
            <a:off x="7905902" y="2438705"/>
            <a:ext cx="4762195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78492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File Ownership: Users &amp; Groups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1996135"/>
            <a:ext cx="1426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60771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file has an assigned owner and group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2756002"/>
            <a:ext cx="142646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5646" y="2680106"/>
            <a:ext cx="608716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Owner controls default access permissions</a:t>
            </a:r>
            <a:endParaRPr lang="en-US" sz="2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5646" y="3439973"/>
            <a:ext cx="730605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Groups enable shared access for team collaboration</a:t>
            </a:r>
            <a:endParaRPr lang="en-US" sz="2400" dirty="0"/>
          </a:p>
        </p:txBody>
      </p:sp>
      <p:sp>
        <p:nvSpPr>
          <p:cNvPr id="14" name="Text 8"/>
          <p:cNvSpPr txBox="1"/>
          <p:nvPr/>
        </p:nvSpPr>
        <p:spPr>
          <a:xfrm>
            <a:off x="761695" y="4171493"/>
            <a:ext cx="580095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Change ownership with chown and chgrp</a:t>
            </a:r>
            <a:endParaRPr lang="en-US" sz="2400" dirty="0"/>
          </a:p>
        </p:txBody>
      </p:sp>
      <p:sp>
        <p:nvSpPr>
          <p:cNvPr id="15" name="Text 9"/>
          <p:cNvSpPr txBox="1"/>
          <p:nvPr/>
        </p:nvSpPr>
        <p:spPr>
          <a:xfrm>
            <a:off x="761695" y="4932274"/>
            <a:ext cx="454365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View ownership details with ls -l</a:t>
            </a:r>
            <a:endParaRPr lang="en-US" sz="2400" dirty="0"/>
          </a:p>
        </p:txBody>
      </p:sp>
      <p:sp>
        <p:nvSpPr>
          <p:cNvPr id="16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9462211" y="6362395"/>
            <a:ext cx="20866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5: Linux File Systems</a:t>
            </a:r>
            <a:endParaRPr lang="en-US" sz="12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rcRect l="-1" r="-1" t="0" b="0"/>
          <a:stretch/>
        </p:blipFill>
        <p:spPr>
          <a:xfrm>
            <a:off x="7524598" y="1390802"/>
            <a:ext cx="4286707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9462211" y="6362395"/>
            <a:ext cx="20866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5: Linux File Systems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61695" y="371246"/>
            <a:ext cx="617768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 Permissions with ls -l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61695" y="1435608"/>
            <a:ext cx="10477195" cy="1009498"/>
          </a:xfrm>
          <a:prstGeom prst="roundRect">
            <a:avLst>
              <a:gd name="adj" fmla="val 10254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61695" y="1435608"/>
            <a:ext cx="57607" cy="100949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Shape 8"/>
          <p:cNvSpPr/>
          <p:nvPr/>
        </p:nvSpPr>
        <p:spPr>
          <a:xfrm>
            <a:off x="1047902" y="1625803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3498DB"/>
          </a:solidFill>
          <a:ln/>
          <a:effectLst>
            <a:outerShdw sx="100000" sy="100000" kx="0" ky="0" algn="bl" rotWithShape="0" blurRad="63500" dist="38100" dir="5400000">
              <a:srgbClr val="3498db">
                <a:alpha val="3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1233526" y="1664208"/>
            <a:ext cx="3054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761695" y="2635301"/>
            <a:ext cx="10477195" cy="1676095"/>
          </a:xfrm>
          <a:prstGeom prst="roundRect">
            <a:avLst>
              <a:gd name="adj" fmla="val 372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61695" y="2635301"/>
            <a:ext cx="57607" cy="1676095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5" name="Shape 12"/>
          <p:cNvSpPr/>
          <p:nvPr/>
        </p:nvSpPr>
        <p:spPr>
          <a:xfrm>
            <a:off x="1047902" y="2826410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3498DB"/>
          </a:solidFill>
          <a:ln/>
          <a:effectLst>
            <a:outerShdw sx="100000" sy="100000" kx="0" ky="0" algn="bl" rotWithShape="0" blurRad="63500" dist="38100" dir="5400000">
              <a:srgbClr val="3498db">
                <a:alpha val="3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1207008" y="2863901"/>
            <a:ext cx="3621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761695" y="4502506"/>
            <a:ext cx="10477195" cy="1686154"/>
          </a:xfrm>
          <a:prstGeom prst="roundRect">
            <a:avLst>
              <a:gd name="adj" fmla="val 367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61695" y="4502506"/>
            <a:ext cx="57607" cy="168615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9" name="Shape 16"/>
          <p:cNvSpPr/>
          <p:nvPr/>
        </p:nvSpPr>
        <p:spPr>
          <a:xfrm>
            <a:off x="1047902" y="4692701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3498DB"/>
          </a:solidFill>
          <a:ln/>
          <a:effectLst>
            <a:outerShdw sx="100000" sy="100000" kx="0" ky="0" algn="bl" rotWithShape="0" blurRad="63500" dist="38100" dir="5400000">
              <a:srgbClr val="3498db">
                <a:alpha val="30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1207008" y="4731106"/>
            <a:ext cx="3621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100" dirty="0"/>
          </a:p>
        </p:txBody>
      </p:sp>
      <p:sp>
        <p:nvSpPr>
          <p:cNvPr id="21" name="Text 18"/>
          <p:cNvSpPr txBox="1"/>
          <p:nvPr/>
        </p:nvSpPr>
        <p:spPr>
          <a:xfrm>
            <a:off x="1752905" y="1664208"/>
            <a:ext cx="19010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 the Command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752905" y="2026310"/>
            <a:ext cx="82725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the command ls -l /path/to/file to list files in long format, revealing detailed metadata and permissions.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752905" y="2863901"/>
            <a:ext cx="256763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Analyze the Output String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752905" y="3226003"/>
            <a:ext cx="44823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 output: -rwxr-x--- 1 user dev 1234 Jan 1 script.sh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752905" y="4731106"/>
            <a:ext cx="193852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Interpret the Fields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1943100" y="3559759"/>
            <a:ext cx="36914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 (Type: file) followed by rwxr-x--- (Permissions)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1943100" y="3855110"/>
            <a:ext cx="43772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 10 characters define the file type and access rights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1943100" y="5140757"/>
            <a:ext cx="32726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Ownership: Owner (user) and Group (dev)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1943100" y="5436108"/>
            <a:ext cx="42437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Details: File size, modification date/time, and filename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1943100" y="5731459"/>
            <a:ext cx="46442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Usage: Quickly audit who has read, write, or execute access</a:t>
            </a:r>
            <a:endParaRPr lang="en-US" sz="13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rcRect l="-60" r="-60" t="0" b="0"/>
          <a:stretch/>
        </p:blipFill>
        <p:spPr>
          <a:xfrm>
            <a:off x="7638898" y="1650492"/>
            <a:ext cx="4172407" cy="33339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9462211" y="6362395"/>
            <a:ext cx="20866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5: Linux File Systems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61695" y="371246"/>
            <a:ext cx="613928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Change Permissions: Basics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61695" y="1541678"/>
            <a:ext cx="10477195" cy="847649"/>
          </a:xfrm>
          <a:prstGeom prst="roundRect">
            <a:avLst>
              <a:gd name="adj" fmla="val 121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61695" y="1541678"/>
            <a:ext cx="57607" cy="847649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Shape 8"/>
          <p:cNvSpPr/>
          <p:nvPr/>
        </p:nvSpPr>
        <p:spPr>
          <a:xfrm>
            <a:off x="1009498" y="1724558"/>
            <a:ext cx="476402" cy="476402"/>
          </a:xfrm>
          <a:prstGeom prst="roundRect">
            <a:avLst>
              <a:gd name="adj" fmla="val 30710"/>
            </a:avLst>
          </a:prstGeom>
          <a:solidFill>
            <a:srgbClr val="3498DB"/>
          </a:solidFill>
          <a:ln/>
          <a:effectLst>
            <a:outerShdw sx="100000" sy="100000" kx="0" ky="0" algn="bl" rotWithShape="0" blurRad="50800" dist="25400" dir="5400000">
              <a:srgbClr val="3498db">
                <a:alpha val="3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1202436" y="1791310"/>
            <a:ext cx="2670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61695" y="2536546"/>
            <a:ext cx="10477195" cy="847649"/>
          </a:xfrm>
          <a:prstGeom prst="roundRect">
            <a:avLst>
              <a:gd name="adj" fmla="val 121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61695" y="2536546"/>
            <a:ext cx="57607" cy="847649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5" name="Shape 12"/>
          <p:cNvSpPr/>
          <p:nvPr/>
        </p:nvSpPr>
        <p:spPr>
          <a:xfrm>
            <a:off x="1009498" y="2719426"/>
            <a:ext cx="476402" cy="476402"/>
          </a:xfrm>
          <a:prstGeom prst="roundRect">
            <a:avLst>
              <a:gd name="adj" fmla="val 30710"/>
            </a:avLst>
          </a:prstGeom>
          <a:solidFill>
            <a:srgbClr val="3498DB"/>
          </a:solidFill>
          <a:ln/>
          <a:effectLst>
            <a:outerShdw sx="100000" sy="100000" kx="0" ky="0" algn="bl" rotWithShape="0" blurRad="50800" dist="25400" dir="5400000">
              <a:srgbClr val="3498db">
                <a:alpha val="3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1180490" y="2786177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761695" y="3530498"/>
            <a:ext cx="10477195" cy="847649"/>
          </a:xfrm>
          <a:prstGeom prst="roundRect">
            <a:avLst>
              <a:gd name="adj" fmla="val 121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61695" y="3530498"/>
            <a:ext cx="57607" cy="847649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9" name="Shape 16"/>
          <p:cNvSpPr/>
          <p:nvPr/>
        </p:nvSpPr>
        <p:spPr>
          <a:xfrm>
            <a:off x="1009498" y="3714293"/>
            <a:ext cx="476402" cy="476402"/>
          </a:xfrm>
          <a:prstGeom prst="roundRect">
            <a:avLst>
              <a:gd name="adj" fmla="val 30710"/>
            </a:avLst>
          </a:prstGeom>
          <a:solidFill>
            <a:srgbClr val="3498DB"/>
          </a:solidFill>
          <a:ln/>
          <a:effectLst>
            <a:outerShdw sx="100000" sy="100000" kx="0" ky="0" algn="bl" rotWithShape="0" blurRad="50800" dist="25400" dir="5400000">
              <a:srgbClr val="3498db">
                <a:alpha val="30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1180490" y="3780130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761695" y="4525366"/>
            <a:ext cx="10477195" cy="847649"/>
          </a:xfrm>
          <a:prstGeom prst="roundRect">
            <a:avLst>
              <a:gd name="adj" fmla="val 121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61695" y="4525366"/>
            <a:ext cx="57607" cy="847649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3" name="Shape 20"/>
          <p:cNvSpPr/>
          <p:nvPr/>
        </p:nvSpPr>
        <p:spPr>
          <a:xfrm>
            <a:off x="1009498" y="4708246"/>
            <a:ext cx="476402" cy="476402"/>
          </a:xfrm>
          <a:prstGeom prst="roundRect">
            <a:avLst>
              <a:gd name="adj" fmla="val 30710"/>
            </a:avLst>
          </a:prstGeom>
          <a:solidFill>
            <a:srgbClr val="3498DB"/>
          </a:solidFill>
          <a:ln/>
          <a:effectLst>
            <a:outerShdw sx="100000" sy="100000" kx="0" ky="0" algn="bl" rotWithShape="0" blurRad="50800" dist="25400" dir="5400000">
              <a:srgbClr val="3498db">
                <a:alpha val="30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1168603" y="4774997"/>
            <a:ext cx="3337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761695" y="5557723"/>
            <a:ext cx="10477195" cy="476402"/>
          </a:xfrm>
          <a:prstGeom prst="roundRect">
            <a:avLst>
              <a:gd name="adj" fmla="val 30710"/>
            </a:avLst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61949" y="5701284"/>
            <a:ext cx="190195" cy="190195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1676095" y="1722730"/>
            <a:ext cx="18772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chmod u+x script.sh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1676095" y="2028139"/>
            <a:ext cx="51151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Adds execute permission for the user (owner), making the script runnable.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1676095" y="2717597"/>
            <a:ext cx="1905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chmod 644 notes.txt</a:t>
            </a:r>
            <a:endParaRPr lang="en-US" sz="1500" dirty="0"/>
          </a:p>
        </p:txBody>
      </p:sp>
      <p:sp>
        <p:nvSpPr>
          <p:cNvPr id="30" name="Text 26"/>
          <p:cNvSpPr txBox="1"/>
          <p:nvPr/>
        </p:nvSpPr>
        <p:spPr>
          <a:xfrm>
            <a:off x="1676095" y="3022092"/>
            <a:ext cx="5906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Sets standard file permissions: Owner can Read/Write, others can only Read (rw-r--r--).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1676095" y="3711550"/>
            <a:ext cx="2257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chown user:group file.txt</a:t>
            </a:r>
            <a:endParaRPr lang="en-US" sz="1500" dirty="0"/>
          </a:p>
        </p:txBody>
      </p:sp>
      <p:sp>
        <p:nvSpPr>
          <p:cNvPr id="32" name="Text 28"/>
          <p:cNvSpPr txBox="1"/>
          <p:nvPr/>
        </p:nvSpPr>
        <p:spPr>
          <a:xfrm>
            <a:off x="1676095" y="4016959"/>
            <a:ext cx="38962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Changes the file ownership to a specific user and group.</a:t>
            </a:r>
            <a:endParaRPr 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1676095" y="4706417"/>
            <a:ext cx="2619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Recursive: chmod -R 755 dir/</a:t>
            </a:r>
            <a:endParaRPr lang="en-US" sz="1500" dirty="0"/>
          </a:p>
        </p:txBody>
      </p:sp>
      <p:sp>
        <p:nvSpPr>
          <p:cNvPr id="34" name="Text 30"/>
          <p:cNvSpPr txBox="1"/>
          <p:nvPr/>
        </p:nvSpPr>
        <p:spPr>
          <a:xfrm>
            <a:off x="1676095" y="5010912"/>
            <a:ext cx="46680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Applies the permission change to the directory and all files inside it.</a:t>
            </a:r>
            <a:endParaRPr lang="en-US" sz="1200" dirty="0"/>
          </a:p>
        </p:txBody>
      </p:sp>
      <p:sp>
        <p:nvSpPr>
          <p:cNvPr id="35" name="Text 31"/>
          <p:cNvSpPr txBox="1"/>
          <p:nvPr/>
        </p:nvSpPr>
        <p:spPr>
          <a:xfrm>
            <a:off x="1266444" y="5701284"/>
            <a:ext cx="61539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Note: Use sudo before these commands if you are not the file owner (e.g., sudo chown...).</a:t>
            </a:r>
            <a:endParaRPr lang="en-US" sz="12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2" b="-2"/>
          <a:stretch/>
        </p:blipFill>
        <p:spPr>
          <a:xfrm>
            <a:off x="9334195" y="2438705"/>
            <a:ext cx="3333902" cy="381030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381805" y="2347265"/>
            <a:ext cx="7048195" cy="1920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381805" y="1604772"/>
            <a:ext cx="4368089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Module 5 Summary</a:t>
            </a:r>
            <a:endParaRPr lang="en-US" sz="3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1805" y="2795321"/>
            <a:ext cx="228600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800600" y="2766974"/>
            <a:ext cx="37435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Know key folders and their purpose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4381805" y="3306470"/>
            <a:ext cx="35058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 r/w/x and ownership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4381805" y="3864254"/>
            <a:ext cx="280995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ls -l to inspect access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381805" y="4422038"/>
            <a:ext cx="303855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chmod/chown to adjust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381805" y="4980737"/>
            <a:ext cx="263895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Practice safely in /home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7619695" y="6019495"/>
            <a:ext cx="3810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619695" y="6191402"/>
            <a:ext cx="169072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9710928" y="6191402"/>
            <a:ext cx="1281989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5: Linux File Systems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8" name="Shape 14"/>
          <p:cNvSpPr/>
          <p:nvPr/>
        </p:nvSpPr>
        <p:spPr>
          <a:xfrm>
            <a:off x="1143000" y="2031797"/>
            <a:ext cx="1333195" cy="1333195"/>
          </a:xfrm>
          <a:prstGeom prst="ellipse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25" b="-25"/>
          <a:stretch/>
        </p:blipFill>
        <p:spPr>
          <a:xfrm>
            <a:off x="1580998" y="2393899"/>
            <a:ext cx="457200" cy="60990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461211" y="3641141"/>
            <a:ext cx="9628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</a:t>
            </a:r>
            <a:endParaRPr lang="en-US" sz="2700" dirty="0"/>
          </a:p>
        </p:txBody>
      </p:sp>
      <p:sp>
        <p:nvSpPr>
          <p:cNvPr id="21" name="Text 16"/>
          <p:cNvSpPr txBox="1"/>
          <p:nvPr/>
        </p:nvSpPr>
        <p:spPr>
          <a:xfrm>
            <a:off x="788213" y="4052621"/>
            <a:ext cx="23052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Takeaways</a:t>
            </a:r>
            <a:endParaRPr lang="en-US" sz="2700" dirty="0"/>
          </a:p>
        </p:txBody>
      </p:sp>
      <p:sp>
        <p:nvSpPr>
          <p:cNvPr id="22" name="Text 17"/>
          <p:cNvSpPr txBox="1"/>
          <p:nvPr/>
        </p:nvSpPr>
        <p:spPr>
          <a:xfrm>
            <a:off x="1495044" y="4597603"/>
            <a:ext cx="7671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RECAP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0" y="0"/>
            <a:ext cx="3619195" cy="95098"/>
          </a:xfrm>
          <a:prstGeom prst="rect">
            <a:avLst/>
          </a:prstGeom>
          <a:solidFill>
            <a:srgbClr val="F1C40F"/>
          </a:solidFill>
          <a:ln/>
        </p:spPr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2606040"/>
            <a:ext cx="12191695" cy="4257446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-76" r="-76" t="0" b="0"/>
          <a:stretch/>
        </p:blipFill>
        <p:spPr>
          <a:xfrm>
            <a:off x="8591702" y="3567074"/>
            <a:ext cx="3219602" cy="28575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09598" y="3003804"/>
            <a:ext cx="8572500" cy="3457346"/>
          </a:xfrm>
          <a:prstGeom prst="roundRect">
            <a:avLst>
              <a:gd name="adj" fmla="val 11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41300" dist="101600" dir="5400000">
              <a:srgbClr val="000000">
                <a:alpha val="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809598" y="3003804"/>
            <a:ext cx="75895" cy="345734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457907" y="3412541"/>
            <a:ext cx="20436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TOPICS COVERED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-46154" r="-46154" t="0" b="0"/>
          <a:stretch/>
        </p:blipFill>
        <p:spPr>
          <a:xfrm>
            <a:off x="2457907" y="3934663"/>
            <a:ext cx="228600" cy="19019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876702" y="3888943"/>
            <a:ext cx="36960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 scripting helps administrators</a:t>
            </a:r>
            <a:endParaRPr lang="en-US" sz="18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-46154" r="-46154" t="0" b="0"/>
          <a:stretch/>
        </p:blipFill>
        <p:spPr>
          <a:xfrm>
            <a:off x="2457907" y="4407408"/>
            <a:ext cx="228600" cy="19019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876702" y="4361688"/>
            <a:ext cx="32671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Basic Bash commands (Linux)</a:t>
            </a:r>
            <a:endParaRPr lang="en-US" sz="18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rcRect l="-46154" r="-46154" t="0" b="0"/>
          <a:stretch/>
        </p:blipFill>
        <p:spPr>
          <a:xfrm>
            <a:off x="2457907" y="4879238"/>
            <a:ext cx="228600" cy="19019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2876702" y="4833518"/>
            <a:ext cx="4286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Basic PowerShell commands (Windows)</a:t>
            </a:r>
            <a:endParaRPr lang="en-US" sz="18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-46154" r="-46154" t="0" b="0"/>
          <a:stretch/>
        </p:blipFill>
        <p:spPr>
          <a:xfrm>
            <a:off x="2457907" y="5351983"/>
            <a:ext cx="228600" cy="190195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2876702" y="5306263"/>
            <a:ext cx="37719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Creating and running simple scripts</a:t>
            </a:r>
            <a:endParaRPr lang="en-US" sz="18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rcRect l="-46154" r="-46154" t="0" b="0"/>
          <a:stretch/>
        </p:blipFill>
        <p:spPr>
          <a:xfrm>
            <a:off x="2457907" y="5824728"/>
            <a:ext cx="228600" cy="190195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2876702" y="5779008"/>
            <a:ext cx="27432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Safety and best practices</a:t>
            </a:r>
            <a:endParaRPr lang="en-US" sz="1800" dirty="0"/>
          </a:p>
        </p:txBody>
      </p:sp>
      <p:sp>
        <p:nvSpPr>
          <p:cNvPr id="19" name="Shape 11"/>
          <p:cNvSpPr/>
          <p:nvPr/>
        </p:nvSpPr>
        <p:spPr>
          <a:xfrm>
            <a:off x="0" y="0"/>
            <a:ext cx="12191695" cy="260969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0" name="Text 12"/>
          <p:cNvSpPr txBox="1"/>
          <p:nvPr/>
        </p:nvSpPr>
        <p:spPr>
          <a:xfrm>
            <a:off x="5305349" y="748894"/>
            <a:ext cx="17629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MODULE 6</a:t>
            </a:r>
            <a:endParaRPr lang="en-US" sz="1800" dirty="0"/>
          </a:p>
        </p:txBody>
      </p:sp>
      <p:sp>
        <p:nvSpPr>
          <p:cNvPr id="21" name="Text 13"/>
          <p:cNvSpPr txBox="1"/>
          <p:nvPr/>
        </p:nvSpPr>
        <p:spPr>
          <a:xfrm>
            <a:off x="1478585" y="1176833"/>
            <a:ext cx="9697212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Bash &amp; PowerShell Scripting</a:t>
            </a:r>
            <a:endParaRPr lang="en-US" sz="4800" dirty="0"/>
          </a:p>
        </p:txBody>
      </p:sp>
      <p:sp>
        <p:nvSpPr>
          <p:cNvPr id="22" name="Shape 14"/>
          <p:cNvSpPr/>
          <p:nvPr/>
        </p:nvSpPr>
        <p:spPr>
          <a:xfrm>
            <a:off x="11201400" y="228600"/>
            <a:ext cx="761695" cy="761695"/>
          </a:xfrm>
          <a:prstGeom prst="rect">
            <a:avLst/>
          </a:prstGeom>
          <a:noFill/>
          <a:ln w="508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228600" y="1615745"/>
            <a:ext cx="761695" cy="761695"/>
          </a:xfrm>
          <a:prstGeom prst="rect">
            <a:avLst/>
          </a:prstGeom>
          <a:noFill/>
          <a:ln w="508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0" y="2530145"/>
            <a:ext cx="12191695" cy="75895"/>
          </a:xfrm>
          <a:prstGeom prst="rect">
            <a:avLst/>
          </a:prstGeom>
          <a:solidFill>
            <a:srgbClr val="3498DB"/>
          </a:solidFill>
          <a:ln/>
        </p:spPr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-4" b="-4"/>
          <a:stretch/>
        </p:blipFill>
        <p:spPr>
          <a:xfrm>
            <a:off x="9810598" y="2438705"/>
            <a:ext cx="2857500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479145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Scripting?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1996135"/>
            <a:ext cx="1426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72777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Automating repeatable tasks to save time and effort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2756002"/>
            <a:ext cx="142646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5646" y="2680106"/>
            <a:ext cx="75630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 files containing commands executed sequentially</a:t>
            </a:r>
            <a:endParaRPr lang="en-US" sz="2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5646" y="3439973"/>
            <a:ext cx="63825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Fast, consistent, and fully auditable execution</a:t>
            </a:r>
            <a:endParaRPr lang="en-US" sz="2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833018" y="4276649"/>
            <a:ext cx="142646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85646" y="4200754"/>
            <a:ext cx="75630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Essential for managing servers and endpoints at scale</a:t>
            </a:r>
            <a:endParaRPr lang="en-US" sz="2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85646" y="4960620"/>
            <a:ext cx="669615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Building blocks for larger automation workflows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8815730" y="6362395"/>
            <a:ext cx="27340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6: Bash &amp; PowerShell Scripting</a:t>
            </a:r>
            <a:endParaRPr lang="en-US" sz="12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-7" b="-7"/>
          <a:stretch/>
        </p:blipFill>
        <p:spPr>
          <a:xfrm>
            <a:off x="7905902" y="2438705"/>
            <a:ext cx="4762195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79635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Administrators Use Scripts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1996135"/>
            <a:ext cx="1426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61539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 manual errors from repetitive typing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2756002"/>
            <a:ext cx="142646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5646" y="2680106"/>
            <a:ext cx="73344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Scale changes across hundreds of systems instantly</a:t>
            </a:r>
            <a:endParaRPr lang="en-US" sz="2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5646" y="3439973"/>
            <a:ext cx="759226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Schedule and integrate automated jobs (e.g., backups)</a:t>
            </a:r>
            <a:endParaRPr lang="en-US" sz="2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833018" y="4276649"/>
            <a:ext cx="142646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85646" y="4200754"/>
            <a:ext cx="583935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Document operational knowledge in code</a:t>
            </a:r>
            <a:endParaRPr lang="en-US" sz="2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85646" y="4960620"/>
            <a:ext cx="64008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Respond quickly and consistently to incidents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8815730" y="6362395"/>
            <a:ext cx="27340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6: Bash &amp; PowerShell Scripting</a:t>
            </a:r>
            <a:endParaRPr lang="en-US" sz="12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-1" r="-1" t="0" b="0"/>
          <a:stretch/>
        </p:blipFill>
        <p:spPr>
          <a:xfrm>
            <a:off x="8382305" y="2438705"/>
            <a:ext cx="4286707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841065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Bash Scripting: Linux Automation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1996135"/>
            <a:ext cx="1426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681045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 commands, loops, and conditionals logically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2756002"/>
            <a:ext cx="142646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5646" y="2680106"/>
            <a:ext cx="656356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 powerful tools together with pipes ( | )</a:t>
            </a:r>
            <a:endParaRPr lang="en-US" sz="2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5646" y="3439973"/>
            <a:ext cx="59436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 efficiently with files and text streams</a:t>
            </a:r>
            <a:endParaRPr lang="en-US" sz="2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833018" y="4276649"/>
            <a:ext cx="142646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85646" y="4200754"/>
            <a:ext cx="51627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Schedule automated tasks with cron</a:t>
            </a:r>
            <a:endParaRPr lang="en-US" sz="2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85646" y="4960620"/>
            <a:ext cx="623895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Version control scripts with git for teamwork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8815730" y="6362395"/>
            <a:ext cx="27340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6: Bash &amp; PowerShell Scripting</a:t>
            </a:r>
            <a:endParaRPr lang="en-US" sz="12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15730" y="6362395"/>
            <a:ext cx="27340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6: Bash &amp; PowerShell Scripting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61695" y="371246"/>
            <a:ext cx="499628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Basic Bash: ls, cd, pwd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761695" y="1730959"/>
            <a:ext cx="10668305" cy="3314700"/>
          </a:xfrm>
          <a:prstGeom prst="roundRect">
            <a:avLst>
              <a:gd name="adj" fmla="val 95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41300" dist="190500" dir="54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1754" y="1740103"/>
            <a:ext cx="10649102" cy="43799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Shape 8"/>
          <p:cNvSpPr/>
          <p:nvPr/>
        </p:nvSpPr>
        <p:spPr>
          <a:xfrm>
            <a:off x="771754" y="2168957"/>
            <a:ext cx="10649102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Shape 9"/>
          <p:cNvSpPr/>
          <p:nvPr/>
        </p:nvSpPr>
        <p:spPr>
          <a:xfrm>
            <a:off x="961949" y="1897380"/>
            <a:ext cx="114300" cy="1143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1152144" y="1897380"/>
            <a:ext cx="114300" cy="1143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1343254" y="1897380"/>
            <a:ext cx="114300" cy="1143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4" name="Shape 12"/>
          <p:cNvSpPr/>
          <p:nvPr/>
        </p:nvSpPr>
        <p:spPr>
          <a:xfrm>
            <a:off x="761695" y="5426050"/>
            <a:ext cx="10668305" cy="56235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61695" y="5426050"/>
            <a:ext cx="38405" cy="56235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-133" r="-133" t="0" b="0"/>
          <a:stretch/>
        </p:blipFill>
        <p:spPr>
          <a:xfrm>
            <a:off x="1028700" y="5593385"/>
            <a:ext cx="171907" cy="2286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352898" y="1864462"/>
            <a:ext cx="17099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student@linux-lab: ~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057046" y="2511857"/>
            <a:ext cx="2670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285646" y="2511857"/>
            <a:ext cx="4956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pwd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819656" y="2511857"/>
            <a:ext cx="30102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print working directory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057046" y="2969057"/>
            <a:ext cx="16386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/home/student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057046" y="3426257"/>
            <a:ext cx="2670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285646" y="3426257"/>
            <a:ext cx="8385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-la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2162556" y="3426257"/>
            <a:ext cx="40389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list with details (hidden files)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057046" y="3883457"/>
            <a:ext cx="2670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1285646" y="3883457"/>
            <a:ext cx="18672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/path/to/dir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3191256" y="3883457"/>
            <a:ext cx="22101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change directory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1057046" y="4340657"/>
            <a:ext cx="2670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1285646" y="4340657"/>
            <a:ext cx="6099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-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1933956" y="4340657"/>
            <a:ext cx="36960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go back to previous directory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1352398" y="5607101"/>
            <a:ext cx="75968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 Tip: Use the Tab key to auto-complete file and folder names. It saves time and prevents typos!</a:t>
            </a:r>
            <a:endParaRPr lang="en-US" sz="13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15730" y="6362395"/>
            <a:ext cx="27340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6: Bash &amp; PowerShell Scripting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61695" y="371246"/>
            <a:ext cx="570128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Basic Bash: cat, grep, find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761695" y="1730959"/>
            <a:ext cx="10668305" cy="3314700"/>
          </a:xfrm>
          <a:prstGeom prst="roundRect">
            <a:avLst>
              <a:gd name="adj" fmla="val 95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41300" dist="190500" dir="54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1754" y="1740103"/>
            <a:ext cx="10649102" cy="43799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Shape 8"/>
          <p:cNvSpPr/>
          <p:nvPr/>
        </p:nvSpPr>
        <p:spPr>
          <a:xfrm>
            <a:off x="771754" y="2168957"/>
            <a:ext cx="10649102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Shape 9"/>
          <p:cNvSpPr/>
          <p:nvPr/>
        </p:nvSpPr>
        <p:spPr>
          <a:xfrm>
            <a:off x="961949" y="1897380"/>
            <a:ext cx="114300" cy="1143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1152144" y="1897380"/>
            <a:ext cx="114300" cy="1143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1343254" y="1897380"/>
            <a:ext cx="114300" cy="1143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4" name="Shape 12"/>
          <p:cNvSpPr/>
          <p:nvPr/>
        </p:nvSpPr>
        <p:spPr>
          <a:xfrm>
            <a:off x="761695" y="5426050"/>
            <a:ext cx="10668305" cy="56235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61695" y="5426050"/>
            <a:ext cx="38405" cy="56235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-133" r="-133" t="0" b="0"/>
          <a:stretch/>
        </p:blipFill>
        <p:spPr>
          <a:xfrm>
            <a:off x="1028700" y="5593385"/>
            <a:ext cx="171907" cy="2286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352898" y="1864462"/>
            <a:ext cx="17099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student@linux-lab: ~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057046" y="2511857"/>
            <a:ext cx="2670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285646" y="2511857"/>
            <a:ext cx="1524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file.txt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2848356" y="2511857"/>
            <a:ext cx="24387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view file contents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057046" y="2969057"/>
            <a:ext cx="2670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285646" y="2969057"/>
            <a:ext cx="24387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 'error' app.log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3762756" y="2969057"/>
            <a:ext cx="25530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search text in file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057046" y="3426257"/>
            <a:ext cx="2670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285646" y="3426257"/>
            <a:ext cx="19815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 -R 'TODO' .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3305556" y="3426257"/>
            <a:ext cx="39246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recursive search in current dir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1057046" y="3883457"/>
            <a:ext cx="2670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1285646" y="3883457"/>
            <a:ext cx="27816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/var -name '*.log'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4105656" y="3883457"/>
            <a:ext cx="2667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locate files by name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1057046" y="4340657"/>
            <a:ext cx="2670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1285646" y="4340657"/>
            <a:ext cx="30102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. -type f -size +10M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4334256" y="4340657"/>
            <a:ext cx="34674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find files larger than 10MB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352398" y="5607101"/>
            <a:ext cx="78345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 Tip: grep is case-sensitive by default. Add the -i flag (e.g., grep -i) to ignore case when searching.</a:t>
            </a:r>
            <a:endParaRPr lang="en-US" sz="13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15730" y="6362395"/>
            <a:ext cx="27340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6: Bash &amp; PowerShell Scripting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61695" y="371246"/>
            <a:ext cx="4862779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Basic Bash: ps, top, df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761695" y="1465783"/>
            <a:ext cx="10668305" cy="3943807"/>
          </a:xfrm>
          <a:prstGeom prst="roundRect">
            <a:avLst>
              <a:gd name="adj" fmla="val 67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41300" dist="190500" dir="54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1754" y="1474927"/>
            <a:ext cx="10649102" cy="43799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Shape 8"/>
          <p:cNvSpPr/>
          <p:nvPr/>
        </p:nvSpPr>
        <p:spPr>
          <a:xfrm>
            <a:off x="771754" y="1903781"/>
            <a:ext cx="10649102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Shape 9"/>
          <p:cNvSpPr/>
          <p:nvPr/>
        </p:nvSpPr>
        <p:spPr>
          <a:xfrm>
            <a:off x="961949" y="1632204"/>
            <a:ext cx="114300" cy="1143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1152144" y="1632204"/>
            <a:ext cx="114300" cy="1143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1343254" y="1632204"/>
            <a:ext cx="114300" cy="1143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4" name="Shape 12"/>
          <p:cNvSpPr/>
          <p:nvPr/>
        </p:nvSpPr>
        <p:spPr>
          <a:xfrm>
            <a:off x="761695" y="5691226"/>
            <a:ext cx="10668305" cy="56235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61695" y="5691226"/>
            <a:ext cx="38405" cy="56235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-133" r="-133" t="0" b="0"/>
          <a:stretch/>
        </p:blipFill>
        <p:spPr>
          <a:xfrm>
            <a:off x="1028700" y="5858561"/>
            <a:ext cx="171907" cy="2286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352898" y="1599286"/>
            <a:ext cx="17099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student@linux-lab: ~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057046" y="2160727"/>
            <a:ext cx="2340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274674" y="2160727"/>
            <a:ext cx="20912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aux | grep nginx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3419856" y="2160727"/>
            <a:ext cx="25008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find specific process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057046" y="2492654"/>
            <a:ext cx="52980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 1234 0.0 0.1 1234 567 ? Ss 10:00 0:00 nginx: master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057046" y="2834640"/>
            <a:ext cx="2340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274674" y="2834640"/>
            <a:ext cx="4434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773936" y="2834640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live viewer (press 'q' to quit)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057046" y="3165653"/>
            <a:ext cx="2340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274674" y="3165653"/>
            <a:ext cx="6528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-h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1979676" y="3165653"/>
            <a:ext cx="37389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 disk usage (human readable)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1057046" y="3497580"/>
            <a:ext cx="262158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/dev/sda1 25G 10G 15G 40% /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1057046" y="3839566"/>
            <a:ext cx="2340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1274674" y="3839566"/>
            <a:ext cx="853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 -h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2185416" y="3839566"/>
            <a:ext cx="21963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 memory usage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1057046" y="4170578"/>
            <a:ext cx="21543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Mem: 3.8Gi 1.2Gi 1.5Gi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1057046" y="4513478"/>
            <a:ext cx="2340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1274674" y="4513478"/>
            <a:ext cx="9573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uname -a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2287829" y="4513478"/>
            <a:ext cx="27102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view kernel/system info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1057046" y="4844491"/>
            <a:ext cx="391637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linux-lab 5.15.0-generic ... x86_64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1352398" y="5872277"/>
            <a:ext cx="8187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 Tip: Use man command (e.g., man ps) to view the manual page for detailed help on flags and options.</a:t>
            </a:r>
            <a:endParaRPr lang="en-US" sz="13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15730" y="6362395"/>
            <a:ext cx="27340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6: Bash &amp; PowerShell Scripting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61695" y="371246"/>
            <a:ext cx="609173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 a Simple Bash Script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761695" y="1925726"/>
            <a:ext cx="10668305" cy="2924251"/>
          </a:xfrm>
          <a:prstGeom prst="roundRect">
            <a:avLst>
              <a:gd name="adj" fmla="val 122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41300" dist="190500" dir="54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1754" y="1935785"/>
            <a:ext cx="10649102" cy="43799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Shape 8"/>
          <p:cNvSpPr/>
          <p:nvPr/>
        </p:nvSpPr>
        <p:spPr>
          <a:xfrm>
            <a:off x="771754" y="2364638"/>
            <a:ext cx="10649102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Shape 9"/>
          <p:cNvSpPr/>
          <p:nvPr/>
        </p:nvSpPr>
        <p:spPr>
          <a:xfrm>
            <a:off x="961949" y="2093062"/>
            <a:ext cx="114300" cy="1143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1152144" y="2093062"/>
            <a:ext cx="114300" cy="1143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1343254" y="2093062"/>
            <a:ext cx="114300" cy="1143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4" name="Shape 12"/>
          <p:cNvSpPr/>
          <p:nvPr/>
        </p:nvSpPr>
        <p:spPr>
          <a:xfrm>
            <a:off x="761695" y="5231282"/>
            <a:ext cx="10668305" cy="56235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61695" y="5231282"/>
            <a:ext cx="38405" cy="56235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5" b="-45"/>
          <a:stretch/>
        </p:blipFill>
        <p:spPr>
          <a:xfrm>
            <a:off x="1028700" y="5397703"/>
            <a:ext cx="256946" cy="2286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352898" y="2059229"/>
            <a:ext cx="17099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student@linux-lab: ~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057046" y="2706624"/>
            <a:ext cx="2670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285646" y="2706624"/>
            <a:ext cx="16386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nano hello.sh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2962656" y="2706624"/>
            <a:ext cx="27816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opens the text editor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057046" y="3344875"/>
            <a:ext cx="14100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2505456" y="3344875"/>
            <a:ext cx="35817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shebang: defines interpreter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057046" y="3764585"/>
            <a:ext cx="22101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"Hello $USER"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3305556" y="3764585"/>
            <a:ext cx="28959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prints text + variable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057046" y="4183380"/>
            <a:ext cx="6099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1705356" y="4183380"/>
            <a:ext cx="33531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prints current date &amp; time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1438351" y="5412334"/>
            <a:ext cx="56729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Save and Exit: Press Ctrl+O then Enter to save, followed by Ctrl+X to exit.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1057046" y="3145536"/>
            <a:ext cx="10077602" cy="9144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9" name="Shape 26"/>
          <p:cNvSpPr/>
          <p:nvPr/>
        </p:nvSpPr>
        <p:spPr>
          <a:xfrm>
            <a:off x="1057046" y="3040380"/>
            <a:ext cx="2980944" cy="24780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1057046" y="3068726"/>
            <a:ext cx="29864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Content (Type this inside nano)</a:t>
            </a:r>
            <a:endParaRPr lang="en-US" sz="10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15730" y="6362395"/>
            <a:ext cx="27340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6: Bash &amp; PowerShell Scripting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61695" y="371246"/>
            <a:ext cx="576803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 Your First Bash Script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761695" y="1545336"/>
            <a:ext cx="10668305" cy="3429000"/>
          </a:xfrm>
          <a:prstGeom prst="roundRect">
            <a:avLst>
              <a:gd name="adj" fmla="val 88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41300" dist="190500" dir="54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1754" y="1554480"/>
            <a:ext cx="10649102" cy="43799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Shape 8"/>
          <p:cNvSpPr/>
          <p:nvPr/>
        </p:nvSpPr>
        <p:spPr>
          <a:xfrm>
            <a:off x="771754" y="1983334"/>
            <a:ext cx="10649102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Shape 9"/>
          <p:cNvSpPr/>
          <p:nvPr/>
        </p:nvSpPr>
        <p:spPr>
          <a:xfrm>
            <a:off x="961949" y="1711757"/>
            <a:ext cx="114300" cy="1143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1152144" y="1711757"/>
            <a:ext cx="114300" cy="1143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1343254" y="1711757"/>
            <a:ext cx="114300" cy="1143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4" name="Shape 12"/>
          <p:cNvSpPr/>
          <p:nvPr/>
        </p:nvSpPr>
        <p:spPr>
          <a:xfrm>
            <a:off x="761695" y="5354726"/>
            <a:ext cx="10668305" cy="81930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61695" y="5354726"/>
            <a:ext cx="38405" cy="819302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8700" y="5650078"/>
            <a:ext cx="228600" cy="2286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352898" y="1677924"/>
            <a:ext cx="17099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student@linux-lab: ~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057046" y="2307031"/>
            <a:ext cx="2670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285646" y="2307031"/>
            <a:ext cx="2095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+x hello.sh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3419856" y="2307031"/>
            <a:ext cx="2667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make file executable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057046" y="2688336"/>
            <a:ext cx="2670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285646" y="2688336"/>
            <a:ext cx="12957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./hello.sh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2619756" y="2688336"/>
            <a:ext cx="2667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 from current dir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057046" y="3068726"/>
            <a:ext cx="16386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 student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057046" y="3488436"/>
            <a:ext cx="33531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Fri Jan 12 14:30:00 UTC 2026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1057046" y="3907231"/>
            <a:ext cx="2670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1285646" y="3907231"/>
            <a:ext cx="952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$?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2276856" y="3907231"/>
            <a:ext cx="36960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 exit code (0 = success)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1057046" y="4288536"/>
            <a:ext cx="2670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1410005" y="5535778"/>
            <a:ext cx="9796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Important: Always use ./script.sh unless the script is in your system's $PATH. Do not use sh script.sh if the script already has a shebang line.</a:t>
            </a:r>
            <a:endParaRPr lang="en-US" sz="13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-2" b="-2"/>
          <a:stretch/>
        </p:blipFill>
        <p:spPr>
          <a:xfrm>
            <a:off x="9334195" y="2438705"/>
            <a:ext cx="3333902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855421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PowerShell: Windows Automation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1996135"/>
            <a:ext cx="1426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462960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Object-based shell and language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2756002"/>
            <a:ext cx="142646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5646" y="2680106"/>
            <a:ext cx="54864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 Windows management cmdlets</a:t>
            </a:r>
            <a:endParaRPr lang="en-US" sz="2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5646" y="3439973"/>
            <a:ext cx="417240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 cross-platform (pwsh)</a:t>
            </a:r>
            <a:endParaRPr lang="en-US" sz="2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833018" y="4276649"/>
            <a:ext cx="142646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85646" y="4200754"/>
            <a:ext cx="45912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Pipeline passes objects, not text</a:t>
            </a:r>
            <a:endParaRPr lang="en-US" sz="2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85646" y="4960620"/>
            <a:ext cx="43251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Great for endpoint automation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8815730" y="6362395"/>
            <a:ext cx="27340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6: Bash &amp; PowerShell Scripting</a:t>
            </a:r>
            <a:endParaRPr lang="en-US" sz="12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15730" y="6362395"/>
            <a:ext cx="27340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6: Bash &amp; PowerShell Scripting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61695" y="371246"/>
            <a:ext cx="7225589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PowerShell vs Command Prompt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761695" y="1241755"/>
            <a:ext cx="5143500" cy="5238598"/>
          </a:xfrm>
          <a:prstGeom prst="roundRect">
            <a:avLst>
              <a:gd name="adj" fmla="val 395"/>
            </a:avLst>
          </a:prstGeom>
          <a:solidFill>
            <a:srgbClr val="F7FAFC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1695" y="1241755"/>
            <a:ext cx="5143500" cy="57607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10" name="Shape 8"/>
          <p:cNvSpPr/>
          <p:nvPr/>
        </p:nvSpPr>
        <p:spPr>
          <a:xfrm>
            <a:off x="1047902" y="2070202"/>
            <a:ext cx="4572000" cy="19202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-50" r="-50" t="0" b="0"/>
          <a:stretch/>
        </p:blipFill>
        <p:spPr>
          <a:xfrm>
            <a:off x="1047902" y="1603858"/>
            <a:ext cx="342900" cy="30449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047902" y="2280514"/>
            <a:ext cx="35625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Text-Based: Output is simple text strings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047902" y="2756916"/>
            <a:ext cx="39913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Legacy: Limited command set for basic tasks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047902" y="3232404"/>
            <a:ext cx="35817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Parsing: Hard to manipulate or filter data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047902" y="3708806"/>
            <a:ext cx="40965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Logic: Basic if/else, lacks robust error handling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286500" y="1241755"/>
            <a:ext cx="5143500" cy="5238598"/>
          </a:xfrm>
          <a:prstGeom prst="roundRect">
            <a:avLst>
              <a:gd name="adj" fmla="val 395"/>
            </a:avLst>
          </a:prstGeom>
          <a:solidFill>
            <a:srgbClr val="F0F9FF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86500" y="1241755"/>
            <a:ext cx="5143500" cy="57607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8" name="Shape 15"/>
          <p:cNvSpPr/>
          <p:nvPr/>
        </p:nvSpPr>
        <p:spPr>
          <a:xfrm>
            <a:off x="6572707" y="2070202"/>
            <a:ext cx="4572000" cy="19202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rcRect l="-107" r="-107" t="0" b="0"/>
          <a:stretch/>
        </p:blipFill>
        <p:spPr>
          <a:xfrm>
            <a:off x="6572707" y="1603858"/>
            <a:ext cx="267005" cy="304495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6572707" y="2280514"/>
            <a:ext cx="401055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Object-Oriented: Pipeline passes .NET objects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6572707" y="2756916"/>
            <a:ext cx="41056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Rich Modules: Thousands of Cmdlets available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6572707" y="3232404"/>
            <a:ext cx="423915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Automation: Advanced scripting &amp; error handling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6572707" y="3708806"/>
            <a:ext cx="36484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Management: Native remoting via WinRM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1533449" y="1613916"/>
            <a:ext cx="31629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Command Prompt (cmd)</a:t>
            </a:r>
            <a:endParaRPr lang="en-US" sz="1800" dirty="0"/>
          </a:p>
        </p:txBody>
      </p:sp>
      <p:sp>
        <p:nvSpPr>
          <p:cNvPr id="25" name="Text 21"/>
          <p:cNvSpPr txBox="1"/>
          <p:nvPr/>
        </p:nvSpPr>
        <p:spPr>
          <a:xfrm>
            <a:off x="6981444" y="1613916"/>
            <a:ext cx="24003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PowerShell (pwsh)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5810098" y="3143707"/>
            <a:ext cx="571500" cy="571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F3F4F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7" name="Text 23"/>
          <p:cNvSpPr txBox="1"/>
          <p:nvPr/>
        </p:nvSpPr>
        <p:spPr>
          <a:xfrm>
            <a:off x="5939028" y="3258007"/>
            <a:ext cx="4864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1809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VS</a:t>
            </a:r>
            <a:endParaRPr lang="en-US" sz="18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15730" y="6362395"/>
            <a:ext cx="27340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6: Bash &amp; PowerShell Scripting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61695" y="371246"/>
            <a:ext cx="5824728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PowerShell: Get-ChildItem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761695" y="1306678"/>
            <a:ext cx="10668305" cy="4000500"/>
          </a:xfrm>
          <a:prstGeom prst="roundRect">
            <a:avLst>
              <a:gd name="adj" fmla="val 653"/>
            </a:avLst>
          </a:prstGeom>
          <a:solidFill>
            <a:srgbClr val="01245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41300" dist="190500" dir="54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1754" y="1316736"/>
            <a:ext cx="10649102" cy="3520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71754" y="1659636"/>
            <a:ext cx="10649102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Shape 9"/>
          <p:cNvSpPr/>
          <p:nvPr/>
        </p:nvSpPr>
        <p:spPr>
          <a:xfrm>
            <a:off x="961949" y="1428293"/>
            <a:ext cx="114300" cy="114300"/>
          </a:xfrm>
          <a:prstGeom prst="ellips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52144" y="1428293"/>
            <a:ext cx="114300" cy="114300"/>
          </a:xfrm>
          <a:prstGeom prst="ellips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43254" y="1428293"/>
            <a:ext cx="114300" cy="114300"/>
          </a:xfrm>
          <a:prstGeom prst="ellips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1695" y="5593385"/>
            <a:ext cx="10668305" cy="81930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61695" y="5593385"/>
            <a:ext cx="38405" cy="819302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-133" r="-133" t="0" b="0"/>
          <a:stretch/>
        </p:blipFill>
        <p:spPr>
          <a:xfrm>
            <a:off x="1028700" y="5888736"/>
            <a:ext cx="171907" cy="2286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647749" y="1401775"/>
            <a:ext cx="203636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Administrator: Windows PowerShell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009498" y="1921154"/>
            <a:ext cx="853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C:\&gt;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844345" y="1921154"/>
            <a:ext cx="48627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Get-ChildItem -Path C:\Users -Recurse -Depth 1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009498" y="2309774"/>
            <a:ext cx="12627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C:\Work&gt;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2255825" y="2309774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gci -Include *.txt,*.log -Recurse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793638" y="2309774"/>
            <a:ext cx="31199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Alias 'gci' = Get-ChildItem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009498" y="2698394"/>
            <a:ext cx="12627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C:\Docs&gt;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2255825" y="2698394"/>
            <a:ext cx="68250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 | Select-Object Name, Length | Sort-Object Length -Descending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009498" y="3087014"/>
            <a:ext cx="70600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Length ---- ------ Backup.iso 4857600 Report.pdf 204850 Notes.txt 1024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352398" y="5774436"/>
            <a:ext cx="9806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 Tip: Get-ChildItem is the formal name, but you can use familiar aliases like ls (from Linux) or dir (from DOS) to do the exact same thing!</a:t>
            </a:r>
            <a:endParaRPr lang="en-US" sz="13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15730" y="6362395"/>
            <a:ext cx="27340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6: Bash &amp; PowerShell Scripting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61695" y="371246"/>
            <a:ext cx="5396789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PowerShell: Get-Process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761695" y="1730959"/>
            <a:ext cx="10668305" cy="3314700"/>
          </a:xfrm>
          <a:prstGeom prst="roundRect">
            <a:avLst>
              <a:gd name="adj" fmla="val 95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41300" dist="190500" dir="54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1754" y="1740103"/>
            <a:ext cx="10649102" cy="43799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Shape 8"/>
          <p:cNvSpPr/>
          <p:nvPr/>
        </p:nvSpPr>
        <p:spPr>
          <a:xfrm>
            <a:off x="771754" y="2168957"/>
            <a:ext cx="10649102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Shape 9"/>
          <p:cNvSpPr/>
          <p:nvPr/>
        </p:nvSpPr>
        <p:spPr>
          <a:xfrm>
            <a:off x="961949" y="1897380"/>
            <a:ext cx="114300" cy="1143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1152144" y="1897380"/>
            <a:ext cx="114300" cy="1143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1343254" y="1897380"/>
            <a:ext cx="114300" cy="1143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4" name="Shape 12"/>
          <p:cNvSpPr/>
          <p:nvPr/>
        </p:nvSpPr>
        <p:spPr>
          <a:xfrm>
            <a:off x="761695" y="5426050"/>
            <a:ext cx="10668305" cy="56235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61695" y="5426050"/>
            <a:ext cx="38405" cy="56235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-133" r="-133" t="0" b="0"/>
          <a:stretch/>
        </p:blipFill>
        <p:spPr>
          <a:xfrm>
            <a:off x="1028700" y="5593385"/>
            <a:ext cx="171907" cy="2286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4832604" y="1864462"/>
            <a:ext cx="27486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Administrator: Windows PowerShell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057046" y="2511857"/>
            <a:ext cx="6099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&gt;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628546" y="2511857"/>
            <a:ext cx="48390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Get-Process | Sort-Object CPU -Descending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506870" y="2511857"/>
            <a:ext cx="18672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sort by usage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057046" y="2969057"/>
            <a:ext cx="6099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&gt;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628546" y="2969057"/>
            <a:ext cx="28959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Get-Process -Name chrome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4562856" y="2969057"/>
            <a:ext cx="23244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find specific app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057046" y="3426257"/>
            <a:ext cx="6099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&gt;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628546" y="3426257"/>
            <a:ext cx="33531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Stop-Process -Id 1234 -Force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5020056" y="3426257"/>
            <a:ext cx="24387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kill process by ID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1057046" y="3883457"/>
            <a:ext cx="6099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&gt;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1628546" y="3883457"/>
            <a:ext cx="27816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Measure-Object CPU -Sum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4448556" y="3883457"/>
            <a:ext cx="22101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calculate totals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1057046" y="4340657"/>
            <a:ext cx="6099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&gt;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1628546" y="4340657"/>
            <a:ext cx="44961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Get-Process | Where-Object CPU -gt 100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6163970" y="4340657"/>
            <a:ext cx="2095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filter high CPU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352398" y="5607101"/>
            <a:ext cx="93113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 Tip: PowerShell commands (cmdlets) often have aliases. You can use gps for Get-Process and kill for Stop-Process.</a:t>
            </a:r>
            <a:endParaRPr lang="en-US" sz="13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15730" y="6362395"/>
            <a:ext cx="27340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6: Bash &amp; PowerShell Scripting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61695" y="371246"/>
            <a:ext cx="529163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PowerShell: Get-Service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761695" y="1697126"/>
            <a:ext cx="10668305" cy="3124505"/>
          </a:xfrm>
          <a:prstGeom prst="roundRect">
            <a:avLst>
              <a:gd name="adj" fmla="val 10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41300" dist="190500" dir="54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1754" y="1707185"/>
            <a:ext cx="10649102" cy="43799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Shape 8"/>
          <p:cNvSpPr/>
          <p:nvPr/>
        </p:nvSpPr>
        <p:spPr>
          <a:xfrm>
            <a:off x="771754" y="2136038"/>
            <a:ext cx="10649102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Shape 9"/>
          <p:cNvSpPr/>
          <p:nvPr/>
        </p:nvSpPr>
        <p:spPr>
          <a:xfrm>
            <a:off x="961949" y="1864462"/>
            <a:ext cx="114300" cy="1143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1152144" y="1864462"/>
            <a:ext cx="114300" cy="1143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1343254" y="1864462"/>
            <a:ext cx="114300" cy="1143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4" name="Shape 12"/>
          <p:cNvSpPr/>
          <p:nvPr/>
        </p:nvSpPr>
        <p:spPr>
          <a:xfrm>
            <a:off x="761695" y="5202936"/>
            <a:ext cx="10668305" cy="81930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61695" y="5202936"/>
            <a:ext cx="38405" cy="819302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-133" r="-133" t="0" b="0"/>
          <a:stretch/>
        </p:blipFill>
        <p:spPr>
          <a:xfrm>
            <a:off x="1028700" y="5498287"/>
            <a:ext cx="171907" cy="2286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4832604" y="1830629"/>
            <a:ext cx="27486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Administrator: Windows PowerShell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057046" y="2459736"/>
            <a:ext cx="4956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514246" y="2459736"/>
            <a:ext cx="44961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Get-Service | Where Status -eq Running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049670" y="2459736"/>
            <a:ext cx="2667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List active services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057046" y="2878531"/>
            <a:ext cx="4956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514246" y="2878531"/>
            <a:ext cx="48390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Get-Service -Name w32time | Format-List *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392570" y="2878531"/>
            <a:ext cx="23244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View full details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057046" y="3297326"/>
            <a:ext cx="4956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514246" y="3297326"/>
            <a:ext cx="28959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Start-Service -Name bits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4448556" y="3297326"/>
            <a:ext cx="39246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Start BITS service (Admin only)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1057046" y="3717036"/>
            <a:ext cx="4956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1514246" y="3717036"/>
            <a:ext cx="31245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Stop-Service -Name spooler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4677156" y="3717036"/>
            <a:ext cx="24387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Stop print spooler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1057046" y="4135831"/>
            <a:ext cx="4956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1514246" y="4135831"/>
            <a:ext cx="57534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Set-Service -Name wuauserv -StartupType Automatic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7306970" y="4135831"/>
            <a:ext cx="23244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Enable auto-start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352398" y="5383987"/>
            <a:ext cx="99203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 Tip: PowerShell commands follow a strict Verb-Noun structure. Commands like Stop-Process or Get-Service make guessing the right command easier!</a:t>
            </a:r>
            <a:endParaRPr lang="en-US" sz="13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15730" y="6362395"/>
            <a:ext cx="27340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6: Bash &amp; PowerShell Scripting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61695" y="371246"/>
            <a:ext cx="5853989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 a PowerShell Script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761695" y="1501445"/>
            <a:ext cx="10668305" cy="3524098"/>
          </a:xfrm>
          <a:prstGeom prst="roundRect">
            <a:avLst>
              <a:gd name="adj" fmla="val 842"/>
            </a:avLst>
          </a:prstGeom>
          <a:solidFill>
            <a:srgbClr val="01245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41300" dist="190500" dir="54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1754" y="1510589"/>
            <a:ext cx="10649102" cy="4005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71754" y="1901952"/>
            <a:ext cx="10649102" cy="9144"/>
          </a:xfrm>
          <a:prstGeom prst="rect">
            <a:avLst/>
          </a:prstGeom>
          <a:solidFill>
            <a:srgbClr val="CBD5E1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-837" r="-837" t="0" b="0"/>
          <a:stretch/>
        </p:blipFill>
        <p:spPr>
          <a:xfrm>
            <a:off x="961949" y="1639519"/>
            <a:ext cx="152705" cy="13350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114654" y="1605686"/>
            <a:ext cx="27486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Administrator: Windows PowerShell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0735056" y="1648663"/>
            <a:ext cx="114300" cy="1143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925251" y="1648663"/>
            <a:ext cx="114300" cy="1143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115446" y="1648663"/>
            <a:ext cx="114300" cy="1143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61695" y="5398618"/>
            <a:ext cx="10668305" cy="81930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7" name="Shape 14"/>
          <p:cNvSpPr/>
          <p:nvPr/>
        </p:nvSpPr>
        <p:spPr>
          <a:xfrm>
            <a:off x="761695" y="5398618"/>
            <a:ext cx="38405" cy="819302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-133" r="-133" t="0" b="0"/>
          <a:stretch/>
        </p:blipFill>
        <p:spPr>
          <a:xfrm>
            <a:off x="1028700" y="5693969"/>
            <a:ext cx="171907" cy="22860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057046" y="2234794"/>
            <a:ext cx="89794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C:\&gt;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1932127" y="2234794"/>
            <a:ext cx="524134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New-Item -Path . -Name hello.ps1 -ItemType File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1057046" y="2674620"/>
            <a:ext cx="89794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C:\&gt;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1932127" y="2674620"/>
            <a:ext cx="469910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Set-Content hello.ps1 "Write-Host 'Hello'"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6684264" y="2674620"/>
            <a:ext cx="166055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Write line 1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1057046" y="3114446"/>
            <a:ext cx="89794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C:\&gt;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1932127" y="3114446"/>
            <a:ext cx="361279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Add-Content hello.ps1 "Get-Date"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5597957" y="3114446"/>
            <a:ext cx="177485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Append line 2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1057046" y="3555187"/>
            <a:ext cx="89794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C:\&gt;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1932127" y="3555187"/>
            <a:ext cx="242224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Get-Content hello.ps1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4402836" y="3555187"/>
            <a:ext cx="220279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View file content</a:t>
            </a:r>
            <a:endParaRPr lang="en-US" sz="1400" dirty="0"/>
          </a:p>
        </p:txBody>
      </p:sp>
      <p:sp>
        <p:nvSpPr>
          <p:cNvPr id="30" name="Text 26"/>
          <p:cNvSpPr txBox="1"/>
          <p:nvPr/>
        </p:nvSpPr>
        <p:spPr>
          <a:xfrm>
            <a:off x="1057046" y="3995014"/>
            <a:ext cx="209854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Write-Host 'Hello'</a:t>
            </a:r>
            <a:endParaRPr lang="en-US" sz="1400" dirty="0"/>
          </a:p>
        </p:txBody>
      </p:sp>
      <p:sp>
        <p:nvSpPr>
          <p:cNvPr id="31" name="Text 27"/>
          <p:cNvSpPr txBox="1"/>
          <p:nvPr/>
        </p:nvSpPr>
        <p:spPr>
          <a:xfrm>
            <a:off x="1057046" y="4320540"/>
            <a:ext cx="101224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Get-Date</a:t>
            </a:r>
            <a:endParaRPr lang="en-US" sz="1400" dirty="0"/>
          </a:p>
        </p:txBody>
      </p:sp>
      <p:sp>
        <p:nvSpPr>
          <p:cNvPr id="32" name="Text 28"/>
          <p:cNvSpPr txBox="1"/>
          <p:nvPr/>
        </p:nvSpPr>
        <p:spPr>
          <a:xfrm>
            <a:off x="1352398" y="5579669"/>
            <a:ext cx="96542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Note: We are using cmdlets to write the file here for practice, but in a real workplace, you would typically use a text editor like Notepad or VS Code to write .ps1 scripts.</a:t>
            </a:r>
            <a:endParaRPr lang="en-US" sz="13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15730" y="6362395"/>
            <a:ext cx="27340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6: Bash &amp; PowerShell Scripting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61695" y="371246"/>
            <a:ext cx="656813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 PowerShell Scripts Safely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761695" y="1529791"/>
            <a:ext cx="10668305" cy="3467405"/>
          </a:xfrm>
          <a:prstGeom prst="roundRect">
            <a:avLst>
              <a:gd name="adj" fmla="val 86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41300" dist="190500" dir="54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1754" y="1538935"/>
            <a:ext cx="10649102" cy="43799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Shape 8"/>
          <p:cNvSpPr/>
          <p:nvPr/>
        </p:nvSpPr>
        <p:spPr>
          <a:xfrm>
            <a:off x="771754" y="1967789"/>
            <a:ext cx="10649102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Shape 9"/>
          <p:cNvSpPr/>
          <p:nvPr/>
        </p:nvSpPr>
        <p:spPr>
          <a:xfrm>
            <a:off x="961949" y="1696212"/>
            <a:ext cx="114300" cy="1143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1152144" y="1696212"/>
            <a:ext cx="114300" cy="1143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1343254" y="1696212"/>
            <a:ext cx="114300" cy="1143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4" name="Shape 12"/>
          <p:cNvSpPr/>
          <p:nvPr/>
        </p:nvSpPr>
        <p:spPr>
          <a:xfrm>
            <a:off x="761695" y="5370271"/>
            <a:ext cx="10668305" cy="81930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61695" y="5370271"/>
            <a:ext cx="38405" cy="819302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8700" y="5665622"/>
            <a:ext cx="228600" cy="2286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432450" y="1663294"/>
            <a:ext cx="15480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 PowerShell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057046" y="2291486"/>
            <a:ext cx="6099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&gt;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628546" y="2291486"/>
            <a:ext cx="23244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Get-ExecutionPolicy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057046" y="2701138"/>
            <a:ext cx="123169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Restricted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057046" y="3152851"/>
            <a:ext cx="6099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&gt;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628546" y="3152851"/>
            <a:ext cx="48390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Set-ExecutionPolicy -Scope Process Bypass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506870" y="3152851"/>
            <a:ext cx="33531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Safe: only for this window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057046" y="3571646"/>
            <a:ext cx="6099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&gt;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628546" y="3571646"/>
            <a:ext cx="14100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./hello.ps1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3076956" y="3571646"/>
            <a:ext cx="27816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 in current folder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1057046" y="3981298"/>
            <a:ext cx="688543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1057046" y="4271162"/>
            <a:ext cx="394655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Monday, January 12, 2026 5:00:00 PM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1410005" y="5551322"/>
            <a:ext cx="96158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Safety Tip: Using -Scope Process ensures the security policy reverts to default automatically when you close the PowerShell window, keeping the system secure.</a:t>
            </a:r>
            <a:endParaRPr lang="en-US" sz="13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-7" b="-7"/>
          <a:stretch/>
        </p:blipFill>
        <p:spPr>
          <a:xfrm>
            <a:off x="7905902" y="2438705"/>
            <a:ext cx="4762195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82296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 to Use Bash vs PowerShell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761695" y="1891894"/>
            <a:ext cx="87444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Linux servers: Bash excels for system tasks &amp; file management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61695" y="2651760"/>
            <a:ext cx="84399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Windows endpoints: PowerShell is native &amp; deeply integrated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761695" y="3411626"/>
            <a:ext cx="83823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Cross-platform: Choose based on the target environment OS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761695" y="4171493"/>
            <a:ext cx="7135063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 vs Objects: Consider your data handling needs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761695" y="4932274"/>
            <a:ext cx="71917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 skillset and existing toolchains matter greatly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815730" y="6362395"/>
            <a:ext cx="27340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6: Bash &amp; PowerShell Scripting</a:t>
            </a:r>
            <a:endParaRPr lang="en-US" sz="12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rcRect l="0" r="0" t="0" b="0"/>
          <a:stretch/>
        </p:blipFill>
        <p:spPr>
          <a:xfrm>
            <a:off x="8953805" y="3567074"/>
            <a:ext cx="2857500" cy="2857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13240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4"/>
          <p:cNvSpPr/>
          <p:nvPr/>
        </p:nvSpPr>
        <p:spPr>
          <a:xfrm>
            <a:off x="761695" y="1281989"/>
            <a:ext cx="952805" cy="3840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61695" y="466344"/>
            <a:ext cx="44961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Script Safety Tips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761695" y="1846174"/>
            <a:ext cx="10668305" cy="714146"/>
          </a:xfrm>
          <a:prstGeom prst="roundRect">
            <a:avLst>
              <a:gd name="adj" fmla="val 2048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61695" y="1846174"/>
            <a:ext cx="57607" cy="714146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04595" y="2070202"/>
            <a:ext cx="267005" cy="26700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61695" y="2788920"/>
            <a:ext cx="10668305" cy="714146"/>
          </a:xfrm>
          <a:prstGeom prst="roundRect">
            <a:avLst>
              <a:gd name="adj" fmla="val 2048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61695" y="2788920"/>
            <a:ext cx="57607" cy="714146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104595" y="3012948"/>
            <a:ext cx="267005" cy="267005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761695" y="3731666"/>
            <a:ext cx="10668305" cy="714146"/>
          </a:xfrm>
          <a:prstGeom prst="roundRect">
            <a:avLst>
              <a:gd name="adj" fmla="val 2048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61695" y="3731666"/>
            <a:ext cx="57607" cy="714146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104595" y="3955694"/>
            <a:ext cx="267005" cy="267005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761695" y="4674413"/>
            <a:ext cx="10668305" cy="714146"/>
          </a:xfrm>
          <a:prstGeom prst="roundRect">
            <a:avLst>
              <a:gd name="adj" fmla="val 2048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61695" y="4674413"/>
            <a:ext cx="57607" cy="714146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104595" y="4898441"/>
            <a:ext cx="267005" cy="267005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761695" y="5618074"/>
            <a:ext cx="10668305" cy="714146"/>
          </a:xfrm>
          <a:prstGeom prst="roundRect">
            <a:avLst>
              <a:gd name="adj" fmla="val 2048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761695" y="5618074"/>
            <a:ext cx="57607" cy="714146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104595" y="5842102"/>
            <a:ext cx="267005" cy="267005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609344" y="2055571"/>
            <a:ext cx="272948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in a VM or lab first</a:t>
            </a:r>
            <a:endParaRPr lang="en-US" sz="1900" dirty="0"/>
          </a:p>
        </p:txBody>
      </p:sp>
      <p:sp>
        <p:nvSpPr>
          <p:cNvPr id="25" name="Text 17"/>
          <p:cNvSpPr txBox="1"/>
          <p:nvPr/>
        </p:nvSpPr>
        <p:spPr>
          <a:xfrm>
            <a:off x="1609344" y="2998318"/>
            <a:ext cx="527243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dry-run flags when available (e.g., -WhatIf)</a:t>
            </a:r>
            <a:endParaRPr lang="en-US" sz="1900" dirty="0"/>
          </a:p>
        </p:txBody>
      </p:sp>
      <p:sp>
        <p:nvSpPr>
          <p:cNvPr id="26" name="Text 18"/>
          <p:cNvSpPr txBox="1"/>
          <p:nvPr/>
        </p:nvSpPr>
        <p:spPr>
          <a:xfrm>
            <a:off x="1609344" y="3941064"/>
            <a:ext cx="524408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comments and logging to track execution</a:t>
            </a:r>
            <a:endParaRPr lang="en-US" sz="1900" dirty="0"/>
          </a:p>
        </p:txBody>
      </p:sp>
      <p:sp>
        <p:nvSpPr>
          <p:cNvPr id="27" name="Text 19"/>
          <p:cNvSpPr txBox="1"/>
          <p:nvPr/>
        </p:nvSpPr>
        <p:spPr>
          <a:xfrm>
            <a:off x="1609344" y="4884725"/>
            <a:ext cx="5625389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 inputs carefully and handle potential errors</a:t>
            </a:r>
            <a:endParaRPr lang="en-US" sz="1900" dirty="0"/>
          </a:p>
        </p:txBody>
      </p:sp>
      <p:sp>
        <p:nvSpPr>
          <p:cNvPr id="28" name="Text 20"/>
          <p:cNvSpPr txBox="1"/>
          <p:nvPr/>
        </p:nvSpPr>
        <p:spPr>
          <a:xfrm>
            <a:off x="1609344" y="5827471"/>
            <a:ext cx="6082589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Version control your scripts (Git) for history &amp; rollback</a:t>
            </a:r>
            <a:endParaRPr lang="en-US" sz="1900" dirty="0"/>
          </a:p>
        </p:txBody>
      </p:sp>
      <p:sp>
        <p:nvSpPr>
          <p:cNvPr id="29" name="Shape 21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761695" y="6362395"/>
            <a:ext cx="27340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6: Bash &amp; PowerShell Scripting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10454335" y="6362395"/>
            <a:ext cx="10954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Best Practices</a:t>
            </a:r>
            <a:endParaRPr lang="en-US" sz="12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2" b="-2"/>
          <a:stretch/>
        </p:blipFill>
        <p:spPr>
          <a:xfrm>
            <a:off x="9334195" y="2438705"/>
            <a:ext cx="3333902" cy="381030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381805" y="2347265"/>
            <a:ext cx="7048195" cy="1920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381805" y="1604772"/>
            <a:ext cx="438637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Module 6 Summary</a:t>
            </a:r>
            <a:endParaRPr lang="en-US" sz="3100" dirty="0"/>
          </a:p>
        </p:txBody>
      </p:sp>
      <p:sp>
        <p:nvSpPr>
          <p:cNvPr id="8" name="Text 5"/>
          <p:cNvSpPr txBox="1"/>
          <p:nvPr/>
        </p:nvSpPr>
        <p:spPr>
          <a:xfrm>
            <a:off x="4381805" y="2747772"/>
            <a:ext cx="4506163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 boosts speed and accuracy for admins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381805" y="3306470"/>
            <a:ext cx="540136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Bash and PowerShell cover most automation needs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381805" y="3864254"/>
            <a:ext cx="494416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 can now create and execute simple scripts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381805" y="4422038"/>
            <a:ext cx="521025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Safety and documentation are critical for success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381805" y="4980737"/>
            <a:ext cx="4849063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Practice builds confidence with scripting tools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619695" y="6019495"/>
            <a:ext cx="3810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619695" y="6191402"/>
            <a:ext cx="169072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441180" y="6191402"/>
            <a:ext cx="183428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6: Bash &amp; PowerShell Scripting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7" name="Shape 14"/>
          <p:cNvSpPr/>
          <p:nvPr/>
        </p:nvSpPr>
        <p:spPr>
          <a:xfrm>
            <a:off x="1143000" y="2031797"/>
            <a:ext cx="1333195" cy="1333195"/>
          </a:xfrm>
          <a:prstGeom prst="ellipse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25" b="-25"/>
          <a:stretch/>
        </p:blipFill>
        <p:spPr>
          <a:xfrm>
            <a:off x="1580998" y="2393899"/>
            <a:ext cx="457200" cy="609905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461211" y="3641141"/>
            <a:ext cx="9628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</a:t>
            </a:r>
            <a:endParaRPr lang="en-US" sz="2700" dirty="0"/>
          </a:p>
        </p:txBody>
      </p:sp>
      <p:sp>
        <p:nvSpPr>
          <p:cNvPr id="20" name="Text 16"/>
          <p:cNvSpPr txBox="1"/>
          <p:nvPr/>
        </p:nvSpPr>
        <p:spPr>
          <a:xfrm>
            <a:off x="788213" y="4052621"/>
            <a:ext cx="23052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Takeaways</a:t>
            </a:r>
            <a:endParaRPr lang="en-US" sz="2700" dirty="0"/>
          </a:p>
        </p:txBody>
      </p:sp>
      <p:sp>
        <p:nvSpPr>
          <p:cNvPr id="21" name="Text 17"/>
          <p:cNvSpPr txBox="1"/>
          <p:nvPr/>
        </p:nvSpPr>
        <p:spPr>
          <a:xfrm>
            <a:off x="1495044" y="4597603"/>
            <a:ext cx="7671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RECAP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0" y="0"/>
            <a:ext cx="3619195" cy="95098"/>
          </a:xfrm>
          <a:prstGeom prst="rect">
            <a:avLst/>
          </a:prstGeom>
          <a:solidFill>
            <a:srgbClr val="F1C40F"/>
          </a:solidFill>
          <a:ln/>
        </p:spPr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0F9FF"/>
          </a:solidFill>
          <a:ln/>
        </p:spPr>
      </p:sp>
      <p:sp>
        <p:nvSpPr>
          <p:cNvPr id="5" name="Shape 3"/>
          <p:cNvSpPr/>
          <p:nvPr/>
        </p:nvSpPr>
        <p:spPr>
          <a:xfrm>
            <a:off x="-1429207" y="3524098"/>
            <a:ext cx="4762195" cy="4762195"/>
          </a:xfrm>
          <a:prstGeom prst="ellipse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884725" y="6362395"/>
            <a:ext cx="25438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33695" y="405079"/>
            <a:ext cx="1524305" cy="1524305"/>
          </a:xfrm>
          <a:prstGeom prst="ellipse">
            <a:avLst/>
          </a:prstGeom>
          <a:solidFill>
            <a:srgbClr val="E0F2FE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241300" dist="101600" dir="5400000">
              <a:srgbClr val="38bdf8">
                <a:alpha val="1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2549" y="833018"/>
            <a:ext cx="666598" cy="66659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790542" y="3109874"/>
            <a:ext cx="2619756" cy="647395"/>
          </a:xfrm>
          <a:prstGeom prst="roundRect">
            <a:avLst>
              <a:gd name="adj" fmla="val 10385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85893" y="3300070"/>
            <a:ext cx="267005" cy="26700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715000" y="4138574"/>
            <a:ext cx="761695" cy="57607"/>
          </a:xfrm>
          <a:prstGeom prst="roundRect">
            <a:avLst>
              <a:gd name="adj" fmla="val 793654"/>
            </a:avLst>
          </a:prstGeom>
          <a:solidFill>
            <a:srgbClr val="CBD5E1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5299862" y="2290572"/>
            <a:ext cx="2000707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Break</a:t>
            </a:r>
            <a:endParaRPr lang="en-US" sz="4200" dirty="0"/>
          </a:p>
        </p:txBody>
      </p:sp>
      <p:sp>
        <p:nvSpPr>
          <p:cNvPr id="13" name="Text 9"/>
          <p:cNvSpPr txBox="1"/>
          <p:nvPr/>
        </p:nvSpPr>
        <p:spPr>
          <a:xfrm>
            <a:off x="5352898" y="3271723"/>
            <a:ext cx="19623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05:30 – 05:45</a:t>
            </a:r>
            <a:endParaRPr lang="en-US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5212994" y="4614977"/>
            <a:ext cx="192938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Take a short pause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527194" y="5081321"/>
            <a:ext cx="330098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Return refreshed for boot process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4590288" y="5548579"/>
            <a:ext cx="317662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Bring any questions to the group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4905756" y="6139282"/>
            <a:ext cx="25530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4C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resume at 05:45</a:t>
            </a:r>
            <a:endParaRPr lang="en-US" sz="18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2606040"/>
            <a:ext cx="12191695" cy="4257446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0" b="0"/>
          <a:stretch/>
        </p:blipFill>
        <p:spPr>
          <a:xfrm>
            <a:off x="8953805" y="3567074"/>
            <a:ext cx="2857500" cy="28575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09598" y="3003804"/>
            <a:ext cx="8572500" cy="3457346"/>
          </a:xfrm>
          <a:prstGeom prst="roundRect">
            <a:avLst>
              <a:gd name="adj" fmla="val 11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41300" dist="101600" dir="5400000">
              <a:srgbClr val="000000">
                <a:alpha val="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809598" y="3003804"/>
            <a:ext cx="75895" cy="345734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457907" y="3412541"/>
            <a:ext cx="20436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TOPICS COVERED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-46154" r="-46154" t="0" b="0"/>
          <a:stretch/>
        </p:blipFill>
        <p:spPr>
          <a:xfrm>
            <a:off x="2457907" y="3934663"/>
            <a:ext cx="228600" cy="19019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876702" y="3888943"/>
            <a:ext cx="38679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happens when a system starts</a:t>
            </a:r>
            <a:endParaRPr lang="en-US" sz="18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-46154" r="-46154" t="0" b="0"/>
          <a:stretch/>
        </p:blipFill>
        <p:spPr>
          <a:xfrm>
            <a:off x="2457907" y="4407408"/>
            <a:ext cx="228600" cy="19019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876702" y="4361688"/>
            <a:ext cx="25914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Boot loader role (GRUB)</a:t>
            </a:r>
            <a:endParaRPr lang="en-US" sz="18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rcRect l="-46154" r="-46154" t="0" b="0"/>
          <a:stretch/>
        </p:blipFill>
        <p:spPr>
          <a:xfrm>
            <a:off x="2457907" y="4879238"/>
            <a:ext cx="228600" cy="19019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2876702" y="4833518"/>
            <a:ext cx="32863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Kernel initialization and drivers</a:t>
            </a:r>
            <a:endParaRPr lang="en-US" sz="18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-46154" r="-46154" t="0" b="0"/>
          <a:stretch/>
        </p:blipFill>
        <p:spPr>
          <a:xfrm>
            <a:off x="2457907" y="5351983"/>
            <a:ext cx="228600" cy="190195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2876702" y="5306263"/>
            <a:ext cx="26289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Init system and services</a:t>
            </a:r>
            <a:endParaRPr lang="en-US" sz="18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rcRect l="-46154" r="-46154" t="0" b="0"/>
          <a:stretch/>
        </p:blipFill>
        <p:spPr>
          <a:xfrm>
            <a:off x="2457907" y="5824728"/>
            <a:ext cx="228600" cy="190195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2876702" y="5779008"/>
            <a:ext cx="30010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Managing daemons at work</a:t>
            </a:r>
            <a:endParaRPr lang="en-US" sz="1800" dirty="0"/>
          </a:p>
        </p:txBody>
      </p:sp>
      <p:sp>
        <p:nvSpPr>
          <p:cNvPr id="19" name="Shape 11"/>
          <p:cNvSpPr/>
          <p:nvPr/>
        </p:nvSpPr>
        <p:spPr>
          <a:xfrm>
            <a:off x="0" y="0"/>
            <a:ext cx="12191695" cy="260969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0" name="Text 12"/>
          <p:cNvSpPr txBox="1"/>
          <p:nvPr/>
        </p:nvSpPr>
        <p:spPr>
          <a:xfrm>
            <a:off x="5307178" y="790956"/>
            <a:ext cx="17529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MODULE 7</a:t>
            </a:r>
            <a:endParaRPr lang="en-US" sz="1800" dirty="0"/>
          </a:p>
        </p:txBody>
      </p:sp>
      <p:sp>
        <p:nvSpPr>
          <p:cNvPr id="21" name="Text 13"/>
          <p:cNvSpPr txBox="1"/>
          <p:nvPr/>
        </p:nvSpPr>
        <p:spPr>
          <a:xfrm>
            <a:off x="1483157" y="1218895"/>
            <a:ext cx="9630461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Boot Loaders, Kernels, Daemons</a:t>
            </a:r>
            <a:endParaRPr lang="en-US" sz="4200" dirty="0"/>
          </a:p>
        </p:txBody>
      </p:sp>
      <p:sp>
        <p:nvSpPr>
          <p:cNvPr id="22" name="Shape 14"/>
          <p:cNvSpPr/>
          <p:nvPr/>
        </p:nvSpPr>
        <p:spPr>
          <a:xfrm>
            <a:off x="11201400" y="228600"/>
            <a:ext cx="761695" cy="761695"/>
          </a:xfrm>
          <a:prstGeom prst="rect">
            <a:avLst/>
          </a:prstGeom>
          <a:noFill/>
          <a:ln w="508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228600" y="1615745"/>
            <a:ext cx="761695" cy="761695"/>
          </a:xfrm>
          <a:prstGeom prst="rect">
            <a:avLst/>
          </a:prstGeom>
          <a:noFill/>
          <a:ln w="508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0" y="2530145"/>
            <a:ext cx="12191695" cy="75895"/>
          </a:xfrm>
          <a:prstGeom prst="rect">
            <a:avLst/>
          </a:prstGeom>
          <a:solidFill>
            <a:srgbClr val="3498DB"/>
          </a:solidFill>
          <a:ln/>
        </p:spPr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rcRect l="0" r="0" t="0" b="0"/>
          <a:stretch/>
        </p:blipFill>
        <p:spPr>
          <a:xfrm>
            <a:off x="9048902" y="2769718"/>
            <a:ext cx="3333902" cy="33339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528609" y="6362395"/>
            <a:ext cx="30202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7: Boot Loaders, Kernels, Daemons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61695" y="371246"/>
            <a:ext cx="7730338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 You Press Power: Big Picture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1162202" y="2054657"/>
            <a:ext cx="38405" cy="370514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7"/>
          <p:cNvSpPr/>
          <p:nvPr/>
        </p:nvSpPr>
        <p:spPr>
          <a:xfrm>
            <a:off x="952805" y="1906524"/>
            <a:ext cx="457200" cy="457200"/>
          </a:xfrm>
          <a:prstGeom prst="ellipse">
            <a:avLst/>
          </a:prstGeom>
          <a:solidFill>
            <a:srgbClr val="3498DB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1136599" y="1964131"/>
            <a:ext cx="2670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695298" y="1826057"/>
            <a:ext cx="9734702" cy="619049"/>
          </a:xfrm>
          <a:prstGeom prst="roundRect">
            <a:avLst>
              <a:gd name="adj" fmla="val 1818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695298" y="1826057"/>
            <a:ext cx="38405" cy="61904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962302" y="2016252"/>
            <a:ext cx="477682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Hardware self-check (POST - Power On Self Test)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952805" y="2792578"/>
            <a:ext cx="457200" cy="457200"/>
          </a:xfrm>
          <a:prstGeom prst="ellipse">
            <a:avLst/>
          </a:prstGeom>
          <a:solidFill>
            <a:srgbClr val="3498DB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1113739" y="2850185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695298" y="2712110"/>
            <a:ext cx="9734702" cy="619049"/>
          </a:xfrm>
          <a:prstGeom prst="roundRect">
            <a:avLst>
              <a:gd name="adj" fmla="val 1818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695298" y="2712110"/>
            <a:ext cx="38405" cy="61904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962302" y="2902306"/>
            <a:ext cx="552937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Firmware initializes (BIOS/UEFI) and configures hardware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952805" y="3678631"/>
            <a:ext cx="457200" cy="457200"/>
          </a:xfrm>
          <a:prstGeom prst="ellipse">
            <a:avLst/>
          </a:prstGeom>
          <a:solidFill>
            <a:srgbClr val="3498DB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1113739" y="3735324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1695298" y="3597250"/>
            <a:ext cx="9734702" cy="619049"/>
          </a:xfrm>
          <a:prstGeom prst="roundRect">
            <a:avLst>
              <a:gd name="adj" fmla="val 1818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695298" y="3597250"/>
            <a:ext cx="38405" cy="61904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962302" y="3788359"/>
            <a:ext cx="493958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Finds a bootable device (Hard Drive, USB, Network)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952805" y="4564685"/>
            <a:ext cx="457200" cy="457200"/>
          </a:xfrm>
          <a:prstGeom prst="ellipse">
            <a:avLst/>
          </a:prstGeom>
          <a:solidFill>
            <a:srgbClr val="3498DB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1101852" y="4621378"/>
            <a:ext cx="3337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1695298" y="4483303"/>
            <a:ext cx="9734702" cy="619049"/>
          </a:xfrm>
          <a:prstGeom prst="roundRect">
            <a:avLst>
              <a:gd name="adj" fmla="val 1818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1695298" y="4483303"/>
            <a:ext cx="38405" cy="61904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962302" y="4673498"/>
            <a:ext cx="527243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Loads the boot loader (GRUB, Windows Boot Manager)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952805" y="5449824"/>
            <a:ext cx="457200" cy="457200"/>
          </a:xfrm>
          <a:prstGeom prst="ellipse">
            <a:avLst/>
          </a:prstGeom>
          <a:solidFill>
            <a:srgbClr val="3498DB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1112825" y="5507431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1695298" y="5369357"/>
            <a:ext cx="9734702" cy="619049"/>
          </a:xfrm>
          <a:prstGeom prst="roundRect">
            <a:avLst>
              <a:gd name="adj" fmla="val 1818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1695298" y="5369357"/>
            <a:ext cx="38405" cy="61904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1962302" y="5559552"/>
            <a:ext cx="402518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Boot loader loads the kernel into memory</a:t>
            </a:r>
            <a:endParaRPr lang="en-US" sz="16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1695" y="6362395"/>
            <a:ext cx="30202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7: Boot Loaders, Kernels, Daemons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035186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61695" y="371246"/>
            <a:ext cx="514898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Boot Process Overview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10049256" y="2402129"/>
            <a:ext cx="190195" cy="1561795"/>
          </a:xfrm>
          <a:prstGeom prst="rect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334549" y="2412187"/>
            <a:ext cx="8430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PRE-BOOT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334549" y="2640787"/>
            <a:ext cx="110916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Hardware &amp; Loader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0049256" y="5469026"/>
            <a:ext cx="190195" cy="685800"/>
          </a:xfrm>
          <a:prstGeom prst="rect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334549" y="3726180"/>
            <a:ext cx="11576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KERNEL SPACE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0334549" y="3954780"/>
            <a:ext cx="73792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Initialization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0049256" y="7659929"/>
            <a:ext cx="190195" cy="1561795"/>
          </a:xfrm>
          <a:prstGeom prst="rect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334549" y="5041087"/>
            <a:ext cx="9765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SPACE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0334549" y="5269687"/>
            <a:ext cx="94731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Services &amp; Login</a:t>
            </a:r>
            <a:endParaRPr lang="en-US" sz="8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00" b="-100"/>
          <a:stretch/>
        </p:blipFill>
        <p:spPr>
          <a:xfrm>
            <a:off x="6038698" y="2421331"/>
            <a:ext cx="114300" cy="152705"/>
          </a:xfrm>
          <a:prstGeom prst="rect">
            <a:avLst/>
          </a:prstGeom>
        </p:spPr>
      </p:pic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00" b="-100"/>
          <a:stretch/>
        </p:blipFill>
        <p:spPr>
          <a:xfrm>
            <a:off x="6038698" y="3297326"/>
            <a:ext cx="114300" cy="152705"/>
          </a:xfrm>
          <a:prstGeom prst="rect">
            <a:avLst/>
          </a:prstGeom>
        </p:spPr>
      </p:pic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00" b="-100"/>
          <a:stretch/>
        </p:blipFill>
        <p:spPr>
          <a:xfrm>
            <a:off x="6038698" y="4174236"/>
            <a:ext cx="114300" cy="152705"/>
          </a:xfrm>
          <a:prstGeom prst="rect">
            <a:avLst/>
          </a:prstGeom>
        </p:spPr>
      </p:pic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00" b="-100"/>
          <a:stretch/>
        </p:blipFill>
        <p:spPr>
          <a:xfrm>
            <a:off x="6038698" y="5050231"/>
            <a:ext cx="114300" cy="152705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2048256" y="1716329"/>
            <a:ext cx="8096098" cy="685800"/>
          </a:xfrm>
          <a:prstGeom prst="roundRect">
            <a:avLst>
              <a:gd name="adj" fmla="val 14815"/>
            </a:avLst>
          </a:prstGeom>
          <a:solidFill>
            <a:srgbClr val="1E293B"/>
          </a:solidFill>
          <a:ln w="25400">
            <a:solidFill>
              <a:srgbClr val="0F172A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8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305202" y="1973275"/>
            <a:ext cx="171907" cy="17190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2590495" y="1930298"/>
            <a:ext cx="131947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BIOS / UEFI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7222846" y="1928470"/>
            <a:ext cx="1304849" cy="267005"/>
          </a:xfrm>
          <a:prstGeom prst="roundRect">
            <a:avLst>
              <a:gd name="adj" fmla="val 48924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7337146" y="1966874"/>
            <a:ext cx="11695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Power-On Self Test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8617306" y="1928470"/>
            <a:ext cx="1276502" cy="267005"/>
          </a:xfrm>
          <a:prstGeom prst="roundRect">
            <a:avLst>
              <a:gd name="adj" fmla="val 48924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7" name="Text 20"/>
          <p:cNvSpPr txBox="1"/>
          <p:nvPr/>
        </p:nvSpPr>
        <p:spPr>
          <a:xfrm>
            <a:off x="8731606" y="1966874"/>
            <a:ext cx="114117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Select Boot Device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2048256" y="2592324"/>
            <a:ext cx="8096098" cy="685800"/>
          </a:xfrm>
          <a:prstGeom prst="roundRect">
            <a:avLst>
              <a:gd name="adj" fmla="val 14815"/>
            </a:avLst>
          </a:prstGeom>
          <a:solidFill>
            <a:srgbClr val="4F46E5"/>
          </a:solidFill>
          <a:ln w="25400">
            <a:solidFill>
              <a:srgbClr val="3730A3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8000"/>
              </a:srgbClr>
            </a:outerShdw>
          </a:effectLst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2305202" y="2850185"/>
            <a:ext cx="171907" cy="171907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2590495" y="2807208"/>
            <a:ext cx="143377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Boot Loader</a:t>
            </a:r>
            <a:endParaRPr lang="en-US" sz="1300" dirty="0"/>
          </a:p>
        </p:txBody>
      </p:sp>
      <p:sp>
        <p:nvSpPr>
          <p:cNvPr id="31" name="Shape 23"/>
          <p:cNvSpPr/>
          <p:nvPr/>
        </p:nvSpPr>
        <p:spPr>
          <a:xfrm>
            <a:off x="6879946" y="2804465"/>
            <a:ext cx="905256" cy="267005"/>
          </a:xfrm>
          <a:prstGeom prst="roundRect">
            <a:avLst>
              <a:gd name="adj" fmla="val 48924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32" name="Text 24"/>
          <p:cNvSpPr txBox="1"/>
          <p:nvPr/>
        </p:nvSpPr>
        <p:spPr>
          <a:xfrm>
            <a:off x="6994246" y="2842870"/>
            <a:ext cx="7699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GRUB Menu</a:t>
            </a:r>
            <a:endParaRPr lang="en-US" sz="900" dirty="0"/>
          </a:p>
        </p:txBody>
      </p:sp>
      <p:sp>
        <p:nvSpPr>
          <p:cNvPr id="33" name="Shape 25"/>
          <p:cNvSpPr/>
          <p:nvPr/>
        </p:nvSpPr>
        <p:spPr>
          <a:xfrm>
            <a:off x="7871155" y="2804465"/>
            <a:ext cx="895198" cy="267005"/>
          </a:xfrm>
          <a:prstGeom prst="roundRect">
            <a:avLst>
              <a:gd name="adj" fmla="val 48924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34" name="Text 26"/>
          <p:cNvSpPr txBox="1"/>
          <p:nvPr/>
        </p:nvSpPr>
        <p:spPr>
          <a:xfrm>
            <a:off x="7985455" y="2842870"/>
            <a:ext cx="7598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Load Kernel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8855050" y="2804465"/>
            <a:ext cx="1037844" cy="267005"/>
          </a:xfrm>
          <a:prstGeom prst="roundRect">
            <a:avLst>
              <a:gd name="adj" fmla="val 48924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36" name="Text 28"/>
          <p:cNvSpPr txBox="1"/>
          <p:nvPr/>
        </p:nvSpPr>
        <p:spPr>
          <a:xfrm>
            <a:off x="8969350" y="2842870"/>
            <a:ext cx="90251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Load initramfs</a:t>
            </a:r>
            <a:endParaRPr lang="en-US" sz="900" dirty="0"/>
          </a:p>
        </p:txBody>
      </p:sp>
      <p:sp>
        <p:nvSpPr>
          <p:cNvPr id="37" name="Shape 29"/>
          <p:cNvSpPr/>
          <p:nvPr/>
        </p:nvSpPr>
        <p:spPr>
          <a:xfrm>
            <a:off x="2048256" y="3469234"/>
            <a:ext cx="8096098" cy="685800"/>
          </a:xfrm>
          <a:prstGeom prst="roundRect">
            <a:avLst>
              <a:gd name="adj" fmla="val 14815"/>
            </a:avLst>
          </a:prstGeom>
          <a:solidFill>
            <a:srgbClr val="2563EB"/>
          </a:solidFill>
          <a:ln w="25400">
            <a:solidFill>
              <a:srgbClr val="1D4ED8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8000"/>
              </a:srgbClr>
            </a:outerShdw>
          </a:effectLst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rcRect l="-1064" r="-1064" t="0" b="0"/>
          <a:stretch/>
        </p:blipFill>
        <p:spPr>
          <a:xfrm>
            <a:off x="2305202" y="3726180"/>
            <a:ext cx="219456" cy="171907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2638044" y="3683203"/>
            <a:ext cx="126278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Kernel Init</a:t>
            </a:r>
            <a:endParaRPr lang="en-US" sz="1300" dirty="0"/>
          </a:p>
        </p:txBody>
      </p:sp>
      <p:sp>
        <p:nvSpPr>
          <p:cNvPr id="40" name="Shape 31"/>
          <p:cNvSpPr/>
          <p:nvPr/>
        </p:nvSpPr>
        <p:spPr>
          <a:xfrm>
            <a:off x="6571793" y="3681374"/>
            <a:ext cx="1162202" cy="267005"/>
          </a:xfrm>
          <a:prstGeom prst="roundRect">
            <a:avLst>
              <a:gd name="adj" fmla="val 48924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41" name="Text 32"/>
          <p:cNvSpPr txBox="1"/>
          <p:nvPr/>
        </p:nvSpPr>
        <p:spPr>
          <a:xfrm>
            <a:off x="6686093" y="3718865"/>
            <a:ext cx="102687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 Hardware</a:t>
            </a:r>
            <a:endParaRPr lang="en-US" sz="900" dirty="0"/>
          </a:p>
        </p:txBody>
      </p:sp>
      <p:sp>
        <p:nvSpPr>
          <p:cNvPr id="42" name="Shape 33"/>
          <p:cNvSpPr/>
          <p:nvPr/>
        </p:nvSpPr>
        <p:spPr>
          <a:xfrm>
            <a:off x="7822692" y="3681374"/>
            <a:ext cx="933602" cy="267005"/>
          </a:xfrm>
          <a:prstGeom prst="roundRect">
            <a:avLst>
              <a:gd name="adj" fmla="val 48924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43" name="Text 34"/>
          <p:cNvSpPr txBox="1"/>
          <p:nvPr/>
        </p:nvSpPr>
        <p:spPr>
          <a:xfrm>
            <a:off x="7936992" y="3718865"/>
            <a:ext cx="79827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Load Drivers</a:t>
            </a:r>
            <a:endParaRPr lang="en-US" sz="900" dirty="0"/>
          </a:p>
        </p:txBody>
      </p:sp>
      <p:sp>
        <p:nvSpPr>
          <p:cNvPr id="44" name="Shape 35"/>
          <p:cNvSpPr/>
          <p:nvPr/>
        </p:nvSpPr>
        <p:spPr>
          <a:xfrm>
            <a:off x="8844077" y="3681374"/>
            <a:ext cx="1047902" cy="267005"/>
          </a:xfrm>
          <a:prstGeom prst="roundRect">
            <a:avLst>
              <a:gd name="adj" fmla="val 48924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45" name="Text 36"/>
          <p:cNvSpPr txBox="1"/>
          <p:nvPr/>
        </p:nvSpPr>
        <p:spPr>
          <a:xfrm>
            <a:off x="8958377" y="3718865"/>
            <a:ext cx="91257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Mount Root (/)</a:t>
            </a:r>
            <a:endParaRPr lang="en-US" sz="900" dirty="0"/>
          </a:p>
        </p:txBody>
      </p:sp>
      <p:sp>
        <p:nvSpPr>
          <p:cNvPr id="46" name="Shape 37"/>
          <p:cNvSpPr/>
          <p:nvPr/>
        </p:nvSpPr>
        <p:spPr>
          <a:xfrm>
            <a:off x="2048256" y="4345229"/>
            <a:ext cx="8096098" cy="685800"/>
          </a:xfrm>
          <a:prstGeom prst="roundRect">
            <a:avLst>
              <a:gd name="adj" fmla="val 14815"/>
            </a:avLst>
          </a:prstGeom>
          <a:solidFill>
            <a:srgbClr val="E0F2FE"/>
          </a:solidFill>
          <a:ln w="25400">
            <a:solidFill>
              <a:srgbClr val="7DD3FC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8000"/>
              </a:srgbClr>
            </a:outerShdw>
          </a:effectLst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2305202" y="4602175"/>
            <a:ext cx="171907" cy="171907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2590495" y="4559198"/>
            <a:ext cx="135788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 Init System</a:t>
            </a:r>
            <a:endParaRPr lang="en-US" sz="1300" dirty="0"/>
          </a:p>
        </p:txBody>
      </p:sp>
      <p:sp>
        <p:nvSpPr>
          <p:cNvPr id="49" name="Shape 39"/>
          <p:cNvSpPr/>
          <p:nvPr/>
        </p:nvSpPr>
        <p:spPr>
          <a:xfrm>
            <a:off x="6859829" y="4547311"/>
            <a:ext cx="1143000" cy="286207"/>
          </a:xfrm>
          <a:prstGeom prst="roundRect">
            <a:avLst>
              <a:gd name="adj" fmla="val 42599"/>
            </a:avLst>
          </a:prstGeom>
          <a:noFill/>
          <a:ln w="12700">
            <a:solidFill>
              <a:srgbClr val="0369A1"/>
            </a:solidFill>
            <a:prstDash val="solid"/>
          </a:ln>
        </p:spPr>
      </p:sp>
      <p:sp>
        <p:nvSpPr>
          <p:cNvPr id="50" name="Text 40"/>
          <p:cNvSpPr txBox="1"/>
          <p:nvPr/>
        </p:nvSpPr>
        <p:spPr>
          <a:xfrm>
            <a:off x="6983273" y="4595774"/>
            <a:ext cx="9884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PID 1 (systemd)</a:t>
            </a:r>
            <a:endParaRPr lang="en-US" sz="900" dirty="0"/>
          </a:p>
        </p:txBody>
      </p:sp>
      <p:sp>
        <p:nvSpPr>
          <p:cNvPr id="51" name="Shape 41"/>
          <p:cNvSpPr/>
          <p:nvPr/>
        </p:nvSpPr>
        <p:spPr>
          <a:xfrm>
            <a:off x="8091526" y="4547311"/>
            <a:ext cx="676656" cy="286207"/>
          </a:xfrm>
          <a:prstGeom prst="roundRect">
            <a:avLst>
              <a:gd name="adj" fmla="val 42599"/>
            </a:avLst>
          </a:prstGeom>
          <a:noFill/>
          <a:ln w="12700">
            <a:solidFill>
              <a:srgbClr val="0369A1"/>
            </a:solidFill>
            <a:prstDash val="solid"/>
          </a:ln>
        </p:spPr>
      </p:sp>
      <p:sp>
        <p:nvSpPr>
          <p:cNvPr id="52" name="Text 42"/>
          <p:cNvSpPr txBox="1"/>
          <p:nvPr/>
        </p:nvSpPr>
        <p:spPr>
          <a:xfrm>
            <a:off x="8214970" y="4595774"/>
            <a:ext cx="5221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Targets</a:t>
            </a:r>
            <a:endParaRPr lang="en-US" sz="900" dirty="0"/>
          </a:p>
        </p:txBody>
      </p:sp>
      <p:sp>
        <p:nvSpPr>
          <p:cNvPr id="53" name="Shape 43"/>
          <p:cNvSpPr/>
          <p:nvPr/>
        </p:nvSpPr>
        <p:spPr>
          <a:xfrm>
            <a:off x="8854135" y="4547311"/>
            <a:ext cx="1037844" cy="286207"/>
          </a:xfrm>
          <a:prstGeom prst="roundRect">
            <a:avLst>
              <a:gd name="adj" fmla="val 42599"/>
            </a:avLst>
          </a:prstGeom>
          <a:noFill/>
          <a:ln w="12700">
            <a:solidFill>
              <a:srgbClr val="0369A1"/>
            </a:solidFill>
            <a:prstDash val="solid"/>
          </a:ln>
        </p:spPr>
      </p:sp>
      <p:sp>
        <p:nvSpPr>
          <p:cNvPr id="54" name="Text 44"/>
          <p:cNvSpPr txBox="1"/>
          <p:nvPr/>
        </p:nvSpPr>
        <p:spPr>
          <a:xfrm>
            <a:off x="8977579" y="4595774"/>
            <a:ext cx="884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Dependencies</a:t>
            </a:r>
            <a:endParaRPr lang="en-US" sz="900" dirty="0"/>
          </a:p>
        </p:txBody>
      </p:sp>
      <p:sp>
        <p:nvSpPr>
          <p:cNvPr id="55" name="Shape 45"/>
          <p:cNvSpPr/>
          <p:nvPr/>
        </p:nvSpPr>
        <p:spPr>
          <a:xfrm>
            <a:off x="2048256" y="5221224"/>
            <a:ext cx="8096098" cy="685800"/>
          </a:xfrm>
          <a:prstGeom prst="roundRect">
            <a:avLst>
              <a:gd name="adj" fmla="val 14815"/>
            </a:avLst>
          </a:prstGeom>
          <a:solidFill>
            <a:srgbClr val="DCFCE7"/>
          </a:solidFill>
          <a:ln w="25400">
            <a:solidFill>
              <a:srgbClr val="86EFAC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8000"/>
              </a:srgbClr>
            </a:outerShdw>
          </a:effectLst>
        </p:spPr>
      </p:sp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9"/>
          <a:srcRect l="-1064" r="-1064" t="0" b="0"/>
          <a:stretch/>
        </p:blipFill>
        <p:spPr>
          <a:xfrm>
            <a:off x="2305202" y="5479085"/>
            <a:ext cx="219456" cy="171907"/>
          </a:xfrm>
          <a:prstGeom prst="rect">
            <a:avLst/>
          </a:prstGeom>
        </p:spPr>
      </p:pic>
      <p:sp>
        <p:nvSpPr>
          <p:cNvPr id="57" name="Text 46"/>
          <p:cNvSpPr txBox="1"/>
          <p:nvPr/>
        </p:nvSpPr>
        <p:spPr>
          <a:xfrm>
            <a:off x="2638044" y="5436108"/>
            <a:ext cx="132953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5. User Space</a:t>
            </a:r>
            <a:endParaRPr lang="en-US" sz="1300" dirty="0"/>
          </a:p>
        </p:txBody>
      </p:sp>
      <p:sp>
        <p:nvSpPr>
          <p:cNvPr id="58" name="Shape 47"/>
          <p:cNvSpPr/>
          <p:nvPr/>
        </p:nvSpPr>
        <p:spPr>
          <a:xfrm>
            <a:off x="6597396" y="5424221"/>
            <a:ext cx="1076249" cy="286207"/>
          </a:xfrm>
          <a:prstGeom prst="roundRect">
            <a:avLst>
              <a:gd name="adj" fmla="val 42599"/>
            </a:avLst>
          </a:prstGeom>
          <a:noFill/>
          <a:ln w="12700">
            <a:solidFill>
              <a:srgbClr val="15803D"/>
            </a:solidFill>
            <a:prstDash val="solid"/>
          </a:ln>
        </p:spPr>
      </p:sp>
      <p:sp>
        <p:nvSpPr>
          <p:cNvPr id="59" name="Text 48"/>
          <p:cNvSpPr txBox="1"/>
          <p:nvPr/>
        </p:nvSpPr>
        <p:spPr>
          <a:xfrm>
            <a:off x="6720840" y="5471770"/>
            <a:ext cx="92171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Start Daemons</a:t>
            </a:r>
            <a:endParaRPr lang="en-US" sz="900" dirty="0"/>
          </a:p>
        </p:txBody>
      </p:sp>
      <p:sp>
        <p:nvSpPr>
          <p:cNvPr id="60" name="Shape 49"/>
          <p:cNvSpPr/>
          <p:nvPr/>
        </p:nvSpPr>
        <p:spPr>
          <a:xfrm>
            <a:off x="7767828" y="5424221"/>
            <a:ext cx="724205" cy="286207"/>
          </a:xfrm>
          <a:prstGeom prst="roundRect">
            <a:avLst>
              <a:gd name="adj" fmla="val 42599"/>
            </a:avLst>
          </a:prstGeom>
          <a:noFill/>
          <a:ln w="12700">
            <a:solidFill>
              <a:srgbClr val="15803D"/>
            </a:solidFill>
            <a:prstDash val="solid"/>
          </a:ln>
        </p:spPr>
      </p:sp>
      <p:sp>
        <p:nvSpPr>
          <p:cNvPr id="61" name="Text 50"/>
          <p:cNvSpPr txBox="1"/>
          <p:nvPr/>
        </p:nvSpPr>
        <p:spPr>
          <a:xfrm>
            <a:off x="7892186" y="5471770"/>
            <a:ext cx="56967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Network</a:t>
            </a:r>
            <a:endParaRPr lang="en-US" sz="900" dirty="0"/>
          </a:p>
        </p:txBody>
      </p:sp>
      <p:sp>
        <p:nvSpPr>
          <p:cNvPr id="62" name="Shape 51"/>
          <p:cNvSpPr/>
          <p:nvPr/>
        </p:nvSpPr>
        <p:spPr>
          <a:xfrm>
            <a:off x="8578901" y="5424221"/>
            <a:ext cx="1314907" cy="286207"/>
          </a:xfrm>
          <a:prstGeom prst="roundRect">
            <a:avLst>
              <a:gd name="adj" fmla="val 42599"/>
            </a:avLst>
          </a:prstGeom>
          <a:noFill/>
          <a:ln w="12700">
            <a:solidFill>
              <a:srgbClr val="15803D"/>
            </a:solidFill>
            <a:prstDash val="solid"/>
          </a:ln>
        </p:spPr>
      </p:sp>
      <p:sp>
        <p:nvSpPr>
          <p:cNvPr id="63" name="Text 52"/>
          <p:cNvSpPr txBox="1"/>
          <p:nvPr/>
        </p:nvSpPr>
        <p:spPr>
          <a:xfrm>
            <a:off x="8702345" y="5471770"/>
            <a:ext cx="116037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Login Prompt / GUI</a:t>
            </a:r>
            <a:endParaRPr lang="en-US" sz="9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0" b="0"/>
          <a:stretch/>
        </p:blipFill>
        <p:spPr>
          <a:xfrm>
            <a:off x="8858707" y="2438705"/>
            <a:ext cx="3810305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63633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BIOS/UEFI: The First Step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1996135"/>
            <a:ext cx="1426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56007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Performs hardware initialization (POST)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2756002"/>
            <a:ext cx="142646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5646" y="2680106"/>
            <a:ext cx="650595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Selects boot device order (Disk, USB, Network)</a:t>
            </a:r>
            <a:endParaRPr lang="en-US" sz="2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5646" y="3439973"/>
            <a:ext cx="46104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Hands control to the boot loader</a:t>
            </a:r>
            <a:endParaRPr lang="en-US" sz="2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833018" y="4276649"/>
            <a:ext cx="142646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85646" y="4200754"/>
            <a:ext cx="69348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UEFI supports modern features (larger disks, GUI)</a:t>
            </a:r>
            <a:endParaRPr lang="en-US" sz="2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85646" y="4960620"/>
            <a:ext cx="600120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Secure Boot may be enabled for protection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8528609" y="6362395"/>
            <a:ext cx="30202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7: Boot Loaders, Kernels, Daemons</a:t>
            </a:r>
            <a:endParaRPr lang="en-US" sz="12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0" b="0"/>
          <a:stretch/>
        </p:blipFill>
        <p:spPr>
          <a:xfrm>
            <a:off x="8858707" y="2438705"/>
            <a:ext cx="3810305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612465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Boot Loader: What Is It?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1996135"/>
            <a:ext cx="1426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78108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Small program residing on the storage disk (MBR or EFI)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2756002"/>
            <a:ext cx="142646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5646" y="2680106"/>
            <a:ext cx="74679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Primary task: Loads kernel and initramfs into memory</a:t>
            </a:r>
            <a:endParaRPr lang="en-US" sz="2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5646" y="3439973"/>
            <a:ext cx="65919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Passes essential boot parameters to the kernel</a:t>
            </a:r>
            <a:endParaRPr lang="en-US" sz="2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833018" y="4276649"/>
            <a:ext cx="142646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85646" y="4200754"/>
            <a:ext cx="852495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Provides a menu for selecting OS versions or recovery modes</a:t>
            </a:r>
            <a:endParaRPr lang="en-US" sz="2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85646" y="4960620"/>
            <a:ext cx="886785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Examples: GRUB (Linux), systemd-boot, Windows Boot Manager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8528609" y="6362395"/>
            <a:ext cx="30202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7: Boot Loaders, Kernels, Daemons</a:t>
            </a:r>
            <a:endParaRPr lang="en-US" sz="12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0" b="0"/>
          <a:stretch/>
        </p:blipFill>
        <p:spPr>
          <a:xfrm>
            <a:off x="8858707" y="2438705"/>
            <a:ext cx="3810305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672541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GRUB: Linux’s Boot Loader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1996135"/>
            <a:ext cx="1426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43059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Common across many distros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761695" y="2651760"/>
            <a:ext cx="42675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Config at /boot/grub/grub.cfg</a:t>
            </a:r>
            <a:endParaRPr lang="en-US" sz="2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85646" y="3439973"/>
            <a:ext cx="368686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Supports multiple kernels</a:t>
            </a:r>
            <a:endParaRPr lang="en-US" sz="2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4276649"/>
            <a:ext cx="142646" cy="2286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85646" y="4200754"/>
            <a:ext cx="404896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Recovery and rescue modes</a:t>
            </a:r>
            <a:endParaRPr lang="en-US" sz="24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285646" y="4960620"/>
            <a:ext cx="33147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Chainloads other OSes</a:t>
            </a:r>
            <a:endParaRPr lang="en-US" sz="2400" dirty="0"/>
          </a:p>
        </p:txBody>
      </p:sp>
      <p:sp>
        <p:nvSpPr>
          <p:cNvPr id="17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19" name="Text 12"/>
          <p:cNvSpPr txBox="1"/>
          <p:nvPr/>
        </p:nvSpPr>
        <p:spPr>
          <a:xfrm>
            <a:off x="8528609" y="6362395"/>
            <a:ext cx="30202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7: Boot Loaders, Kernels, Daemons</a:t>
            </a:r>
            <a:endParaRPr lang="en-US" sz="12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rcRect l="-27" r="-27" t="0" b="0"/>
          <a:stretch/>
        </p:blipFill>
        <p:spPr>
          <a:xfrm>
            <a:off x="8820302" y="2959913"/>
            <a:ext cx="3752698" cy="33339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528609" y="6362395"/>
            <a:ext cx="30202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7: Boot Loaders, Kernels, Daemons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61695" y="371246"/>
            <a:ext cx="591982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Boot Loader: How It Works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1162202" y="2130552"/>
            <a:ext cx="38405" cy="35524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7"/>
          <p:cNvSpPr/>
          <p:nvPr/>
        </p:nvSpPr>
        <p:spPr>
          <a:xfrm>
            <a:off x="952805" y="1983334"/>
            <a:ext cx="457200" cy="457200"/>
          </a:xfrm>
          <a:prstGeom prst="ellipse">
            <a:avLst/>
          </a:prstGeom>
          <a:solidFill>
            <a:srgbClr val="3498DB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1136599" y="2040026"/>
            <a:ext cx="2670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695298" y="1901952"/>
            <a:ext cx="7830007" cy="619049"/>
          </a:xfrm>
          <a:prstGeom prst="roundRect">
            <a:avLst>
              <a:gd name="adj" fmla="val 1818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695298" y="1901952"/>
            <a:ext cx="38405" cy="61904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962302" y="2093062"/>
            <a:ext cx="549188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Reads configuration file and menu entries (e.g., grub.cfg)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952805" y="2830982"/>
            <a:ext cx="457200" cy="457200"/>
          </a:xfrm>
          <a:prstGeom prst="ellipse">
            <a:avLst/>
          </a:prstGeom>
          <a:solidFill>
            <a:srgbClr val="3498DB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1113739" y="2887675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695298" y="2749601"/>
            <a:ext cx="7830007" cy="619049"/>
          </a:xfrm>
          <a:prstGeom prst="roundRect">
            <a:avLst>
              <a:gd name="adj" fmla="val 1818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695298" y="2749601"/>
            <a:ext cx="38405" cy="61904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962302" y="2940710"/>
            <a:ext cx="442478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Loads the selected kernel image into memory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952805" y="3678631"/>
            <a:ext cx="457200" cy="457200"/>
          </a:xfrm>
          <a:prstGeom prst="ellipse">
            <a:avLst/>
          </a:prstGeom>
          <a:solidFill>
            <a:srgbClr val="3498DB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1113739" y="3735324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1695298" y="3597250"/>
            <a:ext cx="7830007" cy="619049"/>
          </a:xfrm>
          <a:prstGeom prst="roundRect">
            <a:avLst>
              <a:gd name="adj" fmla="val 1818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695298" y="3597250"/>
            <a:ext cx="38405" cy="61904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962302" y="3788359"/>
            <a:ext cx="519653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Loads initial RAM disk (initramfs) for essential drivers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952805" y="4526280"/>
            <a:ext cx="457200" cy="457200"/>
          </a:xfrm>
          <a:prstGeom prst="ellipse">
            <a:avLst/>
          </a:prstGeom>
          <a:solidFill>
            <a:srgbClr val="3498DB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1101852" y="4583887"/>
            <a:ext cx="3337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1695298" y="4444898"/>
            <a:ext cx="7830007" cy="619049"/>
          </a:xfrm>
          <a:prstGeom prst="roundRect">
            <a:avLst>
              <a:gd name="adj" fmla="val 1818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1695298" y="4444898"/>
            <a:ext cx="38405" cy="61904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962302" y="4636008"/>
            <a:ext cx="490118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Sets kernel parameters and prepares memory map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952805" y="5373929"/>
            <a:ext cx="457200" cy="457200"/>
          </a:xfrm>
          <a:prstGeom prst="ellipse">
            <a:avLst/>
          </a:prstGeom>
          <a:solidFill>
            <a:srgbClr val="3498DB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1112825" y="5431536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1695298" y="5293462"/>
            <a:ext cx="7830007" cy="619049"/>
          </a:xfrm>
          <a:prstGeom prst="roundRect">
            <a:avLst>
              <a:gd name="adj" fmla="val 1818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1695298" y="5293462"/>
            <a:ext cx="38405" cy="61904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1962302" y="5483657"/>
            <a:ext cx="572048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Transfers control to the kernel to begin system initialization</a:t>
            </a:r>
            <a:endParaRPr lang="en-US" sz="16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0" b="0"/>
          <a:stretch/>
        </p:blipFill>
        <p:spPr>
          <a:xfrm>
            <a:off x="8858707" y="2438705"/>
            <a:ext cx="3810305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501091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Kernel Initialization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90956" y="1996135"/>
            <a:ext cx="228600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43059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Hardware detection and setup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0956" y="2756002"/>
            <a:ext cx="228600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5646" y="2680106"/>
            <a:ext cx="469635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Mount temporary root (initramfs)</a:t>
            </a:r>
            <a:endParaRPr lang="en-US" sz="2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90956" y="3516782"/>
            <a:ext cx="228600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5646" y="3439973"/>
            <a:ext cx="345826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Start PID 1 (init system)</a:t>
            </a:r>
            <a:endParaRPr lang="en-US" sz="2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45" b="-45"/>
          <a:stretch/>
        </p:blipFill>
        <p:spPr>
          <a:xfrm>
            <a:off x="776326" y="4276649"/>
            <a:ext cx="256946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85646" y="4200754"/>
            <a:ext cx="378195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Mount real root filesystem</a:t>
            </a:r>
            <a:endParaRPr lang="en-US" sz="2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-80" r="-80" t="0" b="0"/>
          <a:stretch/>
        </p:blipFill>
        <p:spPr>
          <a:xfrm>
            <a:off x="761695" y="5036515"/>
            <a:ext cx="286207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85646" y="4960620"/>
            <a:ext cx="30486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Switch to user space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8528609" y="6362395"/>
            <a:ext cx="30202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7: Boot Loaders, Kernels, Daemons</a:t>
            </a:r>
            <a:endParaRPr lang="en-US" sz="12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0" b="0"/>
          <a:stretch/>
        </p:blipFill>
        <p:spPr>
          <a:xfrm>
            <a:off x="8858707" y="2438705"/>
            <a:ext cx="3810305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593445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Kernel: Loading Drivers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1996135"/>
            <a:ext cx="1426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761055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Built-in (static) vs. Loadable Kernel Modules (dynamic)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761695" y="2651760"/>
            <a:ext cx="82296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modprobe command loads required modules automatically</a:t>
            </a:r>
            <a:endParaRPr lang="en-US" sz="2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85646" y="3439973"/>
            <a:ext cx="75255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Initializes critical hardware: storage, network, and USB</a:t>
            </a:r>
            <a:endParaRPr lang="en-US" sz="2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4276649"/>
            <a:ext cx="142646" cy="2286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85646" y="4200754"/>
            <a:ext cx="643006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Logs hardware events to the kernel ring buffer</a:t>
            </a:r>
            <a:endParaRPr lang="en-US" sz="24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285646" y="4960620"/>
            <a:ext cx="77724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Prepares the hardware environment for system services</a:t>
            </a:r>
            <a:endParaRPr lang="en-US" sz="2400" dirty="0"/>
          </a:p>
        </p:txBody>
      </p:sp>
      <p:sp>
        <p:nvSpPr>
          <p:cNvPr id="17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19" name="Text 12"/>
          <p:cNvSpPr txBox="1"/>
          <p:nvPr/>
        </p:nvSpPr>
        <p:spPr>
          <a:xfrm>
            <a:off x="8528609" y="6362395"/>
            <a:ext cx="30202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7: Boot Loaders, Kernels, Daemons</a:t>
            </a:r>
            <a:endParaRPr lang="en-US" sz="12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-7" b="-7"/>
          <a:stretch/>
        </p:blipFill>
        <p:spPr>
          <a:xfrm>
            <a:off x="7905902" y="2438705"/>
            <a:ext cx="4762195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73536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Init System: Starting Services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1996135"/>
            <a:ext cx="1426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378195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PID 1 orchestrates startup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2756002"/>
            <a:ext cx="142646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5646" y="2680106"/>
            <a:ext cx="42483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Reads unit/service definitions</a:t>
            </a:r>
            <a:endParaRPr lang="en-US" sz="2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5646" y="3439973"/>
            <a:ext cx="31821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Starts targets in order</a:t>
            </a:r>
            <a:endParaRPr lang="en-US" sz="2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833018" y="4276649"/>
            <a:ext cx="142646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85646" y="4200754"/>
            <a:ext cx="435345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Monitors and restarts services</a:t>
            </a:r>
            <a:endParaRPr lang="en-US" sz="2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85646" y="4960620"/>
            <a:ext cx="284835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Shuts down cleanly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8528609" y="6362395"/>
            <a:ext cx="30202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7: Boot Loaders, Kernels, Daemons</a:t>
            </a:r>
            <a:endParaRPr lang="en-US" sz="12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-7" b="-7"/>
          <a:stretch/>
        </p:blipFill>
        <p:spPr>
          <a:xfrm>
            <a:off x="7905902" y="2438705"/>
            <a:ext cx="4762195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545805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Systemd: Modern Init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761695" y="1891894"/>
            <a:ext cx="45820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Unit types: service, socket, timer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61695" y="2651760"/>
            <a:ext cx="441015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systemctl to manage units</a:t>
            </a:r>
            <a:endParaRPr lang="en-US" sz="24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5646" y="3439973"/>
            <a:ext cx="536295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Parallel startup for faster boot speeds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761695" y="4171493"/>
            <a:ext cx="5649163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Includes journald for centralized logging</a:t>
            </a:r>
            <a:endParaRPr lang="en-US" sz="24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5646" y="4960620"/>
            <a:ext cx="76206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Widely used across major distributions (Ubuntu, RHEL)</a:t>
            </a:r>
            <a:endParaRPr lang="en-US" sz="2400" dirty="0"/>
          </a:p>
        </p:txBody>
      </p:sp>
      <p:sp>
        <p:nvSpPr>
          <p:cNvPr id="15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8528609" y="6362395"/>
            <a:ext cx="30202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7: Boot Loaders, Kernels, Daemons</a:t>
            </a:r>
            <a:endParaRPr lang="en-US" sz="12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-7" b="-7"/>
          <a:stretch/>
        </p:blipFill>
        <p:spPr>
          <a:xfrm>
            <a:off x="7905902" y="2438705"/>
            <a:ext cx="4762195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79635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Daemons: Background Services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1996135"/>
            <a:ext cx="1426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75630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 silently in the background without user interaction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2756002"/>
            <a:ext cx="142646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5646" y="2680106"/>
            <a:ext cx="748710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 core system functions (e.g., sshd, cron, httpd)</a:t>
            </a:r>
            <a:endParaRPr lang="en-US" sz="2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5646" y="3439973"/>
            <a:ext cx="578175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Start automatically at boot or on demand</a:t>
            </a:r>
            <a:endParaRPr lang="en-US" sz="2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833018" y="4276649"/>
            <a:ext cx="142646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85646" y="4200754"/>
            <a:ext cx="63057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Managed by init systems (Systemd, SysVinit)</a:t>
            </a:r>
            <a:endParaRPr lang="en-US" sz="2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85646" y="4960620"/>
            <a:ext cx="56967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 status and errors to system journals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8528609" y="6362395"/>
            <a:ext cx="30202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7: Boot Loaders, Kernels, Daemons</a:t>
            </a:r>
            <a:endParaRPr lang="en-US" sz="12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rcRect l="-60" r="-60" t="0" b="0"/>
          <a:stretch/>
        </p:blipFill>
        <p:spPr>
          <a:xfrm>
            <a:off x="8401507" y="3150108"/>
            <a:ext cx="4172407" cy="33339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74679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Common Daemons Explained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761695" y="1796796"/>
            <a:ext cx="675833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sshd: Secure remote access &amp; administration (SSH)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761695" y="2482596"/>
            <a:ext cx="635873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cron: Scheduled background tasks &amp; automation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761695" y="3168396"/>
            <a:ext cx="6805879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rsyslog / journald: System logging &amp; event recording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761695" y="3854196"/>
            <a:ext cx="5777179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nginx / httpd: Web servers &amp; reverse proxies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761695" y="4539996"/>
            <a:ext cx="763432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NetworkManager: Network interface &amp; connectivity control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528609" y="6362395"/>
            <a:ext cx="30202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7: Boot Loaders, Kernels, Daemons</a:t>
            </a:r>
            <a:endParaRPr lang="en-US" sz="12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528609" y="6362395"/>
            <a:ext cx="30202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7: Boot Loaders, Kernels, Daemons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61695" y="371246"/>
            <a:ext cx="5396789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 Running Services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761695" y="1444752"/>
            <a:ext cx="10668305" cy="3886200"/>
          </a:xfrm>
          <a:prstGeom prst="roundRect">
            <a:avLst>
              <a:gd name="adj" fmla="val 69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41300" dist="190500" dir="54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1754" y="1454810"/>
            <a:ext cx="10649102" cy="43799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Shape 8"/>
          <p:cNvSpPr/>
          <p:nvPr/>
        </p:nvSpPr>
        <p:spPr>
          <a:xfrm>
            <a:off x="771754" y="1883664"/>
            <a:ext cx="10649102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Shape 9"/>
          <p:cNvSpPr/>
          <p:nvPr/>
        </p:nvSpPr>
        <p:spPr>
          <a:xfrm>
            <a:off x="961949" y="1612087"/>
            <a:ext cx="114300" cy="1143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1152144" y="1612087"/>
            <a:ext cx="114300" cy="1143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1343254" y="1612087"/>
            <a:ext cx="114300" cy="1143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057046" y="2597810"/>
            <a:ext cx="19202" cy="55229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7046" y="3679546"/>
            <a:ext cx="19202" cy="828446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6" name="Shape 14"/>
          <p:cNvSpPr/>
          <p:nvPr/>
        </p:nvSpPr>
        <p:spPr>
          <a:xfrm>
            <a:off x="761695" y="5712257"/>
            <a:ext cx="10668305" cy="56235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61695" y="5712257"/>
            <a:ext cx="38405" cy="56235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8700" y="5878678"/>
            <a:ext cx="228600" cy="22860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5233111" y="1578254"/>
            <a:ext cx="19485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student@linux-server: ~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057046" y="2207362"/>
            <a:ext cx="2670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285646" y="2207362"/>
            <a:ext cx="24387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systemctl status ssh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3762756" y="2207362"/>
            <a:ext cx="42675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 status of a specific service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304849" y="2616098"/>
            <a:ext cx="59966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Loaded: loaded (/lib/systemd/system/ssh.service; enabled)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304849" y="2890418"/>
            <a:ext cx="853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Active: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2025396" y="2890418"/>
            <a:ext cx="17766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 (running)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3671316" y="2890418"/>
            <a:ext cx="25008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since Mon 2026-01-12...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1057046" y="3289097"/>
            <a:ext cx="2670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1285646" y="3289097"/>
            <a:ext cx="41532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systemctl list-units --type=service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478170" y="3289097"/>
            <a:ext cx="30102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see all loaded services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1304849" y="3698748"/>
            <a:ext cx="34244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 LOAD ACTIVE SUB DESCRIPTION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1304849" y="3973068"/>
            <a:ext cx="67199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cron.service loaded active running Regular background program...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1304849" y="4247388"/>
            <a:ext cx="67199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ssh.service loaded active running OpenBSD Secure Shell server...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1057046" y="4645152"/>
            <a:ext cx="2670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1285646" y="4645152"/>
            <a:ext cx="39246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journalctl -u ssh --since "today"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5249570" y="4645152"/>
            <a:ext cx="24387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review recent logs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1410005" y="5893308"/>
            <a:ext cx="87297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Tip: When checking status, always look for Active: active (running) in green text to confirm the service is healthy.</a:t>
            </a:r>
            <a:endParaRPr lang="en-US" sz="13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528609" y="6362395"/>
            <a:ext cx="30202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7: Boot Loaders, Kernels, Daemons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61695" y="371246"/>
            <a:ext cx="6196889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Manage Services: Start/Stop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761695" y="1802282"/>
            <a:ext cx="10668305" cy="3219602"/>
          </a:xfrm>
          <a:prstGeom prst="roundRect">
            <a:avLst>
              <a:gd name="adj" fmla="val 100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41300" dist="190500" dir="54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1754" y="1811426"/>
            <a:ext cx="10649102" cy="43799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Shape 8"/>
          <p:cNvSpPr/>
          <p:nvPr/>
        </p:nvSpPr>
        <p:spPr>
          <a:xfrm>
            <a:off x="771754" y="2240280"/>
            <a:ext cx="10649102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Shape 9"/>
          <p:cNvSpPr/>
          <p:nvPr/>
        </p:nvSpPr>
        <p:spPr>
          <a:xfrm>
            <a:off x="961949" y="1968703"/>
            <a:ext cx="114300" cy="1143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1152144" y="1968703"/>
            <a:ext cx="114300" cy="1143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1343254" y="1968703"/>
            <a:ext cx="114300" cy="1143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4" name="Shape 12"/>
          <p:cNvSpPr/>
          <p:nvPr/>
        </p:nvSpPr>
        <p:spPr>
          <a:xfrm>
            <a:off x="761695" y="5354726"/>
            <a:ext cx="10668305" cy="56235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61695" y="5354726"/>
            <a:ext cx="38405" cy="56235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-133" r="-133" t="0" b="0"/>
          <a:stretch/>
        </p:blipFill>
        <p:spPr>
          <a:xfrm>
            <a:off x="1028700" y="5522062"/>
            <a:ext cx="171907" cy="2286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352898" y="1935785"/>
            <a:ext cx="17099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student@linux-lab: ~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057046" y="2563978"/>
            <a:ext cx="2670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285646" y="2563978"/>
            <a:ext cx="28959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systemctl start ssh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219956" y="2563978"/>
            <a:ext cx="3238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Start service immediately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057046" y="3001975"/>
            <a:ext cx="2670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285646" y="3001975"/>
            <a:ext cx="27816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systemctl stop ssh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4105656" y="3001975"/>
            <a:ext cx="31245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Stop service immediately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057046" y="3440887"/>
            <a:ext cx="2670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285646" y="3440887"/>
            <a:ext cx="30102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systemctl enable ssh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4334256" y="3440887"/>
            <a:ext cx="34674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Start automatically at boot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1057046" y="3878885"/>
            <a:ext cx="2670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1285646" y="3878885"/>
            <a:ext cx="31245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systemctl disable ssh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4448556" y="3878885"/>
            <a:ext cx="31245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Prevent starting at boot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1057046" y="4316882"/>
            <a:ext cx="2670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1285646" y="4316882"/>
            <a:ext cx="31245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systemctl restart ssh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4448556" y="4316882"/>
            <a:ext cx="3810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Stop and start (apply changes)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352398" y="5535778"/>
            <a:ext cx="77202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 Tip: Use sudo systemctl enable --now ssh to enable AND start the service in a single command!</a:t>
            </a:r>
            <a:endParaRPr lang="en-US" sz="13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2" b="-2"/>
          <a:stretch/>
        </p:blipFill>
        <p:spPr>
          <a:xfrm>
            <a:off x="9334195" y="2438705"/>
            <a:ext cx="3333902" cy="381030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381805" y="2347265"/>
            <a:ext cx="7048195" cy="1920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381805" y="1604772"/>
            <a:ext cx="437723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Module 7 Summary</a:t>
            </a:r>
            <a:endParaRPr lang="en-US" sz="3100" dirty="0"/>
          </a:p>
        </p:txBody>
      </p:sp>
      <p:sp>
        <p:nvSpPr>
          <p:cNvPr id="8" name="Text 5"/>
          <p:cNvSpPr txBox="1"/>
          <p:nvPr/>
        </p:nvSpPr>
        <p:spPr>
          <a:xfrm>
            <a:off x="4381805" y="2747772"/>
            <a:ext cx="4219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Power-on leads to firmware, boot loader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381805" y="3306470"/>
            <a:ext cx="4572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Kernel initializes hardware and mounts root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381805" y="3864254"/>
            <a:ext cx="42483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Init system starts and monitors services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381805" y="4422038"/>
            <a:ext cx="37344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Daemons power server capabilities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381805" y="4980737"/>
            <a:ext cx="36768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systemctl and logs to manage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619695" y="6019495"/>
            <a:ext cx="3810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619695" y="6191402"/>
            <a:ext cx="169072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342425" y="6191402"/>
            <a:ext cx="204368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7: Boot Loaders, Kernels, Daemons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7" name="Shape 14"/>
          <p:cNvSpPr/>
          <p:nvPr/>
        </p:nvSpPr>
        <p:spPr>
          <a:xfrm>
            <a:off x="1143000" y="2031797"/>
            <a:ext cx="1333195" cy="1333195"/>
          </a:xfrm>
          <a:prstGeom prst="ellipse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25" b="-25"/>
          <a:stretch/>
        </p:blipFill>
        <p:spPr>
          <a:xfrm>
            <a:off x="1580998" y="2393899"/>
            <a:ext cx="457200" cy="609905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461211" y="3641141"/>
            <a:ext cx="9628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</a:t>
            </a:r>
            <a:endParaRPr lang="en-US" sz="2700" dirty="0"/>
          </a:p>
        </p:txBody>
      </p:sp>
      <p:sp>
        <p:nvSpPr>
          <p:cNvPr id="20" name="Text 16"/>
          <p:cNvSpPr txBox="1"/>
          <p:nvPr/>
        </p:nvSpPr>
        <p:spPr>
          <a:xfrm>
            <a:off x="788213" y="4052621"/>
            <a:ext cx="23052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Takeaways</a:t>
            </a:r>
            <a:endParaRPr lang="en-US" sz="2700" dirty="0"/>
          </a:p>
        </p:txBody>
      </p:sp>
      <p:sp>
        <p:nvSpPr>
          <p:cNvPr id="21" name="Text 17"/>
          <p:cNvSpPr txBox="1"/>
          <p:nvPr/>
        </p:nvSpPr>
        <p:spPr>
          <a:xfrm>
            <a:off x="1495044" y="4597603"/>
            <a:ext cx="7671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RECAP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0" y="0"/>
            <a:ext cx="3619195" cy="95098"/>
          </a:xfrm>
          <a:prstGeom prst="rect">
            <a:avLst/>
          </a:prstGeom>
          <a:solidFill>
            <a:srgbClr val="F1C40F"/>
          </a:solidFill>
          <a:ln/>
        </p:spPr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2606040"/>
            <a:ext cx="12191695" cy="4257446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-76" r="-76" t="0" b="0"/>
          <a:stretch/>
        </p:blipFill>
        <p:spPr>
          <a:xfrm>
            <a:off x="8591702" y="3567074"/>
            <a:ext cx="3219602" cy="28575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09598" y="3003804"/>
            <a:ext cx="8572500" cy="3457346"/>
          </a:xfrm>
          <a:prstGeom prst="roundRect">
            <a:avLst>
              <a:gd name="adj" fmla="val 11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41300" dist="101600" dir="5400000">
              <a:srgbClr val="000000">
                <a:alpha val="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809598" y="3003804"/>
            <a:ext cx="75895" cy="345734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457907" y="3412541"/>
            <a:ext cx="20436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TOPICS COVERED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-46154" r="-46154" t="0" b="0"/>
          <a:stretch/>
        </p:blipFill>
        <p:spPr>
          <a:xfrm>
            <a:off x="2457907" y="3934663"/>
            <a:ext cx="228600" cy="19019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876702" y="3888943"/>
            <a:ext cx="30385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Practice navigation and files</a:t>
            </a:r>
            <a:endParaRPr lang="en-US" sz="18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-46154" r="-46154" t="0" b="0"/>
          <a:stretch/>
        </p:blipFill>
        <p:spPr>
          <a:xfrm>
            <a:off x="2457907" y="4407408"/>
            <a:ext cx="228600" cy="19019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876702" y="4361688"/>
            <a:ext cx="31153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View processes and services</a:t>
            </a:r>
            <a:endParaRPr lang="en-US" sz="18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rcRect l="-46154" r="-46154" t="0" b="0"/>
          <a:stretch/>
        </p:blipFill>
        <p:spPr>
          <a:xfrm>
            <a:off x="2457907" y="4879238"/>
            <a:ext cx="228600" cy="19019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2876702" y="4833518"/>
            <a:ext cx="20766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Inspect logs safely</a:t>
            </a:r>
            <a:endParaRPr lang="en-US" sz="18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-46154" r="-46154" t="0" b="0"/>
          <a:stretch/>
        </p:blipFill>
        <p:spPr>
          <a:xfrm>
            <a:off x="2457907" y="5351983"/>
            <a:ext cx="228600" cy="190195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2876702" y="5306263"/>
            <a:ext cx="33531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Follow step-by-step commands</a:t>
            </a:r>
            <a:endParaRPr lang="en-US" sz="18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rcRect l="-46154" r="-46154" t="0" b="0"/>
          <a:stretch/>
        </p:blipFill>
        <p:spPr>
          <a:xfrm>
            <a:off x="2457907" y="5824728"/>
            <a:ext cx="228600" cy="190195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2876702" y="5779008"/>
            <a:ext cx="26005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Ask for help when stuck</a:t>
            </a:r>
            <a:endParaRPr lang="en-US" sz="1800" dirty="0"/>
          </a:p>
        </p:txBody>
      </p:sp>
      <p:sp>
        <p:nvSpPr>
          <p:cNvPr id="19" name="Shape 11"/>
          <p:cNvSpPr/>
          <p:nvPr/>
        </p:nvSpPr>
        <p:spPr>
          <a:xfrm>
            <a:off x="0" y="0"/>
            <a:ext cx="12191695" cy="260969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0" name="Text 12"/>
          <p:cNvSpPr txBox="1"/>
          <p:nvPr/>
        </p:nvSpPr>
        <p:spPr>
          <a:xfrm>
            <a:off x="5302606" y="748894"/>
            <a:ext cx="17629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MODULE 8</a:t>
            </a:r>
            <a:endParaRPr lang="en-US" sz="1800" dirty="0"/>
          </a:p>
        </p:txBody>
      </p:sp>
      <p:sp>
        <p:nvSpPr>
          <p:cNvPr id="21" name="Text 13"/>
          <p:cNvSpPr txBox="1"/>
          <p:nvPr/>
        </p:nvSpPr>
        <p:spPr>
          <a:xfrm>
            <a:off x="2866644" y="1176833"/>
            <a:ext cx="6924751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Linux Hands-on Lab</a:t>
            </a:r>
            <a:endParaRPr lang="en-US" sz="4800" dirty="0"/>
          </a:p>
        </p:txBody>
      </p:sp>
      <p:sp>
        <p:nvSpPr>
          <p:cNvPr id="22" name="Shape 14"/>
          <p:cNvSpPr/>
          <p:nvPr/>
        </p:nvSpPr>
        <p:spPr>
          <a:xfrm>
            <a:off x="11201400" y="228600"/>
            <a:ext cx="761695" cy="761695"/>
          </a:xfrm>
          <a:prstGeom prst="rect">
            <a:avLst/>
          </a:prstGeom>
          <a:noFill/>
          <a:ln w="508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228600" y="1615745"/>
            <a:ext cx="761695" cy="761695"/>
          </a:xfrm>
          <a:prstGeom prst="rect">
            <a:avLst/>
          </a:prstGeom>
          <a:noFill/>
          <a:ln w="508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0" y="2530145"/>
            <a:ext cx="12191695" cy="75895"/>
          </a:xfrm>
          <a:prstGeom prst="rect">
            <a:avLst/>
          </a:prstGeom>
          <a:solidFill>
            <a:srgbClr val="3498DB"/>
          </a:solidFill>
          <a:ln/>
        </p:spPr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0" b="0"/>
          <a:stretch/>
        </p:blipFill>
        <p:spPr>
          <a:xfrm>
            <a:off x="8858707" y="2438705"/>
            <a:ext cx="3810305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67437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Lab Overview &amp; Objectives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1996135"/>
            <a:ext cx="1426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451530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Navigate directories confidently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2756002"/>
            <a:ext cx="142646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5646" y="2680106"/>
            <a:ext cx="31053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Inspect files and logs</a:t>
            </a:r>
            <a:endParaRPr lang="en-US" sz="2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5646" y="3439973"/>
            <a:ext cx="433425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 processes and services</a:t>
            </a:r>
            <a:endParaRPr lang="en-US" sz="2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833018" y="4276649"/>
            <a:ext cx="142646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85646" y="4200754"/>
            <a:ext cx="43434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 safe read-only commands</a:t>
            </a:r>
            <a:endParaRPr lang="en-US" sz="2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85646" y="4960620"/>
            <a:ext cx="292425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 only in the VM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381744" y="6362395"/>
            <a:ext cx="21717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8: Linux Hands-on Lab</a:t>
            </a:r>
            <a:endParaRPr lang="en-US" sz="12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rcRect l="0" r="0" t="0" b="0"/>
          <a:stretch/>
        </p:blipFill>
        <p:spPr>
          <a:xfrm>
            <a:off x="8953805" y="3567074"/>
            <a:ext cx="2857500" cy="2857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13240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4"/>
          <p:cNvSpPr/>
          <p:nvPr/>
        </p:nvSpPr>
        <p:spPr>
          <a:xfrm>
            <a:off x="761695" y="1281989"/>
            <a:ext cx="952805" cy="3840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61695" y="466344"/>
            <a:ext cx="831555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Lab Safety: Practice Environment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761695" y="1796796"/>
            <a:ext cx="10668305" cy="752551"/>
          </a:xfrm>
          <a:prstGeom prst="roundRect">
            <a:avLst>
              <a:gd name="adj" fmla="val 184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61695" y="1796796"/>
            <a:ext cx="57607" cy="752551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04595" y="2039112"/>
            <a:ext cx="267005" cy="26700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61695" y="2815438"/>
            <a:ext cx="10668305" cy="752551"/>
          </a:xfrm>
          <a:prstGeom prst="roundRect">
            <a:avLst>
              <a:gd name="adj" fmla="val 184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61695" y="2815438"/>
            <a:ext cx="57607" cy="752551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104595" y="3058668"/>
            <a:ext cx="267005" cy="267005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761695" y="3834994"/>
            <a:ext cx="10668305" cy="752551"/>
          </a:xfrm>
          <a:prstGeom prst="roundRect">
            <a:avLst>
              <a:gd name="adj" fmla="val 184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61695" y="3834994"/>
            <a:ext cx="57607" cy="752551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104595" y="4077310"/>
            <a:ext cx="267005" cy="267005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761695" y="4853635"/>
            <a:ext cx="10668305" cy="752551"/>
          </a:xfrm>
          <a:prstGeom prst="roundRect">
            <a:avLst>
              <a:gd name="adj" fmla="val 184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61695" y="4853635"/>
            <a:ext cx="57607" cy="752551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104595" y="5096866"/>
            <a:ext cx="267005" cy="267005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761695" y="5873191"/>
            <a:ext cx="10668305" cy="752551"/>
          </a:xfrm>
          <a:prstGeom prst="roundRect">
            <a:avLst>
              <a:gd name="adj" fmla="val 184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761695" y="5873191"/>
            <a:ext cx="57607" cy="752551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104595" y="6115507"/>
            <a:ext cx="267005" cy="267005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609344" y="2025396"/>
            <a:ext cx="294802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your Ubuntu VM only</a:t>
            </a:r>
            <a:endParaRPr lang="en-US" sz="1900" dirty="0"/>
          </a:p>
        </p:txBody>
      </p:sp>
      <p:sp>
        <p:nvSpPr>
          <p:cNvPr id="25" name="Text 17"/>
          <p:cNvSpPr txBox="1"/>
          <p:nvPr/>
        </p:nvSpPr>
        <p:spPr>
          <a:xfrm>
            <a:off x="1609344" y="3044038"/>
            <a:ext cx="306232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sudo unless instructed</a:t>
            </a:r>
            <a:endParaRPr lang="en-US" sz="1900" dirty="0"/>
          </a:p>
        </p:txBody>
      </p:sp>
      <p:sp>
        <p:nvSpPr>
          <p:cNvPr id="26" name="Text 18"/>
          <p:cNvSpPr txBox="1"/>
          <p:nvPr/>
        </p:nvSpPr>
        <p:spPr>
          <a:xfrm>
            <a:off x="1609344" y="4063594"/>
            <a:ext cx="341528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Avoid deleting outside /home</a:t>
            </a:r>
            <a:endParaRPr lang="en-US" sz="1900" dirty="0"/>
          </a:p>
        </p:txBody>
      </p:sp>
      <p:sp>
        <p:nvSpPr>
          <p:cNvPr id="27" name="Text 19"/>
          <p:cNvSpPr txBox="1"/>
          <p:nvPr/>
        </p:nvSpPr>
        <p:spPr>
          <a:xfrm>
            <a:off x="1609344" y="5082235"/>
            <a:ext cx="3719779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 commands before running</a:t>
            </a:r>
            <a:endParaRPr lang="en-US" sz="1900" dirty="0"/>
          </a:p>
        </p:txBody>
      </p:sp>
      <p:sp>
        <p:nvSpPr>
          <p:cNvPr id="28" name="Text 20"/>
          <p:cNvSpPr txBox="1"/>
          <p:nvPr/>
        </p:nvSpPr>
        <p:spPr>
          <a:xfrm>
            <a:off x="1609344" y="6101791"/>
            <a:ext cx="291053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Stop if output looks risky</a:t>
            </a:r>
            <a:endParaRPr lang="en-US" sz="1900" dirty="0"/>
          </a:p>
        </p:txBody>
      </p:sp>
      <p:sp>
        <p:nvSpPr>
          <p:cNvPr id="29" name="Shape 21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761695" y="6362395"/>
            <a:ext cx="21717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8: Linux Hands-on Lab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10254996" y="6362395"/>
            <a:ext cx="12957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Safety Guidelines</a:t>
            </a:r>
            <a:endParaRPr lang="en-US" sz="12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rcRect l="-1" r="-1" t="0" b="0"/>
          <a:stretch/>
        </p:blipFill>
        <p:spPr>
          <a:xfrm>
            <a:off x="7524598" y="1390802"/>
            <a:ext cx="4286707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9381744" y="6362395"/>
            <a:ext cx="21717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8: Linux Hands-on Lab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61695" y="371246"/>
            <a:ext cx="844448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Exercise 1: Navigate Directories (Guide)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61695" y="1899209"/>
            <a:ext cx="10477195" cy="847649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61695" y="1899209"/>
            <a:ext cx="57607" cy="847649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Shape 8"/>
          <p:cNvSpPr/>
          <p:nvPr/>
        </p:nvSpPr>
        <p:spPr>
          <a:xfrm>
            <a:off x="1009498" y="2091233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3498DB"/>
          </a:solidFill>
          <a:ln/>
          <a:effectLst>
            <a:outerShdw sx="100000" sy="100000" kx="0" ky="0" algn="bl" rotWithShape="0" blurRad="63500" dist="38100" dir="5400000">
              <a:srgbClr val="3498db">
                <a:alpha val="3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1193292" y="2148840"/>
            <a:ext cx="2670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61695" y="2894076"/>
            <a:ext cx="10477195" cy="847649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61695" y="2894076"/>
            <a:ext cx="57607" cy="847649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5" name="Shape 12"/>
          <p:cNvSpPr/>
          <p:nvPr/>
        </p:nvSpPr>
        <p:spPr>
          <a:xfrm>
            <a:off x="1009498" y="3086100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3498DB"/>
          </a:solidFill>
          <a:ln/>
          <a:effectLst>
            <a:outerShdw sx="100000" sy="100000" kx="0" ky="0" algn="bl" rotWithShape="0" blurRad="63500" dist="38100" dir="5400000">
              <a:srgbClr val="3498db">
                <a:alpha val="3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1170432" y="3143707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761695" y="3888029"/>
            <a:ext cx="10477195" cy="847649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61695" y="3888029"/>
            <a:ext cx="57607" cy="847649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9" name="Shape 16"/>
          <p:cNvSpPr/>
          <p:nvPr/>
        </p:nvSpPr>
        <p:spPr>
          <a:xfrm>
            <a:off x="1009498" y="4080967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3498DB"/>
          </a:solidFill>
          <a:ln/>
          <a:effectLst>
            <a:outerShdw sx="100000" sy="100000" kx="0" ky="0" algn="bl" rotWithShape="0" blurRad="63500" dist="38100" dir="5400000">
              <a:srgbClr val="3498db">
                <a:alpha val="30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1170432" y="4137660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761695" y="4882896"/>
            <a:ext cx="10477195" cy="847649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61695" y="4882896"/>
            <a:ext cx="57607" cy="847649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3" name="Shape 20"/>
          <p:cNvSpPr/>
          <p:nvPr/>
        </p:nvSpPr>
        <p:spPr>
          <a:xfrm>
            <a:off x="1009498" y="5074920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3498DB"/>
          </a:solidFill>
          <a:ln/>
          <a:effectLst>
            <a:outerShdw sx="100000" sy="100000" kx="0" ky="0" algn="bl" rotWithShape="0" blurRad="63500" dist="38100" dir="5400000">
              <a:srgbClr val="3498db">
                <a:alpha val="30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1159459" y="5132527"/>
            <a:ext cx="3337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1657807" y="2080260"/>
            <a:ext cx="2248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 Terminal in Ubuntu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1657807" y="2384755"/>
            <a:ext cx="52870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Launch the terminal application from the Activities menu or press Ctrl+Alt+T.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1657807" y="3074213"/>
            <a:ext cx="17053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 inside: ~/lab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1657807" y="3379622"/>
            <a:ext cx="45061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will use a dedicated folder to keep your home directory clean.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1657807" y="4069080"/>
            <a:ext cx="3096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Observe current path and contents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1657807" y="4373575"/>
            <a:ext cx="44869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Always verify where you are with pwd and what files exist with ls.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1657807" y="5063947"/>
            <a:ext cx="3753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Safety Rule: Do not change system folders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1657807" y="5368442"/>
            <a:ext cx="49057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Avoid modifying directories outside your home folder (like /bin or /etc).</a:t>
            </a:r>
            <a:endParaRPr lang="en-US" sz="12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381744" y="6362395"/>
            <a:ext cx="21717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8: Linux Hands-on Lab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61695" y="371246"/>
            <a:ext cx="8987638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Exercise 1: Commands + Expected Output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761695" y="1313078"/>
            <a:ext cx="10668305" cy="4248302"/>
          </a:xfrm>
          <a:prstGeom prst="roundRect">
            <a:avLst>
              <a:gd name="adj" fmla="val 57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41300" dist="190500" dir="54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1754" y="1323137"/>
            <a:ext cx="10649102" cy="43799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Shape 8"/>
          <p:cNvSpPr/>
          <p:nvPr/>
        </p:nvSpPr>
        <p:spPr>
          <a:xfrm>
            <a:off x="771754" y="1751990"/>
            <a:ext cx="10649102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Shape 9"/>
          <p:cNvSpPr/>
          <p:nvPr/>
        </p:nvSpPr>
        <p:spPr>
          <a:xfrm>
            <a:off x="961949" y="1479499"/>
            <a:ext cx="114300" cy="1143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1152144" y="1479499"/>
            <a:ext cx="114300" cy="1143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1343254" y="1479499"/>
            <a:ext cx="114300" cy="1143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4" name="Shape 12"/>
          <p:cNvSpPr/>
          <p:nvPr/>
        </p:nvSpPr>
        <p:spPr>
          <a:xfrm>
            <a:off x="761695" y="5843930"/>
            <a:ext cx="10668305" cy="56235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61695" y="5843930"/>
            <a:ext cx="38405" cy="56235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8700" y="6010351"/>
            <a:ext cx="228600" cy="2286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192878" y="1446581"/>
            <a:ext cx="20244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student@linux-lab: ~/lab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057046" y="2008937"/>
            <a:ext cx="25054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2008937"/>
            <a:ext cx="47000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pwd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057046" y="2374697"/>
            <a:ext cx="198424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/home/student/lab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057046" y="2777947"/>
            <a:ext cx="25054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2777947"/>
            <a:ext cx="79369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-la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2122322" y="2777947"/>
            <a:ext cx="35076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Lists all files + permissions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057046" y="3143707"/>
            <a:ext cx="437449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drwxr-xr-x 2 student student 4096 ... .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057046" y="3433572"/>
            <a:ext cx="448879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drwxr-xr-x 5 student student 4096 ... ..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1057046" y="3837737"/>
            <a:ext cx="25054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1280160" y="3837737"/>
            <a:ext cx="198424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-p test/sub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3317443" y="3837737"/>
            <a:ext cx="296539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Creates parent structure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1057046" y="4203497"/>
            <a:ext cx="25054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1280160" y="4203497"/>
            <a:ext cx="1879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test/sub; pwd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1057046" y="4569257"/>
            <a:ext cx="296539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/home/student/lab/test/sub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1057046" y="4973422"/>
            <a:ext cx="25054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1280160" y="4973422"/>
            <a:ext cx="574243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1904695" y="4973422"/>
            <a:ext cx="252740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Returns to your home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1410005" y="6024982"/>
            <a:ext cx="80540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Observation: . means "current directory", .. means "parent directory", and ~ is your home folder shortcut.</a:t>
            </a:r>
            <a:endParaRPr lang="en-US" sz="13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rcRect l="0" r="0" t="-4" b="-4"/>
          <a:stretch/>
        </p:blipFill>
        <p:spPr>
          <a:xfrm>
            <a:off x="8953805" y="1390802"/>
            <a:ext cx="2857500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9381744" y="6362395"/>
            <a:ext cx="21717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8: Linux Hands-on Lab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61695" y="371246"/>
            <a:ext cx="6358738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Exercise 2: View Files (Guide)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61695" y="1602029"/>
            <a:ext cx="10477195" cy="961949"/>
          </a:xfrm>
          <a:prstGeom prst="roundRect">
            <a:avLst>
              <a:gd name="adj" fmla="val 11294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61695" y="1602029"/>
            <a:ext cx="57607" cy="961949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Shape 8"/>
          <p:cNvSpPr/>
          <p:nvPr/>
        </p:nvSpPr>
        <p:spPr>
          <a:xfrm>
            <a:off x="1009498" y="1845259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3498DB"/>
          </a:solidFill>
          <a:ln/>
          <a:effectLst>
            <a:outerShdw sx="100000" sy="100000" kx="0" ky="0" algn="bl" rotWithShape="0" blurRad="63500" dist="38100" dir="5400000">
              <a:srgbClr val="3498db">
                <a:alpha val="3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1202436" y="1912010"/>
            <a:ext cx="2670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61695" y="2755087"/>
            <a:ext cx="10477195" cy="961949"/>
          </a:xfrm>
          <a:prstGeom prst="roundRect">
            <a:avLst>
              <a:gd name="adj" fmla="val 11294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61695" y="2755087"/>
            <a:ext cx="57607" cy="961949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5" name="Shape 12"/>
          <p:cNvSpPr/>
          <p:nvPr/>
        </p:nvSpPr>
        <p:spPr>
          <a:xfrm>
            <a:off x="1009498" y="2997403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3498DB"/>
          </a:solidFill>
          <a:ln/>
          <a:effectLst>
            <a:outerShdw sx="100000" sy="100000" kx="0" ky="0" algn="bl" rotWithShape="0" blurRad="63500" dist="38100" dir="5400000">
              <a:srgbClr val="3498db">
                <a:alpha val="3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1180490" y="3064154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761695" y="3907231"/>
            <a:ext cx="10477195" cy="961949"/>
          </a:xfrm>
          <a:prstGeom prst="roundRect">
            <a:avLst>
              <a:gd name="adj" fmla="val 11294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61695" y="3907231"/>
            <a:ext cx="57607" cy="961949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9" name="Shape 16"/>
          <p:cNvSpPr/>
          <p:nvPr/>
        </p:nvSpPr>
        <p:spPr>
          <a:xfrm>
            <a:off x="1009498" y="4150462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3498DB"/>
          </a:solidFill>
          <a:ln/>
          <a:effectLst>
            <a:outerShdw sx="100000" sy="100000" kx="0" ky="0" algn="bl" rotWithShape="0" blurRad="63500" dist="38100" dir="5400000">
              <a:srgbClr val="3498db">
                <a:alpha val="30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1180490" y="4216298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761695" y="5059375"/>
            <a:ext cx="10477195" cy="961949"/>
          </a:xfrm>
          <a:prstGeom prst="roundRect">
            <a:avLst>
              <a:gd name="adj" fmla="val 11294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61695" y="5059375"/>
            <a:ext cx="57607" cy="961949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3" name="Shape 20"/>
          <p:cNvSpPr/>
          <p:nvPr/>
        </p:nvSpPr>
        <p:spPr>
          <a:xfrm>
            <a:off x="1009498" y="5302606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3498DB"/>
          </a:solidFill>
          <a:ln/>
          <a:effectLst>
            <a:outerShdw sx="100000" sy="100000" kx="0" ky="0" algn="bl" rotWithShape="0" blurRad="63500" dist="38100" dir="5400000">
              <a:srgbClr val="3498db">
                <a:alpha val="30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1168603" y="5369357"/>
            <a:ext cx="3337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1676095" y="1830629"/>
            <a:ext cx="2434133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a sample text file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1676095" y="2164385"/>
            <a:ext cx="52870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a file with multiple lines of text to use for testing commands safely.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1676095" y="2983687"/>
            <a:ext cx="242498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View entire file contents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676095" y="3316529"/>
            <a:ext cx="47439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the cat command to display all text at once (best for short files).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1676095" y="4135831"/>
            <a:ext cx="217718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Inspect specific parts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1676095" y="4469587"/>
            <a:ext cx="43918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head to see the beginning and tail to see the end of the file.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1676095" y="5287975"/>
            <a:ext cx="28154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 paging with less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1676095" y="5621731"/>
            <a:ext cx="48198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 longer files interactively with less; scroll with arrows, quit with q.</a:t>
            </a:r>
            <a:endParaRPr lang="en-US" sz="12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381744" y="6362395"/>
            <a:ext cx="21717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8: Linux Hands-on Lab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61695" y="371246"/>
            <a:ext cx="912022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Exercise 2: Commands &amp; Expected Output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761695" y="1241755"/>
            <a:ext cx="10668305" cy="4381805"/>
          </a:xfrm>
          <a:prstGeom prst="roundRect">
            <a:avLst>
              <a:gd name="adj" fmla="val 54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41300" dist="190500" dir="54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1754" y="1251814"/>
            <a:ext cx="10649102" cy="43799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Shape 8"/>
          <p:cNvSpPr/>
          <p:nvPr/>
        </p:nvSpPr>
        <p:spPr>
          <a:xfrm>
            <a:off x="771754" y="1680667"/>
            <a:ext cx="10649102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Shape 9"/>
          <p:cNvSpPr/>
          <p:nvPr/>
        </p:nvSpPr>
        <p:spPr>
          <a:xfrm>
            <a:off x="961949" y="1409090"/>
            <a:ext cx="114300" cy="1143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1152144" y="1409090"/>
            <a:ext cx="114300" cy="1143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1343254" y="1409090"/>
            <a:ext cx="114300" cy="1143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4" name="Shape 12"/>
          <p:cNvSpPr/>
          <p:nvPr/>
        </p:nvSpPr>
        <p:spPr>
          <a:xfrm>
            <a:off x="761695" y="5915254"/>
            <a:ext cx="10668305" cy="56235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61695" y="5915254"/>
            <a:ext cx="38405" cy="56235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-133" r="-133" t="0" b="0"/>
          <a:stretch/>
        </p:blipFill>
        <p:spPr>
          <a:xfrm>
            <a:off x="1028700" y="6081674"/>
            <a:ext cx="171907" cy="2286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192878" y="1375258"/>
            <a:ext cx="20244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student@linux-lab: ~/lab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000354" y="1937614"/>
            <a:ext cx="2340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217066" y="1937614"/>
            <a:ext cx="4453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-e "line1\nline2\nline3" &gt; sample.txt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000354" y="2287829"/>
            <a:ext cx="2340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217066" y="2287829"/>
            <a:ext cx="15764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sample.txt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2809951" y="2287829"/>
            <a:ext cx="19860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prints all lines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000354" y="2638044"/>
            <a:ext cx="6528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line1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000354" y="2912364"/>
            <a:ext cx="6528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line2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000354" y="3186684"/>
            <a:ext cx="6528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line3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000354" y="3575304"/>
            <a:ext cx="2340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1217066" y="3575304"/>
            <a:ext cx="19860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 -1 sample.txt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3221431" y="3575304"/>
            <a:ext cx="2395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view first line only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1000354" y="3926434"/>
            <a:ext cx="6528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line1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1000354" y="4315054"/>
            <a:ext cx="2340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1217066" y="4315054"/>
            <a:ext cx="19860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 -1 sample.txt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3221431" y="4315054"/>
            <a:ext cx="22914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view last line only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1000354" y="4665269"/>
            <a:ext cx="6528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line3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1000354" y="5053889"/>
            <a:ext cx="2340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1217066" y="5053889"/>
            <a:ext cx="16815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 sample.txt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2913278" y="5053889"/>
            <a:ext cx="36338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opens viewer (press 'q' to exit)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1352398" y="6096305"/>
            <a:ext cx="87773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 Tip: cat dumps the whole file at once. For large logs or configs, always use less to scroll safely page-by-page.</a:t>
            </a:r>
            <a:endParaRPr lang="en-US" sz="13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rcRect l="0" r="0" t="0" b="0"/>
          <a:stretch/>
        </p:blipFill>
        <p:spPr>
          <a:xfrm>
            <a:off x="8382305" y="1993392"/>
            <a:ext cx="3333902" cy="33339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9381744" y="6362395"/>
            <a:ext cx="21717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8: Linux Hands-on Lab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61695" y="371246"/>
            <a:ext cx="7767828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Exercise 3: Check Processes (Guide)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61695" y="1709014"/>
            <a:ext cx="10477195" cy="914400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61695" y="1709014"/>
            <a:ext cx="57607" cy="9144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Shape 8"/>
          <p:cNvSpPr/>
          <p:nvPr/>
        </p:nvSpPr>
        <p:spPr>
          <a:xfrm>
            <a:off x="1047902" y="1924812"/>
            <a:ext cx="476402" cy="476402"/>
          </a:xfrm>
          <a:prstGeom prst="roundRect">
            <a:avLst>
              <a:gd name="adj" fmla="val 30710"/>
            </a:avLst>
          </a:prstGeom>
          <a:solidFill>
            <a:srgbClr val="3498DB"/>
          </a:solidFill>
          <a:ln/>
          <a:effectLst>
            <a:outerShdw sx="100000" sy="100000" kx="0" ky="0" algn="bl" rotWithShape="0" blurRad="50800" dist="25400" dir="5400000">
              <a:srgbClr val="3498db">
                <a:alpha val="3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1240841" y="1991563"/>
            <a:ext cx="2670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61695" y="2808122"/>
            <a:ext cx="10477195" cy="914400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61695" y="2808122"/>
            <a:ext cx="57607" cy="9144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5" name="Shape 12"/>
          <p:cNvSpPr/>
          <p:nvPr/>
        </p:nvSpPr>
        <p:spPr>
          <a:xfrm>
            <a:off x="1047902" y="3023921"/>
            <a:ext cx="476402" cy="476402"/>
          </a:xfrm>
          <a:prstGeom prst="roundRect">
            <a:avLst>
              <a:gd name="adj" fmla="val 30710"/>
            </a:avLst>
          </a:prstGeom>
          <a:solidFill>
            <a:srgbClr val="3498DB"/>
          </a:solidFill>
          <a:ln/>
          <a:effectLst>
            <a:outerShdw sx="100000" sy="100000" kx="0" ky="0" algn="bl" rotWithShape="0" blurRad="50800" dist="25400" dir="5400000">
              <a:srgbClr val="3498db">
                <a:alpha val="3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1217981" y="3090672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761695" y="3907231"/>
            <a:ext cx="10477195" cy="914400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61695" y="3907231"/>
            <a:ext cx="57607" cy="9144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9" name="Shape 16"/>
          <p:cNvSpPr/>
          <p:nvPr/>
        </p:nvSpPr>
        <p:spPr>
          <a:xfrm>
            <a:off x="1047902" y="4123030"/>
            <a:ext cx="476402" cy="476402"/>
          </a:xfrm>
          <a:prstGeom prst="roundRect">
            <a:avLst>
              <a:gd name="adj" fmla="val 30710"/>
            </a:avLst>
          </a:prstGeom>
          <a:solidFill>
            <a:srgbClr val="3498DB"/>
          </a:solidFill>
          <a:ln/>
          <a:effectLst>
            <a:outerShdw sx="100000" sy="100000" kx="0" ky="0" algn="bl" rotWithShape="0" blurRad="50800" dist="25400" dir="5400000">
              <a:srgbClr val="3498db">
                <a:alpha val="30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1217981" y="4189781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761695" y="5006340"/>
            <a:ext cx="10477195" cy="914400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61695" y="5006340"/>
            <a:ext cx="57607" cy="9144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3" name="Shape 20"/>
          <p:cNvSpPr/>
          <p:nvPr/>
        </p:nvSpPr>
        <p:spPr>
          <a:xfrm>
            <a:off x="1047902" y="5223053"/>
            <a:ext cx="476402" cy="476402"/>
          </a:xfrm>
          <a:prstGeom prst="roundRect">
            <a:avLst>
              <a:gd name="adj" fmla="val 30710"/>
            </a:avLst>
          </a:prstGeom>
          <a:solidFill>
            <a:srgbClr val="3498DB"/>
          </a:solidFill>
          <a:ln/>
          <a:effectLst>
            <a:outerShdw sx="100000" sy="100000" kx="0" ky="0" algn="bl" rotWithShape="0" blurRad="50800" dist="25400" dir="5400000">
              <a:srgbClr val="3498db">
                <a:alpha val="30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1207008" y="5289804"/>
            <a:ext cx="3337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1752905" y="1918411"/>
            <a:ext cx="283372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Goal: See running processes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1752905" y="2242109"/>
            <a:ext cx="55632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 the difference between ps (snapshot) and top (real-time monitoring).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1752905" y="3017520"/>
            <a:ext cx="274868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 your shell and terminal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752905" y="3341218"/>
            <a:ext cx="57150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your own session's Process ID (PID) and the terminal application hosting it.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1752905" y="4116629"/>
            <a:ext cx="251002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Sort by CPU and memory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1752905" y="4440326"/>
            <a:ext cx="48106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Observe which processes are consuming the most system resources.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1752905" y="5215738"/>
            <a:ext cx="148132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Exit top with q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1752905" y="5539435"/>
            <a:ext cx="44010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Safely exit the interactive process viewer by pressing the 'q' key.</a:t>
            </a:r>
            <a:endParaRPr lang="en-US" sz="12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381744" y="6362395"/>
            <a:ext cx="21717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8: Linux Hands-on Lab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61695" y="371246"/>
            <a:ext cx="912022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Exercise 3: Commands &amp; Expected Output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761695" y="1294790"/>
            <a:ext cx="10668305" cy="4286707"/>
          </a:xfrm>
          <a:prstGeom prst="roundRect">
            <a:avLst>
              <a:gd name="adj" fmla="val 56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41300" dist="190500" dir="54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1754" y="1303934"/>
            <a:ext cx="10649102" cy="43799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Shape 8"/>
          <p:cNvSpPr/>
          <p:nvPr/>
        </p:nvSpPr>
        <p:spPr>
          <a:xfrm>
            <a:off x="771754" y="1732788"/>
            <a:ext cx="10649102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Shape 9"/>
          <p:cNvSpPr/>
          <p:nvPr/>
        </p:nvSpPr>
        <p:spPr>
          <a:xfrm>
            <a:off x="961949" y="1461211"/>
            <a:ext cx="114300" cy="1143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1152144" y="1461211"/>
            <a:ext cx="114300" cy="1143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1343254" y="1461211"/>
            <a:ext cx="114300" cy="1143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4" name="Shape 12"/>
          <p:cNvSpPr/>
          <p:nvPr/>
        </p:nvSpPr>
        <p:spPr>
          <a:xfrm>
            <a:off x="761695" y="5862218"/>
            <a:ext cx="10668305" cy="56235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61695" y="5862218"/>
            <a:ext cx="38405" cy="56235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-133" r="-133" t="0" b="0"/>
          <a:stretch/>
        </p:blipFill>
        <p:spPr>
          <a:xfrm>
            <a:off x="1028700" y="6029554"/>
            <a:ext cx="171907" cy="2286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352898" y="1428293"/>
            <a:ext cx="17099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student@linux-lab: ~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057046" y="1989734"/>
            <a:ext cx="2340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274674" y="1989734"/>
            <a:ext cx="13670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-e | head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2699309" y="1989734"/>
            <a:ext cx="38340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list running processes (first few)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057046" y="2302459"/>
            <a:ext cx="55833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 TTY TIME CMD 1 ? 00:00:01 systemd 2 ? 00:00:00 kthreadd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057046" y="2663647"/>
            <a:ext cx="2340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274674" y="2663647"/>
            <a:ext cx="4434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773936" y="2663647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live viewer (press 'q' to quit)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057046" y="3336646"/>
            <a:ext cx="2340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274674" y="3336646"/>
            <a:ext cx="19860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aux | grep bash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3317443" y="3336646"/>
            <a:ext cx="18818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find your shell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1057046" y="3649370"/>
            <a:ext cx="52120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1234 0.0 0.1 8892 5240 pts/0 Ss 10:00 0:00 bash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1057046" y="4010558"/>
            <a:ext cx="2340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1274674" y="4010558"/>
            <a:ext cx="9573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uname -r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2287829" y="4010558"/>
            <a:ext cx="2395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 kernel version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1057046" y="4323283"/>
            <a:ext cx="16971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5.15.0-76-generic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1057046" y="4684471"/>
            <a:ext cx="2340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1274674" y="4684471"/>
            <a:ext cx="4434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1773936" y="4684471"/>
            <a:ext cx="22914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see logged-in users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1057046" y="4996282"/>
            <a:ext cx="280263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tty1 2026-01-12 08:00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1352398" y="6043270"/>
            <a:ext cx="99020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Important: If you get stuck in the top command screen, simply press the q key on your keyboard to exit and return to the prompt.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1057046" y="2975458"/>
            <a:ext cx="502188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(Shows dynamic table: CPU %, Mem %, Tasks running...)</a:t>
            </a:r>
            <a:endParaRPr lang="en-US" sz="12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rcRect l="0" r="0" t="0" b="0"/>
          <a:stretch/>
        </p:blipFill>
        <p:spPr>
          <a:xfrm>
            <a:off x="8001000" y="1390802"/>
            <a:ext cx="3810305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9381744" y="6362395"/>
            <a:ext cx="21717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8: Linux Hands-on Lab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61695" y="371246"/>
            <a:ext cx="718718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Exercise 4: View Services (Guide)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61695" y="1545336"/>
            <a:ext cx="10477195" cy="990295"/>
          </a:xfrm>
          <a:prstGeom prst="roundRect">
            <a:avLst>
              <a:gd name="adj" fmla="val 10654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61695" y="1545336"/>
            <a:ext cx="57607" cy="990295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Shape 8"/>
          <p:cNvSpPr/>
          <p:nvPr/>
        </p:nvSpPr>
        <p:spPr>
          <a:xfrm>
            <a:off x="1047902" y="1802282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3498DB"/>
          </a:solidFill>
          <a:ln/>
          <a:effectLst>
            <a:outerShdw sx="100000" sy="100000" kx="0" ky="0" algn="bl" rotWithShape="0" blurRad="63500" dist="38100" dir="5400000">
              <a:srgbClr val="3498db">
                <a:alpha val="3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1233526" y="1840687"/>
            <a:ext cx="3054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761695" y="2725826"/>
            <a:ext cx="10477195" cy="990295"/>
          </a:xfrm>
          <a:prstGeom prst="roundRect">
            <a:avLst>
              <a:gd name="adj" fmla="val 10654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61695" y="2725826"/>
            <a:ext cx="57607" cy="990295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5" name="Shape 12"/>
          <p:cNvSpPr/>
          <p:nvPr/>
        </p:nvSpPr>
        <p:spPr>
          <a:xfrm>
            <a:off x="1047902" y="2983687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3498DB"/>
          </a:solidFill>
          <a:ln/>
          <a:effectLst>
            <a:outerShdw sx="100000" sy="100000" kx="0" ky="0" algn="bl" rotWithShape="0" blurRad="63500" dist="38100" dir="5400000">
              <a:srgbClr val="3498db">
                <a:alpha val="3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1207008" y="3021178"/>
            <a:ext cx="3621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761695" y="3907231"/>
            <a:ext cx="10477195" cy="990295"/>
          </a:xfrm>
          <a:prstGeom prst="roundRect">
            <a:avLst>
              <a:gd name="adj" fmla="val 10654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61695" y="3907231"/>
            <a:ext cx="57607" cy="990295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9" name="Shape 16"/>
          <p:cNvSpPr/>
          <p:nvPr/>
        </p:nvSpPr>
        <p:spPr>
          <a:xfrm>
            <a:off x="1047902" y="4164178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3498DB"/>
          </a:solidFill>
          <a:ln/>
          <a:effectLst>
            <a:outerShdw sx="100000" sy="100000" kx="0" ky="0" algn="bl" rotWithShape="0" blurRad="63500" dist="38100" dir="5400000">
              <a:srgbClr val="3498db">
                <a:alpha val="30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1207008" y="4202582"/>
            <a:ext cx="3621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100" dirty="0"/>
          </a:p>
        </p:txBody>
      </p:sp>
      <p:sp>
        <p:nvSpPr>
          <p:cNvPr id="21" name="Shape 18"/>
          <p:cNvSpPr/>
          <p:nvPr/>
        </p:nvSpPr>
        <p:spPr>
          <a:xfrm>
            <a:off x="761695" y="5088636"/>
            <a:ext cx="10477195" cy="990295"/>
          </a:xfrm>
          <a:prstGeom prst="roundRect">
            <a:avLst>
              <a:gd name="adj" fmla="val 10654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61695" y="5088636"/>
            <a:ext cx="57607" cy="990295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3" name="Shape 20"/>
          <p:cNvSpPr/>
          <p:nvPr/>
        </p:nvSpPr>
        <p:spPr>
          <a:xfrm>
            <a:off x="1047902" y="5345582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3498DB"/>
          </a:solidFill>
          <a:ln/>
          <a:effectLst>
            <a:outerShdw sx="100000" sy="100000" kx="0" ky="0" algn="bl" rotWithShape="0" blurRad="63500" dist="38100" dir="5400000">
              <a:srgbClr val="3498db">
                <a:alpha val="30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1194206" y="5383987"/>
            <a:ext cx="391363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100" dirty="0"/>
          </a:p>
        </p:txBody>
      </p:sp>
      <p:sp>
        <p:nvSpPr>
          <p:cNvPr id="25" name="Text 22"/>
          <p:cNvSpPr txBox="1"/>
          <p:nvPr/>
        </p:nvSpPr>
        <p:spPr>
          <a:xfrm>
            <a:off x="1752905" y="1773936"/>
            <a:ext cx="21296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systemctl status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1752905" y="2116836"/>
            <a:ext cx="72539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 the detailed state of specific services like cron or ssh to see if they are active (running).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1752905" y="2954426"/>
            <a:ext cx="18909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Filter units by type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752905" y="3297326"/>
            <a:ext cx="58631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List only service units to avoid cluttering the output with mounts or devices.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1752905" y="4135831"/>
            <a:ext cx="282458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 recent logs per service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1752905" y="4478731"/>
            <a:ext cx="55010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Inspect the most recent log lines attached to the service status output.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1752905" y="5317236"/>
            <a:ext cx="204368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changes to state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1752905" y="5660136"/>
            <a:ext cx="62727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is a read-only exercise. Do not start, stop, or restart any services in this step.</a:t>
            </a:r>
            <a:endParaRPr lang="en-US" sz="13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381744" y="6362395"/>
            <a:ext cx="21717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8: Linux Hands-on Lab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61695" y="371246"/>
            <a:ext cx="915863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Exercise 4: Commands &amp; Expected Output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761695" y="1957730"/>
            <a:ext cx="10668305" cy="2657246"/>
          </a:xfrm>
          <a:prstGeom prst="roundRect">
            <a:avLst>
              <a:gd name="adj" fmla="val 148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41300" dist="190500" dir="54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1754" y="1967789"/>
            <a:ext cx="10649102" cy="43799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Shape 8"/>
          <p:cNvSpPr/>
          <p:nvPr/>
        </p:nvSpPr>
        <p:spPr>
          <a:xfrm>
            <a:off x="771754" y="2396642"/>
            <a:ext cx="10649102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Shape 9"/>
          <p:cNvSpPr/>
          <p:nvPr/>
        </p:nvSpPr>
        <p:spPr>
          <a:xfrm>
            <a:off x="961949" y="2125066"/>
            <a:ext cx="114300" cy="1143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1152144" y="2125066"/>
            <a:ext cx="114300" cy="1143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1343254" y="2125066"/>
            <a:ext cx="114300" cy="1143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4" name="Shape 12"/>
          <p:cNvSpPr/>
          <p:nvPr/>
        </p:nvSpPr>
        <p:spPr>
          <a:xfrm>
            <a:off x="761695" y="4941418"/>
            <a:ext cx="10668305" cy="81930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61695" y="4941418"/>
            <a:ext cx="38405" cy="819302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-133" r="-133" t="0" b="0"/>
          <a:stretch/>
        </p:blipFill>
        <p:spPr>
          <a:xfrm>
            <a:off x="1028700" y="5236769"/>
            <a:ext cx="171907" cy="2286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352898" y="2091233"/>
            <a:ext cx="17099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student@linux-lab: ~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057046" y="2653589"/>
            <a:ext cx="2340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274674" y="2653589"/>
            <a:ext cx="4453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systemctl list-units --type=service | head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057046" y="3364992"/>
            <a:ext cx="2340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274674" y="3364992"/>
            <a:ext cx="22914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systemctl status cron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057046" y="4076395"/>
            <a:ext cx="2340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274674" y="4076395"/>
            <a:ext cx="41486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journalctl -u cron --since "1 hour ago"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5478170" y="4076395"/>
            <a:ext cx="12627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view logs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352398" y="5122469"/>
            <a:ext cx="99203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Navigation Tip: If the command output opens in a "pager" view (showing lines at the bottom), simply press q to quit and return to the prompt.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057046" y="2965399"/>
            <a:ext cx="1622328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 LOAD ACTIVE SUB DESCRIPTION cron.service loaded active running Regular background program processing daemon ssh.service loaded active running OpenBSD Secure Shell server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1057046" y="3677717"/>
            <a:ext cx="119649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cron.service - Regular background program processing daemon Active: active (running) since Mon 2026-01-12 10:00:00 UTC; 2h ago</a:t>
            </a:r>
            <a:endParaRPr lang="en-US" sz="12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rcRect l="0" r="0" t="-4" b="-4"/>
          <a:stretch/>
        </p:blipFill>
        <p:spPr>
          <a:xfrm>
            <a:off x="8953805" y="1390802"/>
            <a:ext cx="2857500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9381744" y="6362395"/>
            <a:ext cx="21717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8: Linux Hands-on Lab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61695" y="371246"/>
            <a:ext cx="805403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Exercise 5: View System Logs (Guide)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61695" y="1506931"/>
            <a:ext cx="10477195" cy="1009498"/>
          </a:xfrm>
          <a:prstGeom prst="roundRect">
            <a:avLst>
              <a:gd name="adj" fmla="val 10254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61695" y="1506931"/>
            <a:ext cx="57607" cy="100949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Shape 8"/>
          <p:cNvSpPr/>
          <p:nvPr/>
        </p:nvSpPr>
        <p:spPr>
          <a:xfrm>
            <a:off x="1047902" y="1744675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3498DB"/>
          </a:solidFill>
          <a:ln/>
          <a:effectLst>
            <a:outerShdw sx="100000" sy="100000" kx="0" ky="0" algn="bl" rotWithShape="0" blurRad="63500" dist="38100" dir="5400000">
              <a:srgbClr val="3498db">
                <a:alpha val="3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1233526" y="1783080"/>
            <a:ext cx="3054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761695" y="2706624"/>
            <a:ext cx="10477195" cy="1009498"/>
          </a:xfrm>
          <a:prstGeom prst="roundRect">
            <a:avLst>
              <a:gd name="adj" fmla="val 10254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61695" y="2706624"/>
            <a:ext cx="57607" cy="100949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5" name="Shape 12"/>
          <p:cNvSpPr/>
          <p:nvPr/>
        </p:nvSpPr>
        <p:spPr>
          <a:xfrm>
            <a:off x="1047902" y="2945282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3498DB"/>
          </a:solidFill>
          <a:ln/>
          <a:effectLst>
            <a:outerShdw sx="100000" sy="100000" kx="0" ky="0" algn="bl" rotWithShape="0" blurRad="63500" dist="38100" dir="5400000">
              <a:srgbClr val="3498db">
                <a:alpha val="3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1207008" y="2983687"/>
            <a:ext cx="3621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761695" y="3907231"/>
            <a:ext cx="10477195" cy="1009498"/>
          </a:xfrm>
          <a:prstGeom prst="roundRect">
            <a:avLst>
              <a:gd name="adj" fmla="val 10254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61695" y="3907231"/>
            <a:ext cx="57607" cy="100949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9" name="Shape 16"/>
          <p:cNvSpPr/>
          <p:nvPr/>
        </p:nvSpPr>
        <p:spPr>
          <a:xfrm>
            <a:off x="1047902" y="4144975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3498DB"/>
          </a:solidFill>
          <a:ln/>
          <a:effectLst>
            <a:outerShdw sx="100000" sy="100000" kx="0" ky="0" algn="bl" rotWithShape="0" blurRad="63500" dist="38100" dir="5400000">
              <a:srgbClr val="3498db">
                <a:alpha val="30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1207008" y="4183380"/>
            <a:ext cx="3621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100" dirty="0"/>
          </a:p>
        </p:txBody>
      </p:sp>
      <p:sp>
        <p:nvSpPr>
          <p:cNvPr id="21" name="Shape 18"/>
          <p:cNvSpPr/>
          <p:nvPr/>
        </p:nvSpPr>
        <p:spPr>
          <a:xfrm>
            <a:off x="761695" y="5106924"/>
            <a:ext cx="10477195" cy="1009498"/>
          </a:xfrm>
          <a:prstGeom prst="roundRect">
            <a:avLst>
              <a:gd name="adj" fmla="val 10254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61695" y="5106924"/>
            <a:ext cx="57607" cy="100949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3" name="Shape 20"/>
          <p:cNvSpPr/>
          <p:nvPr/>
        </p:nvSpPr>
        <p:spPr>
          <a:xfrm>
            <a:off x="1047902" y="5345582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3498DB"/>
          </a:solidFill>
          <a:ln/>
          <a:effectLst>
            <a:outerShdw sx="100000" sy="100000" kx="0" ky="0" algn="bl" rotWithShape="0" blurRad="63500" dist="38100" dir="5400000">
              <a:srgbClr val="3498db">
                <a:alpha val="30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1194206" y="5383987"/>
            <a:ext cx="391363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100" dirty="0"/>
          </a:p>
        </p:txBody>
      </p:sp>
      <p:sp>
        <p:nvSpPr>
          <p:cNvPr id="25" name="Text 22"/>
          <p:cNvSpPr txBox="1"/>
          <p:nvPr/>
        </p:nvSpPr>
        <p:spPr>
          <a:xfrm>
            <a:off x="1752905" y="1735531"/>
            <a:ext cx="259598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Goal: Use journalctl safely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1752905" y="2097634"/>
            <a:ext cx="75392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Learn how to access and read the systemd journal to troubleshoot issues or verify system events.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1752905" y="2935224"/>
            <a:ext cx="218633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 by time and unit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752905" y="3297326"/>
            <a:ext cx="76535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Filter logs to see only recent entries or entries from specific services (like ssh or NetworkManager).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1752905" y="4135831"/>
            <a:ext cx="188183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Search within logs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1752905" y="4497934"/>
            <a:ext cx="67299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the pager (similar to 'less') to navigate long log outputs and find specific keywords.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1752905" y="5335524"/>
            <a:ext cx="358627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 priority levels and safety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1752905" y="5697626"/>
            <a:ext cx="69869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errors versus warnings. Never attempt to manually edit log files; simply view them.</a:t>
            </a:r>
            <a:endParaRPr lang="en-US" sz="13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381744" y="6362395"/>
            <a:ext cx="21717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8: Linux Hands-on Lab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61695" y="371246"/>
            <a:ext cx="912022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Exercise 5: Commands &amp; Expected Output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761695" y="1241755"/>
            <a:ext cx="10668305" cy="4000500"/>
          </a:xfrm>
          <a:prstGeom prst="roundRect">
            <a:avLst>
              <a:gd name="adj" fmla="val 65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41300" dist="190500" dir="54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1754" y="1251814"/>
            <a:ext cx="10649102" cy="43799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Shape 8"/>
          <p:cNvSpPr/>
          <p:nvPr/>
        </p:nvSpPr>
        <p:spPr>
          <a:xfrm>
            <a:off x="771754" y="1680667"/>
            <a:ext cx="10649102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Shape 9"/>
          <p:cNvSpPr/>
          <p:nvPr/>
        </p:nvSpPr>
        <p:spPr>
          <a:xfrm>
            <a:off x="961949" y="1409090"/>
            <a:ext cx="114300" cy="1143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1152144" y="1409090"/>
            <a:ext cx="114300" cy="1143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1343254" y="1409090"/>
            <a:ext cx="114300" cy="1143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000354" y="2268626"/>
            <a:ext cx="19202" cy="4663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0354" y="3237890"/>
            <a:ext cx="19202" cy="4663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" name="Shape 14"/>
          <p:cNvSpPr/>
          <p:nvPr/>
        </p:nvSpPr>
        <p:spPr>
          <a:xfrm>
            <a:off x="1000354" y="4207154"/>
            <a:ext cx="19202" cy="2377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7" name="Shape 15"/>
          <p:cNvSpPr/>
          <p:nvPr/>
        </p:nvSpPr>
        <p:spPr>
          <a:xfrm>
            <a:off x="761695" y="5915254"/>
            <a:ext cx="10668305" cy="56235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8" name="Shape 16"/>
          <p:cNvSpPr/>
          <p:nvPr/>
        </p:nvSpPr>
        <p:spPr>
          <a:xfrm>
            <a:off x="761695" y="5915254"/>
            <a:ext cx="38405" cy="56235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-133" r="-133" t="0" b="0"/>
          <a:stretch/>
        </p:blipFill>
        <p:spPr>
          <a:xfrm>
            <a:off x="1028700" y="6081674"/>
            <a:ext cx="171907" cy="22860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5352898" y="1375258"/>
            <a:ext cx="17099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student@linux-lab: ~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000354" y="1937614"/>
            <a:ext cx="2340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217066" y="1937614"/>
            <a:ext cx="37389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journalctl -xe --since "10 min ago"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913986" y="1956816"/>
            <a:ext cx="262158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View recent detailed logs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1133856" y="2287829"/>
            <a:ext cx="9558223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Jan 12 10:30:01 ubuntu sshd[1234]: Accepted password for student from 192.168.1.5... Jan 12 10:30:05 ubuntu sudo[1235]: student : TTY=pts/0 ; PWD=/home/student ; USER=root...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00354" y="2906878"/>
            <a:ext cx="2340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217066" y="2906878"/>
            <a:ext cx="26051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journalctl -p warning -b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3781958" y="2926080"/>
            <a:ext cx="2525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Warnings since last boot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1133856" y="3257093"/>
            <a:ext cx="964417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Logs begin at Mon 2026-01-12 09:00:00 UTC. -- Jan 12 09:00:05 ubuntu kernel: ACPI Warning: SystemIO range 0x0000...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1000354" y="3876142"/>
            <a:ext cx="2340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1217066" y="3876142"/>
            <a:ext cx="36338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journalctl -u NetworkManager -n 20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4810658" y="3895344"/>
            <a:ext cx="31738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Last 20 lines for specific unit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1133856" y="4226357"/>
            <a:ext cx="81582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Jan 12 10:35:00 ubuntu NetworkManager[567]: &lt;info&gt; [1705055700.1234] device (eth0): state...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352398" y="6096305"/>
            <a:ext cx="89583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Important: journalctl opens in a pager view (like less). Press q to exit the viewer and return to the command prompt.</a:t>
            </a:r>
            <a:endParaRPr lang="en-US" sz="13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2" b="-2"/>
          <a:stretch/>
        </p:blipFill>
        <p:spPr>
          <a:xfrm>
            <a:off x="9334195" y="2438705"/>
            <a:ext cx="3333902" cy="381030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381805" y="2648102"/>
            <a:ext cx="7048195" cy="1920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381805" y="1304849"/>
            <a:ext cx="5634533" cy="1095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Training Recap: What We Covered</a:t>
            </a:r>
            <a:endParaRPr lang="en-US" sz="3100" dirty="0"/>
          </a:p>
        </p:txBody>
      </p:sp>
      <p:sp>
        <p:nvSpPr>
          <p:cNvPr id="8" name="Text 5"/>
          <p:cNvSpPr txBox="1"/>
          <p:nvPr/>
        </p:nvSpPr>
        <p:spPr>
          <a:xfrm>
            <a:off x="4381805" y="3047695"/>
            <a:ext cx="64200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OS foundations across platforms (Windows, macOS, Android)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381805" y="3606394"/>
            <a:ext cx="4734763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Linux fundamentals and diverse distributions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381805" y="4164178"/>
            <a:ext cx="515355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components (Kernel, Shell) and file systems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381805" y="4722876"/>
            <a:ext cx="4743907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Scripting with Bash &amp; PowerShell automation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381805" y="5280660"/>
            <a:ext cx="522945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Boot process, system services, and hands-on labs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619695" y="6219749"/>
            <a:ext cx="3810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619695" y="6391656"/>
            <a:ext cx="21963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0506456" y="6391656"/>
            <a:ext cx="10241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Closing Section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7" name="Shape 14"/>
          <p:cNvSpPr/>
          <p:nvPr/>
        </p:nvSpPr>
        <p:spPr>
          <a:xfrm>
            <a:off x="1143000" y="2031797"/>
            <a:ext cx="1333195" cy="1333195"/>
          </a:xfrm>
          <a:prstGeom prst="ellipse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25" b="-25"/>
          <a:stretch/>
        </p:blipFill>
        <p:spPr>
          <a:xfrm>
            <a:off x="1580998" y="2393899"/>
            <a:ext cx="457200" cy="609905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034186" y="3641141"/>
            <a:ext cx="18105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Training</a:t>
            </a:r>
            <a:endParaRPr lang="en-US" sz="2700" dirty="0"/>
          </a:p>
        </p:txBody>
      </p:sp>
      <p:sp>
        <p:nvSpPr>
          <p:cNvPr id="20" name="Text 16"/>
          <p:cNvSpPr txBox="1"/>
          <p:nvPr/>
        </p:nvSpPr>
        <p:spPr>
          <a:xfrm>
            <a:off x="1226210" y="4052621"/>
            <a:ext cx="142920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Recap</a:t>
            </a:r>
            <a:endParaRPr lang="en-US" sz="2700" dirty="0"/>
          </a:p>
        </p:txBody>
      </p:sp>
      <p:sp>
        <p:nvSpPr>
          <p:cNvPr id="21" name="Text 17"/>
          <p:cNvSpPr txBox="1"/>
          <p:nvPr/>
        </p:nvSpPr>
        <p:spPr>
          <a:xfrm>
            <a:off x="883310" y="4597603"/>
            <a:ext cx="19860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COURSE COMPLETE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0" y="0"/>
            <a:ext cx="3619195" cy="95098"/>
          </a:xfrm>
          <a:prstGeom prst="rect">
            <a:avLst/>
          </a:prstGeom>
          <a:solidFill>
            <a:srgbClr val="F1C40F"/>
          </a:solidFill>
          <a:ln/>
        </p:spPr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0" b="0"/>
          <a:stretch/>
        </p:blipFill>
        <p:spPr>
          <a:xfrm>
            <a:off x="8858707" y="2438705"/>
            <a:ext cx="3810305" cy="3810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1281989"/>
            <a:ext cx="1429207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695" y="466344"/>
            <a:ext cx="7706563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 for Your Career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0" b="-80"/>
          <a:stretch/>
        </p:blipFill>
        <p:spPr>
          <a:xfrm>
            <a:off x="833018" y="1996135"/>
            <a:ext cx="142646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5646" y="1920240"/>
            <a:ext cx="53346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 workplace OS differences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833018" y="2756002"/>
            <a:ext cx="142646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5646" y="2680106"/>
            <a:ext cx="43434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Practice safely in isolated labs</a:t>
            </a:r>
            <a:endParaRPr lang="en-US" sz="2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833018" y="3516782"/>
            <a:ext cx="142646" cy="228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5646" y="3439973"/>
            <a:ext cx="45720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CLI to work faster and safer</a:t>
            </a:r>
            <a:endParaRPr lang="en-US" sz="2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833018" y="4276649"/>
            <a:ext cx="142646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85646" y="4200754"/>
            <a:ext cx="53346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Document and automate repeat tasks</a:t>
            </a:r>
            <a:endParaRPr lang="en-US" sz="24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0" b="-80"/>
          <a:stretch/>
        </p:blipFill>
        <p:spPr>
          <a:xfrm>
            <a:off x="833018" y="5036515"/>
            <a:ext cx="142646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85646" y="4960620"/>
            <a:ext cx="513435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learning with guided resources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10374782" y="6362395"/>
            <a:ext cx="11722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Closing Section</a:t>
            </a:r>
            <a:endParaRPr lang="en-US" sz="12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rcRect l="0" r="0" t="0" b="0"/>
          <a:stretch/>
        </p:blipFill>
        <p:spPr>
          <a:xfrm>
            <a:off x="8953805" y="3567074"/>
            <a:ext cx="2857500" cy="2857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13240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4"/>
          <p:cNvSpPr/>
          <p:nvPr/>
        </p:nvSpPr>
        <p:spPr>
          <a:xfrm>
            <a:off x="761695" y="1281989"/>
            <a:ext cx="952805" cy="3840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61695" y="466344"/>
            <a:ext cx="762975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Steps: Continue Learning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761695" y="1796796"/>
            <a:ext cx="10668305" cy="752551"/>
          </a:xfrm>
          <a:prstGeom prst="roundRect">
            <a:avLst>
              <a:gd name="adj" fmla="val 184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61695" y="1796796"/>
            <a:ext cx="57607" cy="752551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04595" y="2039112"/>
            <a:ext cx="267005" cy="26700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61695" y="2815438"/>
            <a:ext cx="10668305" cy="752551"/>
          </a:xfrm>
          <a:prstGeom prst="roundRect">
            <a:avLst>
              <a:gd name="adj" fmla="val 184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61695" y="2815438"/>
            <a:ext cx="57607" cy="752551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104595" y="3058668"/>
            <a:ext cx="267005" cy="267005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761695" y="3834994"/>
            <a:ext cx="10668305" cy="752551"/>
          </a:xfrm>
          <a:prstGeom prst="roundRect">
            <a:avLst>
              <a:gd name="adj" fmla="val 184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61695" y="3834994"/>
            <a:ext cx="57607" cy="752551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104595" y="4077310"/>
            <a:ext cx="267005" cy="267005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761695" y="4853635"/>
            <a:ext cx="10668305" cy="752551"/>
          </a:xfrm>
          <a:prstGeom prst="roundRect">
            <a:avLst>
              <a:gd name="adj" fmla="val 184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61695" y="4853635"/>
            <a:ext cx="57607" cy="752551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104595" y="5096866"/>
            <a:ext cx="267005" cy="267005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761695" y="5873191"/>
            <a:ext cx="10668305" cy="752551"/>
          </a:xfrm>
          <a:prstGeom prst="roundRect">
            <a:avLst>
              <a:gd name="adj" fmla="val 184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761695" y="5873191"/>
            <a:ext cx="57607" cy="752551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104595" y="6115507"/>
            <a:ext cx="267005" cy="267005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609344" y="2025396"/>
            <a:ext cx="661568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 up a personal lab (VM snapshots) to experiment safely</a:t>
            </a:r>
            <a:endParaRPr lang="en-US" sz="1900" dirty="0"/>
          </a:p>
        </p:txBody>
      </p:sp>
      <p:sp>
        <p:nvSpPr>
          <p:cNvPr id="25" name="Text 17"/>
          <p:cNvSpPr txBox="1"/>
          <p:nvPr/>
        </p:nvSpPr>
        <p:spPr>
          <a:xfrm>
            <a:off x="1609344" y="3044038"/>
            <a:ext cx="715883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Complete a daily 15-minute CLI routine to build muscle memory</a:t>
            </a:r>
            <a:endParaRPr lang="en-US" sz="1900" dirty="0"/>
          </a:p>
        </p:txBody>
      </p:sp>
      <p:sp>
        <p:nvSpPr>
          <p:cNvPr id="26" name="Text 18"/>
          <p:cNvSpPr txBox="1"/>
          <p:nvPr/>
        </p:nvSpPr>
        <p:spPr>
          <a:xfrm>
            <a:off x="1609344" y="4063594"/>
            <a:ext cx="750173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Explore a dedicated server distro like Ubuntu Server or Rocky Linux</a:t>
            </a:r>
            <a:endParaRPr lang="en-US" sz="1900" dirty="0"/>
          </a:p>
        </p:txBody>
      </p:sp>
      <p:sp>
        <p:nvSpPr>
          <p:cNvPr id="27" name="Text 19"/>
          <p:cNvSpPr txBox="1"/>
          <p:nvPr/>
        </p:nvSpPr>
        <p:spPr>
          <a:xfrm>
            <a:off x="1609344" y="5082235"/>
            <a:ext cx="552937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Try writing one small automation script per week</a:t>
            </a:r>
            <a:endParaRPr lang="en-US" sz="1900" dirty="0"/>
          </a:p>
        </p:txBody>
      </p:sp>
      <p:sp>
        <p:nvSpPr>
          <p:cNvPr id="28" name="Text 20"/>
          <p:cNvSpPr txBox="1"/>
          <p:nvPr/>
        </p:nvSpPr>
        <p:spPr>
          <a:xfrm>
            <a:off x="1609344" y="6101791"/>
            <a:ext cx="7720279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4A55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Follow official documentation and tutorials rather than random blogs</a:t>
            </a:r>
            <a:endParaRPr lang="en-US" sz="1900" dirty="0"/>
          </a:p>
        </p:txBody>
      </p:sp>
      <p:sp>
        <p:nvSpPr>
          <p:cNvPr id="29" name="Shape 21"/>
          <p:cNvSpPr/>
          <p:nvPr/>
        </p:nvSpPr>
        <p:spPr>
          <a:xfrm>
            <a:off x="761695" y="6191402"/>
            <a:ext cx="106683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761695" y="6362395"/>
            <a:ext cx="2514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Systems &amp; Linux Training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10012680" y="6362395"/>
            <a:ext cx="15343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Closing &amp; Next Steps</a:t>
            </a:r>
            <a:endParaRPr lang="en-US" sz="12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4300"/>
            <a:ext cx="12191695" cy="3840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6" name="Shape 4"/>
          <p:cNvSpPr/>
          <p:nvPr/>
        </p:nvSpPr>
        <p:spPr>
          <a:xfrm>
            <a:off x="609905" y="5982005"/>
            <a:ext cx="10972800" cy="9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-1064" r="-1064" t="0" b="0"/>
          <a:stretch/>
        </p:blipFill>
        <p:spPr>
          <a:xfrm>
            <a:off x="2054657" y="6262726"/>
            <a:ext cx="219456" cy="17190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369210" y="6248095"/>
            <a:ext cx="24908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Resources: Link Pack Provided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301691" y="6262726"/>
            <a:ext cx="171907" cy="17190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568696" y="6248095"/>
            <a:ext cx="15389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Training Complete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-760" r="-760" t="0" b="0"/>
          <a:stretch/>
        </p:blipFill>
        <p:spPr>
          <a:xfrm>
            <a:off x="7545629" y="6262726"/>
            <a:ext cx="152705" cy="17190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793431" y="6248095"/>
            <a:ext cx="24816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Next Steps: Hands-on Practice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9334195" y="4000500"/>
            <a:ext cx="2857500" cy="2857500"/>
          </a:xfrm>
          <a:prstGeom prst="roundRect">
            <a:avLst>
              <a:gd name="adj" fmla="val 32000"/>
            </a:avLst>
          </a:prstGeom>
          <a:solidFill>
            <a:srgbClr val="F8FAFC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45" b="-45"/>
          <a:stretch/>
        </p:blipFill>
        <p:spPr>
          <a:xfrm>
            <a:off x="5315407" y="1264615"/>
            <a:ext cx="761695" cy="609905"/>
          </a:xfrm>
          <a:prstGeom prst="rect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267298" y="1264615"/>
            <a:ext cx="609905" cy="609905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5619902" y="4545482"/>
            <a:ext cx="952805" cy="38405"/>
          </a:xfrm>
          <a:prstGeom prst="roundRect">
            <a:avLst>
              <a:gd name="adj" fmla="val 1190470"/>
            </a:avLst>
          </a:prstGeom>
          <a:solidFill>
            <a:srgbClr val="3498DB"/>
          </a:solidFill>
          <a:ln/>
        </p:spPr>
      </p:sp>
      <p:sp>
        <p:nvSpPr>
          <p:cNvPr id="17" name="Shape 10"/>
          <p:cNvSpPr/>
          <p:nvPr/>
        </p:nvSpPr>
        <p:spPr>
          <a:xfrm>
            <a:off x="3731666" y="5059375"/>
            <a:ext cx="4733849" cy="685800"/>
          </a:xfrm>
          <a:prstGeom prst="roundRect">
            <a:avLst>
              <a:gd name="adj" fmla="val 1481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1"/>
          <p:cNvSpPr txBox="1"/>
          <p:nvPr/>
        </p:nvSpPr>
        <p:spPr>
          <a:xfrm>
            <a:off x="4340657" y="2122322"/>
            <a:ext cx="3972154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19" name="Text 12"/>
          <p:cNvSpPr txBox="1"/>
          <p:nvPr/>
        </p:nvSpPr>
        <p:spPr>
          <a:xfrm>
            <a:off x="4264762" y="3097987"/>
            <a:ext cx="38962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20" name="Text 13"/>
          <p:cNvSpPr txBox="1"/>
          <p:nvPr/>
        </p:nvSpPr>
        <p:spPr>
          <a:xfrm>
            <a:off x="3023006" y="3859682"/>
            <a:ext cx="63249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180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Please share one key insight you gained from today's session.</a:t>
            </a:r>
            <a:endParaRPr lang="en-US" sz="18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122115" y="5302606"/>
            <a:ext cx="190195" cy="190195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4389120" y="5287975"/>
            <a:ext cx="3829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Feedback helps us improve future sessions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140</Slides>
  <Notes>140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140</vt:i4>
      </vt:variant>
    </vt:vector>
  </HeadingPairs>
  <TitlesOfParts>
    <vt:vector size="1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2026-01-13T01:06:59Z</dcterms:created>
  <dcterms:modified xsi:type="dcterms:W3CDTF">2026-01-13T01:06:59Z</dcterms:modified>
</cp:coreProperties>
</file>